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1847" r:id="rId3"/>
    <p:sldId id="1883" r:id="rId4"/>
    <p:sldId id="1884" r:id="rId5"/>
    <p:sldId id="1885" r:id="rId6"/>
    <p:sldId id="1886" r:id="rId7"/>
    <p:sldId id="1887" r:id="rId8"/>
    <p:sldId id="257" r:id="rId9"/>
    <p:sldId id="258" r:id="rId10"/>
    <p:sldId id="1848" r:id="rId11"/>
    <p:sldId id="1849" r:id="rId12"/>
    <p:sldId id="259" r:id="rId13"/>
    <p:sldId id="1850" r:id="rId14"/>
    <p:sldId id="1888" r:id="rId15"/>
    <p:sldId id="1889" r:id="rId16"/>
    <p:sldId id="1890" r:id="rId17"/>
    <p:sldId id="1891" r:id="rId18"/>
    <p:sldId id="1892" r:id="rId19"/>
    <p:sldId id="1893" r:id="rId20"/>
    <p:sldId id="261" r:id="rId21"/>
    <p:sldId id="1880" r:id="rId22"/>
    <p:sldId id="1881" r:id="rId23"/>
    <p:sldId id="262" r:id="rId24"/>
    <p:sldId id="1860" r:id="rId25"/>
    <p:sldId id="1861" r:id="rId26"/>
    <p:sldId id="1862" r:id="rId27"/>
    <p:sldId id="1852" r:id="rId28"/>
    <p:sldId id="1851" r:id="rId29"/>
    <p:sldId id="1866" r:id="rId30"/>
    <p:sldId id="1867" r:id="rId31"/>
    <p:sldId id="1868" r:id="rId32"/>
    <p:sldId id="264" r:id="rId33"/>
    <p:sldId id="1869" r:id="rId34"/>
    <p:sldId id="1875" r:id="rId35"/>
    <p:sldId id="1876" r:id="rId36"/>
    <p:sldId id="1877" r:id="rId37"/>
    <p:sldId id="1878" r:id="rId38"/>
    <p:sldId id="1853" r:id="rId39"/>
    <p:sldId id="1872" r:id="rId40"/>
    <p:sldId id="1873" r:id="rId41"/>
    <p:sldId id="1856" r:id="rId42"/>
    <p:sldId id="1855" r:id="rId43"/>
    <p:sldId id="1894" r:id="rId44"/>
    <p:sldId id="1854" r:id="rId45"/>
    <p:sldId id="1898" r:id="rId46"/>
    <p:sldId id="1897" r:id="rId47"/>
    <p:sldId id="1896" r:id="rId48"/>
    <p:sldId id="1857" r:id="rId49"/>
    <p:sldId id="1895" r:id="rId50"/>
    <p:sldId id="265" r:id="rId51"/>
    <p:sldId id="1859" r:id="rId52"/>
    <p:sldId id="266" r:id="rId53"/>
    <p:sldId id="26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46"/>
    <p:restoredTop sz="94702"/>
  </p:normalViewPr>
  <p:slideViewPr>
    <p:cSldViewPr snapToGrid="0">
      <p:cViewPr varScale="1">
        <p:scale>
          <a:sx n="85" d="100"/>
          <a:sy n="85" d="100"/>
        </p:scale>
        <p:origin x="20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A3A4B-C475-AC41-80A2-C8FBF29EFC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98662-54CD-334A-8FC1-72498E715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98662-54CD-334A-8FC1-72498E7156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0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34B6C-A171-8448-9D49-C2C46D57AC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D6EAD-E875-5551-7BF9-8D6254D5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9CD34-C01D-29BD-B128-28F196B3C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D91F0-A22A-CA71-498D-57B3E41D7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F11AA-DB91-3972-7887-6BD2B4C35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34B6C-A171-8448-9D49-C2C46D57AC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0C5-9D17-D4D8-EC9B-9DF04ACF4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DC88-10B4-F750-AC44-E729E04D9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B95F0-5372-4D04-BED8-F17548B4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97B0-AE13-A29D-9812-8718B79F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5E85-96E9-DBDC-A9EF-7EEA5CA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D76B-06B1-3F2B-274D-BEE6D49D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D93A-49EC-A99E-B631-7F0EC0C8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A1D5-BBF9-8226-6301-E5B33F28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85E90-2F42-D469-FFA0-C17E513D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458B-F100-719E-0C5B-13C0D91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08F-D29E-ADB0-29E6-AB52BF8A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30F2E-159D-0C74-BFF2-6A1B8F13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FBCA4-7878-0F9D-4302-92B44833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FF70-CFF1-D877-7025-46CF92D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DD6A-DC91-853D-E5F4-17DA704D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0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7C9F-6771-A031-3133-3BDF9D8A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972F-B36B-2EBF-5A5A-4A4CBD8E8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12C0-B595-B41B-0C62-CF3EA18E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01517-2DA0-8DFD-6197-65568F5F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4102-D067-87DC-46D9-BE23A2D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B02A-69C6-68D7-EA42-32ECFB5F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252F-8EA0-DB02-984A-DF10B3D0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A2CC-A824-2CE8-0994-6C180491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43AFF-739C-287D-ABA9-D638ED67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B659F-572C-FB4F-D410-5A42D9D7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E0216-C64A-FC25-B7F0-C0C512A00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ABB41-5577-9895-B674-C2D218F4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CA9FF-94C3-CFC1-0780-B9E4999A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47E25-7D91-2E49-3BB8-21183FDB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6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B647-0A36-B457-E4AA-B1A0B633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CCFA-8BF5-E755-6F6F-23DFEB67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E485D-20E2-1FE9-0AB3-4C62F89C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0189E-538E-0430-E9CA-771CAF3C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7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4922-F25A-E745-727F-697DAE64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DC4B9-2963-3CEE-421D-FBC2E244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8F3A-E110-1EA2-3A2B-7644C500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0154-ED77-45DB-D30B-3D73B357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B2D-D01F-6F0A-4311-AB65E301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53A96-01C3-3B42-9E4C-4D85757D9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3AED-8769-9E3B-47F1-6AF6BA9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B0E22-3820-893D-BE4D-C466E9AF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9384-339F-9F66-BA39-E8A7C9C2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4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46A0-C330-1F46-943A-A3C19A52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23F32-ADD4-CF44-9166-49A4AC3AF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DA70A-FD78-D477-CD46-05A23552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14859-39E4-100E-C18D-99658110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C1733-3420-6D94-B2F2-1EB4539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C7725-D049-83AB-D02D-AED04357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DFE6-38F8-8F22-C3AE-C24EB49E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0FCB-35C1-7DF1-F960-4130D2FEC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B729-8601-CD41-633D-0FC77D6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BD19-0BD5-60AB-62F2-39599A2E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CDF2-34F6-6876-8791-9A3B3168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746E4-AA3F-826F-AC03-16CAC5472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4686E-DBDC-36FF-4596-7953E5B8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610D-9467-D256-7715-BC3730EC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FA48-0023-2370-08AA-A353AB46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DECC-BF40-F0A5-690D-BA7EAEEE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5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72AF4-6821-071A-05CD-68B02B35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A601-AD01-28BD-20CF-59FF56B9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CC83-2FD5-C301-30A1-FE6667814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2A29-4E7B-2C41-B1A1-9A7F1252260B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9AAB-DD8F-DECC-BFCF-15705E31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D01-69DE-B101-3BA0-416BC5080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rishnaswamylab.org/worksho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blog/accelerating-single-cell-genomic-analysis-using-rapids/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blog/accelerating-single-cell-genomic-analysis-using-rapids/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4993-BF1F-5719-1CB6-CC5A270B8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127" y="1041400"/>
            <a:ext cx="10501745" cy="2387600"/>
          </a:xfrm>
        </p:spPr>
        <p:txBody>
          <a:bodyPr/>
          <a:lstStyle/>
          <a:p>
            <a:r>
              <a:rPr lang="en-US" dirty="0"/>
              <a:t>Machine Learning for Single-Cell and Spatial Biology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8FC49-C400-4529-9D90-39EE1A569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Prof. Uthsav Chitra</a:t>
            </a:r>
          </a:p>
          <a:p>
            <a:r>
              <a:rPr lang="en-US" dirty="0"/>
              <a:t>Johns Hopkins University</a:t>
            </a:r>
          </a:p>
          <a:p>
            <a:r>
              <a:rPr lang="en-US"/>
              <a:t>September 8,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72674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14C5-D9F2-545F-5FDF-0C3AB659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12937-56BA-DD03-FE42-EDC5FD3B7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Dimensionality reduction / feature selection</a:t>
            </a:r>
          </a:p>
          <a:p>
            <a:r>
              <a:rPr lang="en-US" dirty="0"/>
              <a:t>Principal components analysis (PCA)</a:t>
            </a:r>
          </a:p>
          <a:p>
            <a:pPr lvl="1"/>
            <a:r>
              <a:rPr lang="en-US" dirty="0"/>
              <a:t>Derivation</a:t>
            </a:r>
          </a:p>
          <a:p>
            <a:pPr lvl="1"/>
            <a:r>
              <a:rPr lang="en-US" dirty="0"/>
              <a:t>Computing principal components (PCs) </a:t>
            </a:r>
          </a:p>
          <a:p>
            <a:pPr lvl="1"/>
            <a:r>
              <a:rPr lang="en-US" dirty="0"/>
              <a:t>Singular value decomposition (SVD)</a:t>
            </a:r>
          </a:p>
          <a:p>
            <a:pPr lvl="1"/>
            <a:r>
              <a:rPr lang="en-US" dirty="0"/>
              <a:t>Variance explained</a:t>
            </a:r>
          </a:p>
          <a:p>
            <a:r>
              <a:rPr lang="en-US" dirty="0"/>
              <a:t>Examples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8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2B6B7C-2B1C-7E97-36FD-93D86738D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335" y="0"/>
            <a:ext cx="9090454" cy="6817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BCAD0-75B4-6327-3DD3-222C1127A455}"/>
              </a:ext>
            </a:extLst>
          </p:cNvPr>
          <p:cNvSpPr txBox="1"/>
          <p:nvPr/>
        </p:nvSpPr>
        <p:spPr>
          <a:xfrm>
            <a:off x="4958317" y="1087395"/>
            <a:ext cx="40911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20000 genes </a:t>
            </a:r>
            <a:r>
              <a:rPr lang="en-US" sz="3000" b="1" u="sng" dirty="0">
                <a:solidFill>
                  <a:srgbClr val="FF0000"/>
                </a:solidFill>
              </a:rPr>
              <a:t>(features)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CED2E-58BB-7975-E367-C6C79690AD53}"/>
              </a:ext>
            </a:extLst>
          </p:cNvPr>
          <p:cNvSpPr txBox="1"/>
          <p:nvPr/>
        </p:nvSpPr>
        <p:spPr>
          <a:xfrm>
            <a:off x="271848" y="3954161"/>
            <a:ext cx="25702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1000-1000000s of cells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93579-FE57-2F92-8573-BD5F0FE9A366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354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BBF655-A18D-8521-B03A-7FA8E5914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-1"/>
            <a:ext cx="9139881" cy="6854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464932-C75B-FE8B-5943-73FC05EA2B68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882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89AB6-97C6-A6F3-938C-944B655E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24" y="0"/>
            <a:ext cx="9102811" cy="6827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3EA556-9304-C1A7-F77E-093F7F21F2B4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620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388CF4-1DE0-2AF9-1493-CD997CA06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33" y="0"/>
            <a:ext cx="9214022" cy="6910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6796A6-D8B8-C895-85D1-89B477874B0E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020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3E73FA-723E-D32C-0E6A-C8DE51D08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8954530" cy="6715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699FB8-4AF0-5A57-D589-3D7259374444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308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974F-BB1E-1981-9BF1-CC1900D9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DA0A-2AAA-257E-4F7A-E5E4091A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1690688"/>
            <a:ext cx="11395363" cy="10152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 dimension (number of </a:t>
            </a:r>
            <a:r>
              <a:rPr lang="en-US" b="1" dirty="0"/>
              <a:t>features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of high-dimensional data</a:t>
            </a:r>
          </a:p>
          <a:p>
            <a:r>
              <a:rPr lang="en-US" dirty="0"/>
              <a:t>makes it easier to visualize data, train ML models, 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74659-A27D-05D8-7588-21998E3FDA7A}"/>
              </a:ext>
            </a:extLst>
          </p:cNvPr>
          <p:cNvSpPr/>
          <p:nvPr/>
        </p:nvSpPr>
        <p:spPr>
          <a:xfrm>
            <a:off x="955035" y="3843709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F6457-A0E0-0B89-8AD6-F14EA84819C1}"/>
              </a:ext>
            </a:extLst>
          </p:cNvPr>
          <p:cNvSpPr txBox="1"/>
          <p:nvPr/>
        </p:nvSpPr>
        <p:spPr>
          <a:xfrm>
            <a:off x="997527" y="3366655"/>
            <a:ext cx="32551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G 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76620-F34D-BD37-9452-2B20B565C35A}"/>
              </a:ext>
            </a:extLst>
          </p:cNvPr>
          <p:cNvSpPr txBox="1"/>
          <p:nvPr/>
        </p:nvSpPr>
        <p:spPr>
          <a:xfrm rot="16200000">
            <a:off x="-838134" y="4826158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9895AD-5AD1-7A46-EFE1-4163246C4DF0}"/>
              </a:ext>
            </a:extLst>
          </p:cNvPr>
          <p:cNvCxnSpPr/>
          <p:nvPr/>
        </p:nvCxnSpPr>
        <p:spPr>
          <a:xfrm>
            <a:off x="5126182" y="4932218"/>
            <a:ext cx="173181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163D2CD-B6A6-F4B6-B48E-E02BDA927C5E}"/>
              </a:ext>
            </a:extLst>
          </p:cNvPr>
          <p:cNvSpPr/>
          <p:nvPr/>
        </p:nvSpPr>
        <p:spPr>
          <a:xfrm>
            <a:off x="7591362" y="3866357"/>
            <a:ext cx="1829729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1580D-5373-AC0D-4554-7A79EBEBEE60}"/>
              </a:ext>
            </a:extLst>
          </p:cNvPr>
          <p:cNvSpPr txBox="1"/>
          <p:nvPr/>
        </p:nvSpPr>
        <p:spPr>
          <a:xfrm rot="16200000">
            <a:off x="5883854" y="4890895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E519C-9DF4-B967-9BF3-7324517FE006}"/>
              </a:ext>
            </a:extLst>
          </p:cNvPr>
          <p:cNvSpPr txBox="1"/>
          <p:nvPr/>
        </p:nvSpPr>
        <p:spPr>
          <a:xfrm>
            <a:off x="7234083" y="3285218"/>
            <a:ext cx="24801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G’ &lt;&lt; G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21C63-AA09-7A1D-AA1F-057FC0BAAD1A}"/>
              </a:ext>
            </a:extLst>
          </p:cNvPr>
          <p:cNvSpPr txBox="1"/>
          <p:nvPr/>
        </p:nvSpPr>
        <p:spPr>
          <a:xfrm>
            <a:off x="2572693" y="4764602"/>
            <a:ext cx="4106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E6E83-2436-42A4-6203-343511FB9224}"/>
              </a:ext>
            </a:extLst>
          </p:cNvPr>
          <p:cNvSpPr txBox="1"/>
          <p:nvPr/>
        </p:nvSpPr>
        <p:spPr>
          <a:xfrm>
            <a:off x="8191429" y="4817267"/>
            <a:ext cx="5245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Y’</a:t>
            </a:r>
          </a:p>
        </p:txBody>
      </p:sp>
    </p:spTree>
    <p:extLst>
      <p:ext uri="{BB962C8B-B14F-4D97-AF65-F5344CB8AC3E}">
        <p14:creationId xmlns:p14="http://schemas.microsoft.com/office/powerpoint/2010/main" val="3801259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130B9-3B53-A551-732E-336B5A41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6DEE-0716-2445-44FC-096FA1E48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Naïve approach: feature (gene)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7605-70E7-40DE-9DA6-C837674DD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49" y="1493545"/>
            <a:ext cx="11395363" cy="518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Remove </a:t>
            </a:r>
            <a:r>
              <a:rPr lang="en-US" b="1" i="1" dirty="0"/>
              <a:t>“uninformative”</a:t>
            </a:r>
            <a:r>
              <a:rPr lang="en-US" dirty="0"/>
              <a:t>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3D8735-764D-1720-B03C-580C1DB92F2C}"/>
              </a:ext>
            </a:extLst>
          </p:cNvPr>
          <p:cNvSpPr/>
          <p:nvPr/>
        </p:nvSpPr>
        <p:spPr>
          <a:xfrm>
            <a:off x="2021835" y="2756580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79355-4FB3-BD84-50B0-566F6C682315}"/>
              </a:ext>
            </a:extLst>
          </p:cNvPr>
          <p:cNvSpPr txBox="1"/>
          <p:nvPr/>
        </p:nvSpPr>
        <p:spPr>
          <a:xfrm>
            <a:off x="2064327" y="2279526"/>
            <a:ext cx="303397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59DF8-59A4-D596-43DE-FFA0220C40A0}"/>
              </a:ext>
            </a:extLst>
          </p:cNvPr>
          <p:cNvSpPr txBox="1"/>
          <p:nvPr/>
        </p:nvSpPr>
        <p:spPr>
          <a:xfrm rot="16200000">
            <a:off x="345685" y="3739029"/>
            <a:ext cx="25565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Samples (e.g. cells)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AE6B35-9AD0-9945-5A70-9FC16147A194}"/>
              </a:ext>
            </a:extLst>
          </p:cNvPr>
          <p:cNvCxnSpPr/>
          <p:nvPr/>
        </p:nvCxnSpPr>
        <p:spPr>
          <a:xfrm>
            <a:off x="2895600" y="2773423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BD7DA1-248F-7C80-0C4B-CAAA9318F85F}"/>
              </a:ext>
            </a:extLst>
          </p:cNvPr>
          <p:cNvCxnSpPr/>
          <p:nvPr/>
        </p:nvCxnSpPr>
        <p:spPr>
          <a:xfrm>
            <a:off x="3331554" y="2780516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F85073-62ED-574F-589F-3E409534A378}"/>
              </a:ext>
            </a:extLst>
          </p:cNvPr>
          <p:cNvCxnSpPr/>
          <p:nvPr/>
        </p:nvCxnSpPr>
        <p:spPr>
          <a:xfrm>
            <a:off x="4641273" y="2756580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FC6E78-00DF-D1C5-4A68-7FFD86150ABC}"/>
              </a:ext>
            </a:extLst>
          </p:cNvPr>
          <p:cNvCxnSpPr/>
          <p:nvPr/>
        </p:nvCxnSpPr>
        <p:spPr>
          <a:xfrm>
            <a:off x="5097830" y="2768649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291B62-66BC-9790-CADE-3EA379B16A70}"/>
              </a:ext>
            </a:extLst>
          </p:cNvPr>
          <p:cNvSpPr txBox="1"/>
          <p:nvPr/>
        </p:nvSpPr>
        <p:spPr>
          <a:xfrm>
            <a:off x="4634598" y="27757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776F8-50E4-55B0-B280-56098FE762D5}"/>
              </a:ext>
            </a:extLst>
          </p:cNvPr>
          <p:cNvSpPr txBox="1"/>
          <p:nvPr/>
        </p:nvSpPr>
        <p:spPr>
          <a:xfrm>
            <a:off x="2883047" y="2773423"/>
            <a:ext cx="49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72145B-5913-D62F-8D36-6B7761EA6CD8}"/>
              </a:ext>
            </a:extLst>
          </p:cNvPr>
          <p:cNvSpPr txBox="1"/>
          <p:nvPr/>
        </p:nvSpPr>
        <p:spPr>
          <a:xfrm>
            <a:off x="2886147" y="31536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A05A9-328B-6073-7B60-1B6A00B55557}"/>
              </a:ext>
            </a:extLst>
          </p:cNvPr>
          <p:cNvSpPr txBox="1"/>
          <p:nvPr/>
        </p:nvSpPr>
        <p:spPr>
          <a:xfrm>
            <a:off x="2886148" y="350700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EAE242-F811-9692-52CC-05F14B0BBE2C}"/>
              </a:ext>
            </a:extLst>
          </p:cNvPr>
          <p:cNvSpPr txBox="1"/>
          <p:nvPr/>
        </p:nvSpPr>
        <p:spPr>
          <a:xfrm>
            <a:off x="2886148" y="38445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923DD4-9E92-D4B0-7694-2EFCEF7432B4}"/>
              </a:ext>
            </a:extLst>
          </p:cNvPr>
          <p:cNvSpPr txBox="1"/>
          <p:nvPr/>
        </p:nvSpPr>
        <p:spPr>
          <a:xfrm>
            <a:off x="2876936" y="416501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AE57A-B2AD-A141-636D-9BC976B0B46D}"/>
              </a:ext>
            </a:extLst>
          </p:cNvPr>
          <p:cNvSpPr txBox="1"/>
          <p:nvPr/>
        </p:nvSpPr>
        <p:spPr>
          <a:xfrm>
            <a:off x="2876936" y="450230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185296-05A5-4F57-28C5-984D8D15AA95}"/>
              </a:ext>
            </a:extLst>
          </p:cNvPr>
          <p:cNvSpPr txBox="1"/>
          <p:nvPr/>
        </p:nvSpPr>
        <p:spPr>
          <a:xfrm>
            <a:off x="2870332" y="48205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C939D7-864D-A54F-24EC-1EB80F5A373F}"/>
              </a:ext>
            </a:extLst>
          </p:cNvPr>
          <p:cNvCxnSpPr>
            <a:cxnSpLocks/>
          </p:cNvCxnSpPr>
          <p:nvPr/>
        </p:nvCxnSpPr>
        <p:spPr>
          <a:xfrm flipV="1">
            <a:off x="2382982" y="5325113"/>
            <a:ext cx="651163" cy="880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A54E9C4-4B98-0B75-58EF-8E6BCD758A9F}"/>
              </a:ext>
            </a:extLst>
          </p:cNvPr>
          <p:cNvSpPr txBox="1"/>
          <p:nvPr/>
        </p:nvSpPr>
        <p:spPr>
          <a:xfrm>
            <a:off x="284532" y="6206465"/>
            <a:ext cx="5468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Uninformative</a:t>
            </a:r>
            <a:r>
              <a:rPr lang="en-US" sz="2200" dirty="0"/>
              <a:t>: constant across all samples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680A8D-5EAD-F908-ECA2-B68985010EFD}"/>
              </a:ext>
            </a:extLst>
          </p:cNvPr>
          <p:cNvSpPr txBox="1"/>
          <p:nvPr/>
        </p:nvSpPr>
        <p:spPr>
          <a:xfrm>
            <a:off x="4576404" y="3141742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19EFDC-3973-ACA2-721F-94C56C128C00}"/>
              </a:ext>
            </a:extLst>
          </p:cNvPr>
          <p:cNvSpPr txBox="1"/>
          <p:nvPr/>
        </p:nvSpPr>
        <p:spPr>
          <a:xfrm>
            <a:off x="4634598" y="347054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56912D-CCEC-2976-5D8E-C7FB084B905E}"/>
              </a:ext>
            </a:extLst>
          </p:cNvPr>
          <p:cNvSpPr txBox="1"/>
          <p:nvPr/>
        </p:nvSpPr>
        <p:spPr>
          <a:xfrm>
            <a:off x="4561304" y="3811895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-4.2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8F6796-0FD6-B245-D8B1-10CFE9B01A21}"/>
              </a:ext>
            </a:extLst>
          </p:cNvPr>
          <p:cNvSpPr txBox="1"/>
          <p:nvPr/>
        </p:nvSpPr>
        <p:spPr>
          <a:xfrm>
            <a:off x="4598428" y="4137304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991A20-2B4A-DCD6-43FC-78209073E4B5}"/>
              </a:ext>
            </a:extLst>
          </p:cNvPr>
          <p:cNvSpPr txBox="1"/>
          <p:nvPr/>
        </p:nvSpPr>
        <p:spPr>
          <a:xfrm>
            <a:off x="4600578" y="4455550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AC4EF7-DE21-55E5-C7B7-7498CFD019C4}"/>
              </a:ext>
            </a:extLst>
          </p:cNvPr>
          <p:cNvSpPr txBox="1"/>
          <p:nvPr/>
        </p:nvSpPr>
        <p:spPr>
          <a:xfrm>
            <a:off x="4661876" y="482001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CA8913-B241-5833-2705-3D5D5F69CD26}"/>
              </a:ext>
            </a:extLst>
          </p:cNvPr>
          <p:cNvSpPr txBox="1"/>
          <p:nvPr/>
        </p:nvSpPr>
        <p:spPr>
          <a:xfrm>
            <a:off x="6290945" y="2262518"/>
            <a:ext cx="5575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Informative</a:t>
            </a:r>
            <a:r>
              <a:rPr lang="en-US" sz="2200" dirty="0"/>
              <a:t>: has large “spread” (variance) across samples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BFA949-6EF1-0901-4210-1D5184F5E647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5156493" y="2647239"/>
            <a:ext cx="1134452" cy="245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66893E2-9968-5364-6EE4-2A0A84C7119B}"/>
              </a:ext>
            </a:extLst>
          </p:cNvPr>
          <p:cNvSpPr txBox="1"/>
          <p:nvPr/>
        </p:nvSpPr>
        <p:spPr>
          <a:xfrm>
            <a:off x="11169788" y="6179398"/>
            <a:ext cx="986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350454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C16A-735A-495B-E628-490EB264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2CF9-3D8F-9E1E-E933-EFCD4BF2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Naïve approach: feature (gene)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4DB2F-FA7D-02DB-A60E-A59C4068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49" y="1493545"/>
            <a:ext cx="11395363" cy="518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Remove </a:t>
            </a:r>
            <a:r>
              <a:rPr lang="en-US" b="1" i="1" dirty="0"/>
              <a:t>“uninformative”</a:t>
            </a:r>
            <a:r>
              <a:rPr lang="en-US" dirty="0"/>
              <a:t>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7E4CBB-5E08-0B7D-B43F-F315FCEE9F49}"/>
              </a:ext>
            </a:extLst>
          </p:cNvPr>
          <p:cNvSpPr/>
          <p:nvPr/>
        </p:nvSpPr>
        <p:spPr>
          <a:xfrm>
            <a:off x="2021835" y="2756580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C758B-92F3-B266-855E-840A35A02327}"/>
              </a:ext>
            </a:extLst>
          </p:cNvPr>
          <p:cNvSpPr txBox="1"/>
          <p:nvPr/>
        </p:nvSpPr>
        <p:spPr>
          <a:xfrm>
            <a:off x="2064327" y="2279526"/>
            <a:ext cx="303397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61010-D93F-1840-6367-83936A2DD7F8}"/>
              </a:ext>
            </a:extLst>
          </p:cNvPr>
          <p:cNvSpPr txBox="1"/>
          <p:nvPr/>
        </p:nvSpPr>
        <p:spPr>
          <a:xfrm rot="16200000">
            <a:off x="345685" y="3739029"/>
            <a:ext cx="25565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Samples (e.g. cells)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EFC2E5-96C2-ADC5-170E-409C471B032E}"/>
              </a:ext>
            </a:extLst>
          </p:cNvPr>
          <p:cNvCxnSpPr/>
          <p:nvPr/>
        </p:nvCxnSpPr>
        <p:spPr>
          <a:xfrm>
            <a:off x="2895600" y="2773423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15B706-77F2-0F94-3229-4B0E0DC193FF}"/>
              </a:ext>
            </a:extLst>
          </p:cNvPr>
          <p:cNvCxnSpPr/>
          <p:nvPr/>
        </p:nvCxnSpPr>
        <p:spPr>
          <a:xfrm>
            <a:off x="3331554" y="2780516"/>
            <a:ext cx="0" cy="24522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52FA1D-BB55-8F82-AB36-32A36E9364DA}"/>
              </a:ext>
            </a:extLst>
          </p:cNvPr>
          <p:cNvCxnSpPr/>
          <p:nvPr/>
        </p:nvCxnSpPr>
        <p:spPr>
          <a:xfrm>
            <a:off x="4641273" y="2756580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054AE79-244F-DD12-B89E-20789B45777F}"/>
              </a:ext>
            </a:extLst>
          </p:cNvPr>
          <p:cNvCxnSpPr/>
          <p:nvPr/>
        </p:nvCxnSpPr>
        <p:spPr>
          <a:xfrm>
            <a:off x="5097830" y="2768649"/>
            <a:ext cx="0" cy="245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9F40794-297B-BC3D-ADBB-5C20371EBCAA}"/>
              </a:ext>
            </a:extLst>
          </p:cNvPr>
          <p:cNvSpPr txBox="1"/>
          <p:nvPr/>
        </p:nvSpPr>
        <p:spPr>
          <a:xfrm>
            <a:off x="4634598" y="27757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8CE90A-04E5-4BF6-4150-D45D246F3305}"/>
              </a:ext>
            </a:extLst>
          </p:cNvPr>
          <p:cNvSpPr txBox="1"/>
          <p:nvPr/>
        </p:nvSpPr>
        <p:spPr>
          <a:xfrm>
            <a:off x="2883047" y="2773423"/>
            <a:ext cx="49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DDC48F-930B-0A21-8D06-B6609D871883}"/>
              </a:ext>
            </a:extLst>
          </p:cNvPr>
          <p:cNvSpPr txBox="1"/>
          <p:nvPr/>
        </p:nvSpPr>
        <p:spPr>
          <a:xfrm>
            <a:off x="2886147" y="31536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41C01-57B6-10D4-1757-D6463BA9BE6D}"/>
              </a:ext>
            </a:extLst>
          </p:cNvPr>
          <p:cNvSpPr txBox="1"/>
          <p:nvPr/>
        </p:nvSpPr>
        <p:spPr>
          <a:xfrm>
            <a:off x="2886148" y="350700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0434E4-58A7-60B8-FC53-29BA17BFDCF6}"/>
              </a:ext>
            </a:extLst>
          </p:cNvPr>
          <p:cNvSpPr txBox="1"/>
          <p:nvPr/>
        </p:nvSpPr>
        <p:spPr>
          <a:xfrm>
            <a:off x="2886148" y="384459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CB2D14-045F-F390-C7B9-6AC0CA727CE1}"/>
              </a:ext>
            </a:extLst>
          </p:cNvPr>
          <p:cNvSpPr txBox="1"/>
          <p:nvPr/>
        </p:nvSpPr>
        <p:spPr>
          <a:xfrm>
            <a:off x="2876936" y="416501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FD4B43-3C18-D36B-2143-418D4DCAAA33}"/>
              </a:ext>
            </a:extLst>
          </p:cNvPr>
          <p:cNvSpPr txBox="1"/>
          <p:nvPr/>
        </p:nvSpPr>
        <p:spPr>
          <a:xfrm>
            <a:off x="2876936" y="450230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6CF392-E383-F545-4AD7-D4C428F59D72}"/>
              </a:ext>
            </a:extLst>
          </p:cNvPr>
          <p:cNvSpPr txBox="1"/>
          <p:nvPr/>
        </p:nvSpPr>
        <p:spPr>
          <a:xfrm>
            <a:off x="2870332" y="482059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FEF10D-CB39-0AAB-2CE9-BCC2B22390CA}"/>
              </a:ext>
            </a:extLst>
          </p:cNvPr>
          <p:cNvCxnSpPr>
            <a:cxnSpLocks/>
          </p:cNvCxnSpPr>
          <p:nvPr/>
        </p:nvCxnSpPr>
        <p:spPr>
          <a:xfrm flipV="1">
            <a:off x="2382982" y="5325113"/>
            <a:ext cx="651163" cy="880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150B98A-FF15-B387-DDE6-77464205A936}"/>
              </a:ext>
            </a:extLst>
          </p:cNvPr>
          <p:cNvSpPr txBox="1"/>
          <p:nvPr/>
        </p:nvSpPr>
        <p:spPr>
          <a:xfrm>
            <a:off x="284532" y="6206465"/>
            <a:ext cx="5468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Uninformative</a:t>
            </a:r>
            <a:r>
              <a:rPr lang="en-US" sz="2200" dirty="0"/>
              <a:t>: constant across all samples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76A45F-A04F-DCB9-8B82-3070629F4324}"/>
              </a:ext>
            </a:extLst>
          </p:cNvPr>
          <p:cNvSpPr txBox="1"/>
          <p:nvPr/>
        </p:nvSpPr>
        <p:spPr>
          <a:xfrm>
            <a:off x="4576404" y="3141742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9042C-BBBC-97A6-C0DC-C96F68C596E9}"/>
              </a:ext>
            </a:extLst>
          </p:cNvPr>
          <p:cNvSpPr txBox="1"/>
          <p:nvPr/>
        </p:nvSpPr>
        <p:spPr>
          <a:xfrm>
            <a:off x="4634598" y="347054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0A4C6D-9C48-5E03-EA05-053BBE371376}"/>
              </a:ext>
            </a:extLst>
          </p:cNvPr>
          <p:cNvSpPr txBox="1"/>
          <p:nvPr/>
        </p:nvSpPr>
        <p:spPr>
          <a:xfrm>
            <a:off x="4561304" y="3811895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-4.2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D109AB-B4F0-C003-66DF-843E869FCB98}"/>
              </a:ext>
            </a:extLst>
          </p:cNvPr>
          <p:cNvSpPr txBox="1"/>
          <p:nvPr/>
        </p:nvSpPr>
        <p:spPr>
          <a:xfrm>
            <a:off x="4598428" y="4137304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0D4684-0A96-039C-6813-89FD72E4E991}"/>
              </a:ext>
            </a:extLst>
          </p:cNvPr>
          <p:cNvSpPr txBox="1"/>
          <p:nvPr/>
        </p:nvSpPr>
        <p:spPr>
          <a:xfrm>
            <a:off x="4600578" y="4455550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C3ECD9-4362-AD46-D019-A401450D86D6}"/>
              </a:ext>
            </a:extLst>
          </p:cNvPr>
          <p:cNvSpPr txBox="1"/>
          <p:nvPr/>
        </p:nvSpPr>
        <p:spPr>
          <a:xfrm>
            <a:off x="4661876" y="482001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05D152-9225-027F-0637-ECF3258F0A2C}"/>
              </a:ext>
            </a:extLst>
          </p:cNvPr>
          <p:cNvSpPr txBox="1"/>
          <p:nvPr/>
        </p:nvSpPr>
        <p:spPr>
          <a:xfrm>
            <a:off x="6290945" y="2262518"/>
            <a:ext cx="5575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Informative</a:t>
            </a:r>
            <a:r>
              <a:rPr lang="en-US" sz="2200" dirty="0"/>
              <a:t>: has large “spread” (variance) across samples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CA5534B-CF65-360C-ACE4-725C85398D42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5156493" y="2647239"/>
            <a:ext cx="1134452" cy="245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91312A22-BDE2-C6B5-B5E1-6E7FED4A5F35}"/>
              </a:ext>
            </a:extLst>
          </p:cNvPr>
          <p:cNvSpPr txBox="1">
            <a:spLocks/>
          </p:cNvSpPr>
          <p:nvPr/>
        </p:nvSpPr>
        <p:spPr>
          <a:xfrm>
            <a:off x="6327831" y="3153694"/>
            <a:ext cx="5917646" cy="1364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Intuitively, quantify how feature “informativeness” through </a:t>
            </a:r>
            <a:r>
              <a:rPr lang="en-US" b="1" dirty="0"/>
              <a:t>variance</a:t>
            </a:r>
            <a:endParaRPr lang="en-US" dirty="0"/>
          </a:p>
        </p:txBody>
      </p:sp>
      <p:pic>
        <p:nvPicPr>
          <p:cNvPr id="1026" name="Picture 2" descr="Variance - Wikipedia">
            <a:extLst>
              <a:ext uri="{FF2B5EF4-FFF2-40B4-BE49-F238E27FC236}">
                <a16:creationId xmlns:a16="http://schemas.microsoft.com/office/drawing/2014/main" id="{0E639128-EB88-D47A-C5A2-C0729138A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064" y="3905369"/>
            <a:ext cx="3837147" cy="283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6D35BFA-26FD-A46D-34E7-1507306E8798}"/>
              </a:ext>
            </a:extLst>
          </p:cNvPr>
          <p:cNvSpPr txBox="1"/>
          <p:nvPr/>
        </p:nvSpPr>
        <p:spPr>
          <a:xfrm>
            <a:off x="11169788" y="6179398"/>
            <a:ext cx="986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Source: Wikipedia</a:t>
            </a:r>
          </a:p>
        </p:txBody>
      </p:sp>
    </p:spTree>
    <p:extLst>
      <p:ext uri="{BB962C8B-B14F-4D97-AF65-F5344CB8AC3E}">
        <p14:creationId xmlns:p14="http://schemas.microsoft.com/office/powerpoint/2010/main" val="1188472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15DF-9988-D067-D8B4-A5432FC9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41" y="353250"/>
            <a:ext cx="10515600" cy="1325563"/>
          </a:xfrm>
        </p:spPr>
        <p:txBody>
          <a:bodyPr/>
          <a:lstStyle/>
          <a:p>
            <a:r>
              <a:rPr lang="en-US" dirty="0"/>
              <a:t>Data pre-processing step: Highly variable gene (HVG)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8DD5D-60A5-43E1-9AD8-858BBCEC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65" y="2070184"/>
            <a:ext cx="7772400" cy="1022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4BAAF-9875-77A2-44A4-8B91A139D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04" y="3048269"/>
            <a:ext cx="6495720" cy="3536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4D6AD7-46FD-C55C-8575-3F09B472CE51}"/>
              </a:ext>
            </a:extLst>
          </p:cNvPr>
          <p:cNvSpPr txBox="1"/>
          <p:nvPr/>
        </p:nvSpPr>
        <p:spPr>
          <a:xfrm>
            <a:off x="8096033" y="3186888"/>
            <a:ext cx="405740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 genes where: </a:t>
            </a:r>
          </a:p>
          <a:p>
            <a:endParaRPr lang="en-US" sz="2400" b="1" dirty="0"/>
          </a:p>
          <a:p>
            <a:r>
              <a:rPr lang="en-US" sz="2400" b="1" dirty="0"/>
              <a:t>variance &gt; mean expression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1" dirty="0"/>
              <a:t>(Recall that in Poisson distribution, mean = variance)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A9605-70AC-2338-C21D-BF23243E3217}"/>
              </a:ext>
            </a:extLst>
          </p:cNvPr>
          <p:cNvSpPr txBox="1"/>
          <p:nvPr/>
        </p:nvSpPr>
        <p:spPr>
          <a:xfrm>
            <a:off x="-41056" y="6621808"/>
            <a:ext cx="3563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Seurat = standard R package for single cell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E3D2B-6800-E708-529B-A275B49B9A39}"/>
              </a:ext>
            </a:extLst>
          </p:cNvPr>
          <p:cNvSpPr txBox="1"/>
          <p:nvPr/>
        </p:nvSpPr>
        <p:spPr>
          <a:xfrm>
            <a:off x="-28699" y="4803392"/>
            <a:ext cx="1133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https://</a:t>
            </a:r>
            <a:r>
              <a:rPr lang="en-US" sz="900" dirty="0" err="1"/>
              <a:t>ouyanglab.com</a:t>
            </a:r>
            <a:r>
              <a:rPr lang="en-US" sz="900" dirty="0"/>
              <a:t>/</a:t>
            </a:r>
            <a:r>
              <a:rPr lang="en-US" sz="900" dirty="0" err="1"/>
              <a:t>singlecell</a:t>
            </a:r>
            <a:r>
              <a:rPr lang="en-US" sz="900" dirty="0"/>
              <a:t>/</a:t>
            </a:r>
            <a:r>
              <a:rPr lang="en-US" sz="900" dirty="0" err="1"/>
              <a:t>basic.html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7199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AEF81-55BC-3D82-166B-50B444C9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2604-5759-DCC9-9EF4-CB61DD9C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Challenges with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36484-4B59-C809-5126-C446FA9C6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739" y="1600987"/>
            <a:ext cx="9348669" cy="283152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Many genes are “highly variable” </a:t>
            </a:r>
          </a:p>
          <a:p>
            <a:pPr lvl="1"/>
            <a:r>
              <a:rPr lang="en-US" sz="2000" dirty="0"/>
              <a:t>E.g. in Seurat/</a:t>
            </a:r>
            <a:r>
              <a:rPr lang="en-US" sz="2000" dirty="0" err="1"/>
              <a:t>Scanpy</a:t>
            </a:r>
            <a:r>
              <a:rPr lang="en-US" sz="2000" dirty="0"/>
              <a:t>, one typically takes the top 1000-2000 HVGs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Features are often correlated or related. We would like to </a:t>
            </a:r>
            <a:r>
              <a:rPr lang="en-US" b="1" u="sng" dirty="0"/>
              <a:t>summarize</a:t>
            </a:r>
            <a:r>
              <a:rPr lang="en-US" b="1" dirty="0"/>
              <a:t> </a:t>
            </a:r>
            <a:r>
              <a:rPr lang="en-US" dirty="0"/>
              <a:t>these patterns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A2BA721-E002-C410-DA74-6325A3979AB4}"/>
              </a:ext>
            </a:extLst>
          </p:cNvPr>
          <p:cNvGrpSpPr/>
          <p:nvPr/>
        </p:nvGrpSpPr>
        <p:grpSpPr>
          <a:xfrm>
            <a:off x="549424" y="3666991"/>
            <a:ext cx="4506423" cy="2868251"/>
            <a:chOff x="3066859" y="3871627"/>
            <a:chExt cx="4506423" cy="28682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85761D-F006-0A7B-36F0-D345D1C66007}"/>
                </a:ext>
              </a:extLst>
            </p:cNvPr>
            <p:cNvSpPr/>
            <p:nvPr/>
          </p:nvSpPr>
          <p:spPr>
            <a:xfrm>
              <a:off x="3680154" y="4259915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A18A61-1749-6578-1801-655536FCE359}"/>
                </a:ext>
              </a:extLst>
            </p:cNvPr>
            <p:cNvSpPr txBox="1"/>
            <p:nvPr/>
          </p:nvSpPr>
          <p:spPr>
            <a:xfrm rot="16200000">
              <a:off x="2004004" y="5242364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A7A7B6-F2BB-440D-7C0E-02F45E29BD23}"/>
                </a:ext>
              </a:extLst>
            </p:cNvPr>
            <p:cNvCxnSpPr/>
            <p:nvPr/>
          </p:nvCxnSpPr>
          <p:spPr>
            <a:xfrm>
              <a:off x="4553919" y="4276758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3FD0FC-E0EC-9A66-5DEE-CED7ACB58651}"/>
                </a:ext>
              </a:extLst>
            </p:cNvPr>
            <p:cNvCxnSpPr/>
            <p:nvPr/>
          </p:nvCxnSpPr>
          <p:spPr>
            <a:xfrm>
              <a:off x="4989873" y="4283851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098BDF-EB85-B322-720A-EE2F59F0F1FD}"/>
                </a:ext>
              </a:extLst>
            </p:cNvPr>
            <p:cNvCxnSpPr/>
            <p:nvPr/>
          </p:nvCxnSpPr>
          <p:spPr>
            <a:xfrm>
              <a:off x="6299592" y="4259915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E5112D-851A-EFD2-B8A1-DB493E9E4F9C}"/>
                </a:ext>
              </a:extLst>
            </p:cNvPr>
            <p:cNvCxnSpPr/>
            <p:nvPr/>
          </p:nvCxnSpPr>
          <p:spPr>
            <a:xfrm>
              <a:off x="6756149" y="4271984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F490B51-FFE9-5DE1-C099-73BFCC266542}"/>
                </a:ext>
              </a:extLst>
            </p:cNvPr>
            <p:cNvSpPr txBox="1"/>
            <p:nvPr/>
          </p:nvSpPr>
          <p:spPr>
            <a:xfrm>
              <a:off x="6292917" y="4279134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78EEFA-8AAA-AA42-10F2-CAE3BB168128}"/>
                </a:ext>
              </a:extLst>
            </p:cNvPr>
            <p:cNvSpPr txBox="1"/>
            <p:nvPr/>
          </p:nvSpPr>
          <p:spPr>
            <a:xfrm>
              <a:off x="4541366" y="4276758"/>
              <a:ext cx="497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960DB16-6A05-6896-7841-FC281AFF757C}"/>
                </a:ext>
              </a:extLst>
            </p:cNvPr>
            <p:cNvSpPr txBox="1"/>
            <p:nvPr/>
          </p:nvSpPr>
          <p:spPr>
            <a:xfrm>
              <a:off x="4483536" y="4658176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-2.4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8B176D-10D2-4F8E-B424-FDBC01D4EA02}"/>
                </a:ext>
              </a:extLst>
            </p:cNvPr>
            <p:cNvSpPr txBox="1"/>
            <p:nvPr/>
          </p:nvSpPr>
          <p:spPr>
            <a:xfrm>
              <a:off x="4544467" y="5010341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7.4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5C024D-155D-94BE-BD8F-F822BFFA77CE}"/>
                </a:ext>
              </a:extLst>
            </p:cNvPr>
            <p:cNvSpPr txBox="1"/>
            <p:nvPr/>
          </p:nvSpPr>
          <p:spPr>
            <a:xfrm>
              <a:off x="4544467" y="5347929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9E2980-B393-65E1-E11D-39F4FCF300AC}"/>
                </a:ext>
              </a:extLst>
            </p:cNvPr>
            <p:cNvSpPr txBox="1"/>
            <p:nvPr/>
          </p:nvSpPr>
          <p:spPr>
            <a:xfrm>
              <a:off x="4535255" y="5668350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-2.2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BDB719-E690-84CD-7215-D795A69BC492}"/>
                </a:ext>
              </a:extLst>
            </p:cNvPr>
            <p:cNvSpPr txBox="1"/>
            <p:nvPr/>
          </p:nvSpPr>
          <p:spPr>
            <a:xfrm>
              <a:off x="4535255" y="6005643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-40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3A470B7-57D3-F2F8-F85E-085011E2383E}"/>
                </a:ext>
              </a:extLst>
            </p:cNvPr>
            <p:cNvSpPr txBox="1"/>
            <p:nvPr/>
          </p:nvSpPr>
          <p:spPr>
            <a:xfrm>
              <a:off x="4528651" y="6323934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78FD467-44BD-B058-CBFB-0212B45C7503}"/>
                </a:ext>
              </a:extLst>
            </p:cNvPr>
            <p:cNvSpPr txBox="1"/>
            <p:nvPr/>
          </p:nvSpPr>
          <p:spPr>
            <a:xfrm>
              <a:off x="6234723" y="4645077"/>
              <a:ext cx="558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-1.2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0CAA7BF-6399-AB56-893B-3A550EB6452D}"/>
                </a:ext>
              </a:extLst>
            </p:cNvPr>
            <p:cNvSpPr txBox="1"/>
            <p:nvPr/>
          </p:nvSpPr>
          <p:spPr>
            <a:xfrm>
              <a:off x="6292917" y="4973875"/>
              <a:ext cx="497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3.7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181C3E-7049-6C20-5531-A2D7A051DC4A}"/>
                </a:ext>
              </a:extLst>
            </p:cNvPr>
            <p:cNvSpPr txBox="1"/>
            <p:nvPr/>
          </p:nvSpPr>
          <p:spPr>
            <a:xfrm>
              <a:off x="6219623" y="5315230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-4.2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2716F-7C27-3755-FAC5-614C4A71E4ED}"/>
                </a:ext>
              </a:extLst>
            </p:cNvPr>
            <p:cNvSpPr txBox="1"/>
            <p:nvPr/>
          </p:nvSpPr>
          <p:spPr>
            <a:xfrm>
              <a:off x="6256747" y="5640639"/>
              <a:ext cx="558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-1.1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028D7DA-76CB-4492-7AE9-864467AE9AC4}"/>
                </a:ext>
              </a:extLst>
            </p:cNvPr>
            <p:cNvSpPr txBox="1"/>
            <p:nvPr/>
          </p:nvSpPr>
          <p:spPr>
            <a:xfrm>
              <a:off x="6258897" y="5958885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FE43254-A9CA-E85F-F02C-0BB26A528242}"/>
                </a:ext>
              </a:extLst>
            </p:cNvPr>
            <p:cNvSpPr txBox="1"/>
            <p:nvPr/>
          </p:nvSpPr>
          <p:spPr>
            <a:xfrm>
              <a:off x="6320195" y="632335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4A52172-B2D4-54E3-6E58-57196462974D}"/>
                </a:ext>
              </a:extLst>
            </p:cNvPr>
            <p:cNvSpPr txBox="1"/>
            <p:nvPr/>
          </p:nvSpPr>
          <p:spPr>
            <a:xfrm>
              <a:off x="4207081" y="3874356"/>
              <a:ext cx="11287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Feature A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88395E0-9575-CC9D-A0A8-53F516BD3AD2}"/>
                </a:ext>
              </a:extLst>
            </p:cNvPr>
            <p:cNvSpPr txBox="1"/>
            <p:nvPr/>
          </p:nvSpPr>
          <p:spPr>
            <a:xfrm>
              <a:off x="5970001" y="3871627"/>
              <a:ext cx="1131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Feature 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DC80F7-217D-E535-CB63-B539CEDA5152}"/>
                  </a:ext>
                </a:extLst>
              </p:cNvPr>
              <p:cNvSpPr txBox="1"/>
              <p:nvPr/>
            </p:nvSpPr>
            <p:spPr>
              <a:xfrm>
                <a:off x="5120716" y="4685936"/>
                <a:ext cx="3747436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>
                    <a:solidFill>
                      <a:srgbClr val="FF0000"/>
                    </a:solidFill>
                  </a:rPr>
                  <a:t>Feature A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≈2 × </m:t>
                    </m:r>
                  </m:oMath>
                </a14:m>
                <a:r>
                  <a:rPr lang="en-US" sz="25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Feature B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DC80F7-217D-E535-CB63-B539CEDA5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716" y="4685936"/>
                <a:ext cx="3747436" cy="477054"/>
              </a:xfrm>
              <a:prstGeom prst="rect">
                <a:avLst/>
              </a:prstGeom>
              <a:blipFill>
                <a:blip r:embed="rId2"/>
                <a:stretch>
                  <a:fillRect l="-2703" t="-13158" r="-168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60F827A-E793-8E4F-3CF7-F993AB436A0E}"/>
              </a:ext>
            </a:extLst>
          </p:cNvPr>
          <p:cNvSpPr txBox="1"/>
          <p:nvPr/>
        </p:nvSpPr>
        <p:spPr>
          <a:xfrm>
            <a:off x="7243957" y="5541633"/>
            <a:ext cx="439862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/>
              <a:t>Keeping both </a:t>
            </a:r>
            <a:r>
              <a:rPr lang="en-US" sz="2300" dirty="0">
                <a:solidFill>
                  <a:srgbClr val="FF0000"/>
                </a:solidFill>
              </a:rPr>
              <a:t>Feature A</a:t>
            </a:r>
            <a:r>
              <a:rPr lang="en-US" sz="2300" dirty="0"/>
              <a:t> and </a:t>
            </a:r>
            <a:r>
              <a:rPr lang="en-US" sz="23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Feature B</a:t>
            </a:r>
            <a:r>
              <a:rPr lang="en-US" sz="2300" dirty="0"/>
              <a:t> is redundant – we would like to keep only one</a:t>
            </a:r>
          </a:p>
        </p:txBody>
      </p:sp>
    </p:spTree>
    <p:extLst>
      <p:ext uri="{BB962C8B-B14F-4D97-AF65-F5344CB8AC3E}">
        <p14:creationId xmlns:p14="http://schemas.microsoft.com/office/powerpoint/2010/main" val="337818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BE01-626F-3641-1113-22E8B778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9EA4-BE8E-A594-9AE2-E9829CA7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4" y="303131"/>
            <a:ext cx="10515600" cy="1325563"/>
          </a:xfrm>
        </p:spPr>
        <p:txBody>
          <a:bodyPr/>
          <a:lstStyle/>
          <a:p>
            <a:r>
              <a:rPr lang="en-US" dirty="0"/>
              <a:t>Principal Components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1E2F3-BCF6-9752-F0AD-F458A2C8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9"/>
            <a:ext cx="10515600" cy="1406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Intuition: find </a:t>
            </a:r>
            <a:r>
              <a:rPr lang="en-US" b="1" dirty="0"/>
              <a:t>linear combinations</a:t>
            </a:r>
            <a:r>
              <a:rPr lang="en-US" dirty="0"/>
              <a:t> of features that are most “informative” (have highest variance)</a:t>
            </a:r>
          </a:p>
          <a:p>
            <a:r>
              <a:rPr lang="en-US" dirty="0"/>
              <a:t>Called principal components, or PCs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115C9F-DAC1-5A44-9095-B6485124C3F5}"/>
              </a:ext>
            </a:extLst>
          </p:cNvPr>
          <p:cNvGrpSpPr/>
          <p:nvPr/>
        </p:nvGrpSpPr>
        <p:grpSpPr>
          <a:xfrm>
            <a:off x="528234" y="3345531"/>
            <a:ext cx="4506423" cy="2868251"/>
            <a:chOff x="549424" y="3666991"/>
            <a:chExt cx="4506423" cy="28682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5A1389-4746-AFEA-79CE-C0F60CF8ABD6}"/>
                </a:ext>
              </a:extLst>
            </p:cNvPr>
            <p:cNvSpPr/>
            <p:nvPr/>
          </p:nvSpPr>
          <p:spPr>
            <a:xfrm>
              <a:off x="1162719" y="405527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0D558C-EA75-4D19-1EE4-3AFEFE9628DA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43BAEF-95E8-7608-DFC2-223856933DAB}"/>
                </a:ext>
              </a:extLst>
            </p:cNvPr>
            <p:cNvCxnSpPr/>
            <p:nvPr/>
          </p:nvCxnSpPr>
          <p:spPr>
            <a:xfrm>
              <a:off x="2036484" y="4072122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161ACD-2726-558B-B2E9-B63D92BC3E95}"/>
                </a:ext>
              </a:extLst>
            </p:cNvPr>
            <p:cNvCxnSpPr/>
            <p:nvPr/>
          </p:nvCxnSpPr>
          <p:spPr>
            <a:xfrm>
              <a:off x="2472438" y="4079215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3BD249-BCB1-0760-D0D7-DE6146AE5B0C}"/>
                </a:ext>
              </a:extLst>
            </p:cNvPr>
            <p:cNvCxnSpPr/>
            <p:nvPr/>
          </p:nvCxnSpPr>
          <p:spPr>
            <a:xfrm>
              <a:off x="3782157" y="4055279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7D945D-2574-DBCA-38F9-072FF4E0B5C1}"/>
                </a:ext>
              </a:extLst>
            </p:cNvPr>
            <p:cNvCxnSpPr/>
            <p:nvPr/>
          </p:nvCxnSpPr>
          <p:spPr>
            <a:xfrm>
              <a:off x="4238714" y="4067348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D34FA3-EF7C-2050-9271-AE367352BDFA}"/>
                </a:ext>
              </a:extLst>
            </p:cNvPr>
            <p:cNvSpPr txBox="1"/>
            <p:nvPr/>
          </p:nvSpPr>
          <p:spPr>
            <a:xfrm>
              <a:off x="1689646" y="3669720"/>
              <a:ext cx="12320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Feature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7E3E47-A086-1EEF-5469-D655917F61E1}"/>
                </a:ext>
              </a:extLst>
            </p:cNvPr>
            <p:cNvSpPr txBox="1"/>
            <p:nvPr/>
          </p:nvSpPr>
          <p:spPr>
            <a:xfrm>
              <a:off x="3452566" y="3666991"/>
              <a:ext cx="12368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Feature B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A415D2-ACFC-909F-E0EB-CB30366E623F}"/>
              </a:ext>
            </a:extLst>
          </p:cNvPr>
          <p:cNvCxnSpPr/>
          <p:nvPr/>
        </p:nvCxnSpPr>
        <p:spPr>
          <a:xfrm>
            <a:off x="5457693" y="4754872"/>
            <a:ext cx="124803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EFDE91-5DBB-FB54-AC7B-E6D217021913}"/>
              </a:ext>
            </a:extLst>
          </p:cNvPr>
          <p:cNvGrpSpPr/>
          <p:nvPr/>
        </p:nvGrpSpPr>
        <p:grpSpPr>
          <a:xfrm>
            <a:off x="6780329" y="2899635"/>
            <a:ext cx="3714635" cy="3234429"/>
            <a:chOff x="549424" y="3300813"/>
            <a:chExt cx="3714635" cy="32344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0D13DF-52E2-D169-B2B1-CC007E889A8B}"/>
                </a:ext>
              </a:extLst>
            </p:cNvPr>
            <p:cNvSpPr/>
            <p:nvPr/>
          </p:nvSpPr>
          <p:spPr>
            <a:xfrm>
              <a:off x="1162719" y="4055279"/>
              <a:ext cx="2034629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036455E-5C63-F650-5BC9-989A0554E45C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F36C8D9-9821-F2EC-0CAD-E4C4BF9D59B7}"/>
                </a:ext>
              </a:extLst>
            </p:cNvPr>
            <p:cNvCxnSpPr/>
            <p:nvPr/>
          </p:nvCxnSpPr>
          <p:spPr>
            <a:xfrm>
              <a:off x="1202922" y="4054591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70F42F6-6987-23B3-A3A8-367FB2698023}"/>
                </a:ext>
              </a:extLst>
            </p:cNvPr>
            <p:cNvCxnSpPr/>
            <p:nvPr/>
          </p:nvCxnSpPr>
          <p:spPr>
            <a:xfrm>
              <a:off x="1505711" y="4079215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A5EE70-1260-EA14-58E6-D9B7844A20AE}"/>
                </a:ext>
              </a:extLst>
            </p:cNvPr>
            <p:cNvSpPr txBox="1"/>
            <p:nvPr/>
          </p:nvSpPr>
          <p:spPr>
            <a:xfrm>
              <a:off x="670201" y="3300813"/>
              <a:ext cx="3593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Principal component (PC) 1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/>
                <a:t>=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br>
                <a:rPr lang="en-US" sz="2000" dirty="0">
                  <a:solidFill>
                    <a:srgbClr val="FF0000"/>
                  </a:solidFill>
                </a:rPr>
              </a:br>
              <a:r>
                <a:rPr lang="en-US" sz="2000" dirty="0"/>
                <a:t>2 * </a:t>
              </a:r>
              <a:r>
                <a:rPr lang="en-US" sz="2000" dirty="0">
                  <a:solidFill>
                    <a:srgbClr val="FF0000"/>
                  </a:solidFill>
                </a:rPr>
                <a:t>Feature A </a:t>
              </a:r>
              <a:r>
                <a:rPr lang="en-US" sz="2000" dirty="0"/>
                <a:t>+ 3 * </a:t>
              </a:r>
              <a:r>
                <a:rPr lang="en-US" sz="2000" dirty="0">
                  <a:solidFill>
                    <a:schemeClr val="accent4">
                      <a:lumMod val="50000"/>
                    </a:schemeClr>
                  </a:solidFill>
                </a:rPr>
                <a:t>Feature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021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19017C-E825-A234-15FD-77BF8BE3D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15168" cy="6836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207E13-3EFB-D3E0-B6BF-6C7F70933C84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849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75BFD-7DEB-C358-0B23-C9D83E1BC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9164595" cy="6873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948CB-A64E-D2A8-B692-7D0EDBDAE230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099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F559B1-A130-91E9-7031-900037B7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32"/>
          <a:stretch>
            <a:fillRect/>
          </a:stretch>
        </p:blipFill>
        <p:spPr>
          <a:xfrm>
            <a:off x="1414848" y="105338"/>
            <a:ext cx="9362304" cy="6647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16AACC-6748-4E95-7932-6C3FFB2D5162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4344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08CA64-C766-F261-61FF-3EB00D8D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1"/>
            <a:ext cx="9028670" cy="6771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5210B-42D1-2DF5-D72B-F7474E8A8346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6365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B0FD0-63F6-76C8-7FC1-AB077D4E6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66" y="3089"/>
            <a:ext cx="9139881" cy="6854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1B08C7-B92D-A7FD-DEF5-DF22820A81E7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3310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E8EF3-9BAF-F95D-C407-DE34EFC7D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97" y="3089"/>
            <a:ext cx="9139881" cy="6854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013A47-D2B8-5EFC-6224-A32DEAAF632A}"/>
              </a:ext>
            </a:extLst>
          </p:cNvPr>
          <p:cNvSpPr txBox="1"/>
          <p:nvPr/>
        </p:nvSpPr>
        <p:spPr>
          <a:xfrm>
            <a:off x="5816387" y="5325867"/>
            <a:ext cx="5877224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Linear comb. of features = direction in space, e.g. 2 * (</a:t>
            </a:r>
            <a:r>
              <a:rPr lang="en-US" sz="2200" dirty="0">
                <a:solidFill>
                  <a:srgbClr val="FF0000"/>
                </a:solidFill>
              </a:rPr>
              <a:t>Feature 1) </a:t>
            </a:r>
            <a:r>
              <a:rPr lang="en-US" sz="2200" dirty="0"/>
              <a:t>+ 3 * (</a:t>
            </a:r>
            <a:r>
              <a:rPr lang="en-US" sz="2200" dirty="0">
                <a:solidFill>
                  <a:schemeClr val="accent4">
                    <a:lumMod val="50000"/>
                  </a:schemeClr>
                </a:solidFill>
              </a:rPr>
              <a:t>Feature 2) </a:t>
            </a:r>
            <a:r>
              <a:rPr lang="en-US" sz="2200" dirty="0"/>
              <a:t>represented by vector &lt;2,3&gt;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61A3F-6C01-22B9-1B2A-69F4FFFFFFFB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7154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82213-D97A-1D7D-86A8-387F3DDE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76" y="120613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PCA: geometric intuition</a:t>
            </a:r>
          </a:p>
        </p:txBody>
      </p:sp>
      <p:pic>
        <p:nvPicPr>
          <p:cNvPr id="4098" name="Picture 2" descr="PCA clearly explained - How, when, why to use it and feature importance: A  guide in Python | Towards Data Science">
            <a:extLst>
              <a:ext uri="{FF2B5EF4-FFF2-40B4-BE49-F238E27FC236}">
                <a16:creationId xmlns:a16="http://schemas.microsoft.com/office/drawing/2014/main" id="{D2EB36AE-8215-382B-26CF-22D8A3FAB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00"/>
          <a:stretch>
            <a:fillRect/>
          </a:stretch>
        </p:blipFill>
        <p:spPr bwMode="auto">
          <a:xfrm>
            <a:off x="1997444" y="1275582"/>
            <a:ext cx="6796371" cy="402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FF4C8-0500-2F3B-7551-EE3C45C704BF}"/>
              </a:ext>
            </a:extLst>
          </p:cNvPr>
          <p:cNvSpPr txBox="1"/>
          <p:nvPr/>
        </p:nvSpPr>
        <p:spPr>
          <a:xfrm>
            <a:off x="8227364" y="1325562"/>
            <a:ext cx="374586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Linear combination of features = </a:t>
            </a:r>
            <a:r>
              <a:rPr lang="en-US" sz="2500" b="1" dirty="0"/>
              <a:t>direction in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e.g. 2 * (</a:t>
            </a:r>
            <a:r>
              <a:rPr lang="en-US" sz="2000" dirty="0">
                <a:solidFill>
                  <a:srgbClr val="FF0000"/>
                </a:solidFill>
              </a:rPr>
              <a:t>Feature 1) </a:t>
            </a:r>
            <a:r>
              <a:rPr lang="en-US" sz="2000" dirty="0"/>
              <a:t>+ 3 * 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Feature 2) </a:t>
            </a:r>
            <a:r>
              <a:rPr lang="en-US" sz="2000" dirty="0"/>
              <a:t>is represented by vector &lt;2,3&gt;</a:t>
            </a:r>
            <a:endParaRPr lang="en-US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990F8-0D0B-16AF-0B83-FB27CA895E7D}"/>
              </a:ext>
            </a:extLst>
          </p:cNvPr>
          <p:cNvSpPr txBox="1"/>
          <p:nvPr/>
        </p:nvSpPr>
        <p:spPr>
          <a:xfrm>
            <a:off x="8008588" y="3777269"/>
            <a:ext cx="41834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PCs are orthogonal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PC1 = direction of largest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PC2 = direction </a:t>
            </a:r>
            <a:r>
              <a:rPr lang="en-US" sz="2400" b="1" dirty="0"/>
              <a:t>orthogonal to PC1</a:t>
            </a:r>
            <a:r>
              <a:rPr lang="en-US" sz="2400" dirty="0"/>
              <a:t> of largest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PC3 = direction </a:t>
            </a:r>
            <a:r>
              <a:rPr lang="en-US" sz="2400" b="1" dirty="0"/>
              <a:t>orthogonal to PC 1, PC2</a:t>
            </a:r>
            <a:r>
              <a:rPr lang="en-US" sz="2400" dirty="0"/>
              <a:t> of largest variance</a:t>
            </a:r>
          </a:p>
        </p:txBody>
      </p:sp>
    </p:spTree>
    <p:extLst>
      <p:ext uri="{BB962C8B-B14F-4D97-AF65-F5344CB8AC3E}">
        <p14:creationId xmlns:p14="http://schemas.microsoft.com/office/powerpoint/2010/main" val="3120649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8AA58E-D9D8-E2AA-C6DE-7C0E2B86F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90BF-1BC0-2CF6-722B-BA277EFC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76" y="120613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Geometric interpretation of PCA: dimensionality reduction</a:t>
            </a:r>
          </a:p>
        </p:txBody>
      </p:sp>
      <p:pic>
        <p:nvPicPr>
          <p:cNvPr id="4098" name="Picture 2" descr="PCA clearly explained - How, when, why to use it and feature importance: A  guide in Python | Towards Data Science">
            <a:extLst>
              <a:ext uri="{FF2B5EF4-FFF2-40B4-BE49-F238E27FC236}">
                <a16:creationId xmlns:a16="http://schemas.microsoft.com/office/drawing/2014/main" id="{A5120A9D-1DEF-4C43-98BC-9BDD09E5D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00"/>
          <a:stretch>
            <a:fillRect/>
          </a:stretch>
        </p:blipFill>
        <p:spPr bwMode="auto">
          <a:xfrm>
            <a:off x="1997444" y="1275582"/>
            <a:ext cx="7529615" cy="445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1F49C-D3A7-F8AA-B471-276AFE37D693}"/>
              </a:ext>
            </a:extLst>
          </p:cNvPr>
          <p:cNvSpPr txBox="1"/>
          <p:nvPr/>
        </p:nvSpPr>
        <p:spPr>
          <a:xfrm>
            <a:off x="218776" y="5806621"/>
            <a:ext cx="11705494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Find directions in space that </a:t>
            </a:r>
            <a:r>
              <a:rPr lang="en-US" sz="2500" i="1" dirty="0"/>
              <a:t>“explain the most variance in the data”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Linear comb. of features = direction in space, e.g. 2 * (</a:t>
            </a:r>
            <a:r>
              <a:rPr lang="en-US" dirty="0">
                <a:solidFill>
                  <a:srgbClr val="FF0000"/>
                </a:solidFill>
              </a:rPr>
              <a:t>Feature 1) </a:t>
            </a:r>
            <a:r>
              <a:rPr lang="en-US" dirty="0"/>
              <a:t>+ 3 * (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Feature 2) </a:t>
            </a:r>
            <a:r>
              <a:rPr lang="en-US" dirty="0"/>
              <a:t>represented by vector &lt;2,3&gt;</a:t>
            </a:r>
          </a:p>
        </p:txBody>
      </p:sp>
    </p:spTree>
    <p:extLst>
      <p:ext uri="{BB962C8B-B14F-4D97-AF65-F5344CB8AC3E}">
        <p14:creationId xmlns:p14="http://schemas.microsoft.com/office/powerpoint/2010/main" val="1877793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B422-ADCE-A67B-290B-F3025942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interpretation of PCA</a:t>
            </a:r>
          </a:p>
        </p:txBody>
      </p:sp>
      <p:pic>
        <p:nvPicPr>
          <p:cNvPr id="6146" name="Picture 2" descr="Everything you did and didn't know about PCA · Its Neuronal">
            <a:extLst>
              <a:ext uri="{FF2B5EF4-FFF2-40B4-BE49-F238E27FC236}">
                <a16:creationId xmlns:a16="http://schemas.microsoft.com/office/drawing/2014/main" id="{4325E514-1017-A4CC-CB49-8F8902381F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04348"/>
            <a:ext cx="10515600" cy="524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45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A07E-0D89-BDBF-A1D5-9FDBF270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8ECE0-C689-0572-619F-753FDFC4DF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48ECE0-C689-0572-619F-753FDFC4DF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3DC852B-D16C-F39F-1E72-7E40E38172F9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1162E0-1F29-06E1-6ACC-22153923B81B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0EABD1-662F-71FD-9192-CF8CD1B86921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5033AD-FAC3-1CCD-09C6-E5EE95EA4035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197631-C311-B3A5-D12D-E37476FB9419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BA2F45-EC05-8A56-9A16-6A5A1718AF03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C54D1A-70A8-75DA-A945-5B8D3358D3C7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28E06A-338E-3DEC-FF2B-CA0102249B01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DB9AA1D-A491-7536-C8DE-4AAADC9B0799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E34B6-CC14-B425-4DB4-2B115CDBFE28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12782-45B8-0920-458E-F26C9A25CB3E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16028A-F51B-FBA7-8423-48A4909E7BE1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ADD729-A6D0-BD4E-B37D-C204CA7EB7BA}"/>
                  </a:ext>
                </a:extLst>
              </p:cNvPr>
              <p:cNvSpPr txBox="1"/>
              <p:nvPr/>
            </p:nvSpPr>
            <p:spPr>
              <a:xfrm>
                <a:off x="4797919" y="1159097"/>
                <a:ext cx="7082934" cy="4468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Key assumptions: each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(i.e. each cell) is </a:t>
                </a:r>
              </a:p>
              <a:p>
                <a:endParaRPr lang="en-US" sz="2400" dirty="0"/>
              </a:p>
              <a:p>
                <a:pPr marL="457200" indent="-457200">
                  <a:buAutoNum type="arabicParenBoth"/>
                </a:pPr>
                <a:r>
                  <a:rPr lang="en-US" sz="2400" b="1" dirty="0"/>
                  <a:t>centered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(2) </a:t>
                </a:r>
                <a:r>
                  <a:rPr lang="en-US" sz="2400" b="1" dirty="0"/>
                  <a:t>has variance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𝑖𝑔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ADD729-A6D0-BD4E-B37D-C204CA7EB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919" y="1159097"/>
                <a:ext cx="7082934" cy="4468531"/>
              </a:xfrm>
              <a:prstGeom prst="rect">
                <a:avLst/>
              </a:prstGeom>
              <a:blipFill>
                <a:blip r:embed="rId3"/>
                <a:stretch>
                  <a:fillRect l="-1252" t="-1133" b="-38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028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B0EC-5EDA-23D6-375D-D0CE5463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E3E7B-6BBD-AD88-146D-4DF476FC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D5883-F34C-1D5C-AC2A-4BD5016785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D5883-F34C-1D5C-AC2A-4BD5016785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DF8BA57-D460-FFA2-C6C9-5FF67550CE3C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E1FDD0-B744-F53A-E905-0F7959ACB10B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26F63E-09FD-C565-8833-94056D7CD606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21E1A6-4BA1-D241-0D25-0451DB3C321D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3F01033-AB87-2109-96D3-D33CFF869CC9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6E2EF5-3458-233D-B4F0-A2C66918838C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A50EF0-3E44-3587-E9A4-8F6757B29103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6E2AF4-BE7C-CFC8-EECD-A9BB699ED4D1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6114B82-BABD-9A37-A3CD-9FE459F7908E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E9F071-6BC3-F7CF-5219-00D92DB16707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385E6F-4290-D57A-F171-8C87FE98B4AF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F4461-5FD7-6224-73E8-0B5CD02FF747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D22D47-AF40-B278-B0DC-B52840EE306A}"/>
              </a:ext>
            </a:extLst>
          </p:cNvPr>
          <p:cNvSpPr/>
          <p:nvPr/>
        </p:nvSpPr>
        <p:spPr>
          <a:xfrm>
            <a:off x="3982673" y="2529493"/>
            <a:ext cx="42935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3E4BC-0B33-74D6-1A8A-523907882A2E}"/>
                  </a:ext>
                </a:extLst>
              </p:cNvPr>
              <p:cNvSpPr txBox="1"/>
              <p:nvPr/>
            </p:nvSpPr>
            <p:spPr>
              <a:xfrm>
                <a:off x="361343" y="5313415"/>
                <a:ext cx="4271940" cy="1208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Key assumptions: each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500" dirty="0"/>
                  <a:t> (i.e. each cell) is </a:t>
                </a:r>
              </a:p>
              <a:p>
                <a:r>
                  <a:rPr lang="en-US" sz="1500" b="1" dirty="0"/>
                  <a:t>(1) Centered</a:t>
                </a:r>
                <a:r>
                  <a:rPr lang="en-US" sz="15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>
                          <m:sSub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1500" dirty="0"/>
              </a:p>
              <a:p>
                <a:r>
                  <a:rPr lang="en-US" sz="1500" dirty="0"/>
                  <a:t>(2) </a:t>
                </a:r>
                <a:r>
                  <a:rPr lang="en-US" sz="1500" b="1" dirty="0"/>
                  <a:t>has variance =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Sup>
                          <m:sSubSup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  <m:sup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B3E4BC-0B33-74D6-1A8A-523907882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5313415"/>
                <a:ext cx="4271940" cy="1208921"/>
              </a:xfrm>
              <a:prstGeom prst="rect">
                <a:avLst/>
              </a:prstGeom>
              <a:blipFill>
                <a:blip r:embed="rId3"/>
                <a:stretch>
                  <a:fillRect l="-593" t="-1042" b="-4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52E74B3-1487-F375-E2F0-C647EA78EF31}"/>
              </a:ext>
            </a:extLst>
          </p:cNvPr>
          <p:cNvSpPr txBox="1"/>
          <p:nvPr/>
        </p:nvSpPr>
        <p:spPr>
          <a:xfrm>
            <a:off x="4014302" y="3213555"/>
            <a:ext cx="399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07A6C9-E179-B9CB-BA12-66390FD34FCE}"/>
                  </a:ext>
                </a:extLst>
              </p:cNvPr>
              <p:cNvSpPr txBox="1"/>
              <p:nvPr/>
            </p:nvSpPr>
            <p:spPr>
              <a:xfrm>
                <a:off x="4999707" y="1887406"/>
                <a:ext cx="7748347" cy="296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Goal:</a:t>
                </a:r>
                <a:r>
                  <a:rPr lang="en-US" sz="2200" dirty="0"/>
                  <a:t> find vector </a:t>
                </a:r>
                <a:r>
                  <a:rPr lang="en-US" sz="2200" b="1" dirty="0"/>
                  <a:t>w</a:t>
                </a:r>
                <a:r>
                  <a:rPr lang="en-US" sz="2200" dirty="0"/>
                  <a:t> that maximizes variance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dirty="0"/>
                  <a:t>(Assume ||w||=1 for unique solution) </a:t>
                </a:r>
              </a:p>
              <a:p>
                <a:endParaRPr lang="en-US" sz="2200" dirty="0"/>
              </a:p>
              <a:p>
                <a:r>
                  <a:rPr lang="en-US" sz="2200" b="1" u="sng" dirty="0"/>
                  <a:t>w is Principal Component 1 (PC1)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07A6C9-E179-B9CB-BA12-66390FD34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707" y="1887406"/>
                <a:ext cx="7748347" cy="2964401"/>
              </a:xfrm>
              <a:prstGeom prst="rect">
                <a:avLst/>
              </a:prstGeom>
              <a:blipFill>
                <a:blip r:embed="rId4"/>
                <a:stretch>
                  <a:fillRect l="-982" t="-1277" b="-2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234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B41D-B6FB-537E-8010-701B1312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815F-EE95-36D4-BFFC-BC3FFBA77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AD371-C210-0306-833E-80DD17F42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AD371-C210-0306-833E-80DD17F42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1554B80-F18A-9129-52F5-C74298469E56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44766C-79DB-24CC-11FA-99CA14B86298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5C6E0E-C85E-C1B4-0734-6380A94CCAD8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C84514-25AB-1798-E8E8-B413079B60DE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B1F1064-9337-EBDE-5CD7-472761234AA9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3172C5-42CA-EAAE-5EC3-274247984CE7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741F72-4B15-EA1C-2954-20A370EB58A2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8ECBE3-299B-603B-4459-1A1AAC3BFAD9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248AC85-FB16-D210-8531-813E07FA3922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13902-507E-EA2A-F7A6-DD025EFC6ED5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914D18-3D44-B777-BB97-C34C4B9ACA27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1128D3-81BE-5446-A55C-049331AAFDDB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841D91-80B6-F3CB-DBA0-7CB4D9A4B870}"/>
              </a:ext>
            </a:extLst>
          </p:cNvPr>
          <p:cNvSpPr/>
          <p:nvPr/>
        </p:nvSpPr>
        <p:spPr>
          <a:xfrm>
            <a:off x="3982673" y="2529493"/>
            <a:ext cx="42935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3EB369-A0B1-659D-6344-7FD314A8B899}"/>
                  </a:ext>
                </a:extLst>
              </p:cNvPr>
              <p:cNvSpPr txBox="1"/>
              <p:nvPr/>
            </p:nvSpPr>
            <p:spPr>
              <a:xfrm>
                <a:off x="361343" y="5313415"/>
                <a:ext cx="4271940" cy="1208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Key assumptions: each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500" dirty="0"/>
                  <a:t> (i.e. each cell) is </a:t>
                </a:r>
              </a:p>
              <a:p>
                <a:r>
                  <a:rPr lang="en-US" sz="1500" b="1" dirty="0"/>
                  <a:t>(1) Centered</a:t>
                </a:r>
                <a:r>
                  <a:rPr lang="en-US" sz="15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>
                          <m:sSub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1500" dirty="0"/>
              </a:p>
              <a:p>
                <a:r>
                  <a:rPr lang="en-US" sz="1500" dirty="0"/>
                  <a:t>(2) </a:t>
                </a:r>
                <a:r>
                  <a:rPr lang="en-US" sz="1500" b="1" dirty="0"/>
                  <a:t>has variance =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Sup>
                          <m:sSubSup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  <m:sup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3EB369-A0B1-659D-6344-7FD314A8B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5313415"/>
                <a:ext cx="4271940" cy="1208921"/>
              </a:xfrm>
              <a:prstGeom prst="rect">
                <a:avLst/>
              </a:prstGeom>
              <a:blipFill>
                <a:blip r:embed="rId3"/>
                <a:stretch>
                  <a:fillRect l="-593" t="-1042" b="-4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A53892E-0C96-F85B-F16B-3B65E18AF677}"/>
              </a:ext>
            </a:extLst>
          </p:cNvPr>
          <p:cNvSpPr txBox="1"/>
          <p:nvPr/>
        </p:nvSpPr>
        <p:spPr>
          <a:xfrm>
            <a:off x="4014302" y="3213555"/>
            <a:ext cx="399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89C459-B98C-B9A5-B7A6-A102184A2C9D}"/>
                  </a:ext>
                </a:extLst>
              </p:cNvPr>
              <p:cNvSpPr txBox="1"/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Goal:</a:t>
                </a:r>
                <a:r>
                  <a:rPr lang="en-US" sz="2200" dirty="0"/>
                  <a:t> find vector </a:t>
                </a:r>
                <a:r>
                  <a:rPr lang="en-US" sz="2200" b="1" dirty="0"/>
                  <a:t>w</a:t>
                </a:r>
                <a:r>
                  <a:rPr lang="en-US" sz="2200" dirty="0"/>
                  <a:t> that maximizes variance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u="sng" dirty="0"/>
                  <a:t>Solution </a:t>
                </a:r>
                <a:r>
                  <a:rPr lang="en-US" sz="2200" dirty="0"/>
                  <a:t>[derive on board]: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≔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is the </a:t>
                </a:r>
                <a:r>
                  <a:rPr lang="en-US" sz="2000" b="1" dirty="0"/>
                  <a:t>sample covariance matrix</a:t>
                </a:r>
                <a:r>
                  <a:rPr lang="en-US" sz="20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89C459-B98C-B9A5-B7A6-A102184A2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blipFill>
                <a:blip r:embed="rId4"/>
                <a:stretch>
                  <a:fillRect l="-980" t="-1166" b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734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084F6-C5DA-9D4D-F6C4-A8A160CC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7427-6616-BCFA-1ADA-FA3B7E29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48412-3C5C-DBB1-D881-A8E350C421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M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48412-3C5C-DBB1-D881-A8E350C42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5230" y="6996914"/>
                <a:ext cx="8091755" cy="4719008"/>
              </a:xfrm>
              <a:blipFill>
                <a:blip r:embed="rId2"/>
                <a:stretch>
                  <a:fillRect l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79A835A-636D-8340-A2AF-B774D392CC32}"/>
              </a:ext>
            </a:extLst>
          </p:cNvPr>
          <p:cNvGrpSpPr/>
          <p:nvPr/>
        </p:nvGrpSpPr>
        <p:grpSpPr>
          <a:xfrm>
            <a:off x="0" y="2129384"/>
            <a:ext cx="3705230" cy="2773741"/>
            <a:chOff x="457677" y="3292152"/>
            <a:chExt cx="4390486" cy="38236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0DD868A-4E84-B487-D64B-AAB818D69DC0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4A9E85-8660-603A-D248-B084D3486CFD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084CB8-15BD-08A7-9867-F5FDC2D856FC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B564D2-2443-9617-8896-5A2613CF7D9A}"/>
                </a:ext>
              </a:extLst>
            </p:cNvPr>
            <p:cNvSpPr txBox="1"/>
            <p:nvPr/>
          </p:nvSpPr>
          <p:spPr>
            <a:xfrm>
              <a:off x="2493703" y="6352097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AA90B6-990E-A132-1F3F-8BD01D28EE6E}"/>
              </a:ext>
            </a:extLst>
          </p:cNvPr>
          <p:cNvCxnSpPr/>
          <p:nvPr/>
        </p:nvCxnSpPr>
        <p:spPr>
          <a:xfrm>
            <a:off x="451361" y="3035984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8B56E7-5905-CF2A-2808-1C06E3E07244}"/>
              </a:ext>
            </a:extLst>
          </p:cNvPr>
          <p:cNvCxnSpPr/>
          <p:nvPr/>
        </p:nvCxnSpPr>
        <p:spPr>
          <a:xfrm>
            <a:off x="451361" y="342900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D3202D-D2DA-845A-FC91-1AFF513EDA55}"/>
              </a:ext>
            </a:extLst>
          </p:cNvPr>
          <p:cNvCxnSpPr/>
          <p:nvPr/>
        </p:nvCxnSpPr>
        <p:spPr>
          <a:xfrm>
            <a:off x="442731" y="3898780"/>
            <a:ext cx="3285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5FB28A-D764-5CB5-A72B-19C2D7206015}"/>
              </a:ext>
            </a:extLst>
          </p:cNvPr>
          <p:cNvSpPr txBox="1"/>
          <p:nvPr/>
        </p:nvSpPr>
        <p:spPr>
          <a:xfrm>
            <a:off x="1895364" y="253746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C5061B-D34A-E26F-51D0-78B972395888}"/>
              </a:ext>
            </a:extLst>
          </p:cNvPr>
          <p:cNvSpPr txBox="1"/>
          <p:nvPr/>
        </p:nvSpPr>
        <p:spPr>
          <a:xfrm>
            <a:off x="1903994" y="3010348"/>
            <a:ext cx="425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y</a:t>
            </a:r>
            <a:r>
              <a:rPr lang="en-US" sz="2200" b="1" baseline="-250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B7E2F5-C1A9-67A6-A51D-D2BD6DA68469}"/>
              </a:ext>
            </a:extLst>
          </p:cNvPr>
          <p:cNvSpPr txBox="1"/>
          <p:nvPr/>
        </p:nvSpPr>
        <p:spPr>
          <a:xfrm rot="5400000">
            <a:off x="1960880" y="348105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93D8DC-6143-E39A-27BF-8E7D0B6D617B}"/>
              </a:ext>
            </a:extLst>
          </p:cNvPr>
          <p:cNvSpPr txBox="1"/>
          <p:nvPr/>
        </p:nvSpPr>
        <p:spPr>
          <a:xfrm>
            <a:off x="1923593" y="3886170"/>
            <a:ext cx="4603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y</a:t>
            </a:r>
            <a:r>
              <a:rPr lang="en-US" sz="2200" b="1" baseline="-25000" dirty="0" err="1"/>
              <a:t>N</a:t>
            </a:r>
            <a:endParaRPr lang="en-US" sz="2200" b="1" baseline="-25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891EC3-E5C8-6F42-734F-462A1FE56D89}"/>
              </a:ext>
            </a:extLst>
          </p:cNvPr>
          <p:cNvSpPr/>
          <p:nvPr/>
        </p:nvSpPr>
        <p:spPr>
          <a:xfrm>
            <a:off x="3982673" y="2529493"/>
            <a:ext cx="42935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5E959F-C381-3283-EF1C-36CB26A647F1}"/>
                  </a:ext>
                </a:extLst>
              </p:cNvPr>
              <p:cNvSpPr txBox="1"/>
              <p:nvPr/>
            </p:nvSpPr>
            <p:spPr>
              <a:xfrm>
                <a:off x="361343" y="5313415"/>
                <a:ext cx="4271940" cy="1208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/>
                  <a:t>Key assumptions: each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𝑖𝐺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500" dirty="0"/>
                  <a:t> (i.e. each cell) is </a:t>
                </a:r>
              </a:p>
              <a:p>
                <a:r>
                  <a:rPr lang="en-US" sz="1500" b="1" dirty="0"/>
                  <a:t>(1) Centered</a:t>
                </a:r>
                <a:r>
                  <a:rPr lang="en-US" sz="15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>
                          <m:sSub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</m:s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sz="1500" dirty="0"/>
              </a:p>
              <a:p>
                <a:r>
                  <a:rPr lang="en-US" sz="1500" dirty="0"/>
                  <a:t>(2) </a:t>
                </a:r>
                <a:r>
                  <a:rPr lang="en-US" sz="1500" b="1" dirty="0"/>
                  <a:t>has variance =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  <m:e>
                        <m:sSubSup>
                          <m:sSubSupPr>
                            <m:ctrlP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𝑖𝑔</m:t>
                            </m:r>
                          </m:sub>
                          <m:sup>
                            <m:r>
                              <a:rPr lang="en-US" sz="1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5E959F-C381-3283-EF1C-36CB26A64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5313415"/>
                <a:ext cx="4271940" cy="1208921"/>
              </a:xfrm>
              <a:prstGeom prst="rect">
                <a:avLst/>
              </a:prstGeom>
              <a:blipFill>
                <a:blip r:embed="rId3"/>
                <a:stretch>
                  <a:fillRect l="-593" t="-1042" b="-4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C144B2E-F633-9475-32C6-895113C68185}"/>
              </a:ext>
            </a:extLst>
          </p:cNvPr>
          <p:cNvSpPr txBox="1"/>
          <p:nvPr/>
        </p:nvSpPr>
        <p:spPr>
          <a:xfrm>
            <a:off x="4014302" y="3213555"/>
            <a:ext cx="3994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341CE-41DD-D94B-A319-24F73F964AC7}"/>
                  </a:ext>
                </a:extLst>
              </p:cNvPr>
              <p:cNvSpPr txBox="1"/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Goal:</a:t>
                </a:r>
                <a:r>
                  <a:rPr lang="en-US" sz="2200" dirty="0"/>
                  <a:t> find vector </a:t>
                </a:r>
                <a:r>
                  <a:rPr lang="en-US" sz="2200" b="1" dirty="0"/>
                  <a:t>w</a:t>
                </a:r>
                <a:r>
                  <a:rPr lang="en-US" sz="2200" dirty="0"/>
                  <a:t> that maximizes variance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u="sng" dirty="0"/>
                  <a:t>Solution </a:t>
                </a:r>
                <a:r>
                  <a:rPr lang="en-US" sz="2200" dirty="0"/>
                  <a:t>[derive on board]: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</m: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≔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</m: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is the </a:t>
                </a:r>
                <a:r>
                  <a:rPr lang="en-US" sz="2000" b="1" dirty="0"/>
                  <a:t>sample covariance matrix</a:t>
                </a:r>
                <a:r>
                  <a:rPr lang="en-US" sz="2000" dirty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/>
                  <a:t>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6341CE-41DD-D94B-A319-24F73F964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653" y="522892"/>
                <a:ext cx="7748347" cy="4349076"/>
              </a:xfrm>
              <a:prstGeom prst="rect">
                <a:avLst/>
              </a:prstGeom>
              <a:blipFill>
                <a:blip r:embed="rId4"/>
                <a:stretch>
                  <a:fillRect l="-980" t="-1166" b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76EB4DF6-E4C5-5654-38D2-0B95BB7026C3}"/>
              </a:ext>
            </a:extLst>
          </p:cNvPr>
          <p:cNvSpPr/>
          <p:nvPr/>
        </p:nvSpPr>
        <p:spPr>
          <a:xfrm>
            <a:off x="9897759" y="2791919"/>
            <a:ext cx="1899226" cy="132556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A81F25-C0A7-6E55-A600-527DFF0CAEE3}"/>
              </a:ext>
            </a:extLst>
          </p:cNvPr>
          <p:cNvCxnSpPr>
            <a:cxnSpLocks/>
          </p:cNvCxnSpPr>
          <p:nvPr/>
        </p:nvCxnSpPr>
        <p:spPr>
          <a:xfrm flipV="1">
            <a:off x="9279924" y="4225447"/>
            <a:ext cx="1186246" cy="133146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52F15-5DB0-E83D-8954-297929BEA367}"/>
                  </a:ext>
                </a:extLst>
              </p:cNvPr>
              <p:cNvSpPr txBox="1"/>
              <p:nvPr/>
            </p:nvSpPr>
            <p:spPr>
              <a:xfrm>
                <a:off x="4633283" y="5556915"/>
                <a:ext cx="7429983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>
                    <a:solidFill>
                      <a:srgbClr val="C00000"/>
                    </a:solidFill>
                  </a:rPr>
                  <a:t>This is the top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>
                    <a:solidFill>
                      <a:srgbClr val="C00000"/>
                    </a:solidFill>
                  </a:rPr>
                  <a:t>! (Why?)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C00000"/>
                    </a:solidFill>
                  </a:rPr>
                  <a:t>i.e. eigenvector v with largest (absolute) eigenvalue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852F15-5DB0-E83D-8954-297929BEA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283" y="5556915"/>
                <a:ext cx="7429983" cy="861774"/>
              </a:xfrm>
              <a:prstGeom prst="rect">
                <a:avLst/>
              </a:prstGeom>
              <a:blipFill>
                <a:blip r:embed="rId5"/>
                <a:stretch>
                  <a:fillRect l="-1365" t="-5797" r="-1365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996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D1BD3-3DAC-57B0-AF39-873565AE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5482-43A5-D175-E1AC-A47B91F1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1B0BE9-7C5E-00C8-B5C9-9DAB84C5E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53" y="1069496"/>
                <a:ext cx="8241668" cy="47190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PC 1:</a:t>
                </a:r>
                <a:r>
                  <a:rPr lang="en-US" dirty="0"/>
                  <a:t> (length G – linear coefficients of M features)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𝑌𝑤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top eigenvector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Loading 1:</a:t>
                </a:r>
                <a:r>
                  <a:rPr lang="en-US" dirty="0"/>
                  <a:t> (length N- combination of features for each sample)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𝑌𝑤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1B0BE9-7C5E-00C8-B5C9-9DAB84C5E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53" y="1069496"/>
                <a:ext cx="8241668" cy="4719008"/>
              </a:xfrm>
              <a:blipFill>
                <a:blip r:embed="rId2"/>
                <a:stretch>
                  <a:fillRect l="-1538" t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928E96D-0078-7739-2F19-E32CAF17F607}"/>
              </a:ext>
            </a:extLst>
          </p:cNvPr>
          <p:cNvGrpSpPr/>
          <p:nvPr/>
        </p:nvGrpSpPr>
        <p:grpSpPr>
          <a:xfrm>
            <a:off x="-6279" y="1229877"/>
            <a:ext cx="3705230" cy="2199123"/>
            <a:chOff x="457677" y="3292152"/>
            <a:chExt cx="4390486" cy="30315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6EC019-2BF1-4B60-1FFC-42F9D3F2E812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535626-58E7-B7EB-627D-AE842E67F11D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E16701C-C4AC-F940-1EF9-7F6719202691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F8E33B-3829-72B7-D305-6C03FC614E5A}"/>
                </a:ext>
              </a:extLst>
            </p:cNvPr>
            <p:cNvSpPr txBox="1"/>
            <p:nvPr/>
          </p:nvSpPr>
          <p:spPr>
            <a:xfrm>
              <a:off x="2572693" y="4764603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pic>
        <p:nvPicPr>
          <p:cNvPr id="74" name="Picture 2" descr="PCA clearly explained - How, when, why to use it and feature importance: A  guide in Python | Towards Data Science">
            <a:extLst>
              <a:ext uri="{FF2B5EF4-FFF2-40B4-BE49-F238E27FC236}">
                <a16:creationId xmlns:a16="http://schemas.microsoft.com/office/drawing/2014/main" id="{A3E0B4D4-2A75-1863-3F50-C811F1812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94" b="11410"/>
          <a:stretch>
            <a:fillRect/>
          </a:stretch>
        </p:blipFill>
        <p:spPr bwMode="auto">
          <a:xfrm>
            <a:off x="130834" y="3726619"/>
            <a:ext cx="2865166" cy="287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F85A918-8CB8-1F10-A11A-F02F0F752E46}"/>
              </a:ext>
            </a:extLst>
          </p:cNvPr>
          <p:cNvGrpSpPr/>
          <p:nvPr/>
        </p:nvGrpSpPr>
        <p:grpSpPr>
          <a:xfrm>
            <a:off x="3698951" y="5068799"/>
            <a:ext cx="4385907" cy="1799013"/>
            <a:chOff x="3698951" y="5068799"/>
            <a:chExt cx="4385907" cy="17990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F981AEB-6B03-1CF9-D1C3-DE7BF2164FE6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B935B7-90F5-6CED-7E62-C4DA1DE37EAA}"/>
                </a:ext>
              </a:extLst>
            </p:cNvPr>
            <p:cNvSpPr/>
            <p:nvPr/>
          </p:nvSpPr>
          <p:spPr>
            <a:xfrm rot="5400000">
              <a:off x="6203931" y="3745607"/>
              <a:ext cx="476358" cy="328549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4475FF1-2375-10FE-1BEF-9FA1538C6A63}"/>
                    </a:ext>
                  </a:extLst>
                </p:cNvPr>
                <p:cNvSpPr txBox="1"/>
                <p:nvPr/>
              </p:nvSpPr>
              <p:spPr>
                <a:xfrm>
                  <a:off x="6163408" y="5191415"/>
                  <a:ext cx="557397" cy="4351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4475FF1-2375-10FE-1BEF-9FA1538C6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3408" y="5191415"/>
                  <a:ext cx="557397" cy="4351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19B875-2AA2-84F5-30EB-6A537E57A4FD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646D44-8C91-A2ED-26B2-97C61E4F02AC}"/>
                </a:ext>
              </a:extLst>
            </p:cNvPr>
            <p:cNvSpPr txBox="1"/>
            <p:nvPr/>
          </p:nvSpPr>
          <p:spPr>
            <a:xfrm rot="16200000">
              <a:off x="3258285" y="5788915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samples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E8F180-8900-2772-F271-62D105E073AC}"/>
                </a:ext>
              </a:extLst>
            </p:cNvPr>
            <p:cNvSpPr txBox="1"/>
            <p:nvPr/>
          </p:nvSpPr>
          <p:spPr>
            <a:xfrm>
              <a:off x="5834473" y="5693530"/>
              <a:ext cx="1215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09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BD2C-B823-1D9F-B9FE-B6C0C7DD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4B2D-C0FC-AA1D-8C35-5C31A535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PCA: derivation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B6C1-1882-BAF8-3A0E-04F0943FE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PC 1: </a:t>
                </a: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𝑌𝑤</m:t>
                            </m:r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			Loading 1: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B6C1-1882-BAF8-3A0E-04F0943FE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  <a:blipFill>
                <a:blip r:embed="rId2"/>
                <a:stretch>
                  <a:fillRect l="-1121"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6EEFC67-64DF-8645-BD4E-E0894506CEDF}"/>
              </a:ext>
            </a:extLst>
          </p:cNvPr>
          <p:cNvGrpSpPr/>
          <p:nvPr/>
        </p:nvGrpSpPr>
        <p:grpSpPr>
          <a:xfrm>
            <a:off x="1624399" y="3782138"/>
            <a:ext cx="3705230" cy="2199123"/>
            <a:chOff x="457677" y="3292152"/>
            <a:chExt cx="4390486" cy="30315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112CA1-C55B-C9F2-A68E-35B1963F7F08}"/>
                </a:ext>
              </a:extLst>
            </p:cNvPr>
            <p:cNvSpPr/>
            <p:nvPr/>
          </p:nvSpPr>
          <p:spPr>
            <a:xfrm>
              <a:off x="955035" y="384370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188F7F-1AF5-3CC9-9864-51D725520C89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C20D13-B661-CFCA-88D5-DF7D136BBA07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2AE96E-12FD-B8CC-01F9-4C9954DECF72}"/>
                </a:ext>
              </a:extLst>
            </p:cNvPr>
            <p:cNvSpPr txBox="1"/>
            <p:nvPr/>
          </p:nvSpPr>
          <p:spPr>
            <a:xfrm>
              <a:off x="2572693" y="4764603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32F942-A464-80FE-C269-52B2FF438720}"/>
              </a:ext>
            </a:extLst>
          </p:cNvPr>
          <p:cNvSpPr txBox="1"/>
          <p:nvPr/>
        </p:nvSpPr>
        <p:spPr>
          <a:xfrm>
            <a:off x="920383" y="6092413"/>
            <a:ext cx="99285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u="sng" dirty="0"/>
              <a:t>Intuition:</a:t>
            </a:r>
            <a:r>
              <a:rPr lang="en-US" sz="2100" dirty="0"/>
              <a:t> PCA corresponds to computing the singular value decomposition (SVD) </a:t>
            </a:r>
            <a:r>
              <a:rPr lang="en-US" sz="2100" i="1" dirty="0"/>
              <a:t>[will discuss soon]</a:t>
            </a:r>
            <a:r>
              <a:rPr lang="en-US" sz="2100" dirty="0"/>
              <a:t> which produces best rank-k approximation to 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711452-EA4E-5077-A185-872FE1B7A963}"/>
              </a:ext>
            </a:extLst>
          </p:cNvPr>
          <p:cNvGrpSpPr/>
          <p:nvPr/>
        </p:nvGrpSpPr>
        <p:grpSpPr>
          <a:xfrm>
            <a:off x="6846642" y="4011431"/>
            <a:ext cx="4385907" cy="1799013"/>
            <a:chOff x="3698951" y="5068799"/>
            <a:chExt cx="4385907" cy="17990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DC35C0-7BE8-7D23-FDDA-E3F3B9A1FB76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CAD81D-5CE1-2A0F-411B-55B90AC5ACEA}"/>
                </a:ext>
              </a:extLst>
            </p:cNvPr>
            <p:cNvSpPr/>
            <p:nvPr/>
          </p:nvSpPr>
          <p:spPr>
            <a:xfrm rot="5400000">
              <a:off x="6261658" y="3687879"/>
              <a:ext cx="360903" cy="328549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C637A2-CCD0-D7A4-066F-B92BC05ED386}"/>
                </a:ext>
              </a:extLst>
            </p:cNvPr>
            <p:cNvSpPr txBox="1"/>
            <p:nvPr/>
          </p:nvSpPr>
          <p:spPr>
            <a:xfrm>
              <a:off x="6213521" y="506879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120D2E-B223-32A4-6788-DB06C0F4F861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681E43-EF88-6B47-715F-EC7F2C132410}"/>
                </a:ext>
              </a:extLst>
            </p:cNvPr>
            <p:cNvSpPr txBox="1"/>
            <p:nvPr/>
          </p:nvSpPr>
          <p:spPr>
            <a:xfrm rot="16200000">
              <a:off x="3258285" y="5788915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samples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0EF830-62F3-3EDC-4A94-112F4F2C40A8}"/>
                </a:ext>
              </a:extLst>
            </p:cNvPr>
            <p:cNvSpPr txBox="1"/>
            <p:nvPr/>
          </p:nvSpPr>
          <p:spPr>
            <a:xfrm>
              <a:off x="6027475" y="5569736"/>
              <a:ext cx="1215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 features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079B96-63CB-B9EA-3B9D-6523268D6AAA}"/>
                  </a:ext>
                </a:extLst>
              </p:cNvPr>
              <p:cNvSpPr txBox="1"/>
              <p:nvPr/>
            </p:nvSpPr>
            <p:spPr>
              <a:xfrm>
                <a:off x="5824444" y="4574981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079B96-63CB-B9EA-3B9D-6523268D6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444" y="4574981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8FABF-4488-C4DF-4C84-03544B98410B}"/>
                  </a:ext>
                </a:extLst>
              </p:cNvPr>
              <p:cNvSpPr txBox="1"/>
              <p:nvPr/>
            </p:nvSpPr>
            <p:spPr>
              <a:xfrm>
                <a:off x="1160472" y="2439866"/>
                <a:ext cx="10339550" cy="118558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500" b="1" dirty="0"/>
                  <a:t>Theorem (Eckart-Young):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2500" dirty="0"/>
                  <a:t>is best </a:t>
                </a:r>
                <a:r>
                  <a:rPr lang="en-US" sz="2500" i="1" dirty="0"/>
                  <a:t>rank-1</a:t>
                </a:r>
                <a:r>
                  <a:rPr lang="en-US" sz="2500" dirty="0"/>
                  <a:t> approximation to Y, i.e. </a:t>
                </a:r>
                <a:endParaRPr lang="en-US" sz="1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5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sSup>
                                        <m:sSupPr>
                                          <m:ctrlP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p>
                                          <m:r>
                                            <a:rPr lang="en-US" sz="25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E8FABF-4488-C4DF-4C84-03544B984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472" y="2439866"/>
                <a:ext cx="10339550" cy="1185581"/>
              </a:xfrm>
              <a:prstGeom prst="rect">
                <a:avLst/>
              </a:prstGeom>
              <a:blipFill>
                <a:blip r:embed="rId4"/>
                <a:stretch>
                  <a:fillRect l="-857"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314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4B82-E563-C405-5605-BA5B3FEF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9E7D-608B-5521-550E-2E51DA21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Deriving other PCs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41117-49BC-DB57-4862-9060C358E2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PC 1: 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𝑌𝑤</m:t>
                            </m:r>
                          </m:e>
                        </m:d>
                      </m:e>
                    </m:func>
                    <m:r>
                      <a:rPr lang="en-US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			Loading 1: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541117-49BC-DB57-4862-9060C358E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4719008"/>
              </a:xfrm>
              <a:blipFill>
                <a:blip r:embed="rId2"/>
                <a:stretch>
                  <a:fillRect l="-1121" t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DFF855-FD0D-286D-809E-0125D0BF50E7}"/>
                  </a:ext>
                </a:extLst>
              </p:cNvPr>
              <p:cNvSpPr txBox="1"/>
              <p:nvPr/>
            </p:nvSpPr>
            <p:spPr>
              <a:xfrm>
                <a:off x="200706" y="2387798"/>
                <a:ext cx="7203989" cy="3252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PC 2: </a:t>
                </a:r>
                <a:r>
                  <a:rPr lang="en-US" sz="2800" dirty="0"/>
                  <a:t>(have to subtract off  PC1)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b="1" dirty="0"/>
              </a:p>
              <a:p>
                <a:pPr marL="0" indent="0">
                  <a:buNone/>
                </a:pPr>
                <a:endParaRPr lang="en-US" sz="2800" b="1" dirty="0"/>
              </a:p>
              <a:p>
                <a:pPr marL="0" indent="0">
                  <a:buNone/>
                </a:pPr>
                <a:r>
                  <a:rPr lang="en-US" sz="2800" b="1" dirty="0"/>
                  <a:t>Loading 2:</a:t>
                </a:r>
                <a:r>
                  <a:rPr lang="en-US" sz="2800" dirty="0"/>
                  <a:t> (since v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, v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are orthogonal)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DFF855-FD0D-286D-809E-0125D0BF5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6" y="2387798"/>
                <a:ext cx="7203989" cy="3252814"/>
              </a:xfrm>
              <a:prstGeom prst="rect">
                <a:avLst/>
              </a:prstGeom>
              <a:blipFill>
                <a:blip r:embed="rId3"/>
                <a:stretch>
                  <a:fillRect l="-1757" t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D5BC2F-43E1-ED19-3C95-7D131521A5E4}"/>
              </a:ext>
            </a:extLst>
          </p:cNvPr>
          <p:cNvCxnSpPr>
            <a:cxnSpLocks/>
          </p:cNvCxnSpPr>
          <p:nvPr/>
        </p:nvCxnSpPr>
        <p:spPr>
          <a:xfrm flipH="1">
            <a:off x="6175012" y="3392599"/>
            <a:ext cx="1893950" cy="1842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59A3B6-C9EC-D0DC-8199-9CA656734F0C}"/>
                  </a:ext>
                </a:extLst>
              </p:cNvPr>
              <p:cNvSpPr txBox="1"/>
              <p:nvPr/>
            </p:nvSpPr>
            <p:spPr>
              <a:xfrm>
                <a:off x="8291084" y="2646967"/>
                <a:ext cx="3697598" cy="1943481"/>
              </a:xfrm>
              <a:prstGeom prst="rect">
                <a:avLst/>
              </a:prstGeom>
              <a:noFill/>
              <a:ln w="1905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/>
                  <a:t>Largest eigenvector of</a:t>
                </a:r>
                <a:br>
                  <a:rPr lang="en-US" sz="2400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which is </a:t>
                </a:r>
                <a:r>
                  <a:rPr lang="en-US" sz="2400" b="1" dirty="0"/>
                  <a:t>second largest eigenvector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59A3B6-C9EC-D0DC-8199-9CA656734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084" y="2646967"/>
                <a:ext cx="3697598" cy="1943481"/>
              </a:xfrm>
              <a:prstGeom prst="rect">
                <a:avLst/>
              </a:prstGeom>
              <a:blipFill>
                <a:blip r:embed="rId4"/>
                <a:stretch>
                  <a:fillRect l="-2381" t="-1923" b="-5769"/>
                </a:stretch>
              </a:blipFill>
              <a:ln w="1905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1626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A67D-EB80-3D83-27D2-40B8AC6B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0155-6624-81E8-C930-0E6573356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Deriving other PCs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FE2F-3ACA-29DA-B916-9DA23E8F01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10648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PC 1: 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	Loading 1: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500" b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/>
                  <a:t>PC 2: 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/>
                  <a:t>second-largest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/>
                  <a:t>	Loading 2: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/>
              </a:p>
              <a:p>
                <a:pPr marL="0" indent="0">
                  <a:buNone/>
                </a:pPr>
                <a:endParaRPr lang="en-US" sz="2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FE2F-3ACA-29DA-B916-9DA23E8F0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1064860"/>
              </a:xfrm>
              <a:blipFill>
                <a:blip r:embed="rId2"/>
                <a:stretch>
                  <a:fillRect l="-897" t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07CBFAA-E82D-B9B4-3103-DFA2B0E0023B}"/>
              </a:ext>
            </a:extLst>
          </p:cNvPr>
          <p:cNvGrpSpPr/>
          <p:nvPr/>
        </p:nvGrpSpPr>
        <p:grpSpPr>
          <a:xfrm>
            <a:off x="261634" y="4210776"/>
            <a:ext cx="2925524" cy="2199123"/>
            <a:chOff x="457677" y="3292152"/>
            <a:chExt cx="3466579" cy="30315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618D87-5C50-3CA4-9059-1B114BE5CD9D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1F1703-8390-64FE-B263-3EAA723B352B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8A0B48-C218-9EF2-0E98-55271CF26ED3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CE4F50-2D3C-D7C3-F1F1-FC83ED96A1E5}"/>
                </a:ext>
              </a:extLst>
            </p:cNvPr>
            <p:cNvSpPr txBox="1"/>
            <p:nvPr/>
          </p:nvSpPr>
          <p:spPr>
            <a:xfrm>
              <a:off x="2143706" y="4611450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6119A3-83D0-7C0F-5E1C-D36AB2BFF3E2}"/>
              </a:ext>
            </a:extLst>
          </p:cNvPr>
          <p:cNvGrpSpPr/>
          <p:nvPr/>
        </p:nvGrpSpPr>
        <p:grpSpPr>
          <a:xfrm>
            <a:off x="3918561" y="4532008"/>
            <a:ext cx="3103731" cy="1877891"/>
            <a:chOff x="4075193" y="4989921"/>
            <a:chExt cx="3103731" cy="187789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2EE6C1-4595-9696-997D-E23236166720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64723-B40A-A210-BCBB-0BCC8422D7C3}"/>
                </a:ext>
              </a:extLst>
            </p:cNvPr>
            <p:cNvSpPr/>
            <p:nvPr/>
          </p:nvSpPr>
          <p:spPr>
            <a:xfrm rot="5400000">
              <a:off x="5745577" y="4025100"/>
              <a:ext cx="360903" cy="25057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A0A37C-886C-4797-5583-4E3C3C3A476A}"/>
                </a:ext>
              </a:extLst>
            </p:cNvPr>
            <p:cNvSpPr txBox="1"/>
            <p:nvPr/>
          </p:nvSpPr>
          <p:spPr>
            <a:xfrm>
              <a:off x="5749565" y="4989921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60F07F-0AB8-FBBC-2264-226852E69F04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F4CD91-D74F-622E-F2F6-DE45DB6D5815}"/>
                  </a:ext>
                </a:extLst>
              </p:cNvPr>
              <p:cNvSpPr txBox="1"/>
              <p:nvPr/>
            </p:nvSpPr>
            <p:spPr>
              <a:xfrm>
                <a:off x="3169557" y="4927632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F4CD91-D74F-622E-F2F6-DE45DB6D5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557" y="4927632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826B11-A330-A580-60EB-CDA04B964B64}"/>
                  </a:ext>
                </a:extLst>
              </p:cNvPr>
              <p:cNvSpPr txBox="1"/>
              <p:nvPr/>
            </p:nvSpPr>
            <p:spPr>
              <a:xfrm>
                <a:off x="361343" y="2951352"/>
                <a:ext cx="11469314" cy="118622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 b="1" dirty="0"/>
                  <a:t>Theorem (Eckart-Young):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2500" dirty="0"/>
                  <a:t> is best </a:t>
                </a:r>
                <a:r>
                  <a:rPr lang="en-US" sz="2500" i="1" dirty="0"/>
                  <a:t>rank-2</a:t>
                </a:r>
                <a:r>
                  <a:rPr lang="en-US" sz="2500" dirty="0"/>
                  <a:t> approximation to 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500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 −(</m:t>
                                    </m:r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sSup>
                                      <m:sSupPr>
                                        <m:ctrlP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sSup>
                                      <m:sSupPr>
                                        <m:ctrlP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5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5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826B11-A330-A580-60EB-CDA04B96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2951352"/>
                <a:ext cx="11469314" cy="1186222"/>
              </a:xfrm>
              <a:prstGeom prst="rect">
                <a:avLst/>
              </a:prstGeom>
              <a:blipFill>
                <a:blip r:embed="rId4"/>
                <a:stretch>
                  <a:fillRect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0275A8C-CFB8-F764-786B-C7406EBB088B}"/>
              </a:ext>
            </a:extLst>
          </p:cNvPr>
          <p:cNvGrpSpPr/>
          <p:nvPr/>
        </p:nvGrpSpPr>
        <p:grpSpPr>
          <a:xfrm>
            <a:off x="8051590" y="4595631"/>
            <a:ext cx="3152564" cy="1898033"/>
            <a:chOff x="4075193" y="4969779"/>
            <a:chExt cx="3152564" cy="18980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79C7B3-59F1-B6DF-50A5-20638376D5CF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A91402-81B8-9F61-C36C-5DB9366E6E10}"/>
                </a:ext>
              </a:extLst>
            </p:cNvPr>
            <p:cNvSpPr/>
            <p:nvPr/>
          </p:nvSpPr>
          <p:spPr>
            <a:xfrm rot="5400000">
              <a:off x="5794410" y="4012311"/>
              <a:ext cx="360903" cy="250579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446C36-5752-B963-4BE1-AE286EFB0775}"/>
                </a:ext>
              </a:extLst>
            </p:cNvPr>
            <p:cNvSpPr txBox="1"/>
            <p:nvPr/>
          </p:nvSpPr>
          <p:spPr>
            <a:xfrm>
              <a:off x="5884567" y="496977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125BBD-E2CF-1A81-EC3C-FF35A599A3D8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2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E4FCF3A-AE5B-0631-7E89-D0623815F61B}"/>
              </a:ext>
            </a:extLst>
          </p:cNvPr>
          <p:cNvSpPr txBox="1"/>
          <p:nvPr/>
        </p:nvSpPr>
        <p:spPr>
          <a:xfrm>
            <a:off x="7377860" y="5127603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993481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7077-3DEE-0153-62CE-816108D8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B54B-FAAD-919A-8EE9-BC594CCF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Deriving other PCs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7CB3F3-522D-C6EC-38BF-531333A1CD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PC 1: 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	Loading 1: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500" b="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PC 2: 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second-largest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bg1">
                        <a:lumMod val="50000"/>
                      </a:schemeClr>
                    </a:solidFill>
                  </a:rPr>
                  <a:t>	Loading 2:</a:t>
                </a:r>
                <a:r>
                  <a:rPr lang="en-US" sz="25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/>
                  <a:t>PC 3: 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/>
                  <a:t>third-largest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/>
                  <a:t>	Loading 2: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7CB3F3-522D-C6EC-38BF-531333A1CD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  <a:blipFill>
                <a:blip r:embed="rId2"/>
                <a:stretch>
                  <a:fillRect l="-897" t="-6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705594-68BC-0FB6-5637-CCBA9C01F036}"/>
              </a:ext>
            </a:extLst>
          </p:cNvPr>
          <p:cNvSpPr txBox="1"/>
          <p:nvPr/>
        </p:nvSpPr>
        <p:spPr>
          <a:xfrm rot="5400000">
            <a:off x="5879930" y="2504232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AC8DA35-F6EA-B891-A498-97F2C3A19711}"/>
              </a:ext>
            </a:extLst>
          </p:cNvPr>
          <p:cNvGrpSpPr/>
          <p:nvPr/>
        </p:nvGrpSpPr>
        <p:grpSpPr>
          <a:xfrm>
            <a:off x="261634" y="2800042"/>
            <a:ext cx="2925524" cy="2199123"/>
            <a:chOff x="457677" y="3292152"/>
            <a:chExt cx="3466579" cy="303152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F50D6BC-9805-F2B2-A839-2986E282B8F4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3D55569-1B29-95FC-A5CE-F1DBD5465931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5A74DB-80E7-0E9E-8B5A-617C92A86A38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08A64D-1807-8D26-E489-0EE660FC98CA}"/>
                </a:ext>
              </a:extLst>
            </p:cNvPr>
            <p:cNvSpPr txBox="1"/>
            <p:nvPr/>
          </p:nvSpPr>
          <p:spPr>
            <a:xfrm>
              <a:off x="2143706" y="4611450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0A42CD-F9BE-32BD-4EC6-93B32DA2D3B9}"/>
              </a:ext>
            </a:extLst>
          </p:cNvPr>
          <p:cNvGrpSpPr/>
          <p:nvPr/>
        </p:nvGrpSpPr>
        <p:grpSpPr>
          <a:xfrm>
            <a:off x="3918561" y="3121274"/>
            <a:ext cx="3103731" cy="1877891"/>
            <a:chOff x="4075193" y="4989921"/>
            <a:chExt cx="3103731" cy="187789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5B9683C-CBC4-6F1F-E76A-0471630947FB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A9AB25-EA87-B334-3B6F-20FEF207AEAC}"/>
                </a:ext>
              </a:extLst>
            </p:cNvPr>
            <p:cNvSpPr/>
            <p:nvPr/>
          </p:nvSpPr>
          <p:spPr>
            <a:xfrm rot="5400000">
              <a:off x="5745577" y="4025100"/>
              <a:ext cx="360903" cy="25057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9D002B7-534E-6F23-DFF3-D518085E7F1A}"/>
                </a:ext>
              </a:extLst>
            </p:cNvPr>
            <p:cNvSpPr txBox="1"/>
            <p:nvPr/>
          </p:nvSpPr>
          <p:spPr>
            <a:xfrm>
              <a:off x="5749565" y="4989921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79793A0-D368-A491-B96F-B6C9CB26BAF3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4B1FC4D-CF44-6C7B-09A9-851B69FB572B}"/>
                  </a:ext>
                </a:extLst>
              </p:cNvPr>
              <p:cNvSpPr txBox="1"/>
              <p:nvPr/>
            </p:nvSpPr>
            <p:spPr>
              <a:xfrm>
                <a:off x="3169557" y="3516898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4B1FC4D-CF44-6C7B-09A9-851B69FB5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557" y="3516898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D5D3C82-5CA0-E4C8-C0B3-FAC497CD28A2}"/>
              </a:ext>
            </a:extLst>
          </p:cNvPr>
          <p:cNvGrpSpPr/>
          <p:nvPr/>
        </p:nvGrpSpPr>
        <p:grpSpPr>
          <a:xfrm>
            <a:off x="8051590" y="3184897"/>
            <a:ext cx="3152564" cy="1898033"/>
            <a:chOff x="4075193" y="4969779"/>
            <a:chExt cx="3152564" cy="189803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DD7EB14-C2B6-86FD-87C8-E8A4AFC20139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6E30CAD-0BA8-151B-A42F-50EDF8FA5C08}"/>
                </a:ext>
              </a:extLst>
            </p:cNvPr>
            <p:cNvSpPr/>
            <p:nvPr/>
          </p:nvSpPr>
          <p:spPr>
            <a:xfrm rot="5400000">
              <a:off x="5794410" y="4012311"/>
              <a:ext cx="360903" cy="250579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2F4A1A8-9F7A-AC86-0876-4EC51C74665A}"/>
                </a:ext>
              </a:extLst>
            </p:cNvPr>
            <p:cNvSpPr txBox="1"/>
            <p:nvPr/>
          </p:nvSpPr>
          <p:spPr>
            <a:xfrm>
              <a:off x="5884567" y="496977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6B8A410-1D70-8CA8-4947-E83E16D53E51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2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0111C70-BA39-371E-3D49-BE270997A0E0}"/>
              </a:ext>
            </a:extLst>
          </p:cNvPr>
          <p:cNvSpPr txBox="1"/>
          <p:nvPr/>
        </p:nvSpPr>
        <p:spPr>
          <a:xfrm>
            <a:off x="7377860" y="3716869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6E1A01-729F-B250-A4EA-A0E55F1C3E93}"/>
              </a:ext>
            </a:extLst>
          </p:cNvPr>
          <p:cNvSpPr txBox="1"/>
          <p:nvPr/>
        </p:nvSpPr>
        <p:spPr>
          <a:xfrm>
            <a:off x="3660477" y="5418920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2D52A46-DD13-8781-1897-280DF71CA20E}"/>
              </a:ext>
            </a:extLst>
          </p:cNvPr>
          <p:cNvGrpSpPr/>
          <p:nvPr/>
        </p:nvGrpSpPr>
        <p:grpSpPr>
          <a:xfrm>
            <a:off x="4278219" y="4982166"/>
            <a:ext cx="3152564" cy="1898033"/>
            <a:chOff x="4075193" y="4969779"/>
            <a:chExt cx="3152564" cy="189803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B0EB8F7-27AC-9A34-BE67-4BFF7211B666}"/>
                </a:ext>
              </a:extLst>
            </p:cNvPr>
            <p:cNvSpPr/>
            <p:nvPr/>
          </p:nvSpPr>
          <p:spPr>
            <a:xfrm>
              <a:off x="4136956" y="5068799"/>
              <a:ext cx="360903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6316F35-82F9-E48B-B153-217E7DEB2F3C}"/>
                </a:ext>
              </a:extLst>
            </p:cNvPr>
            <p:cNvSpPr/>
            <p:nvPr/>
          </p:nvSpPr>
          <p:spPr>
            <a:xfrm rot="5400000">
              <a:off x="5794410" y="4012311"/>
              <a:ext cx="360903" cy="250579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2EAA42-E4DC-7D6E-CE0D-E1EE153B7930}"/>
                </a:ext>
              </a:extLst>
            </p:cNvPr>
            <p:cNvSpPr txBox="1"/>
            <p:nvPr/>
          </p:nvSpPr>
          <p:spPr>
            <a:xfrm>
              <a:off x="5884567" y="4969779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7719F24-8F9E-2CB4-6339-248ABFACC309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3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8A31BCB-EF4A-4041-8BA5-45F34C4623C8}"/>
              </a:ext>
            </a:extLst>
          </p:cNvPr>
          <p:cNvSpPr txBox="1"/>
          <p:nvPr/>
        </p:nvSpPr>
        <p:spPr>
          <a:xfrm>
            <a:off x="7973958" y="5623647"/>
            <a:ext cx="10005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 …</a:t>
            </a:r>
          </a:p>
        </p:txBody>
      </p:sp>
    </p:spTree>
    <p:extLst>
      <p:ext uri="{BB962C8B-B14F-4D97-AF65-F5344CB8AC3E}">
        <p14:creationId xmlns:p14="http://schemas.microsoft.com/office/powerpoint/2010/main" val="3841653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3EC1-FA59-FD71-227A-1C009961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57" y="347872"/>
            <a:ext cx="10515600" cy="1325563"/>
          </a:xfrm>
        </p:spPr>
        <p:txBody>
          <a:bodyPr/>
          <a:lstStyle/>
          <a:p>
            <a:r>
              <a:rPr lang="en-US" dirty="0"/>
              <a:t>Alternative view of PCA: matrix factorization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AF82E-4DBA-E06B-DF8B-E3427D5643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1982" y="5112499"/>
                <a:ext cx="10108036" cy="148371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Top-K PCs and loadings give best rank-K approximation: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8AF82E-4DBA-E06B-DF8B-E3427D564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1982" y="5112499"/>
                <a:ext cx="10108036" cy="1483712"/>
              </a:xfrm>
              <a:blipFill>
                <a:blip r:embed="rId2"/>
                <a:stretch>
                  <a:fillRect l="-1256" t="-6780" b="-4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A5EC635E-186C-FE88-144A-F91C8AF7172D}"/>
              </a:ext>
            </a:extLst>
          </p:cNvPr>
          <p:cNvGrpSpPr/>
          <p:nvPr/>
        </p:nvGrpSpPr>
        <p:grpSpPr>
          <a:xfrm>
            <a:off x="1768462" y="1673435"/>
            <a:ext cx="2925524" cy="2199123"/>
            <a:chOff x="457677" y="3292152"/>
            <a:chExt cx="3466579" cy="303152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D2B4B01-C7E0-6929-0E61-739F88FD3DE9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EE9120-FE52-57F3-2690-39899FAAF9CB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EE738F3-F8E6-7AE3-0388-416F7C57F632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7B0B71-8093-DD7B-CB28-954CEC12997C}"/>
                </a:ext>
              </a:extLst>
            </p:cNvPr>
            <p:cNvSpPr txBox="1"/>
            <p:nvPr/>
          </p:nvSpPr>
          <p:spPr>
            <a:xfrm>
              <a:off x="2143706" y="4611450"/>
              <a:ext cx="486644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539E199-8D43-54B0-D04F-CA959D54716E}"/>
              </a:ext>
            </a:extLst>
          </p:cNvPr>
          <p:cNvGrpSpPr/>
          <p:nvPr/>
        </p:nvGrpSpPr>
        <p:grpSpPr>
          <a:xfrm>
            <a:off x="5425389" y="1873490"/>
            <a:ext cx="4262578" cy="1999068"/>
            <a:chOff x="4075193" y="4868744"/>
            <a:chExt cx="4262578" cy="199906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B613159-B209-07F1-A3D1-852726D6D997}"/>
                </a:ext>
              </a:extLst>
            </p:cNvPr>
            <p:cNvSpPr/>
            <p:nvPr/>
          </p:nvSpPr>
          <p:spPr>
            <a:xfrm>
              <a:off x="4136956" y="5068799"/>
              <a:ext cx="1069028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20AA51B-32CA-C837-225D-0A434A375594}"/>
                </a:ext>
              </a:extLst>
            </p:cNvPr>
            <p:cNvSpPr/>
            <p:nvPr/>
          </p:nvSpPr>
          <p:spPr>
            <a:xfrm rot="5400000">
              <a:off x="6604633" y="4188525"/>
              <a:ext cx="960485" cy="250579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26CD14-9E3B-823A-89D6-63A56938DB0A}"/>
                </a:ext>
              </a:extLst>
            </p:cNvPr>
            <p:cNvSpPr txBox="1"/>
            <p:nvPr/>
          </p:nvSpPr>
          <p:spPr>
            <a:xfrm>
              <a:off x="6881835" y="4868744"/>
              <a:ext cx="45717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v</a:t>
              </a:r>
              <a:r>
                <a:rPr lang="en-US" sz="2500" b="1" baseline="-25000" dirty="0"/>
                <a:t>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A33623B-4B48-4C04-2DA3-302F00063007}"/>
                </a:ext>
              </a:extLst>
            </p:cNvPr>
            <p:cNvSpPr txBox="1"/>
            <p:nvPr/>
          </p:nvSpPr>
          <p:spPr>
            <a:xfrm>
              <a:off x="4075193" y="5612577"/>
              <a:ext cx="48442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/>
                <a:t>u</a:t>
              </a:r>
              <a:r>
                <a:rPr lang="en-US" sz="2500" b="1" baseline="-25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9491F24-3ACD-EDDF-20CE-2357DDB5D228}"/>
                  </a:ext>
                </a:extLst>
              </p:cNvPr>
              <p:cNvSpPr txBox="1"/>
              <p:nvPr/>
            </p:nvSpPr>
            <p:spPr>
              <a:xfrm>
                <a:off x="4676385" y="2390291"/>
                <a:ext cx="6655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9491F24-3ACD-EDDF-20CE-2357DDB5D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85" y="2390291"/>
                <a:ext cx="665567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7A3196DB-01DA-B236-B766-A8482669B22A}"/>
              </a:ext>
            </a:extLst>
          </p:cNvPr>
          <p:cNvSpPr txBox="1"/>
          <p:nvPr/>
        </p:nvSpPr>
        <p:spPr>
          <a:xfrm>
            <a:off x="5069148" y="3996977"/>
            <a:ext cx="205370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U</a:t>
            </a:r>
            <a:r>
              <a:rPr lang="en-US" sz="2500" b="1" baseline="30000" dirty="0"/>
              <a:t>T</a:t>
            </a:r>
            <a:r>
              <a:rPr lang="en-US" sz="2500" b="1" dirty="0"/>
              <a:t> </a:t>
            </a:r>
            <a:r>
              <a:rPr lang="en-US" sz="2500" dirty="0"/>
              <a:t>(size N x K)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26FE1F1-EFE0-8813-79AA-554C2A368F64}"/>
              </a:ext>
            </a:extLst>
          </p:cNvPr>
          <p:cNvCxnSpPr/>
          <p:nvPr/>
        </p:nvCxnSpPr>
        <p:spPr>
          <a:xfrm>
            <a:off x="5819336" y="2073545"/>
            <a:ext cx="0" cy="179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8F175FC-4811-BF0E-DF81-EDD9F8BDE574}"/>
              </a:ext>
            </a:extLst>
          </p:cNvPr>
          <p:cNvSpPr txBox="1"/>
          <p:nvPr/>
        </p:nvSpPr>
        <p:spPr>
          <a:xfrm>
            <a:off x="5802336" y="26840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6D44026-B9E5-D70F-E1F7-623E5E3E40F4}"/>
              </a:ext>
            </a:extLst>
          </p:cNvPr>
          <p:cNvCxnSpPr/>
          <p:nvPr/>
        </p:nvCxnSpPr>
        <p:spPr>
          <a:xfrm>
            <a:off x="6163577" y="2073545"/>
            <a:ext cx="0" cy="1799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67BCF96-3F6E-C4ED-D220-AB55B4BB0B15}"/>
              </a:ext>
            </a:extLst>
          </p:cNvPr>
          <p:cNvSpPr txBox="1"/>
          <p:nvPr/>
        </p:nvSpPr>
        <p:spPr>
          <a:xfrm>
            <a:off x="6096764" y="2630479"/>
            <a:ext cx="5036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err="1"/>
              <a:t>u</a:t>
            </a:r>
            <a:r>
              <a:rPr lang="en-US" sz="2500" b="1" baseline="-25000" dirty="0" err="1"/>
              <a:t>K</a:t>
            </a:r>
            <a:endParaRPr lang="en-US" sz="2500" b="1" baseline="-25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2EED457-B969-ABBA-ED07-72246C8C5AFF}"/>
              </a:ext>
            </a:extLst>
          </p:cNvPr>
          <p:cNvCxnSpPr>
            <a:cxnSpLocks/>
          </p:cNvCxnSpPr>
          <p:nvPr/>
        </p:nvCxnSpPr>
        <p:spPr>
          <a:xfrm>
            <a:off x="7173937" y="2295529"/>
            <a:ext cx="2514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9CB9E6B-590F-6A3F-AB22-03390D0DC33C}"/>
              </a:ext>
            </a:extLst>
          </p:cNvPr>
          <p:cNvSpPr txBox="1"/>
          <p:nvPr/>
        </p:nvSpPr>
        <p:spPr>
          <a:xfrm rot="5400000">
            <a:off x="8301275" y="22410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8EACEB0-507A-9BB4-CA69-C08405AE23D3}"/>
              </a:ext>
            </a:extLst>
          </p:cNvPr>
          <p:cNvCxnSpPr>
            <a:cxnSpLocks/>
          </p:cNvCxnSpPr>
          <p:nvPr/>
        </p:nvCxnSpPr>
        <p:spPr>
          <a:xfrm>
            <a:off x="7182176" y="2561395"/>
            <a:ext cx="2514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B93A1C1-AFD2-6E75-ABB6-021F7162CF63}"/>
              </a:ext>
            </a:extLst>
          </p:cNvPr>
          <p:cNvSpPr txBox="1"/>
          <p:nvPr/>
        </p:nvSpPr>
        <p:spPr>
          <a:xfrm>
            <a:off x="8253987" y="2440537"/>
            <a:ext cx="4764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err="1"/>
              <a:t>v</a:t>
            </a:r>
            <a:r>
              <a:rPr lang="en-US" sz="2500" b="1" baseline="-25000" dirty="0" err="1"/>
              <a:t>K</a:t>
            </a:r>
            <a:endParaRPr lang="en-US" sz="2500" b="1" baseline="-25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1B3692C-29C2-8F08-1699-10AD52821CB3}"/>
              </a:ext>
            </a:extLst>
          </p:cNvPr>
          <p:cNvSpPr txBox="1"/>
          <p:nvPr/>
        </p:nvSpPr>
        <p:spPr>
          <a:xfrm>
            <a:off x="7531064" y="3134237"/>
            <a:ext cx="19222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V </a:t>
            </a:r>
            <a:r>
              <a:rPr lang="en-US" sz="2500" dirty="0"/>
              <a:t>(size K x G)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C10451-89AB-3209-FF84-2422283F4ED4}"/>
              </a:ext>
            </a:extLst>
          </p:cNvPr>
          <p:cNvSpPr txBox="1"/>
          <p:nvPr/>
        </p:nvSpPr>
        <p:spPr>
          <a:xfrm>
            <a:off x="2418725" y="3877629"/>
            <a:ext cx="19559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Y </a:t>
            </a:r>
            <a:r>
              <a:rPr lang="en-US" sz="2500" dirty="0"/>
              <a:t>(size N x G)</a:t>
            </a:r>
          </a:p>
        </p:txBody>
      </p:sp>
    </p:spTree>
    <p:extLst>
      <p:ext uri="{BB962C8B-B14F-4D97-AF65-F5344CB8AC3E}">
        <p14:creationId xmlns:p14="http://schemas.microsoft.com/office/powerpoint/2010/main" val="6173048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EE108-383B-1928-ED1D-BCA33D57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F447-5679-AD12-8930-5A0CC6E2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43" y="26923"/>
            <a:ext cx="10515600" cy="1325563"/>
          </a:xfrm>
        </p:spPr>
        <p:txBody>
          <a:bodyPr/>
          <a:lstStyle/>
          <a:p>
            <a:r>
              <a:rPr lang="en-US" dirty="0"/>
              <a:t>How to compute PCs?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396961-87CE-A5A2-FC05-2C22D7591F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343" y="3672744"/>
                <a:ext cx="11674138" cy="21130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000" u="sng" dirty="0"/>
                  <a:t>Want: top eigenvectors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000" u="sng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4000" i="1" u="sng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000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u="sng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4000" i="1" u="sng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4000" i="1" u="sng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4000" u="sng" dirty="0"/>
              </a:p>
              <a:p>
                <a:pPr marL="0" indent="0">
                  <a:buNone/>
                </a:pPr>
                <a:endParaRPr lang="en-US" sz="4000" dirty="0"/>
              </a:p>
              <a:p>
                <a:pPr marL="0" indent="0">
                  <a:buNone/>
                </a:pPr>
                <a:r>
                  <a:rPr lang="en-US" sz="4000" dirty="0"/>
                  <a:t>Naïve approach: </a:t>
                </a:r>
                <a:r>
                  <a:rPr lang="en-US" sz="4000" i="1" u="sng" dirty="0"/>
                  <a:t>power method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396961-87CE-A5A2-FC05-2C22D759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3" y="3672744"/>
                <a:ext cx="11674138" cy="2113005"/>
              </a:xfrm>
              <a:prstGeom prst="rect">
                <a:avLst/>
              </a:prstGeom>
              <a:blipFill>
                <a:blip r:embed="rId2"/>
                <a:stretch>
                  <a:fillRect l="-1848" t="-714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409EA2-E352-411D-F7F3-1D0D7393F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tx1"/>
                    </a:solidFill>
                  </a:rPr>
                  <a:t>PC 1: 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</a:rPr>
                  <a:t>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tx1"/>
                    </a:solidFill>
                  </a:rPr>
                  <a:t>	Loading 1: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5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tx1"/>
                    </a:solidFill>
                  </a:rPr>
                  <a:t>PC 2: 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</a:rPr>
                  <a:t>second-largest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tx1"/>
                    </a:solidFill>
                  </a:rPr>
                  <a:t>	Loading 2: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500" b="1" dirty="0">
                    <a:solidFill>
                      <a:schemeClr val="tx1"/>
                    </a:solidFill>
                  </a:rPr>
                  <a:t>PC 3: 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</a:rPr>
                  <a:t>third-largest eigenvector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b="1" dirty="0">
                    <a:solidFill>
                      <a:schemeClr val="tx1"/>
                    </a:solidFill>
                  </a:rPr>
                  <a:t>	Loading 2:</a:t>
                </a:r>
                <a:r>
                  <a:rPr lang="en-US" sz="25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E409EA2-E352-411D-F7F3-1D0D7393F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68" y="1217388"/>
                <a:ext cx="11311289" cy="1525812"/>
              </a:xfrm>
              <a:blipFill>
                <a:blip r:embed="rId3"/>
                <a:stretch>
                  <a:fillRect l="-897" t="-6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154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70E-4B48-89E3-9178-B96AA81B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84CD6-7695-B8C6-A11A-5561449A9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577060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u="sng" dirty="0"/>
                  <a:t>Goal:</a:t>
                </a:r>
                <a:r>
                  <a:rPr lang="en-US" dirty="0"/>
                  <a:t> Given matrix A (in our case, Y</a:t>
                </a:r>
                <a:r>
                  <a:rPr lang="en-US" baseline="30000" dirty="0"/>
                  <a:t>T</a:t>
                </a:r>
                <a:r>
                  <a:rPr lang="en-US" dirty="0"/>
                  <a:t>Y), compute the top eigenvector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Algorithm</a:t>
                </a:r>
                <a:r>
                  <a:rPr lang="en-US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until convergence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84CD6-7695-B8C6-A11A-5561449A9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5770605" cy="4351338"/>
              </a:xfrm>
              <a:blipFill>
                <a:blip r:embed="rId2"/>
                <a:stretch>
                  <a:fillRect l="-219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C774F31E-CC4F-979E-F75C-17E7783B7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252" y="1537385"/>
            <a:ext cx="6352748" cy="476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416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0E6E-32A0-8FE7-3ED0-2550ED6E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ECDF-F2D5-B590-9696-CAE3BF43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6CA9DE-BD53-5372-6EB5-38E48B048C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u="sng" dirty="0"/>
                  <a:t>Goal:</a:t>
                </a:r>
                <a:r>
                  <a:rPr lang="en-US" sz="2200" dirty="0"/>
                  <a:t> Given matrix A (in our case, Y</a:t>
                </a:r>
                <a:r>
                  <a:rPr lang="en-US" sz="2200" baseline="30000" dirty="0"/>
                  <a:t>T</a:t>
                </a:r>
                <a:r>
                  <a:rPr lang="en-US" sz="2200" dirty="0"/>
                  <a:t>Y), compute the top eigenvector.</a:t>
                </a:r>
              </a:p>
              <a:p>
                <a:pPr marL="0" indent="0">
                  <a:buNone/>
                </a:pPr>
                <a:r>
                  <a:rPr lang="en-US" sz="2200" u="sng" dirty="0"/>
                  <a:t>Algorithm</a:t>
                </a:r>
                <a:r>
                  <a:rPr lang="en-US" sz="2200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6CA9DE-BD53-5372-6EB5-38E48B048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  <a:blipFill>
                <a:blip r:embed="rId2"/>
                <a:stretch>
                  <a:fillRect l="-649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00DB7D-0130-9D02-CAF8-55DF9FB055B5}"/>
              </a:ext>
            </a:extLst>
          </p:cNvPr>
          <p:cNvSpPr txBox="1">
            <a:spLocks/>
          </p:cNvSpPr>
          <p:nvPr/>
        </p:nvSpPr>
        <p:spPr>
          <a:xfrm>
            <a:off x="68647" y="3429000"/>
            <a:ext cx="11732056" cy="2906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Why does this work? [see board]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Assume A is symmetric. Then eigenvectors v1, …, </a:t>
            </a:r>
            <a:r>
              <a:rPr lang="en-US" dirty="0" err="1"/>
              <a:t>vN</a:t>
            </a:r>
            <a:r>
              <a:rPr lang="en-US" dirty="0"/>
              <a:t> form orthonormal </a:t>
            </a:r>
            <a:r>
              <a:rPr lang="en-US" dirty="0" err="1"/>
              <a:t>basos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87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42711A-754F-0B0D-7D41-C51DD3B4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3A4C-EA77-6C3A-D8BA-8B96B177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02D3CD-8635-F16E-FC28-6A82FB72D0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u="sng" dirty="0"/>
                  <a:t>Goal:</a:t>
                </a:r>
                <a:r>
                  <a:rPr lang="en-US" sz="2200" dirty="0"/>
                  <a:t> Given matrix A (in our case, Y</a:t>
                </a:r>
                <a:r>
                  <a:rPr lang="en-US" sz="2200" baseline="30000" dirty="0"/>
                  <a:t>T</a:t>
                </a:r>
                <a:r>
                  <a:rPr lang="en-US" sz="2200" dirty="0"/>
                  <a:t>Y), compute the top eigenvector.</a:t>
                </a:r>
              </a:p>
              <a:p>
                <a:pPr marL="0" indent="0">
                  <a:buNone/>
                </a:pPr>
                <a:r>
                  <a:rPr lang="en-US" sz="2200" u="sng" dirty="0"/>
                  <a:t>Algorithm</a:t>
                </a:r>
                <a:r>
                  <a:rPr lang="en-US" sz="2200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02D3CD-8635-F16E-FC28-6A82FB72D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  <a:blipFill>
                <a:blip r:embed="rId2"/>
                <a:stretch>
                  <a:fillRect l="-649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DEFB84-285D-C532-4DCA-4E72D5E96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647" y="3231292"/>
                <a:ext cx="11732056" cy="36267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Why does this work? [see board]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500" dirty="0"/>
                  <a:t>Assume A is symmetric. Then eigenvectors v1, …, </a:t>
                </a:r>
                <a:r>
                  <a:rPr lang="en-US" sz="2500" dirty="0" err="1"/>
                  <a:t>vn</a:t>
                </a:r>
                <a:r>
                  <a:rPr lang="en-US" sz="2500" dirty="0"/>
                  <a:t> form orthonormal basis, so any vector v 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      ⇒.           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r>
                  <a:rPr lang="en-US" sz="2500" dirty="0"/>
                  <a:t>And denominator at iteration k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=||</m:t>
                    </m:r>
                  </m:oMath>
                </a14:m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endParaRPr lang="en-US" sz="2500" dirty="0"/>
              </a:p>
              <a:p>
                <a:pPr marL="0" indent="0">
                  <a:buNone/>
                </a:pPr>
                <a:r>
                  <a:rPr lang="en-US" sz="2500" dirty="0"/>
                  <a:t>As k -&gt; </a:t>
                </a:r>
                <a:r>
                  <a:rPr lang="en-US" sz="2500" dirty="0" err="1"/>
                  <a:t>infty</a:t>
                </a:r>
                <a:r>
                  <a:rPr lang="en-US" sz="2500" dirty="0"/>
                  <a:t>, both terms dominated by alpha_1 lambda_1^k v_1…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DEFB84-285D-C532-4DCA-4E72D5E96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7" y="3231292"/>
                <a:ext cx="11732056" cy="3626708"/>
              </a:xfrm>
              <a:prstGeom prst="rect">
                <a:avLst/>
              </a:prstGeom>
              <a:blipFill>
                <a:blip r:embed="rId3"/>
                <a:stretch>
                  <a:fillRect l="-865" t="-3846" b="-14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865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B2005-CF91-75E7-4F04-81115A75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40FA-CFC8-74E5-A4EF-EEC365C1B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80D4F-D967-5F30-39E2-B294B48327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u="sng" dirty="0"/>
                  <a:t>Goal:</a:t>
                </a:r>
                <a:r>
                  <a:rPr lang="en-US" sz="2200" dirty="0"/>
                  <a:t> Given matrix A (in our case, Y</a:t>
                </a:r>
                <a:r>
                  <a:rPr lang="en-US" sz="2200" baseline="30000" dirty="0"/>
                  <a:t>T</a:t>
                </a:r>
                <a:r>
                  <a:rPr lang="en-US" sz="2200" dirty="0"/>
                  <a:t>Y), compute the top eigenvector.</a:t>
                </a:r>
              </a:p>
              <a:p>
                <a:pPr marL="0" indent="0">
                  <a:buNone/>
                </a:pPr>
                <a:r>
                  <a:rPr lang="en-US" sz="2200" u="sng" dirty="0"/>
                  <a:t>Algorithm</a:t>
                </a:r>
                <a:r>
                  <a:rPr lang="en-US" sz="2200" dirty="0"/>
                  <a:t>: pick a “random” vector v At every iteration, 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𝐴𝑣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𝐴𝑣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680D4F-D967-5F30-39E2-B294B4832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647" y="1690688"/>
                <a:ext cx="11732056" cy="2906026"/>
              </a:xfrm>
              <a:blipFill>
                <a:blip r:embed="rId2"/>
                <a:stretch>
                  <a:fillRect l="-649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F5BCED-4C59-6838-A175-A76CB0E9681E}"/>
              </a:ext>
            </a:extLst>
          </p:cNvPr>
          <p:cNvSpPr txBox="1">
            <a:spLocks/>
          </p:cNvSpPr>
          <p:nvPr/>
        </p:nvSpPr>
        <p:spPr>
          <a:xfrm>
            <a:off x="68647" y="3429000"/>
            <a:ext cx="11732056" cy="2906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Why does this work? [see board]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Assume A is symmetric. Then eigenvectors v1, …, </a:t>
            </a:r>
            <a:r>
              <a:rPr lang="en-US" dirty="0" err="1"/>
              <a:t>vN</a:t>
            </a:r>
            <a:r>
              <a:rPr lang="en-US" dirty="0"/>
              <a:t> form orthonormal basis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However in practice power method is too slow</a:t>
            </a:r>
          </a:p>
        </p:txBody>
      </p:sp>
    </p:spTree>
    <p:extLst>
      <p:ext uri="{BB962C8B-B14F-4D97-AF65-F5344CB8AC3E}">
        <p14:creationId xmlns:p14="http://schemas.microsoft.com/office/powerpoint/2010/main" val="301894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EC7A-1E52-70AF-B637-2398DFF3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practice: Singular value decomposition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17DDF1-B4C2-6653-D863-35534A470DFE}"/>
              </a:ext>
            </a:extLst>
          </p:cNvPr>
          <p:cNvGrpSpPr/>
          <p:nvPr/>
        </p:nvGrpSpPr>
        <p:grpSpPr>
          <a:xfrm>
            <a:off x="286348" y="1690688"/>
            <a:ext cx="2925523" cy="2876232"/>
            <a:chOff x="457677" y="3292152"/>
            <a:chExt cx="3466579" cy="3964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B0FF9C-6357-9037-A44B-8CDD9AB3B318}"/>
                </a:ext>
              </a:extLst>
            </p:cNvPr>
            <p:cNvSpPr/>
            <p:nvPr/>
          </p:nvSpPr>
          <p:spPr>
            <a:xfrm>
              <a:off x="955036" y="3843709"/>
              <a:ext cx="2969220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E440E8-492B-1A8B-F4DA-32BB5887BA88}"/>
                </a:ext>
              </a:extLst>
            </p:cNvPr>
            <p:cNvSpPr txBox="1"/>
            <p:nvPr/>
          </p:nvSpPr>
          <p:spPr>
            <a:xfrm>
              <a:off x="893288" y="3292152"/>
              <a:ext cx="1575723" cy="551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G features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A95FB6-9C0B-8F5E-73AE-10C0E3F6001A}"/>
                </a:ext>
              </a:extLst>
            </p:cNvPr>
            <p:cNvSpPr txBox="1"/>
            <p:nvPr/>
          </p:nvSpPr>
          <p:spPr>
            <a:xfrm rot="16200000">
              <a:off x="-249059" y="4550445"/>
              <a:ext cx="1887579" cy="47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 samples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140A35-409E-7711-8B49-86CF9E6D207A}"/>
                </a:ext>
              </a:extLst>
            </p:cNvPr>
            <p:cNvSpPr txBox="1"/>
            <p:nvPr/>
          </p:nvSpPr>
          <p:spPr>
            <a:xfrm>
              <a:off x="1347572" y="6493382"/>
              <a:ext cx="2546351" cy="7636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 </a:t>
              </a:r>
              <a:r>
                <a:rPr lang="en-US" sz="3000" dirty="0"/>
                <a:t>(size </a:t>
              </a:r>
              <a:r>
                <a:rPr lang="en-US" sz="3000" dirty="0" err="1"/>
                <a:t>NxG</a:t>
              </a:r>
              <a:r>
                <a:rPr lang="en-US" sz="3000" dirty="0"/>
                <a:t>)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518A09-4DA2-96DA-8628-450343760FF0}"/>
              </a:ext>
            </a:extLst>
          </p:cNvPr>
          <p:cNvSpPr txBox="1"/>
          <p:nvPr/>
        </p:nvSpPr>
        <p:spPr>
          <a:xfrm>
            <a:off x="3299070" y="2570788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FD5C28-A924-C74E-F063-2A5788C88A2C}"/>
              </a:ext>
            </a:extLst>
          </p:cNvPr>
          <p:cNvSpPr/>
          <p:nvPr/>
        </p:nvSpPr>
        <p:spPr>
          <a:xfrm>
            <a:off x="4118583" y="2090798"/>
            <a:ext cx="1787947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21592A-75D4-E07C-5763-0017EE78A216}"/>
              </a:ext>
            </a:extLst>
          </p:cNvPr>
          <p:cNvSpPr txBox="1"/>
          <p:nvPr/>
        </p:nvSpPr>
        <p:spPr>
          <a:xfrm>
            <a:off x="3839510" y="4053458"/>
            <a:ext cx="23460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U </a:t>
            </a:r>
            <a:r>
              <a:rPr lang="en-US" sz="3000" dirty="0"/>
              <a:t>(size N x N)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E6BF84-E0F3-A566-B2C0-CC5784D3A86B}"/>
              </a:ext>
            </a:extLst>
          </p:cNvPr>
          <p:cNvCxnSpPr/>
          <p:nvPr/>
        </p:nvCxnSpPr>
        <p:spPr>
          <a:xfrm>
            <a:off x="4460789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F90378-CB5D-9ACD-8E40-5B3F54960714}"/>
              </a:ext>
            </a:extLst>
          </p:cNvPr>
          <p:cNvCxnSpPr/>
          <p:nvPr/>
        </p:nvCxnSpPr>
        <p:spPr>
          <a:xfrm>
            <a:off x="4810276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41BEEC-9BBF-98A4-10A4-54607FE43E66}"/>
              </a:ext>
            </a:extLst>
          </p:cNvPr>
          <p:cNvCxnSpPr/>
          <p:nvPr/>
        </p:nvCxnSpPr>
        <p:spPr>
          <a:xfrm>
            <a:off x="5518730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65B1E41-80CA-1E41-FE50-423ACAC24E5C}"/>
              </a:ext>
            </a:extLst>
          </p:cNvPr>
          <p:cNvSpPr txBox="1"/>
          <p:nvPr/>
        </p:nvSpPr>
        <p:spPr>
          <a:xfrm>
            <a:off x="4075016" y="2774860"/>
            <a:ext cx="442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u</a:t>
            </a:r>
            <a:r>
              <a:rPr lang="en-US" sz="2200" baseline="-250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F1CE19-9CBA-721E-6E58-5161B346CFC8}"/>
              </a:ext>
            </a:extLst>
          </p:cNvPr>
          <p:cNvSpPr txBox="1"/>
          <p:nvPr/>
        </p:nvSpPr>
        <p:spPr>
          <a:xfrm>
            <a:off x="4423392" y="2774859"/>
            <a:ext cx="4427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u</a:t>
            </a:r>
            <a:r>
              <a:rPr lang="en-US" sz="2200" baseline="-250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5C1864-CFC2-9DD4-2CD9-8D2C46E2E7FB}"/>
              </a:ext>
            </a:extLst>
          </p:cNvPr>
          <p:cNvSpPr txBox="1"/>
          <p:nvPr/>
        </p:nvSpPr>
        <p:spPr>
          <a:xfrm>
            <a:off x="5469117" y="2783395"/>
            <a:ext cx="4748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/>
              <a:t>u</a:t>
            </a:r>
            <a:r>
              <a:rPr lang="en-US" sz="2200" baseline="-25000" dirty="0" err="1"/>
              <a:t>N</a:t>
            </a:r>
            <a:endParaRPr lang="en-US" sz="220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D2A88-C8D0-21B9-23DF-390EB36FAC6F}"/>
              </a:ext>
            </a:extLst>
          </p:cNvPr>
          <p:cNvSpPr txBox="1"/>
          <p:nvPr/>
        </p:nvSpPr>
        <p:spPr>
          <a:xfrm>
            <a:off x="4903539" y="2683752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0DF3CC-0FD5-6B1D-BA83-9B6DEA30F8DB}"/>
              </a:ext>
            </a:extLst>
          </p:cNvPr>
          <p:cNvSpPr/>
          <p:nvPr/>
        </p:nvSpPr>
        <p:spPr>
          <a:xfrm>
            <a:off x="9386626" y="1980402"/>
            <a:ext cx="2505791" cy="25146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CD7C69-5ED2-CF52-399B-4404F8BEE458}"/>
              </a:ext>
            </a:extLst>
          </p:cNvPr>
          <p:cNvSpPr txBox="1"/>
          <p:nvPr/>
        </p:nvSpPr>
        <p:spPr>
          <a:xfrm>
            <a:off x="9528253" y="4731057"/>
            <a:ext cx="24486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V</a:t>
            </a:r>
            <a:r>
              <a:rPr lang="en-US" sz="3000" b="1" baseline="30000" dirty="0"/>
              <a:t>T</a:t>
            </a:r>
            <a:r>
              <a:rPr lang="en-US" sz="3000" b="1" dirty="0"/>
              <a:t> </a:t>
            </a:r>
            <a:r>
              <a:rPr lang="en-US" sz="3000" dirty="0"/>
              <a:t>(size G x G)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E53636-06C0-878B-1EE5-15C130FAF422}"/>
              </a:ext>
            </a:extLst>
          </p:cNvPr>
          <p:cNvCxnSpPr>
            <a:cxnSpLocks/>
          </p:cNvCxnSpPr>
          <p:nvPr/>
        </p:nvCxnSpPr>
        <p:spPr>
          <a:xfrm>
            <a:off x="9386626" y="2401272"/>
            <a:ext cx="2505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3EAD38-8335-A453-8A40-F2D883791D7C}"/>
              </a:ext>
            </a:extLst>
          </p:cNvPr>
          <p:cNvCxnSpPr>
            <a:cxnSpLocks/>
          </p:cNvCxnSpPr>
          <p:nvPr/>
        </p:nvCxnSpPr>
        <p:spPr>
          <a:xfrm>
            <a:off x="9386626" y="2783395"/>
            <a:ext cx="2505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938506-A7E5-2B41-2F1A-B3D4660788FE}"/>
              </a:ext>
            </a:extLst>
          </p:cNvPr>
          <p:cNvCxnSpPr>
            <a:cxnSpLocks/>
          </p:cNvCxnSpPr>
          <p:nvPr/>
        </p:nvCxnSpPr>
        <p:spPr>
          <a:xfrm>
            <a:off x="9386626" y="4034225"/>
            <a:ext cx="25057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FD00DA-223F-C30E-C134-8676F690C66A}"/>
                  </a:ext>
                </a:extLst>
              </p:cNvPr>
              <p:cNvSpPr txBox="1"/>
              <p:nvPr/>
            </p:nvSpPr>
            <p:spPr>
              <a:xfrm>
                <a:off x="10399198" y="1985860"/>
                <a:ext cx="557397" cy="4351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FFD00DA-223F-C30E-C134-8676F690C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198" y="1985860"/>
                <a:ext cx="557397" cy="435119"/>
              </a:xfrm>
              <a:prstGeom prst="rect">
                <a:avLst/>
              </a:prstGeom>
              <a:blipFill>
                <a:blip r:embed="rId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D1F9F7-60DB-6F1F-D0E5-508CA9F1F533}"/>
                  </a:ext>
                </a:extLst>
              </p:cNvPr>
              <p:cNvSpPr txBox="1"/>
              <p:nvPr/>
            </p:nvSpPr>
            <p:spPr>
              <a:xfrm>
                <a:off x="10399199" y="2375468"/>
                <a:ext cx="557396" cy="435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D1F9F7-60DB-6F1F-D0E5-508CA9F1F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199" y="2375468"/>
                <a:ext cx="557396" cy="4356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961E40F-9164-C083-E131-AD42C104AA77}"/>
                  </a:ext>
                </a:extLst>
              </p:cNvPr>
              <p:cNvSpPr txBox="1"/>
              <p:nvPr/>
            </p:nvSpPr>
            <p:spPr>
              <a:xfrm>
                <a:off x="10395350" y="4025246"/>
                <a:ext cx="557396" cy="439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961E40F-9164-C083-E131-AD42C104A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350" y="4025246"/>
                <a:ext cx="557396" cy="439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A14512D-ED81-04E6-D4CE-5514707FDDBD}"/>
              </a:ext>
            </a:extLst>
          </p:cNvPr>
          <p:cNvSpPr txBox="1"/>
          <p:nvPr/>
        </p:nvSpPr>
        <p:spPr>
          <a:xfrm rot="5400000">
            <a:off x="10540070" y="3084075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2899AF-E4E7-E658-D1F6-EA247BA094FD}"/>
              </a:ext>
            </a:extLst>
          </p:cNvPr>
          <p:cNvSpPr/>
          <p:nvPr/>
        </p:nvSpPr>
        <p:spPr>
          <a:xfrm>
            <a:off x="6376699" y="2093134"/>
            <a:ext cx="2505791" cy="179901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0D0FDC8-DE92-8A5B-066C-69A0F79D235D}"/>
                  </a:ext>
                </a:extLst>
              </p:cNvPr>
              <p:cNvSpPr txBox="1"/>
              <p:nvPr/>
            </p:nvSpPr>
            <p:spPr>
              <a:xfrm>
                <a:off x="6592278" y="4053458"/>
                <a:ext cx="228998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3000" dirty="0"/>
                  <a:t> (size N x G)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0D0FDC8-DE92-8A5B-066C-69A0F79D2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278" y="4053458"/>
                <a:ext cx="2289986" cy="553998"/>
              </a:xfrm>
              <a:prstGeom prst="rect">
                <a:avLst/>
              </a:prstGeom>
              <a:blipFill>
                <a:blip r:embed="rId5"/>
                <a:stretch>
                  <a:fillRect l="-1099" t="-13636" r="-4945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1B67D7-EFF1-4951-2879-7EC931C4D8BD}"/>
                  </a:ext>
                </a:extLst>
              </p:cNvPr>
              <p:cNvSpPr txBox="1"/>
              <p:nvPr/>
            </p:nvSpPr>
            <p:spPr>
              <a:xfrm>
                <a:off x="6376698" y="2090797"/>
                <a:ext cx="51200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1B67D7-EFF1-4951-2879-7EC931C4D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698" y="2090797"/>
                <a:ext cx="5120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D7B52E-71CA-316D-9219-10F740F06F96}"/>
                  </a:ext>
                </a:extLst>
              </p:cNvPr>
              <p:cNvSpPr txBox="1"/>
              <p:nvPr/>
            </p:nvSpPr>
            <p:spPr>
              <a:xfrm>
                <a:off x="6726186" y="2390161"/>
                <a:ext cx="51853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D7B52E-71CA-316D-9219-10F740F06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186" y="2390161"/>
                <a:ext cx="51853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6E8048-BEDE-5765-1766-9A4C64CAF233}"/>
                  </a:ext>
                </a:extLst>
              </p:cNvPr>
              <p:cNvSpPr txBox="1"/>
              <p:nvPr/>
            </p:nvSpPr>
            <p:spPr>
              <a:xfrm>
                <a:off x="7598031" y="3395058"/>
                <a:ext cx="56021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6E8048-BEDE-5765-1766-9A4C64CAF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031" y="3395058"/>
                <a:ext cx="56021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4F4C523-0162-F460-4EE7-42140F694228}"/>
              </a:ext>
            </a:extLst>
          </p:cNvPr>
          <p:cNvSpPr txBox="1"/>
          <p:nvPr/>
        </p:nvSpPr>
        <p:spPr>
          <a:xfrm>
            <a:off x="6611204" y="3152001"/>
            <a:ext cx="3898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1BE8D9-A897-0542-CA5E-B12DB287DE4A}"/>
              </a:ext>
            </a:extLst>
          </p:cNvPr>
          <p:cNvSpPr txBox="1"/>
          <p:nvPr/>
        </p:nvSpPr>
        <p:spPr>
          <a:xfrm rot="2579995">
            <a:off x="7201679" y="2796670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C1E603-A65D-1354-9A91-80055D8A620F}"/>
              </a:ext>
            </a:extLst>
          </p:cNvPr>
          <p:cNvSpPr txBox="1"/>
          <p:nvPr/>
        </p:nvSpPr>
        <p:spPr>
          <a:xfrm>
            <a:off x="7451106" y="2316317"/>
            <a:ext cx="3898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B0F0"/>
                </a:solidFill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20677DF-7479-5326-D27D-38C683053EDA}"/>
              </a:ext>
            </a:extLst>
          </p:cNvPr>
          <p:cNvCxnSpPr/>
          <p:nvPr/>
        </p:nvCxnSpPr>
        <p:spPr>
          <a:xfrm>
            <a:off x="8157628" y="2090797"/>
            <a:ext cx="0" cy="1799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F356762-C4F2-C6D1-ED1C-38D5824A3810}"/>
              </a:ext>
            </a:extLst>
          </p:cNvPr>
          <p:cNvSpPr txBox="1"/>
          <p:nvPr/>
        </p:nvSpPr>
        <p:spPr>
          <a:xfrm>
            <a:off x="8278797" y="2683752"/>
            <a:ext cx="3898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B0F0"/>
                </a:solidFill>
              </a:rPr>
              <a:t>0</a:t>
            </a:r>
            <a:endParaRPr lang="en-US" sz="3000" dirty="0">
              <a:solidFill>
                <a:srgbClr val="00B0F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470E78-67EC-817D-26E6-0211986CA5E4}"/>
              </a:ext>
            </a:extLst>
          </p:cNvPr>
          <p:cNvSpPr txBox="1"/>
          <p:nvPr/>
        </p:nvSpPr>
        <p:spPr>
          <a:xfrm>
            <a:off x="3829077" y="4973983"/>
            <a:ext cx="2148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Columns </a:t>
            </a:r>
            <a:r>
              <a:rPr lang="en-US" dirty="0" err="1">
                <a:solidFill>
                  <a:srgbClr val="FF0000"/>
                </a:solidFill>
              </a:rPr>
              <a:t>u</a:t>
            </a:r>
            <a:r>
              <a:rPr lang="en-US" baseline="-25000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of U are </a:t>
            </a:r>
            <a:r>
              <a:rPr lang="en-US" b="1" dirty="0">
                <a:solidFill>
                  <a:srgbClr val="FF0000"/>
                </a:solidFill>
              </a:rPr>
              <a:t>orthonormal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left singular vectors”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AB9E0D0-DEE1-2530-1A61-F9E99E95338A}"/>
                  </a:ext>
                </a:extLst>
              </p:cNvPr>
              <p:cNvSpPr txBox="1"/>
              <p:nvPr/>
            </p:nvSpPr>
            <p:spPr>
              <a:xfrm>
                <a:off x="9751814" y="5366090"/>
                <a:ext cx="2148923" cy="1207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Rows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of V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 are </a:t>
                </a:r>
                <a:r>
                  <a:rPr lang="en-US" b="1" dirty="0">
                    <a:solidFill>
                      <a:srgbClr val="FF0000"/>
                    </a:solidFill>
                  </a:rPr>
                  <a:t>orthonormal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“</a:t>
                </a:r>
                <a:r>
                  <a:rPr lang="en-US" i="1" dirty="0">
                    <a:solidFill>
                      <a:srgbClr val="FF0000"/>
                    </a:solidFill>
                  </a:rPr>
                  <a:t>right singular vectors”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AB9E0D0-DEE1-2530-1A61-F9E99E95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814" y="5366090"/>
                <a:ext cx="2148923" cy="1207703"/>
              </a:xfrm>
              <a:prstGeom prst="rect">
                <a:avLst/>
              </a:prstGeom>
              <a:blipFill>
                <a:blip r:embed="rId9"/>
                <a:stretch>
                  <a:fillRect l="-2959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9AB2127-009B-A43F-79A4-24BF8AE07D45}"/>
                  </a:ext>
                </a:extLst>
              </p:cNvPr>
              <p:cNvSpPr txBox="1"/>
              <p:nvPr/>
            </p:nvSpPr>
            <p:spPr>
              <a:xfrm>
                <a:off x="6265584" y="5019841"/>
                <a:ext cx="315074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Diagonal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 …≥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are called </a:t>
                </a:r>
                <a:r>
                  <a:rPr lang="en-US" dirty="0">
                    <a:solidFill>
                      <a:srgbClr val="FF0000"/>
                    </a:solidFill>
                  </a:rPr>
                  <a:t>“singular values” 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9AB2127-009B-A43F-79A4-24BF8AE07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584" y="5019841"/>
                <a:ext cx="3150743" cy="923330"/>
              </a:xfrm>
              <a:prstGeom prst="rect">
                <a:avLst/>
              </a:prstGeom>
              <a:blipFill>
                <a:blip r:embed="rId10"/>
                <a:stretch>
                  <a:fillRect l="-1606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27E0D0F-5E78-8272-516D-42486667AC3B}"/>
                  </a:ext>
                </a:extLst>
              </p:cNvPr>
              <p:cNvSpPr txBox="1"/>
              <p:nvPr/>
            </p:nvSpPr>
            <p:spPr>
              <a:xfrm>
                <a:off x="111460" y="6358350"/>
                <a:ext cx="877080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u="sng" dirty="0"/>
                  <a:t>SVD always exists and singular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u="sng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200" b="0" i="1" u="sng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u="sng" dirty="0"/>
                  <a:t> are unique (up to re-ordering)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27E0D0F-5E78-8272-516D-42486667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60" y="6358350"/>
                <a:ext cx="8770804" cy="430887"/>
              </a:xfrm>
              <a:prstGeom prst="rect">
                <a:avLst/>
              </a:prstGeom>
              <a:blipFill>
                <a:blip r:embed="rId11"/>
                <a:stretch>
                  <a:fillRect l="-867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064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8AD4-FCAD-7A50-6168-F0ED6A46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2335-0E5B-7C1D-527B-0B813A0E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17" y="193967"/>
            <a:ext cx="10515600" cy="1325563"/>
          </a:xfrm>
        </p:spPr>
        <p:txBody>
          <a:bodyPr/>
          <a:lstStyle/>
          <a:p>
            <a:r>
              <a:rPr lang="en-US" dirty="0"/>
              <a:t>Why do we care?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43A532-780E-9A8E-AFB0-B749087CD3A0}"/>
              </a:ext>
            </a:extLst>
          </p:cNvPr>
          <p:cNvGrpSpPr/>
          <p:nvPr/>
        </p:nvGrpSpPr>
        <p:grpSpPr>
          <a:xfrm>
            <a:off x="762603" y="1408670"/>
            <a:ext cx="8492607" cy="2916597"/>
            <a:chOff x="222813" y="1282915"/>
            <a:chExt cx="11673350" cy="348119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164F84-4575-D186-3770-EAFA563FAF1C}"/>
                </a:ext>
              </a:extLst>
            </p:cNvPr>
            <p:cNvGrpSpPr/>
            <p:nvPr/>
          </p:nvGrpSpPr>
          <p:grpSpPr>
            <a:xfrm>
              <a:off x="222813" y="1282915"/>
              <a:ext cx="2992804" cy="2763061"/>
              <a:chOff x="377953" y="3292152"/>
              <a:chExt cx="3546303" cy="380891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3FBED68-E177-6D7E-8CAC-22A3886A059C}"/>
                  </a:ext>
                </a:extLst>
              </p:cNvPr>
              <p:cNvSpPr/>
              <p:nvPr/>
            </p:nvSpPr>
            <p:spPr>
              <a:xfrm>
                <a:off x="955036" y="3843709"/>
                <a:ext cx="2969220" cy="2479963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9E41BC-9A47-9730-3E9E-4CC185C5A6CB}"/>
                  </a:ext>
                </a:extLst>
              </p:cNvPr>
              <p:cNvSpPr txBox="1"/>
              <p:nvPr/>
            </p:nvSpPr>
            <p:spPr>
              <a:xfrm>
                <a:off x="893289" y="3292152"/>
                <a:ext cx="2084686" cy="607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 features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40F322-AFCA-5C30-FBD5-F60296A7EE85}"/>
                  </a:ext>
                </a:extLst>
              </p:cNvPr>
              <p:cNvSpPr txBox="1"/>
              <p:nvPr/>
            </p:nvSpPr>
            <p:spPr>
              <a:xfrm rot="16200000">
                <a:off x="-334170" y="4470721"/>
                <a:ext cx="2057802" cy="633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 samples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ACBA05-8F21-B8D3-F359-2602DC25F355}"/>
                  </a:ext>
                </a:extLst>
              </p:cNvPr>
              <p:cNvSpPr txBox="1"/>
              <p:nvPr/>
            </p:nvSpPr>
            <p:spPr>
              <a:xfrm>
                <a:off x="1347572" y="6493381"/>
                <a:ext cx="2337449" cy="607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Y </a:t>
                </a:r>
                <a:r>
                  <a:rPr lang="en-US" dirty="0"/>
                  <a:t>(size </a:t>
                </a:r>
                <a:r>
                  <a:rPr lang="en-US" dirty="0" err="1"/>
                  <a:t>NxG</a:t>
                </a:r>
                <a:r>
                  <a:rPr lang="en-US" dirty="0"/>
                  <a:t>)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41FF22-8443-EB54-F010-FE5AF328E224}"/>
                </a:ext>
              </a:extLst>
            </p:cNvPr>
            <p:cNvSpPr txBox="1"/>
            <p:nvPr/>
          </p:nvSpPr>
          <p:spPr>
            <a:xfrm>
              <a:off x="3302816" y="2163015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=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304977-CEBD-E68A-208E-182DF0F09837}"/>
                </a:ext>
              </a:extLst>
            </p:cNvPr>
            <p:cNvSpPr/>
            <p:nvPr/>
          </p:nvSpPr>
          <p:spPr>
            <a:xfrm>
              <a:off x="4122329" y="1683025"/>
              <a:ext cx="1787947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BD6587-C160-4A02-8315-9806B1760E4D}"/>
                </a:ext>
              </a:extLst>
            </p:cNvPr>
            <p:cNvSpPr txBox="1"/>
            <p:nvPr/>
          </p:nvSpPr>
          <p:spPr>
            <a:xfrm>
              <a:off x="3843256" y="3645684"/>
              <a:ext cx="2144351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 </a:t>
              </a:r>
              <a:r>
                <a:rPr lang="en-US" dirty="0"/>
                <a:t>(size N x N)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2CA551-D794-DF69-8294-815AA429FDBB}"/>
                </a:ext>
              </a:extLst>
            </p:cNvPr>
            <p:cNvCxnSpPr/>
            <p:nvPr/>
          </p:nvCxnSpPr>
          <p:spPr>
            <a:xfrm>
              <a:off x="4464535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2541297-9069-C496-9ADE-9A39ED6D3494}"/>
                </a:ext>
              </a:extLst>
            </p:cNvPr>
            <p:cNvCxnSpPr/>
            <p:nvPr/>
          </p:nvCxnSpPr>
          <p:spPr>
            <a:xfrm>
              <a:off x="4814022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322CC04-566F-B7B6-8682-26173BBD4F36}"/>
                </a:ext>
              </a:extLst>
            </p:cNvPr>
            <p:cNvCxnSpPr/>
            <p:nvPr/>
          </p:nvCxnSpPr>
          <p:spPr>
            <a:xfrm>
              <a:off x="5522476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AA6871-411B-5CF0-07DC-4F93CC89F0EE}"/>
                </a:ext>
              </a:extLst>
            </p:cNvPr>
            <p:cNvSpPr txBox="1"/>
            <p:nvPr/>
          </p:nvSpPr>
          <p:spPr>
            <a:xfrm>
              <a:off x="4078762" y="2367087"/>
              <a:ext cx="57133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3A95AB-32E0-CDDA-E847-799B0040879C}"/>
                </a:ext>
              </a:extLst>
            </p:cNvPr>
            <p:cNvSpPr txBox="1"/>
            <p:nvPr/>
          </p:nvSpPr>
          <p:spPr>
            <a:xfrm>
              <a:off x="4427137" y="2367086"/>
              <a:ext cx="57133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A659F0-582C-7E90-2B44-2890DBC26F3E}"/>
                </a:ext>
              </a:extLst>
            </p:cNvPr>
            <p:cNvSpPr txBox="1"/>
            <p:nvPr/>
          </p:nvSpPr>
          <p:spPr>
            <a:xfrm>
              <a:off x="5472863" y="2375623"/>
              <a:ext cx="610788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</a:t>
              </a:r>
              <a:r>
                <a:rPr lang="en-US" baseline="-25000" dirty="0" err="1"/>
                <a:t>N</a:t>
              </a:r>
              <a:endParaRPr lang="en-US" baseline="-25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7DD8F0-D4B6-E0A9-47B0-F6C637D14F04}"/>
                </a:ext>
              </a:extLst>
            </p:cNvPr>
            <p:cNvSpPr txBox="1"/>
            <p:nvPr/>
          </p:nvSpPr>
          <p:spPr>
            <a:xfrm>
              <a:off x="4907285" y="2275979"/>
              <a:ext cx="54116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903EF2-79B8-28B8-372A-FAE64D4DE49D}"/>
                </a:ext>
              </a:extLst>
            </p:cNvPr>
            <p:cNvSpPr/>
            <p:nvPr/>
          </p:nvSpPr>
          <p:spPr>
            <a:xfrm>
              <a:off x="9390372" y="1572629"/>
              <a:ext cx="2505791" cy="2514696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FAEBFD-A8AA-C68D-A05F-CD33CE73B4B3}"/>
                </a:ext>
              </a:extLst>
            </p:cNvPr>
            <p:cNvSpPr txBox="1"/>
            <p:nvPr/>
          </p:nvSpPr>
          <p:spPr>
            <a:xfrm>
              <a:off x="9531999" y="4323285"/>
              <a:ext cx="223253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r>
                <a:rPr lang="en-US" b="1" baseline="30000" dirty="0"/>
                <a:t>T</a:t>
              </a:r>
              <a:r>
                <a:rPr lang="en-US" b="1" dirty="0"/>
                <a:t> </a:t>
              </a:r>
              <a:r>
                <a:rPr lang="en-US" dirty="0"/>
                <a:t>(size G x G)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6DEC66-FE1C-C256-0FC5-58D1AE541FA7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72" y="1993499"/>
              <a:ext cx="25057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4B4CA0B-98A8-222B-D7C9-1DE5053284F4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72" y="2375622"/>
              <a:ext cx="25057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6867625-442C-8644-3795-6CFBC7E34CE4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72" y="3626452"/>
              <a:ext cx="25057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2B23168-E79D-AE8A-4B09-6D69E513492C}"/>
                    </a:ext>
                  </a:extLst>
                </p:cNvPr>
                <p:cNvSpPr txBox="1"/>
                <p:nvPr/>
              </p:nvSpPr>
              <p:spPr>
                <a:xfrm>
                  <a:off x="10402944" y="1578087"/>
                  <a:ext cx="707141" cy="4448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2B23168-E79D-AE8A-4B09-6D69E5134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2944" y="1578087"/>
                  <a:ext cx="707141" cy="44480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311D93D-9521-1C0D-0F16-03FAA3CBC5BF}"/>
                    </a:ext>
                  </a:extLst>
                </p:cNvPr>
                <p:cNvSpPr txBox="1"/>
                <p:nvPr/>
              </p:nvSpPr>
              <p:spPr>
                <a:xfrm>
                  <a:off x="10402945" y="1967695"/>
                  <a:ext cx="707141" cy="4454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311D93D-9521-1C0D-0F16-03FAA3CBC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2945" y="1967695"/>
                  <a:ext cx="707141" cy="4454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207E8EB-230C-6838-7AB3-6042F0A61243}"/>
                    </a:ext>
                  </a:extLst>
                </p:cNvPr>
                <p:cNvSpPr txBox="1"/>
                <p:nvPr/>
              </p:nvSpPr>
              <p:spPr>
                <a:xfrm>
                  <a:off x="10399096" y="3617473"/>
                  <a:ext cx="707141" cy="4496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207E8EB-230C-6838-7AB3-6042F0A61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9096" y="3617473"/>
                  <a:ext cx="707141" cy="4496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E9AE23-04CE-B9CC-8B7E-F798F4F3398F}"/>
                </a:ext>
              </a:extLst>
            </p:cNvPr>
            <p:cNvSpPr txBox="1"/>
            <p:nvPr/>
          </p:nvSpPr>
          <p:spPr>
            <a:xfrm rot="5400000">
              <a:off x="10570152" y="2685964"/>
              <a:ext cx="446185" cy="534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6576183-267E-61D3-42FD-99B25EB890D3}"/>
                </a:ext>
              </a:extLst>
            </p:cNvPr>
            <p:cNvSpPr/>
            <p:nvPr/>
          </p:nvSpPr>
          <p:spPr>
            <a:xfrm>
              <a:off x="6380445" y="1685361"/>
              <a:ext cx="2505791" cy="179901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C4F33DF-7361-BBFB-8341-1903541A7871}"/>
                    </a:ext>
                  </a:extLst>
                </p:cNvPr>
                <p:cNvSpPr txBox="1"/>
                <p:nvPr/>
              </p:nvSpPr>
              <p:spPr>
                <a:xfrm>
                  <a:off x="6596023" y="3645685"/>
                  <a:ext cx="2095618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en-US" dirty="0"/>
                    <a:t> (size N x G)</a:t>
                  </a: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C4F33DF-7361-BBFB-8341-1903541A7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6023" y="3645685"/>
                  <a:ext cx="2095618" cy="440828"/>
                </a:xfrm>
                <a:prstGeom prst="rect">
                  <a:avLst/>
                </a:prstGeom>
                <a:blipFill>
                  <a:blip r:embed="rId5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1BE1DD-AE94-7CFA-B52D-312BE4E761C3}"/>
                    </a:ext>
                  </a:extLst>
                </p:cNvPr>
                <p:cNvSpPr txBox="1"/>
                <p:nvPr/>
              </p:nvSpPr>
              <p:spPr>
                <a:xfrm>
                  <a:off x="6380445" y="1683024"/>
                  <a:ext cx="654417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A1BE1DD-AE94-7CFA-B52D-312BE4E76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0445" y="1683024"/>
                  <a:ext cx="654417" cy="4408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2FB36BD-9C09-FFA0-3200-F8FAB08CC2E5}"/>
                    </a:ext>
                  </a:extLst>
                </p:cNvPr>
                <p:cNvSpPr txBox="1"/>
                <p:nvPr/>
              </p:nvSpPr>
              <p:spPr>
                <a:xfrm>
                  <a:off x="6729932" y="1982388"/>
                  <a:ext cx="662121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2FB36BD-9C09-FFA0-3200-F8FAB08CC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932" y="1982388"/>
                  <a:ext cx="662121" cy="44082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FB9E7A3-5FE4-0E56-13F3-699CC31295D2}"/>
                    </a:ext>
                  </a:extLst>
                </p:cNvPr>
                <p:cNvSpPr txBox="1"/>
                <p:nvPr/>
              </p:nvSpPr>
              <p:spPr>
                <a:xfrm>
                  <a:off x="7601777" y="2987285"/>
                  <a:ext cx="709554" cy="440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FB9E7A3-5FE4-0E56-13F3-699CC3129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777" y="2987285"/>
                  <a:ext cx="709554" cy="44082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77836B-BE36-EAE4-7428-3F8A27B9E55A}"/>
                </a:ext>
              </a:extLst>
            </p:cNvPr>
            <p:cNvSpPr txBox="1"/>
            <p:nvPr/>
          </p:nvSpPr>
          <p:spPr>
            <a:xfrm>
              <a:off x="6614950" y="2744228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3608680-2EA0-F72A-4912-46713CF4192B}"/>
                </a:ext>
              </a:extLst>
            </p:cNvPr>
            <p:cNvSpPr txBox="1"/>
            <p:nvPr/>
          </p:nvSpPr>
          <p:spPr>
            <a:xfrm rot="2579995">
              <a:off x="7184268" y="2445481"/>
              <a:ext cx="541169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0D9C71C-57FE-9685-39A3-218C9D2DE3DF}"/>
                </a:ext>
              </a:extLst>
            </p:cNvPr>
            <p:cNvSpPr txBox="1"/>
            <p:nvPr/>
          </p:nvSpPr>
          <p:spPr>
            <a:xfrm>
              <a:off x="7454852" y="1908544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0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144C777-39E2-6204-0814-E450B5C9E182}"/>
                </a:ext>
              </a:extLst>
            </p:cNvPr>
            <p:cNvCxnSpPr/>
            <p:nvPr/>
          </p:nvCxnSpPr>
          <p:spPr>
            <a:xfrm>
              <a:off x="8161374" y="1683024"/>
              <a:ext cx="0" cy="17990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558FB5-67DB-79EE-CCA7-8255FD16513D}"/>
                </a:ext>
              </a:extLst>
            </p:cNvPr>
            <p:cNvSpPr txBox="1"/>
            <p:nvPr/>
          </p:nvSpPr>
          <p:spPr>
            <a:xfrm>
              <a:off x="8282543" y="2275979"/>
              <a:ext cx="446025" cy="440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B0F0"/>
                  </a:solidFill>
                </a:rPr>
                <a:t>0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00AFB78-A7BE-DE2E-C13E-D2412AEEF930}"/>
              </a:ext>
            </a:extLst>
          </p:cNvPr>
          <p:cNvSpPr txBox="1"/>
          <p:nvPr/>
        </p:nvSpPr>
        <p:spPr>
          <a:xfrm>
            <a:off x="605481" y="5004486"/>
            <a:ext cx="107009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500" dirty="0">
                <a:solidFill>
                  <a:srgbClr val="FF0000"/>
                </a:solidFill>
              </a:rPr>
              <a:t>Right singular values </a:t>
            </a:r>
            <a:r>
              <a:rPr lang="en-US" sz="2500" dirty="0" err="1">
                <a:solidFill>
                  <a:srgbClr val="FF0000"/>
                </a:solidFill>
              </a:rPr>
              <a:t>v</a:t>
            </a:r>
            <a:r>
              <a:rPr lang="en-US" sz="2500" baseline="-25000" dirty="0" err="1">
                <a:solidFill>
                  <a:srgbClr val="FF0000"/>
                </a:solidFill>
              </a:rPr>
              <a:t>j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/>
              <a:t>are the eigenvectors of Y</a:t>
            </a:r>
            <a:r>
              <a:rPr lang="en-US" sz="2500" baseline="30000" dirty="0"/>
              <a:t>T</a:t>
            </a:r>
            <a:r>
              <a:rPr lang="en-US" sz="2500" dirty="0"/>
              <a:t>Y – i.e. the top principal components of Y</a:t>
            </a:r>
          </a:p>
          <a:p>
            <a:pPr marL="342900" indent="-342900">
              <a:buAutoNum type="arabicParenR"/>
            </a:pPr>
            <a:endParaRPr lang="en-US" sz="2500" dirty="0"/>
          </a:p>
          <a:p>
            <a:pPr marL="342900" indent="-342900">
              <a:buAutoNum type="arabicParenR"/>
            </a:pPr>
            <a:r>
              <a:rPr lang="en-US" sz="2500" dirty="0"/>
              <a:t>There are very efficient algorithms for computing SVD!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AAA0B0D-E803-DC20-8895-CB4C7968F00F}"/>
              </a:ext>
            </a:extLst>
          </p:cNvPr>
          <p:cNvSpPr/>
          <p:nvPr/>
        </p:nvSpPr>
        <p:spPr>
          <a:xfrm>
            <a:off x="6969540" y="1008486"/>
            <a:ext cx="2817341" cy="36183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0ABC5F-F2D4-792C-45AE-66EF1B8A3196}"/>
              </a:ext>
            </a:extLst>
          </p:cNvPr>
          <p:cNvCxnSpPr/>
          <p:nvPr/>
        </p:nvCxnSpPr>
        <p:spPr>
          <a:xfrm flipH="1">
            <a:off x="3165616" y="4053016"/>
            <a:ext cx="3988946" cy="9514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1395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E26F-F1AD-BC4B-F97A-47F5881F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365125"/>
            <a:ext cx="10515600" cy="1325563"/>
          </a:xfrm>
        </p:spPr>
        <p:txBody>
          <a:bodyPr/>
          <a:lstStyle/>
          <a:p>
            <a:r>
              <a:rPr lang="en-US" dirty="0"/>
              <a:t>How to compute SVD?</a:t>
            </a:r>
          </a:p>
        </p:txBody>
      </p:sp>
      <p:pic>
        <p:nvPicPr>
          <p:cNvPr id="1026" name="Picture 2" descr="SVD Algorithm Tutorial in Python — Accel.AI">
            <a:extLst>
              <a:ext uri="{FF2B5EF4-FFF2-40B4-BE49-F238E27FC236}">
                <a16:creationId xmlns:a16="http://schemas.microsoft.com/office/drawing/2014/main" id="{9CEBB385-9377-263D-56E2-F0F7C42A7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16" y="1462045"/>
            <a:ext cx="5765800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93A76-140D-7045-B5A9-D61DB6033B42}"/>
              </a:ext>
            </a:extLst>
          </p:cNvPr>
          <p:cNvSpPr txBox="1"/>
          <p:nvPr/>
        </p:nvSpPr>
        <p:spPr>
          <a:xfrm>
            <a:off x="6499654" y="1421027"/>
            <a:ext cx="499213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Tons of numerical linear algebra research done on efficiently computing the SVD!</a:t>
            </a:r>
          </a:p>
          <a:p>
            <a:endParaRPr lang="en-US" sz="2500" dirty="0"/>
          </a:p>
          <a:p>
            <a:endParaRPr lang="en-US" sz="2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A8579-CC20-1318-471D-A340D0E64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83" y="2625639"/>
            <a:ext cx="5750521" cy="249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26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E42F-6116-234C-E810-EA69FD77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# PCs?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9DC13-8591-579C-7205-953F2AD0AB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855" y="1825624"/>
                <a:ext cx="5001096" cy="490880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i="1" dirty="0"/>
                  <a:t>Variance explained by top-k PCs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dirty="0" err="1"/>
                  <a:t>ith</a:t>
                </a:r>
                <a:r>
                  <a:rPr lang="en-US" dirty="0"/>
                  <a:t> eigenvalue of covariance matrix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Typically choose number of PCs that explain 70-90% of variance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9DC13-8591-579C-7205-953F2AD0A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855" y="1825624"/>
                <a:ext cx="5001096" cy="4908807"/>
              </a:xfrm>
              <a:blipFill>
                <a:blip r:embed="rId2"/>
                <a:stretch>
                  <a:fillRect l="-2025" t="-13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Understanding Cumulative Explained Variance in PCA with Python | by Megha  Natarajan | Medium">
            <a:extLst>
              <a:ext uri="{FF2B5EF4-FFF2-40B4-BE49-F238E27FC236}">
                <a16:creationId xmlns:a16="http://schemas.microsoft.com/office/drawing/2014/main" id="{A0A69DBD-0A19-C94A-1B7A-594AC2AC6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951" y="1443047"/>
            <a:ext cx="6785189" cy="459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2337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9991-EE7A-3A2C-4F25-6301EE9D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is standard step in single cell pipeline</a:t>
            </a:r>
          </a:p>
        </p:txBody>
      </p:sp>
      <p:pic>
        <p:nvPicPr>
          <p:cNvPr id="8196" name="Picture 4" descr="Pipeline showing the process of RNA-seq data analysis and RAPIDS libraries that were used to accelerate each step.">
            <a:extLst>
              <a:ext uri="{FF2B5EF4-FFF2-40B4-BE49-F238E27FC236}">
                <a16:creationId xmlns:a16="http://schemas.microsoft.com/office/drawing/2014/main" id="{4E220B7B-DE81-8C5B-4EB4-168BC095B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8" y="1470651"/>
            <a:ext cx="10738022" cy="42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0ACA97-5A17-4681-2002-25716E666CEB}"/>
              </a:ext>
            </a:extLst>
          </p:cNvPr>
          <p:cNvSpPr txBox="1"/>
          <p:nvPr/>
        </p:nvSpPr>
        <p:spPr>
          <a:xfrm>
            <a:off x="0" y="6492875"/>
            <a:ext cx="973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https://developer.nvidia.com/blog/accelerating-single-cell-genomic-analysis-using-rapids/</a:t>
            </a:r>
            <a:r>
              <a:rPr lang="en-US" dirty="0"/>
              <a:t>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43A49F-EBA8-E102-2ECB-31F7924DED70}"/>
              </a:ext>
            </a:extLst>
          </p:cNvPr>
          <p:cNvSpPr/>
          <p:nvPr/>
        </p:nvSpPr>
        <p:spPr>
          <a:xfrm>
            <a:off x="4127157" y="1220727"/>
            <a:ext cx="1758778" cy="31509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6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BC94C-DF52-7DEA-EDF2-4EE7A03D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E02C-5A26-D8AF-1730-6219E2DD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is standard step in single cell pipeline</a:t>
            </a:r>
          </a:p>
        </p:txBody>
      </p:sp>
      <p:pic>
        <p:nvPicPr>
          <p:cNvPr id="8196" name="Picture 4" descr="Pipeline showing the process of RNA-seq data analysis and RAPIDS libraries that were used to accelerate each step.">
            <a:extLst>
              <a:ext uri="{FF2B5EF4-FFF2-40B4-BE49-F238E27FC236}">
                <a16:creationId xmlns:a16="http://schemas.microsoft.com/office/drawing/2014/main" id="{7DDE2BF2-F65F-1ECB-71C9-941368DD4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8" y="1470651"/>
            <a:ext cx="10738022" cy="42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B98ACB-BC85-04F9-1A0C-B83AF7C79E54}"/>
              </a:ext>
            </a:extLst>
          </p:cNvPr>
          <p:cNvSpPr txBox="1"/>
          <p:nvPr/>
        </p:nvSpPr>
        <p:spPr>
          <a:xfrm>
            <a:off x="0" y="6492875"/>
            <a:ext cx="9736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https://developer.nvidia.com/blog/accelerating-single-cell-genomic-analysis-using-rapids/</a:t>
            </a:r>
            <a:r>
              <a:rPr lang="en-US" dirty="0"/>
              <a:t>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EBC54D-87AA-4957-F608-7DD78812CA98}"/>
              </a:ext>
            </a:extLst>
          </p:cNvPr>
          <p:cNvSpPr/>
          <p:nvPr/>
        </p:nvSpPr>
        <p:spPr>
          <a:xfrm>
            <a:off x="4127157" y="1220727"/>
            <a:ext cx="1758778" cy="31509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9B1BD3-ED3F-FBC1-77F6-47FE705A3692}"/>
              </a:ext>
            </a:extLst>
          </p:cNvPr>
          <p:cNvCxnSpPr/>
          <p:nvPr/>
        </p:nvCxnSpPr>
        <p:spPr>
          <a:xfrm flipV="1">
            <a:off x="1544595" y="4065373"/>
            <a:ext cx="1470454" cy="147045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DAAC4C0-7ABA-B291-ECE3-4784276C6766}"/>
              </a:ext>
            </a:extLst>
          </p:cNvPr>
          <p:cNvSpPr txBox="1"/>
          <p:nvPr/>
        </p:nvSpPr>
        <p:spPr>
          <a:xfrm>
            <a:off x="272135" y="5564184"/>
            <a:ext cx="2223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This is a tricky step though… will come back to this soon</a:t>
            </a:r>
          </a:p>
        </p:txBody>
      </p:sp>
    </p:spTree>
    <p:extLst>
      <p:ext uri="{BB962C8B-B14F-4D97-AF65-F5344CB8AC3E}">
        <p14:creationId xmlns:p14="http://schemas.microsoft.com/office/powerpoint/2010/main" val="1407048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B672-72B1-096E-71C1-40A6A100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82" y="223458"/>
            <a:ext cx="10515600" cy="1325563"/>
          </a:xfrm>
        </p:spPr>
        <p:txBody>
          <a:bodyPr/>
          <a:lstStyle/>
          <a:p>
            <a:r>
              <a:rPr lang="en-US" dirty="0"/>
              <a:t>Using PCA to visualize single cell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2654F-CEEA-15C0-A481-43314997FAE0}"/>
              </a:ext>
            </a:extLst>
          </p:cNvPr>
          <p:cNvSpPr txBox="1"/>
          <p:nvPr/>
        </p:nvSpPr>
        <p:spPr>
          <a:xfrm>
            <a:off x="1691320" y="5842575"/>
            <a:ext cx="880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Caption: </a:t>
            </a:r>
            <a:r>
              <a:rPr lang="en-US" i="1" dirty="0"/>
              <a:t>PCA plot of the first two PCs in the Zeisel brain data. Each point is a cell, </a:t>
            </a:r>
            <a:r>
              <a:rPr lang="en-US" i="1" dirty="0" err="1"/>
              <a:t>coloured</a:t>
            </a:r>
            <a:r>
              <a:rPr lang="en-US" i="1" dirty="0"/>
              <a:t> according to the annotation provided by the original authors.</a:t>
            </a:r>
          </a:p>
        </p:txBody>
      </p:sp>
      <p:pic>
        <p:nvPicPr>
          <p:cNvPr id="3" name="Picture 2" descr="PCA plot of the first two PCs in the Zeisel brain data. Each point is a cell, coloured according to the annotation provided by the original authors.">
            <a:extLst>
              <a:ext uri="{FF2B5EF4-FFF2-40B4-BE49-F238E27FC236}">
                <a16:creationId xmlns:a16="http://schemas.microsoft.com/office/drawing/2014/main" id="{6D09F63D-E47C-FD23-3C65-33FE77AE5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213" y="1303946"/>
            <a:ext cx="5950151" cy="425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274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88A9B-351A-85B2-EC2A-87CFA796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0DA00-967C-3340-3334-C070923D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82" y="223458"/>
            <a:ext cx="10515600" cy="1325563"/>
          </a:xfrm>
        </p:spPr>
        <p:txBody>
          <a:bodyPr/>
          <a:lstStyle/>
          <a:p>
            <a:r>
              <a:rPr lang="en-US" dirty="0"/>
              <a:t>Visualizing more PCs</a:t>
            </a:r>
          </a:p>
        </p:txBody>
      </p:sp>
      <p:pic>
        <p:nvPicPr>
          <p:cNvPr id="10242" name="Picture 2" descr="PCA plot of the first two PCs in the Zeisel brain data. Each point is a cell, coloured according to the annotation provided by the original authors.">
            <a:extLst>
              <a:ext uri="{FF2B5EF4-FFF2-40B4-BE49-F238E27FC236}">
                <a16:creationId xmlns:a16="http://schemas.microsoft.com/office/drawing/2014/main" id="{25F7474E-B867-C410-3673-37C02C028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899" y="223458"/>
            <a:ext cx="6634542" cy="663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CA plot of the first two PCs in the Zeisel brain data. Each point is a cell, coloured according to the annotation provided by the original authors.">
            <a:extLst>
              <a:ext uri="{FF2B5EF4-FFF2-40B4-BE49-F238E27FC236}">
                <a16:creationId xmlns:a16="http://schemas.microsoft.com/office/drawing/2014/main" id="{E1773E3C-7C33-BFAD-2E7D-DC97EEEB0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51" y="2303921"/>
            <a:ext cx="4657085" cy="332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088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88F9-283F-806D-1917-BBCBE2BB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28" y="324182"/>
            <a:ext cx="10515600" cy="1325563"/>
          </a:xfrm>
        </p:spPr>
        <p:txBody>
          <a:bodyPr/>
          <a:lstStyle/>
          <a:p>
            <a:r>
              <a:rPr lang="en-US" dirty="0"/>
              <a:t>More examples of PCA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CD0300-AF26-0F9B-5A7D-53B221791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602" y="953235"/>
            <a:ext cx="5628398" cy="40202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F9D7C83-C115-C44F-5077-5BB73B1617CF}"/>
              </a:ext>
            </a:extLst>
          </p:cNvPr>
          <p:cNvSpPr txBox="1"/>
          <p:nvPr/>
        </p:nvSpPr>
        <p:spPr>
          <a:xfrm>
            <a:off x="8838406" y="6333763"/>
            <a:ext cx="3271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www.singlecellcourse.org</a:t>
            </a:r>
            <a:r>
              <a:rPr lang="en-US" sz="1000" dirty="0"/>
              <a:t>/basic-quality-control-qc-and-exploration-of-scrna-seq-datasets.html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69D4F6-759C-A379-8635-C2145B6AC0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41" r="2511" b="35519"/>
          <a:stretch>
            <a:fillRect/>
          </a:stretch>
        </p:blipFill>
        <p:spPr>
          <a:xfrm>
            <a:off x="40737" y="1813809"/>
            <a:ext cx="6176125" cy="35226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62641A-5935-1181-FC08-5B7EEF2762A0}"/>
              </a:ext>
            </a:extLst>
          </p:cNvPr>
          <p:cNvSpPr txBox="1"/>
          <p:nvPr/>
        </p:nvSpPr>
        <p:spPr>
          <a:xfrm>
            <a:off x="6866948" y="5105730"/>
            <a:ext cx="50217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Different individuals are separated in PC space (“batch effect”)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E3704B-F760-B66A-7324-30B34067D8DE}"/>
              </a:ext>
            </a:extLst>
          </p:cNvPr>
          <p:cNvSpPr txBox="1"/>
          <p:nvPr/>
        </p:nvSpPr>
        <p:spPr>
          <a:xfrm>
            <a:off x="735282" y="5500562"/>
            <a:ext cx="502170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PCs separate different cell types</a:t>
            </a:r>
          </a:p>
          <a:p>
            <a:r>
              <a:rPr lang="en-US" sz="1400" dirty="0"/>
              <a:t>(Pollen et al, Nat Biotech 2014)</a:t>
            </a:r>
          </a:p>
        </p:txBody>
      </p:sp>
    </p:spTree>
    <p:extLst>
      <p:ext uri="{BB962C8B-B14F-4D97-AF65-F5344CB8AC3E}">
        <p14:creationId xmlns:p14="http://schemas.microsoft.com/office/powerpoint/2010/main" val="2877620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1988-F534-972F-AC9C-E38FE295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5E26-C69A-85A4-B530-3869AC0B2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D4FEA3BB-E698-13FE-1DA9-C301BF31C658}"/>
              </a:ext>
            </a:extLst>
          </p:cNvPr>
          <p:cNvSpPr/>
          <p:nvPr/>
        </p:nvSpPr>
        <p:spPr>
          <a:xfrm>
            <a:off x="4520485" y="2395470"/>
            <a:ext cx="4043966" cy="337426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99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FEC6-BB2E-777C-55BE-794A9086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1: Interpretability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27BEB-F6CC-9004-DFA0-ABC0FBF7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2595" y="1690689"/>
            <a:ext cx="5169298" cy="4471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Ideally:</a:t>
            </a:r>
          </a:p>
          <a:p>
            <a:r>
              <a:rPr lang="en-US" dirty="0"/>
              <a:t>top PCs would group together genes with related functions</a:t>
            </a:r>
          </a:p>
          <a:p>
            <a:r>
              <a:rPr lang="en-US" dirty="0"/>
              <a:t>top loadings would group together cells of similar type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not always due to </a:t>
            </a:r>
            <a:r>
              <a:rPr lang="en-US" b="1" dirty="0"/>
              <a:t>negative values</a:t>
            </a:r>
            <a:r>
              <a:rPr lang="en-US" dirty="0"/>
              <a:t> (genes can cancel each other out)… </a:t>
            </a:r>
          </a:p>
          <a:p>
            <a:r>
              <a:rPr lang="en-US" dirty="0"/>
              <a:t>how do you interpret a negative value?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CBBDF-C129-AD07-C3F2-5CDD5C86DC38}"/>
              </a:ext>
            </a:extLst>
          </p:cNvPr>
          <p:cNvGrpSpPr/>
          <p:nvPr/>
        </p:nvGrpSpPr>
        <p:grpSpPr>
          <a:xfrm>
            <a:off x="615533" y="2280063"/>
            <a:ext cx="2920374" cy="3675136"/>
            <a:chOff x="1399304" y="2778826"/>
            <a:chExt cx="2920374" cy="36751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18FA8A-7711-498E-3196-DBDCAB92CA49}"/>
                </a:ext>
              </a:extLst>
            </p:cNvPr>
            <p:cNvSpPr/>
            <p:nvPr/>
          </p:nvSpPr>
          <p:spPr>
            <a:xfrm>
              <a:off x="1959429" y="2778826"/>
              <a:ext cx="629392" cy="30638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298F25-5415-F5E8-C7F6-7736E5CCD466}"/>
                </a:ext>
              </a:extLst>
            </p:cNvPr>
            <p:cNvSpPr txBox="1"/>
            <p:nvPr/>
          </p:nvSpPr>
          <p:spPr>
            <a:xfrm>
              <a:off x="1987374" y="5992297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PC1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5D9984-466C-FD00-BF88-DD589466E2AC}"/>
                </a:ext>
              </a:extLst>
            </p:cNvPr>
            <p:cNvSpPr txBox="1"/>
            <p:nvPr/>
          </p:nvSpPr>
          <p:spPr>
            <a:xfrm rot="16200000">
              <a:off x="1126473" y="4024047"/>
              <a:ext cx="9765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Genes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E28D21-C1AD-9607-BE3D-CE0F521CD18F}"/>
                </a:ext>
              </a:extLst>
            </p:cNvPr>
            <p:cNvSpPr txBox="1"/>
            <p:nvPr/>
          </p:nvSpPr>
          <p:spPr>
            <a:xfrm>
              <a:off x="2110766" y="277882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30C02D-0989-82E6-86F5-673E696F0622}"/>
                </a:ext>
              </a:extLst>
            </p:cNvPr>
            <p:cNvSpPr txBox="1"/>
            <p:nvPr/>
          </p:nvSpPr>
          <p:spPr>
            <a:xfrm>
              <a:off x="1999250" y="3423580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510F58-DFF1-6E68-D800-DFB8D683B27A}"/>
                </a:ext>
              </a:extLst>
            </p:cNvPr>
            <p:cNvSpPr txBox="1"/>
            <p:nvPr/>
          </p:nvSpPr>
          <p:spPr>
            <a:xfrm>
              <a:off x="2075016" y="4115243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F76B02-0D14-4F42-7EAF-63408CD9581A}"/>
                </a:ext>
              </a:extLst>
            </p:cNvPr>
            <p:cNvSpPr txBox="1"/>
            <p:nvPr/>
          </p:nvSpPr>
          <p:spPr>
            <a:xfrm>
              <a:off x="2023161" y="480690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-7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A83F8D9-FCF8-D96B-2DE3-FAE3FA1338DF}"/>
                </a:ext>
              </a:extLst>
            </p:cNvPr>
            <p:cNvCxnSpPr/>
            <p:nvPr/>
          </p:nvCxnSpPr>
          <p:spPr>
            <a:xfrm>
              <a:off x="2616766" y="3028208"/>
              <a:ext cx="732076" cy="67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22BE7F1-AB88-9385-47D7-9F578169F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7928" y="4510252"/>
              <a:ext cx="640914" cy="6792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5517EB-7192-B12B-56D3-DF498568B5B8}"/>
                </a:ext>
              </a:extLst>
            </p:cNvPr>
            <p:cNvSpPr txBox="1"/>
            <p:nvPr/>
          </p:nvSpPr>
          <p:spPr>
            <a:xfrm>
              <a:off x="2982804" y="3807720"/>
              <a:ext cx="1336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Related genes???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6E7A92-23CC-13DD-5F2E-0308FF00F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409" y="4755343"/>
              <a:ext cx="763540" cy="857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20D773-DEDC-0E93-AA10-DCE0B6807278}"/>
              </a:ext>
            </a:extLst>
          </p:cNvPr>
          <p:cNvGrpSpPr/>
          <p:nvPr/>
        </p:nvGrpSpPr>
        <p:grpSpPr>
          <a:xfrm>
            <a:off x="3826179" y="2135235"/>
            <a:ext cx="2920374" cy="4431771"/>
            <a:chOff x="1399304" y="2778826"/>
            <a:chExt cx="2920374" cy="443177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783A8C2-88FD-8467-A1AF-644F43F340BC}"/>
                </a:ext>
              </a:extLst>
            </p:cNvPr>
            <p:cNvSpPr/>
            <p:nvPr/>
          </p:nvSpPr>
          <p:spPr>
            <a:xfrm>
              <a:off x="1959429" y="2778826"/>
              <a:ext cx="629392" cy="39701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1CEC8D-52D0-1EF1-42BE-534348C5122B}"/>
                </a:ext>
              </a:extLst>
            </p:cNvPr>
            <p:cNvSpPr txBox="1"/>
            <p:nvPr/>
          </p:nvSpPr>
          <p:spPr>
            <a:xfrm>
              <a:off x="1551650" y="6748932"/>
              <a:ext cx="15156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Loading 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E3B77-9058-2EBD-C176-0152D8C7D3D7}"/>
                </a:ext>
              </a:extLst>
            </p:cNvPr>
            <p:cNvSpPr txBox="1"/>
            <p:nvPr/>
          </p:nvSpPr>
          <p:spPr>
            <a:xfrm rot="16200000">
              <a:off x="1207424" y="4024047"/>
              <a:ext cx="81464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Cells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5F3F1B-5BD7-3B6F-BD13-2D0DAB52B180}"/>
                </a:ext>
              </a:extLst>
            </p:cNvPr>
            <p:cNvSpPr txBox="1"/>
            <p:nvPr/>
          </p:nvSpPr>
          <p:spPr>
            <a:xfrm>
              <a:off x="2110766" y="277882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5EDD44-7C7A-4704-6D9B-CE440EA15E2F}"/>
                </a:ext>
              </a:extLst>
            </p:cNvPr>
            <p:cNvSpPr txBox="1"/>
            <p:nvPr/>
          </p:nvSpPr>
          <p:spPr>
            <a:xfrm>
              <a:off x="1999250" y="3423580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34B910-21EB-38D0-B7FB-E1285D52B59E}"/>
                </a:ext>
              </a:extLst>
            </p:cNvPr>
            <p:cNvSpPr txBox="1"/>
            <p:nvPr/>
          </p:nvSpPr>
          <p:spPr>
            <a:xfrm>
              <a:off x="2075016" y="4115243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8C48178-95E6-0F2F-134D-822577916C7E}"/>
                </a:ext>
              </a:extLst>
            </p:cNvPr>
            <p:cNvSpPr txBox="1"/>
            <p:nvPr/>
          </p:nvSpPr>
          <p:spPr>
            <a:xfrm>
              <a:off x="2023161" y="4806906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-7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FE2434F-B4D8-1A3F-A7A5-6B3216F49694}"/>
                </a:ext>
              </a:extLst>
            </p:cNvPr>
            <p:cNvCxnSpPr/>
            <p:nvPr/>
          </p:nvCxnSpPr>
          <p:spPr>
            <a:xfrm>
              <a:off x="2616766" y="3028208"/>
              <a:ext cx="732076" cy="67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43FB2E7-C7B8-DB41-D79F-15D210958D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7928" y="4510252"/>
              <a:ext cx="640914" cy="6792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21EEFB-15F0-C93D-F52D-BDD50C6882BF}"/>
                </a:ext>
              </a:extLst>
            </p:cNvPr>
            <p:cNvSpPr txBox="1"/>
            <p:nvPr/>
          </p:nvSpPr>
          <p:spPr>
            <a:xfrm>
              <a:off x="2982804" y="3807720"/>
              <a:ext cx="1336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Related genes???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6C9C18-18A8-D909-EA03-088E3FA68B72}"/>
                </a:ext>
              </a:extLst>
            </p:cNvPr>
            <p:cNvSpPr txBox="1"/>
            <p:nvPr/>
          </p:nvSpPr>
          <p:spPr>
            <a:xfrm>
              <a:off x="2041036" y="5283960"/>
              <a:ext cx="61751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/>
                <a:t>15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476CD04-61CF-D9DA-E1E1-F28B6A526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409" y="4755343"/>
              <a:ext cx="763540" cy="8575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81FD23D-F43F-DBC0-8BA5-2CEF9D2B29AF}"/>
              </a:ext>
            </a:extLst>
          </p:cNvPr>
          <p:cNvSpPr txBox="1"/>
          <p:nvPr/>
        </p:nvSpPr>
        <p:spPr>
          <a:xfrm rot="5400000">
            <a:off x="4541125" y="5269642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95317-17CE-D51D-2675-A2C4E3D82EC0}"/>
              </a:ext>
            </a:extLst>
          </p:cNvPr>
          <p:cNvSpPr txBox="1"/>
          <p:nvPr/>
        </p:nvSpPr>
        <p:spPr>
          <a:xfrm rot="5400000">
            <a:off x="1332206" y="4792654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001843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301F-C4FA-94F1-3D5A-778ACDCE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02" y="262094"/>
            <a:ext cx="10515600" cy="1325563"/>
          </a:xfrm>
        </p:spPr>
        <p:txBody>
          <a:bodyPr/>
          <a:lstStyle/>
          <a:p>
            <a:r>
              <a:rPr lang="en-US" dirty="0"/>
              <a:t>Challenge 2: normalization</a:t>
            </a:r>
          </a:p>
        </p:txBody>
      </p:sp>
      <p:pic>
        <p:nvPicPr>
          <p:cNvPr id="11266" name="Picture 2" descr="Fig. 2">
            <a:extLst>
              <a:ext uri="{FF2B5EF4-FFF2-40B4-BE49-F238E27FC236}">
                <a16:creationId xmlns:a16="http://schemas.microsoft.com/office/drawing/2014/main" id="{CBD1123D-AF56-1390-5444-F381B73D3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305" y="1427286"/>
            <a:ext cx="9992933" cy="246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B5C170-FC74-96F6-D9BB-EA7954C3162D}"/>
              </a:ext>
            </a:extLst>
          </p:cNvPr>
          <p:cNvSpPr txBox="1"/>
          <p:nvPr/>
        </p:nvSpPr>
        <p:spPr>
          <a:xfrm>
            <a:off x="8512935" y="4198512"/>
            <a:ext cx="282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Standard normalization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30057-45EB-DD5D-ED95-EDB99206A43A}"/>
              </a:ext>
            </a:extLst>
          </p:cNvPr>
          <p:cNvSpPr txBox="1"/>
          <p:nvPr/>
        </p:nvSpPr>
        <p:spPr>
          <a:xfrm>
            <a:off x="90152" y="6619741"/>
            <a:ext cx="1553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Townes et al 2019</a:t>
            </a:r>
          </a:p>
        </p:txBody>
      </p:sp>
      <p:sp>
        <p:nvSpPr>
          <p:cNvPr id="6" name="AutoShape 4" descr="Fig. 3">
            <a:extLst>
              <a:ext uri="{FF2B5EF4-FFF2-40B4-BE49-F238E27FC236}">
                <a16:creationId xmlns:a16="http://schemas.microsoft.com/office/drawing/2014/main" id="{C92ED933-5BDE-7C12-174D-454614CC74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64B58A-686A-68B8-D572-A09DF03D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12" y="3992232"/>
            <a:ext cx="3653122" cy="2876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5F8031-1C10-E6FE-8182-66060E789AA9}"/>
              </a:ext>
            </a:extLst>
          </p:cNvPr>
          <p:cNvSpPr txBox="1"/>
          <p:nvPr/>
        </p:nvSpPr>
        <p:spPr>
          <a:xfrm>
            <a:off x="5580940" y="4983964"/>
            <a:ext cx="3013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Top PC highly correlated with number of zeros in cell!</a:t>
            </a:r>
          </a:p>
        </p:txBody>
      </p:sp>
    </p:spTree>
    <p:extLst>
      <p:ext uri="{BB962C8B-B14F-4D97-AF65-F5344CB8AC3E}">
        <p14:creationId xmlns:p14="http://schemas.microsoft.com/office/powerpoint/2010/main" val="3841337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86D3-83B6-DFDB-3461-A9EE3598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4" y="278860"/>
            <a:ext cx="11353800" cy="1325563"/>
          </a:xfrm>
        </p:spPr>
        <p:txBody>
          <a:bodyPr/>
          <a:lstStyle/>
          <a:p>
            <a:r>
              <a:rPr lang="en-US" dirty="0"/>
              <a:t>Maximum likelihood estimation under a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82B42-60FC-5B90-E643-A34BA3072B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4733"/>
                <a:ext cx="10515600" cy="44512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we are given 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(where covariance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known). </a:t>
                </a:r>
              </a:p>
              <a:p>
                <a:pPr marL="0" indent="0">
                  <a:buNone/>
                </a:pPr>
                <a:r>
                  <a:rPr lang="en-US" dirty="0"/>
                  <a:t>Maximum likelihood estimator (MLE) of the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you plug in PDF for Gaussian and do some algebra…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82B42-60FC-5B90-E643-A34BA3072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4733"/>
                <a:ext cx="10515600" cy="4451230"/>
              </a:xfrm>
              <a:blipFill>
                <a:blip r:embed="rId2"/>
                <a:stretch>
                  <a:fillRect l="-1206" t="-3419" b="-38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CAEFCA-FC1A-8056-5FDC-563BFF2FF441}"/>
                  </a:ext>
                </a:extLst>
              </p:cNvPr>
              <p:cNvSpPr txBox="1"/>
              <p:nvPr/>
            </p:nvSpPr>
            <p:spPr>
              <a:xfrm>
                <a:off x="630447" y="5717366"/>
                <a:ext cx="1050697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u="sng" dirty="0">
                    <a:highlight>
                      <a:srgbClr val="FFFF00"/>
                    </a:highlight>
                  </a:rPr>
                  <a:t>ADD SLIDES FOR: </a:t>
                </a:r>
                <a:r>
                  <a:rPr lang="en-US" sz="3000" dirty="0"/>
                  <a:t>PCA </a:t>
                </a:r>
                <a14:m>
                  <m:oMath xmlns:m="http://schemas.openxmlformats.org/officeDocument/2006/math">
                    <m:r>
                      <a:rPr lang="en-U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3000" dirty="0"/>
                  <a:t> maximum likelihood of mean of a Gaussian (under appropriate model)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CAEFCA-FC1A-8056-5FDC-563BFF2FF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47" y="5717366"/>
                <a:ext cx="10506974" cy="1015663"/>
              </a:xfrm>
              <a:prstGeom prst="rect">
                <a:avLst/>
              </a:prstGeom>
              <a:blipFill>
                <a:blip r:embed="rId3"/>
                <a:stretch>
                  <a:fillRect l="-1329" t="-75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9857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40CC-F670-B74E-C2FE-77340C51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class(es): two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0E7D9-F111-32F8-043C-758F842F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Non-negative matrix factorization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For better interpretability of PCs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GLM-PCA (or more generally, factor analysis)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For issues with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36076614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561A-4706-817C-41D2-B154CD58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dirty="0"/>
              <a:t>Multinomial distribution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DD6CA722-4809-A6EC-A553-280613348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/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Biased k-sided dice </a:t>
                </a:r>
              </a:p>
              <a:p>
                <a:r>
                  <a:rPr lang="en-US" sz="3000" dirty="0"/>
                  <a:t>Probabilities </a:t>
                </a:r>
                <a14:m>
                  <m:oMath xmlns:m="http://schemas.openxmlformats.org/officeDocument/2006/math"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3000" b="0" dirty="0"/>
              </a:p>
              <a:p>
                <a:endParaRPr lang="en-US" sz="3000" dirty="0"/>
              </a:p>
              <a:p>
                <a:r>
                  <a:rPr lang="en-US" sz="3000" dirty="0"/>
                  <a:t>Multinomial distribution w/ parameters </a:t>
                </a:r>
                <a:r>
                  <a:rPr lang="en-US" sz="3000" b="1" dirty="0"/>
                  <a:t>p, </a:t>
                </a:r>
                <a:r>
                  <a:rPr lang="en-US" sz="3000" dirty="0"/>
                  <a:t>k, n:</a:t>
                </a:r>
              </a:p>
              <a:p>
                <a:r>
                  <a:rPr lang="en-US" sz="3000" dirty="0"/>
                  <a:t>* If the k-sided dice is rolled n times, what is number of times each dice side is landed 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F41EDB-DD4B-840A-6356-B70041DFD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blipFill>
                <a:blip r:embed="rId3"/>
                <a:stretch>
                  <a:fillRect l="-1649" t="-2655" b="-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4132D62-512A-1EB7-FEF0-4A2C2150DB1E}"/>
              </a:ext>
            </a:extLst>
          </p:cNvPr>
          <p:cNvSpPr txBox="1"/>
          <p:nvPr/>
        </p:nvSpPr>
        <p:spPr>
          <a:xfrm>
            <a:off x="337867" y="4793322"/>
            <a:ext cx="5604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Suppose: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k=2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/>
              <a:t>p</a:t>
            </a:r>
            <a:r>
              <a:rPr lang="en-US" sz="3000" dirty="0"/>
              <a:t>=(1/4,3/4) (biased coin flip)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n=10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7703F-84D2-7881-3B89-8EA3930BC431}"/>
              </a:ext>
            </a:extLst>
          </p:cNvPr>
          <p:cNvSpPr txBox="1"/>
          <p:nvPr/>
        </p:nvSpPr>
        <p:spPr>
          <a:xfrm>
            <a:off x="6096000" y="4919008"/>
            <a:ext cx="51377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Multinomial distribution describes # heads if you flip coin n=10 times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402435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FA4A42-C795-1A50-59F4-0C9682FD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776D6-C257-AFDC-AEB0-C4B2E049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8" y="278861"/>
            <a:ext cx="10515600" cy="1325563"/>
          </a:xfrm>
        </p:spPr>
        <p:txBody>
          <a:bodyPr/>
          <a:lstStyle/>
          <a:p>
            <a:r>
              <a:rPr lang="en-US" b="1" dirty="0"/>
              <a:t>Approximating a</a:t>
            </a:r>
            <a:r>
              <a:rPr lang="en-US" dirty="0"/>
              <a:t> multinomial distribution</a:t>
            </a:r>
          </a:p>
        </p:txBody>
      </p:sp>
      <p:pic>
        <p:nvPicPr>
          <p:cNvPr id="8194" name="Picture 2" descr="Multinomial distribution explained – short, clear and quickly!">
            <a:extLst>
              <a:ext uri="{FF2B5EF4-FFF2-40B4-BE49-F238E27FC236}">
                <a16:creationId xmlns:a16="http://schemas.microsoft.com/office/drawing/2014/main" id="{B74708FA-528B-6C26-61F8-450B57F8A4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3" r="18851"/>
          <a:stretch>
            <a:fillRect/>
          </a:stretch>
        </p:blipFill>
        <p:spPr bwMode="auto">
          <a:xfrm>
            <a:off x="337867" y="1604423"/>
            <a:ext cx="3066053" cy="262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78CE72-9475-638A-66AF-72EE71E75EA8}"/>
                  </a:ext>
                </a:extLst>
              </p:cNvPr>
              <p:cNvSpPr txBox="1"/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Biased k-sided dice </a:t>
                </a:r>
              </a:p>
              <a:p>
                <a:r>
                  <a:rPr lang="en-US" sz="3000" dirty="0"/>
                  <a:t>Probabilities </a:t>
                </a:r>
                <a14:m>
                  <m:oMath xmlns:m="http://schemas.openxmlformats.org/officeDocument/2006/math"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3000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3000" b="0" dirty="0"/>
              </a:p>
              <a:p>
                <a:endParaRPr lang="en-US" sz="3000" dirty="0"/>
              </a:p>
              <a:p>
                <a:r>
                  <a:rPr lang="en-US" sz="3000" dirty="0"/>
                  <a:t>Multinomial distribution w/ parameters </a:t>
                </a:r>
                <a:r>
                  <a:rPr lang="en-US" sz="3000" b="1" dirty="0"/>
                  <a:t>p, </a:t>
                </a:r>
                <a:r>
                  <a:rPr lang="en-US" sz="3000" dirty="0"/>
                  <a:t>k, n:</a:t>
                </a:r>
              </a:p>
              <a:p>
                <a:r>
                  <a:rPr lang="en-US" sz="3000" dirty="0"/>
                  <a:t>* If the k-sided dice is rolled n times, what is number of times each dice side is landed 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78CE72-9475-638A-66AF-72EE71E75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20" y="1604423"/>
                <a:ext cx="8453887" cy="2862322"/>
              </a:xfrm>
              <a:prstGeom prst="rect">
                <a:avLst/>
              </a:prstGeom>
              <a:blipFill>
                <a:blip r:embed="rId3"/>
                <a:stretch>
                  <a:fillRect l="-1649" t="-2655" b="-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0D6FE-1A18-2C2B-B11C-7BC8D4A34850}"/>
                  </a:ext>
                </a:extLst>
              </p:cNvPr>
              <p:cNvSpPr txBox="1"/>
              <p:nvPr/>
            </p:nvSpPr>
            <p:spPr>
              <a:xfrm>
                <a:off x="337867" y="4976578"/>
                <a:ext cx="1165285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If n large and p</a:t>
                </a:r>
                <a:r>
                  <a:rPr lang="en-US" sz="3000" baseline="-25000" dirty="0"/>
                  <a:t>k</a:t>
                </a:r>
                <a:r>
                  <a:rPr lang="en-US" sz="3000" dirty="0"/>
                  <a:t> small, then # times side </a:t>
                </a:r>
                <a:r>
                  <a:rPr lang="en-US" sz="3000" dirty="0" err="1"/>
                  <a:t>i</a:t>
                </a:r>
                <a:r>
                  <a:rPr lang="en-US" sz="3000" dirty="0"/>
                  <a:t> is landed on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independent of other sides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000" dirty="0"/>
                  <a:t>If n large and p</a:t>
                </a:r>
                <a:r>
                  <a:rPr lang="en-US" sz="3000" baseline="-25000" dirty="0"/>
                  <a:t>k</a:t>
                </a:r>
                <a:r>
                  <a:rPr lang="en-US" sz="3000" dirty="0"/>
                  <a:t> small, then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0D6FE-1A18-2C2B-B11C-7BC8D4A34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67" y="4976578"/>
                <a:ext cx="11652850" cy="1477328"/>
              </a:xfrm>
              <a:prstGeom prst="rect">
                <a:avLst/>
              </a:prstGeom>
              <a:blipFill>
                <a:blip r:embed="rId4"/>
                <a:stretch>
                  <a:fillRect l="-1088" t="-4237" b="-11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344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12556</TotalTime>
  <Words>2700</Words>
  <Application>Microsoft Macintosh PowerPoint</Application>
  <PresentationFormat>Widescreen</PresentationFormat>
  <Paragraphs>497</Paragraphs>
  <Slides>53</Slides>
  <Notes>3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Cambria Math</vt:lpstr>
      <vt:lpstr>Office Theme</vt:lpstr>
      <vt:lpstr>Machine Learning for Single-Cell and Spatial Biology</vt:lpstr>
      <vt:lpstr>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Dimensionality reduction</vt:lpstr>
      <vt:lpstr>Naïve approach: feature (gene) selection</vt:lpstr>
      <vt:lpstr>Naïve approach: feature (gene) selection</vt:lpstr>
      <vt:lpstr>Data pre-processing step: Highly variable gene (HVG) selection</vt:lpstr>
      <vt:lpstr>Challenges with feature selection</vt:lpstr>
      <vt:lpstr>Principal Components Analysis (PCA)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PCA: geometric intuition</vt:lpstr>
      <vt:lpstr>Geometric interpretation of PCA: dimensionality reduction</vt:lpstr>
      <vt:lpstr>Alternative interpretation of PCA</vt:lpstr>
      <vt:lpstr>PCA: derivation</vt:lpstr>
      <vt:lpstr>PCA: derivation</vt:lpstr>
      <vt:lpstr>PCA: derivation</vt:lpstr>
      <vt:lpstr>PCA: derivation</vt:lpstr>
      <vt:lpstr>PCA: derivation 1</vt:lpstr>
      <vt:lpstr>PCA: derivation 1</vt:lpstr>
      <vt:lpstr>Deriving other PCs</vt:lpstr>
      <vt:lpstr>Deriving other PCs</vt:lpstr>
      <vt:lpstr>Deriving other PCs</vt:lpstr>
      <vt:lpstr>Alternative view of PCA: matrix factorization</vt:lpstr>
      <vt:lpstr>How to compute PCs?</vt:lpstr>
      <vt:lpstr>Power method</vt:lpstr>
      <vt:lpstr>Power method</vt:lpstr>
      <vt:lpstr>Power method</vt:lpstr>
      <vt:lpstr>Power method</vt:lpstr>
      <vt:lpstr>In practice: Singular value decomposition</vt:lpstr>
      <vt:lpstr>Why do we care?</vt:lpstr>
      <vt:lpstr>How to compute SVD?</vt:lpstr>
      <vt:lpstr>How to choose # PCs? </vt:lpstr>
      <vt:lpstr>PCA is standard step in single cell pipeline</vt:lpstr>
      <vt:lpstr>PCA is standard step in single cell pipeline</vt:lpstr>
      <vt:lpstr>Using PCA to visualize single cell data</vt:lpstr>
      <vt:lpstr>Visualizing more PCs</vt:lpstr>
      <vt:lpstr>More examples of PCA</vt:lpstr>
      <vt:lpstr>Summary</vt:lpstr>
      <vt:lpstr>Challenge 1: Interpretability</vt:lpstr>
      <vt:lpstr>Challenge 2: normalization</vt:lpstr>
      <vt:lpstr>Maximum likelihood estimation under a Gaussian</vt:lpstr>
      <vt:lpstr>Next class(es): two solutions</vt:lpstr>
      <vt:lpstr>Multinomial distribution</vt:lpstr>
      <vt:lpstr>Approximating a multinomial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29</cp:revision>
  <dcterms:created xsi:type="dcterms:W3CDTF">2026-01-18T19:39:29Z</dcterms:created>
  <dcterms:modified xsi:type="dcterms:W3CDTF">2026-06-22T23:34:40Z</dcterms:modified>
</cp:coreProperties>
</file>
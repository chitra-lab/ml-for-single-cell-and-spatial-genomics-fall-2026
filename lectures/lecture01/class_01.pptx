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6858000" cx="12192000"/>
  <p:notesSz cx="6858000" cy="9144000"/>
  <p:embeddedFontLst>
    <p:embeddedFont>
      <p:font typeface="Play"/>
      <p:regular r:id="rId37"/>
      <p:bold r:id="rId38"/>
    </p:embeddedFont>
    <p:embeddedFont>
      <p:font typeface="Helvetica Neue"/>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3" roundtripDataSignature="AMtx7mi6ljCkA7sA1ZM0WMViJUYkwq5Y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21C8F2A-40A0-4A7D-A9DE-2E6CE038B251}">
  <a:tblStyle styleId="{621C8F2A-40A0-4A7D-A9DE-2E6CE038B25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HelveticaNeue-bold.fntdata"/><Relationship Id="rId20" Type="http://schemas.openxmlformats.org/officeDocument/2006/relationships/slide" Target="slides/slide15.xml"/><Relationship Id="rId42" Type="http://schemas.openxmlformats.org/officeDocument/2006/relationships/font" Target="fonts/HelveticaNeue-boldItalic.fntdata"/><Relationship Id="rId41" Type="http://schemas.openxmlformats.org/officeDocument/2006/relationships/font" Target="fonts/HelveticaNeue-italic.fntdata"/><Relationship Id="rId22" Type="http://schemas.openxmlformats.org/officeDocument/2006/relationships/slide" Target="slides/slide17.xml"/><Relationship Id="rId21" Type="http://schemas.openxmlformats.org/officeDocument/2006/relationships/slide" Target="slides/slide16.xml"/><Relationship Id="rId43" Type="http://customschemas.google.com/relationships/presentationmetadata" Target="meta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Play-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HelveticaNeue-regular.fntdata"/><Relationship Id="rId16" Type="http://schemas.openxmlformats.org/officeDocument/2006/relationships/slide" Target="slides/slide11.xml"/><Relationship Id="rId38" Type="http://schemas.openxmlformats.org/officeDocument/2006/relationships/font" Target="fonts/Play-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Before we delve any deeper into this topic I will first briefly review gene expression and RNA sequencing.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Gene expression is the quantity and relative proportions of mRNA transcripts in a cell. These mRNA transcripts are transcribed from genes within the genome and then translated into proteins, so in this way the gene expression, or the expression of mRNA transcripts, determines cell type and function</a:t>
            </a:r>
            <a:endParaRPr/>
          </a:p>
        </p:txBody>
      </p:sp>
      <p:sp>
        <p:nvSpPr>
          <p:cNvPr id="208" name="Google Shape;20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this toy example we have two different brain cell types, a neuron and an oligodendrocyte, which have different gene expression.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neuron has high expression of gene B and the oligodendrocyte has high expression of gene A.</a:t>
            </a:r>
            <a:endParaRPr/>
          </a:p>
        </p:txBody>
      </p:sp>
      <p:sp>
        <p:nvSpPr>
          <p:cNvPr id="247" name="Google Shape;24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newer technologies are called droplet-based single cell sequencing are more commonly used due to their ability to sequence many more cells. These include drop-seq, inDrops, and 10X Genomics. 10X Genomics droplet based technology is by far the most commonly used currently. With droplet based methods, cells are encapsulated in tiny droplets of oil, where each droplet contains a bead covered in barcodes unique to that droplet. With this technology we can now sequence from 1000 to up to 100,000 cells on a single sequencing run. However this comes at the cost of sequencing only about 70 thousand reads per cell instead of 1 million using plate-based methods.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ability to assign barcoded reads to cells allows us to retain cell type information and investigate cellular heterogeneity within a single sample.</a:t>
            </a:r>
            <a:endParaRPr/>
          </a:p>
          <a:p>
            <a:pPr indent="0" lvl="0" marL="0" rtl="0" algn="l">
              <a:spcBef>
                <a:spcPts val="0"/>
              </a:spcBef>
              <a:spcAft>
                <a:spcPts val="0"/>
              </a:spcAft>
              <a:buNone/>
            </a:pPr>
            <a:r>
              <a:t/>
            </a:r>
            <a:endParaRPr/>
          </a:p>
        </p:txBody>
      </p:sp>
      <p:sp>
        <p:nvSpPr>
          <p:cNvPr id="293" name="Google Shape;29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newer technologies are called droplet-based single cell sequencing are more commonly used due to their ability to sequence many more cells. These include drop-seq, inDrops, and 10X Genomics. 10X Genomics droplet based technology is by far the most commonly used currently. With droplet based methods, cells are encapsulated in tiny droplets of oil, where each droplet contains a bead covered in barcodes unique to that droplet. With this technology we can now sequence from 1000 to up to 100,000 cells on a single sequencing run. However this comes at the cost of sequencing only about 70 thousand reads per cell instead of 1 million using plate-based methods.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ability to assign barcoded reads to cells allows us to retain cell type information and investigate cellular heterogeneity within a single sample.</a:t>
            </a:r>
            <a:endParaRPr/>
          </a:p>
          <a:p>
            <a:pPr indent="0" lvl="0" marL="0" rtl="0" algn="l">
              <a:spcBef>
                <a:spcPts val="0"/>
              </a:spcBef>
              <a:spcAft>
                <a:spcPts val="0"/>
              </a:spcAft>
              <a:buNone/>
            </a:pPr>
            <a:r>
              <a:t/>
            </a:r>
            <a:endParaRPr/>
          </a:p>
        </p:txBody>
      </p:sp>
      <p:sp>
        <p:nvSpPr>
          <p:cNvPr id="324" name="Google Shape;32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ebf7da3f9f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ebf7da3f9f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g3ebf7da3f9f_0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ebf7da3f9f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ebf7da3f9f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g3ebf7da3f9f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0" lang="en-US"/>
              <a:t>Emphasize that  it’s high-dim, multi-modal</a:t>
            </a:r>
            <a:endParaRPr/>
          </a:p>
          <a:p>
            <a:pPr indent="0" lvl="0" marL="0" marR="0" rtl="0" algn="l">
              <a:lnSpc>
                <a:spcPct val="100000"/>
              </a:lnSpc>
              <a:spcBef>
                <a:spcPts val="0"/>
              </a:spcBef>
              <a:spcAft>
                <a:spcPts val="0"/>
              </a:spcAft>
              <a:buClr>
                <a:schemeClr val="dk1"/>
              </a:buClr>
              <a:buSzPts val="1200"/>
              <a:buFont typeface="Arial"/>
              <a:buNone/>
            </a:pPr>
            <a:r>
              <a:rPr b="0" lang="en-US"/>
              <a:t>How to explain what expression is?</a:t>
            </a:r>
            <a:endParaRPr/>
          </a:p>
          <a:p>
            <a:pPr indent="0" lvl="0" marL="0" marR="0" rtl="0" algn="l">
              <a:lnSpc>
                <a:spcPct val="100000"/>
              </a:lnSpc>
              <a:spcBef>
                <a:spcPts val="0"/>
              </a:spcBef>
              <a:spcAft>
                <a:spcPts val="0"/>
              </a:spcAft>
              <a:buClr>
                <a:schemeClr val="dk1"/>
              </a:buClr>
              <a:buSzPts val="1200"/>
              <a:buFont typeface="Arial"/>
              <a:buNone/>
            </a:pPr>
            <a:r>
              <a:t/>
            </a:r>
            <a:endParaRPr b="0"/>
          </a:p>
          <a:p>
            <a:pPr indent="0" lvl="0" marL="0" marR="0" rtl="0" algn="l">
              <a:lnSpc>
                <a:spcPct val="100000"/>
              </a:lnSpc>
              <a:spcBef>
                <a:spcPts val="0"/>
              </a:spcBef>
              <a:spcAft>
                <a:spcPts val="0"/>
              </a:spcAft>
              <a:buClr>
                <a:schemeClr val="dk1"/>
              </a:buClr>
              <a:buSzPts val="1200"/>
              <a:buFont typeface="Arial"/>
              <a:buNone/>
            </a:pPr>
            <a:r>
              <a:rPr b="0" lang="en-US"/>
              <a:t>Single cell</a:t>
            </a:r>
            <a:endParaRPr/>
          </a:p>
        </p:txBody>
      </p:sp>
      <p:sp>
        <p:nvSpPr>
          <p:cNvPr id="391" name="Google Shape;391;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ebf7da3f9f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ebf7da3f9f_0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1" name="Google Shape;461;g3ebf7da3f9f_0_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7" name="Google Shape;46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ebf7da3f9f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ebf7da3f9f_0_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0" name="Google Shape;490;g3ebf7da3f9f_0_3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6" name="Google Shape;49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ebf7da3f9f_0_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5" name="Google Shape;515;g3ebf7da3f9f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8" name="Google Shape;53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ebf7da3f9f_0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ebf7da3f9f_0_8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1" name="Google Shape;551;g3ebf7da3f9f_0_8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7" name="Google Shape;55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1" name="Google Shape;58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5"/>
          <p:cNvSpPr/>
          <p:nvPr>
            <p:ph idx="2" type="pic"/>
          </p:nvPr>
        </p:nvSpPr>
        <p:spPr>
          <a:xfrm>
            <a:off x="5183188" y="987425"/>
            <a:ext cx="6172200" cy="4873625"/>
          </a:xfrm>
          <a:prstGeom prst="rect">
            <a:avLst/>
          </a:prstGeom>
          <a:noFill/>
          <a:ln>
            <a:noFill/>
          </a:ln>
        </p:spPr>
      </p:sp>
      <p:sp>
        <p:nvSpPr>
          <p:cNvPr id="68" name="Google Shape;68;p3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6.jpg"/><Relationship Id="rId11" Type="http://schemas.openxmlformats.org/officeDocument/2006/relationships/image" Target="../media/image4.png"/><Relationship Id="rId10" Type="http://schemas.openxmlformats.org/officeDocument/2006/relationships/image" Target="../media/image13.png"/><Relationship Id="rId12" Type="http://schemas.openxmlformats.org/officeDocument/2006/relationships/image" Target="../media/image5.jpg"/><Relationship Id="rId9" Type="http://schemas.openxmlformats.org/officeDocument/2006/relationships/image" Target="../media/image3.png"/><Relationship Id="rId5" Type="http://schemas.openxmlformats.org/officeDocument/2006/relationships/image" Target="../media/image12.png"/><Relationship Id="rId6" Type="http://schemas.openxmlformats.org/officeDocument/2006/relationships/image" Target="../media/image7.png"/><Relationship Id="rId7" Type="http://schemas.openxmlformats.org/officeDocument/2006/relationships/image" Target="../media/image1.jpg"/><Relationship Id="rId8"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1.jpg"/><Relationship Id="rId5" Type="http://schemas.openxmlformats.org/officeDocument/2006/relationships/image" Target="../media/image8.png"/><Relationship Id="rId6"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5.png"/><Relationship Id="rId4" Type="http://schemas.openxmlformats.org/officeDocument/2006/relationships/image" Target="../media/image19.png"/><Relationship Id="rId5"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5.png"/><Relationship Id="rId4" Type="http://schemas.openxmlformats.org/officeDocument/2006/relationships/image" Target="../media/image19.png"/><Relationship Id="rId5"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2.gif"/><Relationship Id="rId4" Type="http://schemas.openxmlformats.org/officeDocument/2006/relationships/hyperlink" Target="https://www.tbmcore.cnrs.fr/onecell/?lang=en" TargetMode="External"/><Relationship Id="rId5"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7.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5.png"/><Relationship Id="rId4" Type="http://schemas.openxmlformats.org/officeDocument/2006/relationships/image" Target="../media/image18.png"/><Relationship Id="rId9" Type="http://schemas.openxmlformats.org/officeDocument/2006/relationships/image" Target="../media/image19.png"/><Relationship Id="rId5" Type="http://schemas.openxmlformats.org/officeDocument/2006/relationships/image" Target="../media/image4.png"/><Relationship Id="rId6" Type="http://schemas.openxmlformats.org/officeDocument/2006/relationships/image" Target="../media/image24.png"/><Relationship Id="rId7" Type="http://schemas.openxmlformats.org/officeDocument/2006/relationships/image" Target="../media/image21.png"/><Relationship Id="rId8"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5.png"/><Relationship Id="rId4" Type="http://schemas.openxmlformats.org/officeDocument/2006/relationships/image" Target="../media/image18.png"/><Relationship Id="rId5" Type="http://schemas.openxmlformats.org/officeDocument/2006/relationships/image" Target="../media/image28.png"/><Relationship Id="rId6"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image" Target="../media/image23.png"/><Relationship Id="rId5"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1.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6.png"/><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4.png"/><Relationship Id="rId4" Type="http://schemas.openxmlformats.org/officeDocument/2006/relationships/image" Target="../media/image30.png"/><Relationship Id="rId5"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845127" y="1041400"/>
            <a:ext cx="10501745"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Play"/>
              <a:buNone/>
            </a:pPr>
            <a:r>
              <a:rPr lang="en-US"/>
              <a:t>Machine Learning for Single-Cell and Spatial Biology</a:t>
            </a:r>
            <a:endParaRPr/>
          </a:p>
        </p:txBody>
      </p:sp>
      <p:sp>
        <p:nvSpPr>
          <p:cNvPr id="89" name="Google Shape;89;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Prof. Uthsav Chitra</a:t>
            </a:r>
            <a:endParaRPr/>
          </a:p>
          <a:p>
            <a:pPr indent="0" lvl="0" marL="0" rtl="0" algn="ctr">
              <a:lnSpc>
                <a:spcPct val="90000"/>
              </a:lnSpc>
              <a:spcBef>
                <a:spcPts val="1000"/>
              </a:spcBef>
              <a:spcAft>
                <a:spcPts val="0"/>
              </a:spcAft>
              <a:buClr>
                <a:schemeClr val="dk1"/>
              </a:buClr>
              <a:buSzPts val="2400"/>
              <a:buNone/>
            </a:pPr>
            <a:r>
              <a:rPr lang="en-US"/>
              <a:t>Johns Hopkins University</a:t>
            </a:r>
            <a:endParaRPr/>
          </a:p>
          <a:p>
            <a:pPr indent="0" lvl="0" marL="0" rtl="0" algn="ctr">
              <a:lnSpc>
                <a:spcPct val="90000"/>
              </a:lnSpc>
              <a:spcBef>
                <a:spcPts val="1000"/>
              </a:spcBef>
              <a:spcAft>
                <a:spcPts val="0"/>
              </a:spcAft>
              <a:buClr>
                <a:schemeClr val="dk1"/>
              </a:buClr>
              <a:buSzPts val="2400"/>
              <a:buNone/>
            </a:pPr>
            <a:r>
              <a:rPr lang="en-US"/>
              <a:t>September 1,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Today</a:t>
            </a:r>
            <a:endParaRPr/>
          </a:p>
        </p:txBody>
      </p:sp>
      <p:sp>
        <p:nvSpPr>
          <p:cNvPr id="95" name="Google Shape;95;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Welcome!</a:t>
            </a:r>
            <a:endParaRPr/>
          </a:p>
          <a:p>
            <a:pPr indent="-228600" lvl="0" marL="228600" rtl="0" algn="l">
              <a:lnSpc>
                <a:spcPct val="90000"/>
              </a:lnSpc>
              <a:spcBef>
                <a:spcPts val="1000"/>
              </a:spcBef>
              <a:spcAft>
                <a:spcPts val="0"/>
              </a:spcAft>
              <a:buClr>
                <a:schemeClr val="dk1"/>
              </a:buClr>
              <a:buSzPts val="2800"/>
              <a:buChar char="•"/>
            </a:pPr>
            <a:r>
              <a:rPr lang="en-US"/>
              <a:t>Course logistics</a:t>
            </a:r>
            <a:endParaRPr/>
          </a:p>
          <a:p>
            <a:pPr indent="-228600" lvl="0" marL="228600" rtl="0" algn="l">
              <a:lnSpc>
                <a:spcPct val="90000"/>
              </a:lnSpc>
              <a:spcBef>
                <a:spcPts val="1000"/>
              </a:spcBef>
              <a:spcAft>
                <a:spcPts val="0"/>
              </a:spcAft>
              <a:buClr>
                <a:schemeClr val="dk1"/>
              </a:buClr>
              <a:buSzPts val="2800"/>
              <a:buChar char="•"/>
            </a:pPr>
            <a:r>
              <a:rPr lang="en-US"/>
              <a:t>Introduction to single-cell and spatial sequencing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474231" y="277276"/>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This class: ML methods to understanding cells/tissues in our body</a:t>
            </a:r>
            <a:endParaRPr/>
          </a:p>
        </p:txBody>
      </p:sp>
      <p:pic>
        <p:nvPicPr>
          <p:cNvPr id="101" name="Google Shape;101;p3"/>
          <p:cNvPicPr preferRelativeResize="0"/>
          <p:nvPr>
            <p:ph idx="1" type="body"/>
          </p:nvPr>
        </p:nvPicPr>
        <p:blipFill rotWithShape="1">
          <a:blip r:embed="rId3">
            <a:alphaModFix/>
          </a:blip>
          <a:srcRect b="41054" l="0" r="5278" t="0"/>
          <a:stretch/>
        </p:blipFill>
        <p:spPr>
          <a:xfrm>
            <a:off x="-6097678" y="1690688"/>
            <a:ext cx="4383513" cy="1613879"/>
          </a:xfrm>
          <a:prstGeom prst="rect">
            <a:avLst/>
          </a:prstGeom>
          <a:noFill/>
          <a:ln>
            <a:noFill/>
          </a:ln>
        </p:spPr>
      </p:pic>
      <p:sp>
        <p:nvSpPr>
          <p:cNvPr id="102" name="Google Shape;102;p3"/>
          <p:cNvSpPr txBox="1"/>
          <p:nvPr/>
        </p:nvSpPr>
        <p:spPr>
          <a:xfrm>
            <a:off x="-6097678" y="3429000"/>
            <a:ext cx="117051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7F7F7F"/>
                </a:solidFill>
                <a:latin typeface="Arial"/>
                <a:ea typeface="Arial"/>
                <a:cs typeface="Arial"/>
                <a:sym typeface="Arial"/>
              </a:rPr>
              <a:t>Wikipedia</a:t>
            </a:r>
            <a:endParaRPr/>
          </a:p>
        </p:txBody>
      </p:sp>
      <p:sp>
        <p:nvSpPr>
          <p:cNvPr id="103" name="Google Shape;103;p3"/>
          <p:cNvSpPr txBox="1"/>
          <p:nvPr/>
        </p:nvSpPr>
        <p:spPr>
          <a:xfrm>
            <a:off x="-2071004" y="2036442"/>
            <a:ext cx="190468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Arial"/>
                <a:ea typeface="Arial"/>
                <a:cs typeface="Arial"/>
                <a:sym typeface="Arial"/>
              </a:rPr>
              <a:t>machine learning</a:t>
            </a:r>
            <a:endParaRPr/>
          </a:p>
        </p:txBody>
      </p:sp>
      <p:pic>
        <p:nvPicPr>
          <p:cNvPr descr="Types of cells in Human body | Human Anatomy and Physiology" id="104" name="Google Shape;104;p3"/>
          <p:cNvPicPr preferRelativeResize="0"/>
          <p:nvPr/>
        </p:nvPicPr>
        <p:blipFill rotWithShape="1">
          <a:blip r:embed="rId4">
            <a:alphaModFix/>
          </a:blip>
          <a:srcRect b="0" l="0" r="0" t="0"/>
          <a:stretch/>
        </p:blipFill>
        <p:spPr>
          <a:xfrm>
            <a:off x="-6316979" y="-3148563"/>
            <a:ext cx="6246557" cy="3513688"/>
          </a:xfrm>
          <a:prstGeom prst="rect">
            <a:avLst/>
          </a:prstGeom>
          <a:noFill/>
          <a:ln>
            <a:noFill/>
          </a:ln>
        </p:spPr>
      </p:pic>
      <p:grpSp>
        <p:nvGrpSpPr>
          <p:cNvPr id="105" name="Google Shape;105;p3"/>
          <p:cNvGrpSpPr/>
          <p:nvPr/>
        </p:nvGrpSpPr>
        <p:grpSpPr>
          <a:xfrm>
            <a:off x="12192000" y="6858000"/>
            <a:ext cx="2936085" cy="1980809"/>
            <a:chOff x="174171" y="3995057"/>
            <a:chExt cx="3452590" cy="2253765"/>
          </a:xfrm>
        </p:grpSpPr>
        <p:pic>
          <p:nvPicPr>
            <p:cNvPr id="106" name="Google Shape;106;p3"/>
            <p:cNvPicPr preferRelativeResize="0"/>
            <p:nvPr/>
          </p:nvPicPr>
          <p:blipFill rotWithShape="1">
            <a:blip r:embed="rId5">
              <a:alphaModFix/>
            </a:blip>
            <a:srcRect b="66621" l="0" r="56214" t="0"/>
            <a:stretch/>
          </p:blipFill>
          <p:spPr>
            <a:xfrm>
              <a:off x="223502" y="4027714"/>
              <a:ext cx="3403259" cy="2221108"/>
            </a:xfrm>
            <a:prstGeom prst="rect">
              <a:avLst/>
            </a:prstGeom>
            <a:noFill/>
            <a:ln>
              <a:noFill/>
            </a:ln>
          </p:spPr>
        </p:pic>
        <p:sp>
          <p:nvSpPr>
            <p:cNvPr id="107" name="Google Shape;107;p3"/>
            <p:cNvSpPr/>
            <p:nvPr/>
          </p:nvSpPr>
          <p:spPr>
            <a:xfrm>
              <a:off x="174171" y="3995057"/>
              <a:ext cx="261258" cy="29391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pic>
        <p:nvPicPr>
          <p:cNvPr id="108" name="Google Shape;108;p3"/>
          <p:cNvPicPr preferRelativeResize="0"/>
          <p:nvPr/>
        </p:nvPicPr>
        <p:blipFill rotWithShape="1">
          <a:blip r:embed="rId5">
            <a:alphaModFix/>
          </a:blip>
          <a:srcRect b="66621" l="44214" r="16385" t="0"/>
          <a:stretch/>
        </p:blipFill>
        <p:spPr>
          <a:xfrm>
            <a:off x="12771957" y="3341654"/>
            <a:ext cx="2604317" cy="1952107"/>
          </a:xfrm>
          <a:prstGeom prst="rect">
            <a:avLst/>
          </a:prstGeom>
          <a:noFill/>
          <a:ln>
            <a:noFill/>
          </a:ln>
        </p:spPr>
      </p:pic>
      <p:pic>
        <p:nvPicPr>
          <p:cNvPr descr="DNA Sequencing" id="109" name="Google Shape;109;p3"/>
          <p:cNvPicPr preferRelativeResize="0"/>
          <p:nvPr/>
        </p:nvPicPr>
        <p:blipFill rotWithShape="1">
          <a:blip r:embed="rId6">
            <a:alphaModFix/>
          </a:blip>
          <a:srcRect b="0" l="0" r="44965" t="29935"/>
          <a:stretch/>
        </p:blipFill>
        <p:spPr>
          <a:xfrm>
            <a:off x="4977518" y="3429000"/>
            <a:ext cx="2790464" cy="1860462"/>
          </a:xfrm>
          <a:prstGeom prst="rect">
            <a:avLst/>
          </a:prstGeom>
          <a:noFill/>
          <a:ln>
            <a:noFill/>
          </a:ln>
        </p:spPr>
      </p:pic>
      <p:grpSp>
        <p:nvGrpSpPr>
          <p:cNvPr id="110" name="Google Shape;110;p3"/>
          <p:cNvGrpSpPr/>
          <p:nvPr/>
        </p:nvGrpSpPr>
        <p:grpSpPr>
          <a:xfrm>
            <a:off x="-20532" y="1760250"/>
            <a:ext cx="3994440" cy="4138160"/>
            <a:chOff x="60105" y="1774398"/>
            <a:chExt cx="4214207" cy="4376983"/>
          </a:xfrm>
        </p:grpSpPr>
        <p:pic>
          <p:nvPicPr>
            <p:cNvPr descr="Tissue types: MedlinePlus Medical Encyclopedia Image" id="111" name="Google Shape;111;p3"/>
            <p:cNvPicPr preferRelativeResize="0"/>
            <p:nvPr/>
          </p:nvPicPr>
          <p:blipFill rotWithShape="1">
            <a:blip r:embed="rId7">
              <a:alphaModFix/>
            </a:blip>
            <a:srcRect b="13541" l="48821" r="6504" t="10527"/>
            <a:stretch/>
          </p:blipFill>
          <p:spPr>
            <a:xfrm>
              <a:off x="2004803" y="2566644"/>
              <a:ext cx="2269509" cy="3085881"/>
            </a:xfrm>
            <a:prstGeom prst="rect">
              <a:avLst/>
            </a:prstGeom>
            <a:noFill/>
            <a:ln>
              <a:noFill/>
            </a:ln>
          </p:spPr>
        </p:pic>
        <p:sp>
          <p:nvSpPr>
            <p:cNvPr id="112" name="Google Shape;112;p3"/>
            <p:cNvSpPr txBox="1"/>
            <p:nvPr/>
          </p:nvSpPr>
          <p:spPr>
            <a:xfrm>
              <a:off x="60105" y="1774398"/>
              <a:ext cx="3783300" cy="879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Arial"/>
                  <a:ea typeface="Arial"/>
                  <a:cs typeface="Arial"/>
                  <a:sym typeface="Arial"/>
                </a:rPr>
                <a:t>Different types of </a:t>
              </a:r>
              <a:r>
                <a:rPr b="1" lang="en-US" sz="2400">
                  <a:solidFill>
                    <a:schemeClr val="dk1"/>
                  </a:solidFill>
                </a:rPr>
                <a:t>cells and tissues</a:t>
              </a:r>
              <a:endParaRPr/>
            </a:p>
          </p:txBody>
        </p:sp>
        <p:pic>
          <p:nvPicPr>
            <p:cNvPr descr="What is a cell? | Twinkl Teaching Wiki - Twinkl" id="113" name="Google Shape;113;p3"/>
            <p:cNvPicPr preferRelativeResize="0"/>
            <p:nvPr/>
          </p:nvPicPr>
          <p:blipFill rotWithShape="1">
            <a:blip r:embed="rId8">
              <a:alphaModFix/>
            </a:blip>
            <a:srcRect b="0" l="22753" r="25102" t="0"/>
            <a:stretch/>
          </p:blipFill>
          <p:spPr>
            <a:xfrm>
              <a:off x="69152" y="3550958"/>
              <a:ext cx="1651648" cy="1679128"/>
            </a:xfrm>
            <a:prstGeom prst="rect">
              <a:avLst/>
            </a:prstGeom>
            <a:noFill/>
            <a:ln>
              <a:noFill/>
            </a:ln>
          </p:spPr>
        </p:pic>
        <p:cxnSp>
          <p:nvCxnSpPr>
            <p:cNvPr id="114" name="Google Shape;114;p3"/>
            <p:cNvCxnSpPr/>
            <p:nvPr/>
          </p:nvCxnSpPr>
          <p:spPr>
            <a:xfrm flipH="1">
              <a:off x="1415862" y="2819904"/>
              <a:ext cx="1071789" cy="914875"/>
            </a:xfrm>
            <a:prstGeom prst="straightConnector1">
              <a:avLst/>
            </a:prstGeom>
            <a:noFill/>
            <a:ln cap="flat" cmpd="sng" w="19050">
              <a:solidFill>
                <a:schemeClr val="accent1"/>
              </a:solidFill>
              <a:prstDash val="solid"/>
              <a:miter lim="8000"/>
              <a:headEnd len="sm" w="sm" type="none"/>
              <a:tailEnd len="sm" w="sm" type="none"/>
            </a:ln>
          </p:spPr>
        </p:cxnSp>
        <p:cxnSp>
          <p:nvCxnSpPr>
            <p:cNvPr id="115" name="Google Shape;115;p3"/>
            <p:cNvCxnSpPr/>
            <p:nvPr/>
          </p:nvCxnSpPr>
          <p:spPr>
            <a:xfrm flipH="1" rot="10800000">
              <a:off x="1054705" y="3148527"/>
              <a:ext cx="1473683" cy="2047566"/>
            </a:xfrm>
            <a:prstGeom prst="straightConnector1">
              <a:avLst/>
            </a:prstGeom>
            <a:noFill/>
            <a:ln cap="flat" cmpd="sng" w="19050">
              <a:solidFill>
                <a:schemeClr val="accent1"/>
              </a:solidFill>
              <a:prstDash val="solid"/>
              <a:miter lim="8000"/>
              <a:headEnd len="sm" w="sm" type="none"/>
              <a:tailEnd len="sm" w="sm" type="none"/>
            </a:ln>
          </p:spPr>
        </p:cxnSp>
        <p:sp>
          <p:nvSpPr>
            <p:cNvPr id="116" name="Google Shape;116;p3"/>
            <p:cNvSpPr txBox="1"/>
            <p:nvPr/>
          </p:nvSpPr>
          <p:spPr>
            <a:xfrm rot="5400000">
              <a:off x="3097573" y="5624954"/>
              <a:ext cx="498855"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chemeClr val="dk1"/>
                  </a:solidFill>
                  <a:latin typeface="Arial"/>
                  <a:ea typeface="Arial"/>
                  <a:cs typeface="Arial"/>
                  <a:sym typeface="Arial"/>
                </a:rPr>
                <a:t>…</a:t>
              </a:r>
              <a:endParaRPr/>
            </a:p>
          </p:txBody>
        </p:sp>
      </p:grpSp>
      <p:pic>
        <p:nvPicPr>
          <p:cNvPr id="117" name="Google Shape;117;p3"/>
          <p:cNvPicPr preferRelativeResize="0"/>
          <p:nvPr/>
        </p:nvPicPr>
        <p:blipFill rotWithShape="1">
          <a:blip r:embed="rId9">
            <a:alphaModFix/>
          </a:blip>
          <a:srcRect b="0" l="0" r="61449" t="0"/>
          <a:stretch/>
        </p:blipFill>
        <p:spPr>
          <a:xfrm>
            <a:off x="-4691848" y="5167312"/>
            <a:ext cx="2996293" cy="2708079"/>
          </a:xfrm>
          <a:prstGeom prst="rect">
            <a:avLst/>
          </a:prstGeom>
          <a:noFill/>
          <a:ln>
            <a:noFill/>
          </a:ln>
        </p:spPr>
      </p:pic>
      <p:sp>
        <p:nvSpPr>
          <p:cNvPr id="118" name="Google Shape;118;p3"/>
          <p:cNvSpPr/>
          <p:nvPr/>
        </p:nvSpPr>
        <p:spPr>
          <a:xfrm>
            <a:off x="4056368" y="3589249"/>
            <a:ext cx="921145" cy="1226854"/>
          </a:xfrm>
          <a:prstGeom prst="rightArrow">
            <a:avLst>
              <a:gd fmla="val 50000" name="adj1"/>
              <a:gd fmla="val 50000" name="adj2"/>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9" name="Google Shape;119;p3"/>
          <p:cNvSpPr txBox="1"/>
          <p:nvPr/>
        </p:nvSpPr>
        <p:spPr>
          <a:xfrm>
            <a:off x="7869673" y="1620194"/>
            <a:ext cx="4498689" cy="8617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500">
                <a:solidFill>
                  <a:schemeClr val="dk1"/>
                </a:solidFill>
                <a:latin typeface="Arial"/>
                <a:ea typeface="Arial"/>
                <a:cs typeface="Arial"/>
                <a:sym typeface="Arial"/>
              </a:rPr>
              <a:t>Multi-modal, single-cell / spatial data</a:t>
            </a:r>
            <a:endParaRPr/>
          </a:p>
        </p:txBody>
      </p:sp>
      <p:sp>
        <p:nvSpPr>
          <p:cNvPr id="120" name="Google Shape;120;p3"/>
          <p:cNvSpPr txBox="1"/>
          <p:nvPr/>
        </p:nvSpPr>
        <p:spPr>
          <a:xfrm>
            <a:off x="4609402" y="2460826"/>
            <a:ext cx="2927921"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Arial"/>
                <a:ea typeface="Arial"/>
                <a:cs typeface="Arial"/>
                <a:sym typeface="Arial"/>
              </a:rPr>
              <a:t>Sequencing / imaging machine</a:t>
            </a:r>
            <a:endParaRPr/>
          </a:p>
        </p:txBody>
      </p:sp>
      <p:pic>
        <p:nvPicPr>
          <p:cNvPr descr="A diagram of a diagram of a barcode&#10;&#10;AI-generated content may be incorrect." id="121" name="Google Shape;121;p3"/>
          <p:cNvPicPr preferRelativeResize="0"/>
          <p:nvPr/>
        </p:nvPicPr>
        <p:blipFill rotWithShape="1">
          <a:blip r:embed="rId10">
            <a:alphaModFix/>
          </a:blip>
          <a:srcRect b="0" l="0" r="0" t="0"/>
          <a:stretch/>
        </p:blipFill>
        <p:spPr>
          <a:xfrm>
            <a:off x="7389887" y="8838809"/>
            <a:ext cx="2927921" cy="1966962"/>
          </a:xfrm>
          <a:prstGeom prst="rect">
            <a:avLst/>
          </a:prstGeom>
          <a:noFill/>
          <a:ln>
            <a:noFill/>
          </a:ln>
        </p:spPr>
      </p:pic>
      <p:sp>
        <p:nvSpPr>
          <p:cNvPr id="122" name="Google Shape;122;p3"/>
          <p:cNvSpPr/>
          <p:nvPr/>
        </p:nvSpPr>
        <p:spPr>
          <a:xfrm>
            <a:off x="8002010" y="3632740"/>
            <a:ext cx="921145" cy="1226854"/>
          </a:xfrm>
          <a:prstGeom prst="rightArrow">
            <a:avLst>
              <a:gd fmla="val 50000" name="adj1"/>
              <a:gd fmla="val 50000" name="adj2"/>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3" name="Google Shape;123;p3"/>
          <p:cNvSpPr txBox="1"/>
          <p:nvPr/>
        </p:nvSpPr>
        <p:spPr>
          <a:xfrm rot="-5400000">
            <a:off x="8841129" y="4284322"/>
            <a:ext cx="931665"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Arial"/>
                <a:ea typeface="Arial"/>
                <a:cs typeface="Arial"/>
                <a:sym typeface="Arial"/>
              </a:rPr>
              <a:t>Cells </a:t>
            </a:r>
            <a:endParaRPr/>
          </a:p>
        </p:txBody>
      </p:sp>
      <p:sp>
        <p:nvSpPr>
          <p:cNvPr id="124" name="Google Shape;124;p3"/>
          <p:cNvSpPr txBox="1"/>
          <p:nvPr/>
        </p:nvSpPr>
        <p:spPr>
          <a:xfrm>
            <a:off x="8860689" y="2394767"/>
            <a:ext cx="3353374"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200">
                <a:solidFill>
                  <a:schemeClr val="dk1"/>
                </a:solidFill>
                <a:latin typeface="Arial"/>
                <a:ea typeface="Arial"/>
                <a:cs typeface="Arial"/>
                <a:sym typeface="Arial"/>
              </a:rPr>
              <a:t>Genomic features </a:t>
            </a:r>
            <a:r>
              <a:rPr lang="en-US" sz="1800">
                <a:solidFill>
                  <a:schemeClr val="dk1"/>
                </a:solidFill>
                <a:latin typeface="Arial"/>
                <a:ea typeface="Arial"/>
                <a:cs typeface="Arial"/>
                <a:sym typeface="Arial"/>
              </a:rPr>
              <a:t>(RNA, DNA, protein, …)</a:t>
            </a:r>
            <a:endParaRPr/>
          </a:p>
        </p:txBody>
      </p:sp>
      <p:grpSp>
        <p:nvGrpSpPr>
          <p:cNvPr id="125" name="Google Shape;125;p3"/>
          <p:cNvGrpSpPr/>
          <p:nvPr/>
        </p:nvGrpSpPr>
        <p:grpSpPr>
          <a:xfrm>
            <a:off x="7885465" y="7271038"/>
            <a:ext cx="1282343" cy="1456341"/>
            <a:chOff x="509901" y="1888175"/>
            <a:chExt cx="2660824" cy="3099025"/>
          </a:xfrm>
        </p:grpSpPr>
        <p:pic>
          <p:nvPicPr>
            <p:cNvPr id="126" name="Google Shape;126;p3"/>
            <p:cNvPicPr preferRelativeResize="0"/>
            <p:nvPr/>
          </p:nvPicPr>
          <p:blipFill rotWithShape="1">
            <a:blip r:embed="rId11">
              <a:alphaModFix/>
            </a:blip>
            <a:srcRect b="36444" l="29315" r="10632" t="31466"/>
            <a:stretch/>
          </p:blipFill>
          <p:spPr>
            <a:xfrm flipH="1" rot="5400000">
              <a:off x="348970" y="2049106"/>
              <a:ext cx="2244437" cy="1922575"/>
            </a:xfrm>
            <a:prstGeom prst="rect">
              <a:avLst/>
            </a:prstGeom>
            <a:noFill/>
            <a:ln cap="flat" cmpd="sng" w="28575">
              <a:solidFill>
                <a:schemeClr val="dk1"/>
              </a:solidFill>
              <a:prstDash val="solid"/>
              <a:round/>
              <a:headEnd len="sm" w="sm" type="none"/>
              <a:tailEnd len="sm" w="sm" type="none"/>
            </a:ln>
          </p:spPr>
        </p:pic>
        <p:pic>
          <p:nvPicPr>
            <p:cNvPr id="127" name="Google Shape;127;p3"/>
            <p:cNvPicPr preferRelativeResize="0"/>
            <p:nvPr/>
          </p:nvPicPr>
          <p:blipFill rotWithShape="1">
            <a:blip r:embed="rId11">
              <a:alphaModFix/>
            </a:blip>
            <a:srcRect b="36444" l="29315" r="10632" t="31466"/>
            <a:stretch/>
          </p:blipFill>
          <p:spPr>
            <a:xfrm flipH="1" rot="5400000">
              <a:off x="477619" y="2294094"/>
              <a:ext cx="2244437" cy="1922575"/>
            </a:xfrm>
            <a:prstGeom prst="rect">
              <a:avLst/>
            </a:prstGeom>
            <a:noFill/>
            <a:ln cap="flat" cmpd="sng" w="28575">
              <a:solidFill>
                <a:schemeClr val="dk1"/>
              </a:solidFill>
              <a:prstDash val="solid"/>
              <a:round/>
              <a:headEnd len="sm" w="sm" type="none"/>
              <a:tailEnd len="sm" w="sm" type="none"/>
            </a:ln>
          </p:spPr>
        </p:pic>
        <p:pic>
          <p:nvPicPr>
            <p:cNvPr id="128" name="Google Shape;128;p3"/>
            <p:cNvPicPr preferRelativeResize="0"/>
            <p:nvPr/>
          </p:nvPicPr>
          <p:blipFill rotWithShape="1">
            <a:blip r:embed="rId11">
              <a:alphaModFix/>
            </a:blip>
            <a:srcRect b="36444" l="29315" r="10632" t="31466"/>
            <a:stretch/>
          </p:blipFill>
          <p:spPr>
            <a:xfrm flipH="1" rot="5400000">
              <a:off x="630019" y="2446494"/>
              <a:ext cx="2244437" cy="1922575"/>
            </a:xfrm>
            <a:prstGeom prst="rect">
              <a:avLst/>
            </a:prstGeom>
            <a:noFill/>
            <a:ln cap="flat" cmpd="sng" w="28575">
              <a:solidFill>
                <a:schemeClr val="dk1"/>
              </a:solidFill>
              <a:prstDash val="solid"/>
              <a:round/>
              <a:headEnd len="sm" w="sm" type="none"/>
              <a:tailEnd len="sm" w="sm" type="none"/>
            </a:ln>
          </p:spPr>
        </p:pic>
        <p:pic>
          <p:nvPicPr>
            <p:cNvPr id="129" name="Google Shape;129;p3"/>
            <p:cNvPicPr preferRelativeResize="0"/>
            <p:nvPr/>
          </p:nvPicPr>
          <p:blipFill rotWithShape="1">
            <a:blip r:embed="rId11">
              <a:alphaModFix/>
            </a:blip>
            <a:srcRect b="36444" l="29315" r="10632" t="31466"/>
            <a:stretch/>
          </p:blipFill>
          <p:spPr>
            <a:xfrm flipH="1" rot="5400000">
              <a:off x="782419" y="2598894"/>
              <a:ext cx="2244437" cy="1922575"/>
            </a:xfrm>
            <a:prstGeom prst="rect">
              <a:avLst/>
            </a:prstGeom>
            <a:noFill/>
            <a:ln cap="flat" cmpd="sng" w="28575">
              <a:solidFill>
                <a:schemeClr val="dk1"/>
              </a:solidFill>
              <a:prstDash val="solid"/>
              <a:round/>
              <a:headEnd len="sm" w="sm" type="none"/>
              <a:tailEnd len="sm" w="sm" type="none"/>
            </a:ln>
          </p:spPr>
        </p:pic>
        <p:pic>
          <p:nvPicPr>
            <p:cNvPr id="130" name="Google Shape;130;p3"/>
            <p:cNvPicPr preferRelativeResize="0"/>
            <p:nvPr/>
          </p:nvPicPr>
          <p:blipFill rotWithShape="1">
            <a:blip r:embed="rId11">
              <a:alphaModFix/>
            </a:blip>
            <a:srcRect b="36444" l="29315" r="10632" t="31466"/>
            <a:stretch/>
          </p:blipFill>
          <p:spPr>
            <a:xfrm flipH="1" rot="5400000">
              <a:off x="934819" y="2751294"/>
              <a:ext cx="2244437" cy="1922575"/>
            </a:xfrm>
            <a:prstGeom prst="rect">
              <a:avLst/>
            </a:prstGeom>
            <a:noFill/>
            <a:ln cap="flat" cmpd="sng" w="28575">
              <a:solidFill>
                <a:schemeClr val="dk1"/>
              </a:solidFill>
              <a:prstDash val="solid"/>
              <a:round/>
              <a:headEnd len="sm" w="sm" type="none"/>
              <a:tailEnd len="sm" w="sm" type="none"/>
            </a:ln>
          </p:spPr>
        </p:pic>
        <p:pic>
          <p:nvPicPr>
            <p:cNvPr id="131" name="Google Shape;131;p3"/>
            <p:cNvPicPr preferRelativeResize="0"/>
            <p:nvPr/>
          </p:nvPicPr>
          <p:blipFill rotWithShape="1">
            <a:blip r:embed="rId11">
              <a:alphaModFix/>
            </a:blip>
            <a:srcRect b="36444" l="29315" r="10632" t="31466"/>
            <a:stretch/>
          </p:blipFill>
          <p:spPr>
            <a:xfrm flipH="1" rot="5400000">
              <a:off x="1087219" y="2903694"/>
              <a:ext cx="2244437" cy="1922575"/>
            </a:xfrm>
            <a:prstGeom prst="rect">
              <a:avLst/>
            </a:prstGeom>
            <a:noFill/>
            <a:ln cap="flat" cmpd="sng" w="28575">
              <a:solidFill>
                <a:schemeClr val="dk1"/>
              </a:solidFill>
              <a:prstDash val="solid"/>
              <a:round/>
              <a:headEnd len="sm" w="sm" type="none"/>
              <a:tailEnd len="sm" w="sm" type="none"/>
            </a:ln>
          </p:spPr>
        </p:pic>
      </p:grpSp>
      <p:sp>
        <p:nvSpPr>
          <p:cNvPr id="132" name="Google Shape;132;p3"/>
          <p:cNvSpPr txBox="1"/>
          <p:nvPr/>
        </p:nvSpPr>
        <p:spPr>
          <a:xfrm>
            <a:off x="6165552" y="7928363"/>
            <a:ext cx="170412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Many datasets!</a:t>
            </a:r>
            <a:endParaRPr/>
          </a:p>
        </p:txBody>
      </p:sp>
      <p:pic>
        <p:nvPicPr>
          <p:cNvPr id="133" name="Google Shape;133;p3"/>
          <p:cNvPicPr preferRelativeResize="0"/>
          <p:nvPr/>
        </p:nvPicPr>
        <p:blipFill rotWithShape="1">
          <a:blip r:embed="rId11">
            <a:alphaModFix/>
          </a:blip>
          <a:srcRect b="36444" l="25315" r="7379" t="31466"/>
          <a:stretch/>
        </p:blipFill>
        <p:spPr>
          <a:xfrm flipH="1" rot="5400000">
            <a:off x="9176578" y="3510482"/>
            <a:ext cx="2721597" cy="1697496"/>
          </a:xfrm>
          <a:prstGeom prst="rect">
            <a:avLst/>
          </a:prstGeom>
          <a:noFill/>
          <a:ln>
            <a:noFill/>
          </a:ln>
        </p:spPr>
      </p:pic>
      <p:sp>
        <p:nvSpPr>
          <p:cNvPr id="134" name="Google Shape;134;p3"/>
          <p:cNvSpPr txBox="1"/>
          <p:nvPr/>
        </p:nvSpPr>
        <p:spPr>
          <a:xfrm>
            <a:off x="474231" y="5879886"/>
            <a:ext cx="8546684"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700" u="sng">
                <a:solidFill>
                  <a:schemeClr val="dk1"/>
                </a:solidFill>
                <a:latin typeface="Arial"/>
                <a:ea typeface="Arial"/>
                <a:cs typeface="Arial"/>
                <a:sym typeface="Arial"/>
              </a:rPr>
              <a:t>Large data – need sophisticated ML methods to analyze and understand it!</a:t>
            </a:r>
            <a:endParaRPr/>
          </a:p>
        </p:txBody>
      </p:sp>
      <p:pic>
        <p:nvPicPr>
          <p:cNvPr descr="Casting a Wider Net: How Spatial Omics Leads to New Discoveries" id="135" name="Google Shape;135;p3"/>
          <p:cNvPicPr preferRelativeResize="0"/>
          <p:nvPr/>
        </p:nvPicPr>
        <p:blipFill rotWithShape="1">
          <a:blip r:embed="rId12">
            <a:alphaModFix/>
          </a:blip>
          <a:srcRect b="0" l="0" r="0" t="0"/>
          <a:stretch/>
        </p:blipFill>
        <p:spPr>
          <a:xfrm>
            <a:off x="9566613" y="5237806"/>
            <a:ext cx="2151156" cy="119026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4"/>
          <p:cNvPicPr preferRelativeResize="0"/>
          <p:nvPr/>
        </p:nvPicPr>
        <p:blipFill rotWithShape="1">
          <a:blip r:embed="rId3">
            <a:alphaModFix/>
          </a:blip>
          <a:srcRect b="0" l="0" r="0" t="0"/>
          <a:stretch/>
        </p:blipFill>
        <p:spPr>
          <a:xfrm>
            <a:off x="231043" y="1067733"/>
            <a:ext cx="7733679" cy="1666462"/>
          </a:xfrm>
          <a:prstGeom prst="rect">
            <a:avLst/>
          </a:prstGeom>
          <a:noFill/>
          <a:ln>
            <a:noFill/>
          </a:ln>
        </p:spPr>
      </p:pic>
      <p:pic>
        <p:nvPicPr>
          <p:cNvPr id="141" name="Google Shape;141;p4"/>
          <p:cNvPicPr preferRelativeResize="0"/>
          <p:nvPr/>
        </p:nvPicPr>
        <p:blipFill rotWithShape="1">
          <a:blip r:embed="rId4">
            <a:alphaModFix/>
          </a:blip>
          <a:srcRect b="65041" l="0" r="0" t="0"/>
          <a:stretch/>
        </p:blipFill>
        <p:spPr>
          <a:xfrm>
            <a:off x="4563886" y="4286949"/>
            <a:ext cx="7048071" cy="1930401"/>
          </a:xfrm>
          <a:prstGeom prst="rect">
            <a:avLst/>
          </a:prstGeom>
          <a:noFill/>
          <a:ln>
            <a:noFill/>
          </a:ln>
        </p:spPr>
      </p:pic>
      <p:sp>
        <p:nvSpPr>
          <p:cNvPr id="142" name="Google Shape;142;p4"/>
          <p:cNvSpPr txBox="1"/>
          <p:nvPr>
            <p:ph type="title"/>
          </p:nvPr>
        </p:nvSpPr>
        <p:spPr>
          <a:xfrm>
            <a:off x="98663" y="-46400"/>
            <a:ext cx="11511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Recent news: AI/ML-powered “virtual cells”</a:t>
            </a:r>
            <a:endParaRPr/>
          </a:p>
        </p:txBody>
      </p:sp>
      <p:pic>
        <p:nvPicPr>
          <p:cNvPr id="143" name="Google Shape;143;p4"/>
          <p:cNvPicPr preferRelativeResize="0"/>
          <p:nvPr/>
        </p:nvPicPr>
        <p:blipFill rotWithShape="1">
          <a:blip r:embed="rId5">
            <a:alphaModFix/>
          </a:blip>
          <a:srcRect b="0" l="0" r="0" t="0"/>
          <a:stretch/>
        </p:blipFill>
        <p:spPr>
          <a:xfrm>
            <a:off x="5490214" y="1676711"/>
            <a:ext cx="6527800" cy="1930400"/>
          </a:xfrm>
          <a:prstGeom prst="rect">
            <a:avLst/>
          </a:prstGeom>
          <a:noFill/>
          <a:ln>
            <a:noFill/>
          </a:ln>
        </p:spPr>
      </p:pic>
      <p:sp>
        <p:nvSpPr>
          <p:cNvPr id="144" name="Google Shape;144;p4"/>
          <p:cNvSpPr txBox="1"/>
          <p:nvPr/>
        </p:nvSpPr>
        <p:spPr>
          <a:xfrm>
            <a:off x="2445576" y="6304000"/>
            <a:ext cx="60093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chemeClr val="dk1"/>
                </a:solidFill>
                <a:latin typeface="Arial"/>
                <a:ea typeface="Arial"/>
                <a:cs typeface="Arial"/>
                <a:sym typeface="Arial"/>
              </a:rPr>
              <a:t>But… what is a virtual cell?</a:t>
            </a:r>
            <a:endParaRPr/>
          </a:p>
        </p:txBody>
      </p:sp>
      <p:pic>
        <p:nvPicPr>
          <p:cNvPr id="145" name="Google Shape;145;p4"/>
          <p:cNvPicPr preferRelativeResize="0"/>
          <p:nvPr/>
        </p:nvPicPr>
        <p:blipFill rotWithShape="1">
          <a:blip r:embed="rId6">
            <a:alphaModFix/>
          </a:blip>
          <a:srcRect b="0" l="0" r="0" t="0"/>
          <a:stretch/>
        </p:blipFill>
        <p:spPr>
          <a:xfrm>
            <a:off x="79917" y="3296348"/>
            <a:ext cx="7391400" cy="990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Objectives</a:t>
            </a:r>
            <a:endParaRPr/>
          </a:p>
        </p:txBody>
      </p:sp>
      <p:sp>
        <p:nvSpPr>
          <p:cNvPr id="151" name="Google Shape;151;p5"/>
          <p:cNvSpPr txBox="1"/>
          <p:nvPr>
            <p:ph idx="1" type="body"/>
          </p:nvPr>
        </p:nvSpPr>
        <p:spPr>
          <a:xfrm>
            <a:off x="838200" y="1825625"/>
            <a:ext cx="10515600" cy="4785900"/>
          </a:xfrm>
          <a:prstGeom prst="rect">
            <a:avLst/>
          </a:prstGeom>
          <a:noFill/>
          <a:ln>
            <a:noFill/>
          </a:ln>
        </p:spPr>
        <p:txBody>
          <a:bodyPr anchorCtr="0" anchor="t" bIns="45700" lIns="91425" spcFirstLastPara="1" rIns="91425" wrap="square" tIns="45700">
            <a:normAutofit/>
          </a:bodyPr>
          <a:lstStyle/>
          <a:p>
            <a:pPr indent="-508000" lvl="0" marL="514350" rtl="0" algn="l">
              <a:lnSpc>
                <a:spcPct val="80000"/>
              </a:lnSpc>
              <a:spcBef>
                <a:spcPts val="0"/>
              </a:spcBef>
              <a:spcAft>
                <a:spcPts val="0"/>
              </a:spcAft>
              <a:buClr>
                <a:schemeClr val="dk1"/>
              </a:buClr>
              <a:buSzPts val="2700"/>
              <a:buAutoNum type="arabicPeriod"/>
            </a:pPr>
            <a:r>
              <a:rPr lang="en-US" sz="2700"/>
              <a:t>Learn fundamental methodology (ML/stats) for single-cell/spatial analysis</a:t>
            </a:r>
            <a:endParaRPr sz="2700"/>
          </a:p>
          <a:p>
            <a:pPr indent="-508000" lvl="0" marL="514350" rtl="0" algn="l">
              <a:lnSpc>
                <a:spcPct val="80000"/>
              </a:lnSpc>
              <a:spcBef>
                <a:spcPts val="1000"/>
              </a:spcBef>
              <a:spcAft>
                <a:spcPts val="0"/>
              </a:spcAft>
              <a:buClr>
                <a:schemeClr val="dk1"/>
              </a:buClr>
              <a:buSzPts val="2700"/>
              <a:buAutoNum type="arabicPeriod"/>
            </a:pPr>
            <a:r>
              <a:rPr lang="en-US" sz="2700"/>
              <a:t>Understand state-of-the-art single cell and spatial analysis algorithms</a:t>
            </a:r>
            <a:endParaRPr sz="2700"/>
          </a:p>
          <a:p>
            <a:pPr indent="-508000" lvl="0" marL="514350" rtl="0" algn="l">
              <a:lnSpc>
                <a:spcPct val="80000"/>
              </a:lnSpc>
              <a:spcBef>
                <a:spcPts val="1000"/>
              </a:spcBef>
              <a:spcAft>
                <a:spcPts val="0"/>
              </a:spcAft>
              <a:buClr>
                <a:schemeClr val="dk1"/>
              </a:buClr>
              <a:buSzPts val="2700"/>
              <a:buAutoNum type="arabicPeriod"/>
            </a:pPr>
            <a:r>
              <a:rPr lang="en-US" sz="2700"/>
              <a:t>Develop scientific communication and presentation skills </a:t>
            </a:r>
            <a:endParaRPr sz="2700"/>
          </a:p>
          <a:p>
            <a:pPr indent="-508000" lvl="0" marL="514350" rtl="0" algn="l">
              <a:lnSpc>
                <a:spcPct val="80000"/>
              </a:lnSpc>
              <a:spcBef>
                <a:spcPts val="1000"/>
              </a:spcBef>
              <a:spcAft>
                <a:spcPts val="0"/>
              </a:spcAft>
              <a:buClr>
                <a:schemeClr val="dk1"/>
              </a:buClr>
              <a:buSzPts val="2700"/>
              <a:buAutoNum type="arabicPeriod"/>
            </a:pPr>
            <a:r>
              <a:rPr lang="en-US" sz="2700"/>
              <a:t>Gain hands-on experience analyzing genomic data</a:t>
            </a:r>
            <a:endParaRPr sz="2700"/>
          </a:p>
          <a:p>
            <a:pPr indent="0" lvl="0" marL="0" rtl="0" algn="l">
              <a:lnSpc>
                <a:spcPct val="80000"/>
              </a:lnSpc>
              <a:spcBef>
                <a:spcPts val="1000"/>
              </a:spcBef>
              <a:spcAft>
                <a:spcPts val="0"/>
              </a:spcAft>
              <a:buClr>
                <a:schemeClr val="dk1"/>
              </a:buClr>
              <a:buSzPts val="2800"/>
              <a:buNone/>
            </a:pPr>
            <a:r>
              <a:t/>
            </a:r>
            <a:endParaRPr sz="2700"/>
          </a:p>
          <a:p>
            <a:pPr indent="0" lvl="0" marL="0" rtl="0" algn="l">
              <a:lnSpc>
                <a:spcPct val="80000"/>
              </a:lnSpc>
              <a:spcBef>
                <a:spcPts val="1000"/>
              </a:spcBef>
              <a:spcAft>
                <a:spcPts val="0"/>
              </a:spcAft>
              <a:buClr>
                <a:schemeClr val="dk1"/>
              </a:buClr>
              <a:buSzPts val="2800"/>
              <a:buNone/>
            </a:pPr>
            <a:r>
              <a:rPr lang="en-US" sz="2700"/>
              <a:t>Our goal is for you to leave this course with the ML know-how to improve and expedite your own single cell/spatial research</a:t>
            </a:r>
            <a:endParaRPr sz="2700"/>
          </a:p>
          <a:p>
            <a:pPr indent="0" lvl="0" marL="0" rtl="0" algn="l">
              <a:lnSpc>
                <a:spcPct val="80000"/>
              </a:lnSpc>
              <a:spcBef>
                <a:spcPts val="1000"/>
              </a:spcBef>
              <a:spcAft>
                <a:spcPts val="0"/>
              </a:spcAft>
              <a:buClr>
                <a:schemeClr val="dk1"/>
              </a:buClr>
              <a:buSzPts val="2800"/>
              <a:buNone/>
            </a:pPr>
            <a:r>
              <a:rPr lang="en-US" sz="2700"/>
              <a:t>(And maybe learn what a virtual cell is)</a:t>
            </a:r>
            <a:endParaRPr sz="27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Instructor + teaching assistant</a:t>
            </a:r>
            <a:endParaRPr/>
          </a:p>
        </p:txBody>
      </p:sp>
      <p:sp>
        <p:nvSpPr>
          <p:cNvPr id="157" name="Google Shape;157;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Add pic of Uthsav, sai,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Logistics: canvas</a:t>
            </a:r>
            <a:endParaRPr/>
          </a:p>
        </p:txBody>
      </p:sp>
      <p:sp>
        <p:nvSpPr>
          <p:cNvPr id="163" name="Google Shape;163;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Logistics: grading</a:t>
            </a:r>
            <a:endParaRPr/>
          </a:p>
        </p:txBody>
      </p:sp>
      <p:sp>
        <p:nvSpPr>
          <p:cNvPr id="169" name="Google Shape;169;p8"/>
          <p:cNvSpPr txBox="1"/>
          <p:nvPr>
            <p:ph idx="1" type="body"/>
          </p:nvPr>
        </p:nvSpPr>
        <p:spPr>
          <a:xfrm>
            <a:off x="838200" y="1446483"/>
            <a:ext cx="10515600" cy="484830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Homeworks</a:t>
            </a:r>
            <a:endParaRPr/>
          </a:p>
        </p:txBody>
      </p:sp>
      <p:sp>
        <p:nvSpPr>
          <p:cNvPr id="175" name="Google Shape;175;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Exams</a:t>
            </a:r>
            <a:endParaRPr/>
          </a:p>
        </p:txBody>
      </p:sp>
      <p:sp>
        <p:nvSpPr>
          <p:cNvPr id="181" name="Google Shape;181;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Final project</a:t>
            </a:r>
            <a:endParaRPr/>
          </a:p>
        </p:txBody>
      </p:sp>
      <p:sp>
        <p:nvSpPr>
          <p:cNvPr id="187" name="Google Shape;18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Logistics: prerequisites</a:t>
            </a:r>
            <a:endParaRPr/>
          </a:p>
        </p:txBody>
      </p:sp>
      <p:sp>
        <p:nvSpPr>
          <p:cNvPr id="193" name="Google Shape;193;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3"/>
          <p:cNvSpPr txBox="1"/>
          <p:nvPr>
            <p:ph type="title"/>
          </p:nvPr>
        </p:nvSpPr>
        <p:spPr>
          <a:xfrm>
            <a:off x="315686" y="341374"/>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Class focus [update from Alexis]</a:t>
            </a:r>
            <a:endParaRPr/>
          </a:p>
        </p:txBody>
      </p:sp>
      <p:sp>
        <p:nvSpPr>
          <p:cNvPr id="199" name="Google Shape;199;p13"/>
          <p:cNvSpPr txBox="1"/>
          <p:nvPr>
            <p:ph idx="1" type="body"/>
          </p:nvPr>
        </p:nvSpPr>
        <p:spPr>
          <a:xfrm>
            <a:off x="838200" y="1567543"/>
            <a:ext cx="10515600" cy="4949083"/>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58333"/>
              <a:buChar char="•"/>
            </a:pPr>
            <a:r>
              <a:rPr lang="en-US"/>
              <a:t>This class </a:t>
            </a:r>
            <a:r>
              <a:rPr b="1" lang="en-US"/>
              <a:t>will</a:t>
            </a:r>
            <a:endParaRPr sz="4800"/>
          </a:p>
          <a:p>
            <a:pPr indent="-228600" lvl="0" marL="228600" rtl="0" algn="l">
              <a:lnSpc>
                <a:spcPct val="90000"/>
              </a:lnSpc>
              <a:spcBef>
                <a:spcPts val="1000"/>
              </a:spcBef>
              <a:spcAft>
                <a:spcPts val="0"/>
              </a:spcAft>
              <a:buClr>
                <a:schemeClr val="dk1"/>
              </a:buClr>
              <a:buSzPct val="100000"/>
              <a:buChar char="•"/>
            </a:pPr>
            <a:r>
              <a:rPr lang="en-US"/>
              <a:t>Teach applications of ML and stats to genomics including current common data types </a:t>
            </a:r>
            <a:endParaRPr/>
          </a:p>
          <a:p>
            <a:pPr indent="-228600" lvl="0" marL="228600" rtl="0" algn="l">
              <a:lnSpc>
                <a:spcPct val="90000"/>
              </a:lnSpc>
              <a:spcBef>
                <a:spcPts val="1000"/>
              </a:spcBef>
              <a:spcAft>
                <a:spcPts val="0"/>
              </a:spcAft>
              <a:buClr>
                <a:schemeClr val="dk1"/>
              </a:buClr>
              <a:buSzPct val="100000"/>
              <a:buChar char="•"/>
            </a:pPr>
            <a:r>
              <a:rPr lang="en-US"/>
              <a:t>Cover designing and selecting good approaches for current major problems in genomics</a:t>
            </a:r>
            <a:endParaRPr/>
          </a:p>
          <a:p>
            <a:pPr indent="-228600" lvl="0" marL="228600" rtl="0" algn="l">
              <a:lnSpc>
                <a:spcPct val="90000"/>
              </a:lnSpc>
              <a:spcBef>
                <a:spcPts val="1000"/>
              </a:spcBef>
              <a:spcAft>
                <a:spcPts val="0"/>
              </a:spcAft>
              <a:buClr>
                <a:schemeClr val="dk1"/>
              </a:buClr>
              <a:buSzPct val="100000"/>
              <a:buChar char="•"/>
            </a:pPr>
            <a:r>
              <a:rPr lang="en-US"/>
              <a:t>Teach you to think critically about assumptions, caveats, and confounders in biological data analysis </a:t>
            </a:r>
            <a:endParaRPr/>
          </a:p>
          <a:p>
            <a:pPr indent="-259080" lvl="0" marL="228600" rtl="0" algn="l">
              <a:lnSpc>
                <a:spcPct val="90000"/>
              </a:lnSpc>
              <a:spcBef>
                <a:spcPts val="1000"/>
              </a:spcBef>
              <a:spcAft>
                <a:spcPts val="0"/>
              </a:spcAft>
              <a:buClr>
                <a:schemeClr val="dk1"/>
              </a:buClr>
              <a:buSzPct val="100000"/>
              <a:buChar char="•"/>
            </a:pPr>
            <a:br>
              <a:rPr lang="en-US" sz="4800"/>
            </a:br>
            <a:endParaRPr sz="4800"/>
          </a:p>
          <a:p>
            <a:pPr indent="-228600" lvl="0" marL="228600" rtl="0" algn="l">
              <a:lnSpc>
                <a:spcPct val="90000"/>
              </a:lnSpc>
              <a:spcBef>
                <a:spcPts val="1000"/>
              </a:spcBef>
              <a:spcAft>
                <a:spcPts val="0"/>
              </a:spcAft>
              <a:buClr>
                <a:schemeClr val="dk1"/>
              </a:buClr>
              <a:buSzPct val="58333"/>
              <a:buChar char="•"/>
            </a:pPr>
            <a:r>
              <a:rPr lang="en-US"/>
              <a:t>This class </a:t>
            </a:r>
            <a:r>
              <a:rPr b="1" lang="en-US"/>
              <a:t>will not</a:t>
            </a:r>
            <a:endParaRPr sz="4800"/>
          </a:p>
          <a:p>
            <a:pPr indent="-228600" lvl="0" marL="228600" rtl="0" algn="l">
              <a:lnSpc>
                <a:spcPct val="90000"/>
              </a:lnSpc>
              <a:spcBef>
                <a:spcPts val="1000"/>
              </a:spcBef>
              <a:spcAft>
                <a:spcPts val="0"/>
              </a:spcAft>
              <a:buClr>
                <a:schemeClr val="dk1"/>
              </a:buClr>
              <a:buSzPct val="100000"/>
              <a:buChar char="•"/>
            </a:pPr>
            <a:r>
              <a:rPr lang="en-US"/>
              <a:t>Provide theoretical background on specific ML methods, or substitute for an Intro ML course</a:t>
            </a:r>
            <a:endParaRPr/>
          </a:p>
          <a:p>
            <a:pPr indent="-228600" lvl="0" marL="228600" rtl="0" algn="l">
              <a:lnSpc>
                <a:spcPct val="90000"/>
              </a:lnSpc>
              <a:spcBef>
                <a:spcPts val="1000"/>
              </a:spcBef>
              <a:spcAft>
                <a:spcPts val="0"/>
              </a:spcAft>
              <a:buClr>
                <a:schemeClr val="dk1"/>
              </a:buClr>
              <a:buSzPct val="100000"/>
              <a:buChar char="•"/>
            </a:pPr>
            <a:r>
              <a:rPr lang="en-US"/>
              <a:t>Substitute for a genetics class</a:t>
            </a:r>
            <a:endParaRPr/>
          </a:p>
          <a:p>
            <a:pPr indent="0" lvl="0" marL="0" rtl="0" algn="l">
              <a:lnSpc>
                <a:spcPct val="90000"/>
              </a:lnSpc>
              <a:spcBef>
                <a:spcPts val="1000"/>
              </a:spcBef>
              <a:spcAft>
                <a:spcPts val="0"/>
              </a:spcAft>
              <a:buClr>
                <a:schemeClr val="dk1"/>
              </a:buClr>
              <a:buSzPct val="100000"/>
              <a:buNone/>
            </a:pPr>
            <a:r>
              <a:t/>
            </a:r>
            <a:endParaRPr b="1" sz="45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4"/>
          <p:cNvSpPr txBox="1"/>
          <p:nvPr>
            <p:ph type="title"/>
          </p:nvPr>
        </p:nvSpPr>
        <p:spPr>
          <a:xfrm>
            <a:off x="746745" y="2481068"/>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Introduction to single cell/spatial -omics data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5"/>
          <p:cNvSpPr/>
          <p:nvPr/>
        </p:nvSpPr>
        <p:spPr>
          <a:xfrm>
            <a:off x="1122397" y="1029839"/>
            <a:ext cx="5417758" cy="3033730"/>
          </a:xfrm>
          <a:custGeom>
            <a:rect b="b" l="l" r="r" t="t"/>
            <a:pathLst>
              <a:path extrusionOk="0" h="3033730" w="5417758">
                <a:moveTo>
                  <a:pt x="2118514" y="544318"/>
                </a:moveTo>
                <a:cubicBezTo>
                  <a:pt x="2006625" y="420855"/>
                  <a:pt x="1823360" y="-13196"/>
                  <a:pt x="1759699" y="308"/>
                </a:cubicBezTo>
                <a:cubicBezTo>
                  <a:pt x="1696038" y="13812"/>
                  <a:pt x="1900524" y="459437"/>
                  <a:pt x="1736549" y="625341"/>
                </a:cubicBezTo>
                <a:cubicBezTo>
                  <a:pt x="1572574" y="791245"/>
                  <a:pt x="1065217" y="920496"/>
                  <a:pt x="775850" y="995731"/>
                </a:cubicBezTo>
                <a:cubicBezTo>
                  <a:pt x="486483" y="1070966"/>
                  <a:pt x="-15086" y="1036242"/>
                  <a:pt x="347" y="1076753"/>
                </a:cubicBezTo>
                <a:cubicBezTo>
                  <a:pt x="15780" y="1117264"/>
                  <a:pt x="714119" y="1080612"/>
                  <a:pt x="868448" y="1238799"/>
                </a:cubicBezTo>
                <a:cubicBezTo>
                  <a:pt x="1022777" y="1396987"/>
                  <a:pt x="1001556" y="1784739"/>
                  <a:pt x="926321" y="2025878"/>
                </a:cubicBezTo>
                <a:cubicBezTo>
                  <a:pt x="851085" y="2267017"/>
                  <a:pt x="370736" y="2654768"/>
                  <a:pt x="417035" y="2685634"/>
                </a:cubicBezTo>
                <a:cubicBezTo>
                  <a:pt x="463334" y="2716500"/>
                  <a:pt x="968762" y="2247725"/>
                  <a:pt x="1204114" y="2211072"/>
                </a:cubicBezTo>
                <a:cubicBezTo>
                  <a:pt x="1439466" y="2174419"/>
                  <a:pt x="1667102" y="2328748"/>
                  <a:pt x="1829147" y="2465715"/>
                </a:cubicBezTo>
                <a:cubicBezTo>
                  <a:pt x="1991192" y="2602682"/>
                  <a:pt x="2122372" y="3056024"/>
                  <a:pt x="2176387" y="3032875"/>
                </a:cubicBezTo>
                <a:cubicBezTo>
                  <a:pt x="2230402" y="3009726"/>
                  <a:pt x="2072215" y="2488865"/>
                  <a:pt x="2153238" y="2326819"/>
                </a:cubicBezTo>
                <a:cubicBezTo>
                  <a:pt x="2234261" y="2164774"/>
                  <a:pt x="2448392" y="2058673"/>
                  <a:pt x="2662524" y="2060602"/>
                </a:cubicBezTo>
                <a:cubicBezTo>
                  <a:pt x="2876656" y="2062531"/>
                  <a:pt x="3436099" y="2402055"/>
                  <a:pt x="3438028" y="2338394"/>
                </a:cubicBezTo>
                <a:cubicBezTo>
                  <a:pt x="3439957" y="2274733"/>
                  <a:pt x="2465755" y="1807888"/>
                  <a:pt x="2674099" y="1678637"/>
                </a:cubicBezTo>
                <a:cubicBezTo>
                  <a:pt x="2882443" y="1549386"/>
                  <a:pt x="4252114" y="1547457"/>
                  <a:pt x="4688094" y="1562890"/>
                </a:cubicBezTo>
                <a:cubicBezTo>
                  <a:pt x="5124074" y="1578323"/>
                  <a:pt x="5311197" y="1834895"/>
                  <a:pt x="5289977" y="1771234"/>
                </a:cubicBezTo>
                <a:cubicBezTo>
                  <a:pt x="5268757" y="1707573"/>
                  <a:pt x="4539552" y="1310177"/>
                  <a:pt x="4560772" y="1180926"/>
                </a:cubicBezTo>
                <a:cubicBezTo>
                  <a:pt x="4581992" y="1051675"/>
                  <a:pt x="5440448" y="1032384"/>
                  <a:pt x="5417299" y="995731"/>
                </a:cubicBezTo>
                <a:cubicBezTo>
                  <a:pt x="5394150" y="959078"/>
                  <a:pt x="4610929" y="1045888"/>
                  <a:pt x="4421876" y="961007"/>
                </a:cubicBezTo>
                <a:cubicBezTo>
                  <a:pt x="4232823" y="876126"/>
                  <a:pt x="4346641" y="457508"/>
                  <a:pt x="4282980" y="486445"/>
                </a:cubicBezTo>
                <a:cubicBezTo>
                  <a:pt x="4219319" y="515382"/>
                  <a:pt x="4311916" y="997660"/>
                  <a:pt x="4039911" y="1134627"/>
                </a:cubicBezTo>
                <a:cubicBezTo>
                  <a:pt x="3767906" y="1271594"/>
                  <a:pt x="2785987" y="1414348"/>
                  <a:pt x="2650949" y="1308247"/>
                </a:cubicBezTo>
                <a:cubicBezTo>
                  <a:pt x="2515911" y="1202146"/>
                  <a:pt x="3266336" y="592545"/>
                  <a:pt x="3229683" y="498019"/>
                </a:cubicBezTo>
                <a:cubicBezTo>
                  <a:pt x="3193030" y="403493"/>
                  <a:pt x="2614296" y="733371"/>
                  <a:pt x="2431030" y="741088"/>
                </a:cubicBezTo>
                <a:cubicBezTo>
                  <a:pt x="2247764" y="748805"/>
                  <a:pt x="2230403" y="667781"/>
                  <a:pt x="2118514" y="544318"/>
                </a:cubicBezTo>
                <a:close/>
              </a:path>
            </a:pathLst>
          </a:custGeom>
          <a:solidFill>
            <a:srgbClr val="C55A11">
              <a:alpha val="23137"/>
            </a:srgbClr>
          </a:solidFill>
          <a:ln cap="flat" cmpd="sng" w="57150">
            <a:solidFill>
              <a:srgbClr val="7F340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1" name="Google Shape;211;p15"/>
          <p:cNvSpPr/>
          <p:nvPr/>
        </p:nvSpPr>
        <p:spPr>
          <a:xfrm>
            <a:off x="1347474" y="4276073"/>
            <a:ext cx="3000018" cy="2451110"/>
          </a:xfrm>
          <a:custGeom>
            <a:rect b="b" l="l" r="r" t="t"/>
            <a:pathLst>
              <a:path extrusionOk="0" h="4093556" w="5883299">
                <a:moveTo>
                  <a:pt x="2056291" y="67320"/>
                </a:moveTo>
                <a:cubicBezTo>
                  <a:pt x="2700615" y="57675"/>
                  <a:pt x="4625870" y="-42639"/>
                  <a:pt x="5112007" y="21022"/>
                </a:cubicBezTo>
                <a:cubicBezTo>
                  <a:pt x="5598144" y="84683"/>
                  <a:pt x="5162164" y="375979"/>
                  <a:pt x="4973111" y="449285"/>
                </a:cubicBezTo>
                <a:cubicBezTo>
                  <a:pt x="4784058" y="522591"/>
                  <a:pt x="4147450" y="375979"/>
                  <a:pt x="3977688" y="460860"/>
                </a:cubicBezTo>
                <a:cubicBezTo>
                  <a:pt x="3807926" y="545741"/>
                  <a:pt x="3753911" y="736723"/>
                  <a:pt x="3954539" y="958571"/>
                </a:cubicBezTo>
                <a:cubicBezTo>
                  <a:pt x="4155167" y="1180419"/>
                  <a:pt x="5025197" y="1438920"/>
                  <a:pt x="5181455" y="1791948"/>
                </a:cubicBezTo>
                <a:cubicBezTo>
                  <a:pt x="5337713" y="2144976"/>
                  <a:pt x="5108149" y="2847173"/>
                  <a:pt x="4892088" y="3076738"/>
                </a:cubicBezTo>
                <a:cubicBezTo>
                  <a:pt x="4676027" y="3306303"/>
                  <a:pt x="4054853" y="3105675"/>
                  <a:pt x="3885091" y="3169336"/>
                </a:cubicBezTo>
                <a:cubicBezTo>
                  <a:pt x="3715329" y="3232997"/>
                  <a:pt x="3628519" y="3404688"/>
                  <a:pt x="3873516" y="3458703"/>
                </a:cubicBezTo>
                <a:cubicBezTo>
                  <a:pt x="4118513" y="3512718"/>
                  <a:pt x="5083070" y="3396971"/>
                  <a:pt x="5355075" y="3493427"/>
                </a:cubicBezTo>
                <a:cubicBezTo>
                  <a:pt x="5627080" y="3589883"/>
                  <a:pt x="6306128" y="3954485"/>
                  <a:pt x="5505546" y="4037437"/>
                </a:cubicBezTo>
                <a:cubicBezTo>
                  <a:pt x="4704964" y="4120389"/>
                  <a:pt x="1410038" y="4116530"/>
                  <a:pt x="551582" y="3991138"/>
                </a:cubicBezTo>
                <a:cubicBezTo>
                  <a:pt x="-306874" y="3865746"/>
                  <a:pt x="7571" y="3398900"/>
                  <a:pt x="354812" y="3285082"/>
                </a:cubicBezTo>
                <a:cubicBezTo>
                  <a:pt x="702053" y="3171264"/>
                  <a:pt x="2243415" y="3341027"/>
                  <a:pt x="2635025" y="3308232"/>
                </a:cubicBezTo>
                <a:cubicBezTo>
                  <a:pt x="3026635" y="3275437"/>
                  <a:pt x="2937896" y="3163549"/>
                  <a:pt x="2704473" y="3088313"/>
                </a:cubicBezTo>
                <a:cubicBezTo>
                  <a:pt x="2471050" y="3013077"/>
                  <a:pt x="1502635" y="3144257"/>
                  <a:pt x="1234488" y="2856819"/>
                </a:cubicBezTo>
                <a:cubicBezTo>
                  <a:pt x="966341" y="2569381"/>
                  <a:pt x="939334" y="1689705"/>
                  <a:pt x="1095592" y="1363685"/>
                </a:cubicBezTo>
                <a:cubicBezTo>
                  <a:pt x="1251850" y="1037665"/>
                  <a:pt x="1801647" y="985579"/>
                  <a:pt x="2172037" y="900698"/>
                </a:cubicBezTo>
                <a:cubicBezTo>
                  <a:pt x="2542427" y="815817"/>
                  <a:pt x="3144311" y="933493"/>
                  <a:pt x="3317931" y="854399"/>
                </a:cubicBezTo>
                <a:cubicBezTo>
                  <a:pt x="3491551" y="775305"/>
                  <a:pt x="3557141" y="489797"/>
                  <a:pt x="3213759" y="426136"/>
                </a:cubicBezTo>
                <a:cubicBezTo>
                  <a:pt x="2870377" y="362475"/>
                  <a:pt x="1585586" y="530307"/>
                  <a:pt x="1257637" y="472434"/>
                </a:cubicBezTo>
                <a:cubicBezTo>
                  <a:pt x="929688" y="414561"/>
                  <a:pt x="1109096" y="146414"/>
                  <a:pt x="1246063" y="78895"/>
                </a:cubicBezTo>
                <a:cubicBezTo>
                  <a:pt x="1383030" y="11376"/>
                  <a:pt x="1411967" y="76965"/>
                  <a:pt x="2056291" y="67320"/>
                </a:cubicBezTo>
                <a:close/>
              </a:path>
            </a:pathLst>
          </a:custGeom>
          <a:solidFill>
            <a:srgbClr val="D8F2CF"/>
          </a:solidFill>
          <a:ln cap="flat" cmpd="sng" w="57150">
            <a:solidFill>
              <a:srgbClr val="27531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2" name="Google Shape;212;p15"/>
          <p:cNvSpPr txBox="1"/>
          <p:nvPr/>
        </p:nvSpPr>
        <p:spPr>
          <a:xfrm>
            <a:off x="800621" y="1067665"/>
            <a:ext cx="205113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mRNA transcript</a:t>
            </a:r>
            <a:endParaRPr/>
          </a:p>
        </p:txBody>
      </p:sp>
      <p:sp>
        <p:nvSpPr>
          <p:cNvPr id="213" name="Google Shape;213;p15"/>
          <p:cNvSpPr/>
          <p:nvPr/>
        </p:nvSpPr>
        <p:spPr>
          <a:xfrm>
            <a:off x="2220461" y="2212465"/>
            <a:ext cx="595493" cy="109937"/>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4" name="Google Shape;214;p15"/>
          <p:cNvSpPr/>
          <p:nvPr/>
        </p:nvSpPr>
        <p:spPr>
          <a:xfrm>
            <a:off x="2997229" y="2646005"/>
            <a:ext cx="595493" cy="10993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5" name="Google Shape;215;p15"/>
          <p:cNvSpPr/>
          <p:nvPr/>
        </p:nvSpPr>
        <p:spPr>
          <a:xfrm>
            <a:off x="2745532" y="2454044"/>
            <a:ext cx="595493" cy="10993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6" name="Google Shape;216;p15"/>
          <p:cNvSpPr/>
          <p:nvPr/>
        </p:nvSpPr>
        <p:spPr>
          <a:xfrm>
            <a:off x="2697754" y="2040754"/>
            <a:ext cx="595493" cy="109937"/>
          </a:xfrm>
          <a:prstGeom prst="rect">
            <a:avLst/>
          </a:prstGeom>
          <a:solidFill>
            <a:srgbClr val="B178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7" name="Google Shape;217;p15"/>
          <p:cNvSpPr/>
          <p:nvPr/>
        </p:nvSpPr>
        <p:spPr>
          <a:xfrm>
            <a:off x="2946870" y="1869113"/>
            <a:ext cx="595493" cy="109937"/>
          </a:xfrm>
          <a:prstGeom prst="rect">
            <a:avLst/>
          </a:prstGeom>
          <a:solidFill>
            <a:srgbClr val="B178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8" name="Google Shape;218;p15"/>
          <p:cNvSpPr/>
          <p:nvPr/>
        </p:nvSpPr>
        <p:spPr>
          <a:xfrm>
            <a:off x="2184095" y="2666575"/>
            <a:ext cx="595493" cy="10993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9" name="Google Shape;219;p15"/>
          <p:cNvSpPr/>
          <p:nvPr/>
        </p:nvSpPr>
        <p:spPr>
          <a:xfrm>
            <a:off x="2834480" y="2844209"/>
            <a:ext cx="595493" cy="10993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0" name="Google Shape;220;p15"/>
          <p:cNvSpPr/>
          <p:nvPr/>
        </p:nvSpPr>
        <p:spPr>
          <a:xfrm>
            <a:off x="2764404" y="3056171"/>
            <a:ext cx="595493" cy="10993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1" name="Google Shape;221;p15"/>
          <p:cNvSpPr/>
          <p:nvPr/>
        </p:nvSpPr>
        <p:spPr>
          <a:xfrm>
            <a:off x="2995500" y="2256687"/>
            <a:ext cx="595493" cy="109937"/>
          </a:xfrm>
          <a:prstGeom prst="rect">
            <a:avLst/>
          </a:prstGeom>
          <a:solidFill>
            <a:srgbClr val="B178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2" name="Google Shape;222;p15"/>
          <p:cNvSpPr/>
          <p:nvPr/>
        </p:nvSpPr>
        <p:spPr>
          <a:xfrm>
            <a:off x="2496849" y="5277791"/>
            <a:ext cx="595493" cy="109937"/>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3" name="Google Shape;223;p15"/>
          <p:cNvSpPr/>
          <p:nvPr/>
        </p:nvSpPr>
        <p:spPr>
          <a:xfrm>
            <a:off x="2496849" y="5582976"/>
            <a:ext cx="595493" cy="109937"/>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4" name="Google Shape;224;p15"/>
          <p:cNvSpPr/>
          <p:nvPr/>
        </p:nvSpPr>
        <p:spPr>
          <a:xfrm>
            <a:off x="3293246" y="5497667"/>
            <a:ext cx="595493" cy="109937"/>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5" name="Google Shape;225;p15"/>
          <p:cNvSpPr/>
          <p:nvPr/>
        </p:nvSpPr>
        <p:spPr>
          <a:xfrm>
            <a:off x="2123038" y="5012742"/>
            <a:ext cx="595493" cy="109937"/>
          </a:xfrm>
          <a:prstGeom prst="rect">
            <a:avLst/>
          </a:prstGeom>
          <a:solidFill>
            <a:srgbClr val="B178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6" name="Google Shape;226;p15"/>
          <p:cNvSpPr/>
          <p:nvPr/>
        </p:nvSpPr>
        <p:spPr>
          <a:xfrm>
            <a:off x="2787553" y="4934509"/>
            <a:ext cx="595493" cy="109937"/>
          </a:xfrm>
          <a:prstGeom prst="rect">
            <a:avLst/>
          </a:prstGeom>
          <a:solidFill>
            <a:srgbClr val="B178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7" name="Google Shape;227;p15"/>
          <p:cNvSpPr/>
          <p:nvPr/>
        </p:nvSpPr>
        <p:spPr>
          <a:xfrm>
            <a:off x="2148907" y="5827480"/>
            <a:ext cx="595493" cy="109937"/>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8" name="Google Shape;228;p15"/>
          <p:cNvSpPr/>
          <p:nvPr/>
        </p:nvSpPr>
        <p:spPr>
          <a:xfrm>
            <a:off x="2856298" y="5827480"/>
            <a:ext cx="595493" cy="109937"/>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9" name="Google Shape;229;p15"/>
          <p:cNvSpPr/>
          <p:nvPr/>
        </p:nvSpPr>
        <p:spPr>
          <a:xfrm>
            <a:off x="3097600" y="5125839"/>
            <a:ext cx="595493" cy="109937"/>
          </a:xfrm>
          <a:prstGeom prst="rect">
            <a:avLst/>
          </a:prstGeom>
          <a:solidFill>
            <a:srgbClr val="B178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30" name="Google Shape;230;p15"/>
          <p:cNvCxnSpPr/>
          <p:nvPr/>
        </p:nvCxnSpPr>
        <p:spPr>
          <a:xfrm>
            <a:off x="1933970" y="1504340"/>
            <a:ext cx="881984" cy="501658"/>
          </a:xfrm>
          <a:prstGeom prst="straightConnector1">
            <a:avLst/>
          </a:prstGeom>
          <a:noFill/>
          <a:ln cap="flat" cmpd="sng" w="57150">
            <a:solidFill>
              <a:srgbClr val="233616"/>
            </a:solidFill>
            <a:prstDash val="solid"/>
            <a:miter lim="8000"/>
            <a:headEnd len="sm" w="sm" type="none"/>
            <a:tailEnd len="med" w="med" type="triangle"/>
          </a:ln>
        </p:spPr>
      </p:cxnSp>
      <p:sp>
        <p:nvSpPr>
          <p:cNvPr id="231" name="Google Shape;231;p15"/>
          <p:cNvSpPr txBox="1"/>
          <p:nvPr/>
        </p:nvSpPr>
        <p:spPr>
          <a:xfrm>
            <a:off x="3031573" y="4991280"/>
            <a:ext cx="806631"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chemeClr val="dk1"/>
                </a:solidFill>
                <a:latin typeface="Helvetica Neue"/>
                <a:ea typeface="Helvetica Neue"/>
                <a:cs typeface="Helvetica Neue"/>
                <a:sym typeface="Helvetica Neue"/>
              </a:rPr>
              <a:t>gene C</a:t>
            </a:r>
            <a:endParaRPr/>
          </a:p>
        </p:txBody>
      </p:sp>
      <p:sp>
        <p:nvSpPr>
          <p:cNvPr id="232" name="Google Shape;232;p15"/>
          <p:cNvSpPr txBox="1"/>
          <p:nvPr/>
        </p:nvSpPr>
        <p:spPr>
          <a:xfrm>
            <a:off x="2109405" y="2100865"/>
            <a:ext cx="785023"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chemeClr val="dk1"/>
                </a:solidFill>
                <a:latin typeface="Helvetica Neue"/>
                <a:ea typeface="Helvetica Neue"/>
                <a:cs typeface="Helvetica Neue"/>
                <a:sym typeface="Helvetica Neue"/>
              </a:rPr>
              <a:t>gene A</a:t>
            </a:r>
            <a:endParaRPr/>
          </a:p>
        </p:txBody>
      </p:sp>
      <p:sp>
        <p:nvSpPr>
          <p:cNvPr id="233" name="Google Shape;233;p15"/>
          <p:cNvSpPr txBox="1"/>
          <p:nvPr/>
        </p:nvSpPr>
        <p:spPr>
          <a:xfrm>
            <a:off x="2887714" y="2518537"/>
            <a:ext cx="795411"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chemeClr val="dk1"/>
                </a:solidFill>
                <a:latin typeface="Helvetica Neue"/>
                <a:ea typeface="Helvetica Neue"/>
                <a:cs typeface="Helvetica Neue"/>
                <a:sym typeface="Helvetica Neue"/>
              </a:rPr>
              <a:t>gene B</a:t>
            </a:r>
            <a:endParaRPr/>
          </a:p>
        </p:txBody>
      </p:sp>
      <p:sp>
        <p:nvSpPr>
          <p:cNvPr id="234" name="Google Shape;234;p15"/>
          <p:cNvSpPr txBox="1"/>
          <p:nvPr/>
        </p:nvSpPr>
        <p:spPr>
          <a:xfrm>
            <a:off x="2612137" y="1909835"/>
            <a:ext cx="806631"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chemeClr val="dk1"/>
                </a:solidFill>
                <a:latin typeface="Helvetica Neue"/>
                <a:ea typeface="Helvetica Neue"/>
                <a:cs typeface="Helvetica Neue"/>
                <a:sym typeface="Helvetica Neue"/>
              </a:rPr>
              <a:t>gene C</a:t>
            </a:r>
            <a:endParaRPr/>
          </a:p>
        </p:txBody>
      </p:sp>
      <p:sp>
        <p:nvSpPr>
          <p:cNvPr id="235" name="Google Shape;235;p15"/>
          <p:cNvSpPr/>
          <p:nvPr/>
        </p:nvSpPr>
        <p:spPr>
          <a:xfrm>
            <a:off x="1923344" y="5446105"/>
            <a:ext cx="595493" cy="10993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6" name="Google Shape;236;p15"/>
          <p:cNvSpPr txBox="1"/>
          <p:nvPr/>
        </p:nvSpPr>
        <p:spPr>
          <a:xfrm>
            <a:off x="1828578" y="5328774"/>
            <a:ext cx="795411"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chemeClr val="dk1"/>
                </a:solidFill>
                <a:latin typeface="Helvetica Neue"/>
                <a:ea typeface="Helvetica Neue"/>
                <a:cs typeface="Helvetica Neue"/>
                <a:sym typeface="Helvetica Neue"/>
              </a:rPr>
              <a:t>gene B</a:t>
            </a:r>
            <a:endParaRPr/>
          </a:p>
        </p:txBody>
      </p:sp>
      <p:sp>
        <p:nvSpPr>
          <p:cNvPr id="237" name="Google Shape;237;p15"/>
          <p:cNvSpPr txBox="1"/>
          <p:nvPr/>
        </p:nvSpPr>
        <p:spPr>
          <a:xfrm>
            <a:off x="3198480" y="5372738"/>
            <a:ext cx="785023"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chemeClr val="dk1"/>
                </a:solidFill>
                <a:latin typeface="Helvetica Neue"/>
                <a:ea typeface="Helvetica Neue"/>
                <a:cs typeface="Helvetica Neue"/>
                <a:sym typeface="Helvetica Neue"/>
              </a:rPr>
              <a:t>gene A</a:t>
            </a:r>
            <a:endParaRPr/>
          </a:p>
        </p:txBody>
      </p:sp>
      <p:sp>
        <p:nvSpPr>
          <p:cNvPr id="238" name="Google Shape;238;p15"/>
          <p:cNvSpPr txBox="1"/>
          <p:nvPr/>
        </p:nvSpPr>
        <p:spPr>
          <a:xfrm>
            <a:off x="254348" y="305051"/>
            <a:ext cx="115512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chemeClr val="dk1"/>
                </a:solidFill>
                <a:latin typeface="Helvetica Neue"/>
                <a:ea typeface="Helvetica Neue"/>
                <a:cs typeface="Helvetica Neue"/>
                <a:sym typeface="Helvetica Neue"/>
              </a:rPr>
              <a:t>Gene expression determines cell type and function</a:t>
            </a:r>
            <a:endParaRPr/>
          </a:p>
        </p:txBody>
      </p:sp>
      <p:pic>
        <p:nvPicPr>
          <p:cNvPr id="239" name="Google Shape;239;p15"/>
          <p:cNvPicPr preferRelativeResize="0"/>
          <p:nvPr/>
        </p:nvPicPr>
        <p:blipFill rotWithShape="1">
          <a:blip r:embed="rId3">
            <a:alphaModFix/>
          </a:blip>
          <a:srcRect b="0" l="0" r="0" t="0"/>
          <a:stretch/>
        </p:blipFill>
        <p:spPr>
          <a:xfrm>
            <a:off x="8182162" y="2071417"/>
            <a:ext cx="3953145" cy="3530600"/>
          </a:xfrm>
          <a:prstGeom prst="rect">
            <a:avLst/>
          </a:prstGeom>
          <a:noFill/>
          <a:ln>
            <a:noFill/>
          </a:ln>
        </p:spPr>
      </p:pic>
      <p:sp>
        <p:nvSpPr>
          <p:cNvPr id="240" name="Google Shape;240;p15"/>
          <p:cNvSpPr/>
          <p:nvPr/>
        </p:nvSpPr>
        <p:spPr>
          <a:xfrm rot="891091">
            <a:off x="6561114" y="2576678"/>
            <a:ext cx="1407057" cy="530047"/>
          </a:xfrm>
          <a:prstGeom prst="leftArrow">
            <a:avLst>
              <a:gd fmla="val 50000" name="adj1"/>
              <a:gd fmla="val 50000" name="adj2"/>
            </a:avLst>
          </a:prstGeom>
          <a:solidFill>
            <a:srgbClr val="7474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1" name="Google Shape;241;p15"/>
          <p:cNvSpPr/>
          <p:nvPr/>
        </p:nvSpPr>
        <p:spPr>
          <a:xfrm rot="-990183">
            <a:off x="6728803" y="4558813"/>
            <a:ext cx="1407057" cy="530047"/>
          </a:xfrm>
          <a:prstGeom prst="leftArrow">
            <a:avLst>
              <a:gd fmla="val 50000" name="adj1"/>
              <a:gd fmla="val 50000" name="adj2"/>
            </a:avLst>
          </a:prstGeom>
          <a:solidFill>
            <a:srgbClr val="7474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2" name="Google Shape;242;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3" name="Google Shape;243;p15"/>
          <p:cNvSpPr txBox="1"/>
          <p:nvPr/>
        </p:nvSpPr>
        <p:spPr>
          <a:xfrm>
            <a:off x="4806241" y="6080840"/>
            <a:ext cx="6722481" cy="4770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500">
                <a:solidFill>
                  <a:schemeClr val="dk1"/>
                </a:solidFill>
                <a:latin typeface="Arial"/>
                <a:ea typeface="Arial"/>
                <a:cs typeface="Arial"/>
                <a:sym typeface="Arial"/>
              </a:rPr>
              <a:t>Gene expression = number of mRNA transcripts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6"/>
          <p:cNvSpPr/>
          <p:nvPr/>
        </p:nvSpPr>
        <p:spPr>
          <a:xfrm>
            <a:off x="1347474" y="4276073"/>
            <a:ext cx="3000018" cy="2451110"/>
          </a:xfrm>
          <a:custGeom>
            <a:rect b="b" l="l" r="r" t="t"/>
            <a:pathLst>
              <a:path extrusionOk="0" h="4093556" w="5883299">
                <a:moveTo>
                  <a:pt x="2056291" y="67320"/>
                </a:moveTo>
                <a:cubicBezTo>
                  <a:pt x="2700615" y="57675"/>
                  <a:pt x="4625870" y="-42639"/>
                  <a:pt x="5112007" y="21022"/>
                </a:cubicBezTo>
                <a:cubicBezTo>
                  <a:pt x="5598144" y="84683"/>
                  <a:pt x="5162164" y="375979"/>
                  <a:pt x="4973111" y="449285"/>
                </a:cubicBezTo>
                <a:cubicBezTo>
                  <a:pt x="4784058" y="522591"/>
                  <a:pt x="4147450" y="375979"/>
                  <a:pt x="3977688" y="460860"/>
                </a:cubicBezTo>
                <a:cubicBezTo>
                  <a:pt x="3807926" y="545741"/>
                  <a:pt x="3753911" y="736723"/>
                  <a:pt x="3954539" y="958571"/>
                </a:cubicBezTo>
                <a:cubicBezTo>
                  <a:pt x="4155167" y="1180419"/>
                  <a:pt x="5025197" y="1438920"/>
                  <a:pt x="5181455" y="1791948"/>
                </a:cubicBezTo>
                <a:cubicBezTo>
                  <a:pt x="5337713" y="2144976"/>
                  <a:pt x="5108149" y="2847173"/>
                  <a:pt x="4892088" y="3076738"/>
                </a:cubicBezTo>
                <a:cubicBezTo>
                  <a:pt x="4676027" y="3306303"/>
                  <a:pt x="4054853" y="3105675"/>
                  <a:pt x="3885091" y="3169336"/>
                </a:cubicBezTo>
                <a:cubicBezTo>
                  <a:pt x="3715329" y="3232997"/>
                  <a:pt x="3628519" y="3404688"/>
                  <a:pt x="3873516" y="3458703"/>
                </a:cubicBezTo>
                <a:cubicBezTo>
                  <a:pt x="4118513" y="3512718"/>
                  <a:pt x="5083070" y="3396971"/>
                  <a:pt x="5355075" y="3493427"/>
                </a:cubicBezTo>
                <a:cubicBezTo>
                  <a:pt x="5627080" y="3589883"/>
                  <a:pt x="6306128" y="3954485"/>
                  <a:pt x="5505546" y="4037437"/>
                </a:cubicBezTo>
                <a:cubicBezTo>
                  <a:pt x="4704964" y="4120389"/>
                  <a:pt x="1410038" y="4116530"/>
                  <a:pt x="551582" y="3991138"/>
                </a:cubicBezTo>
                <a:cubicBezTo>
                  <a:pt x="-306874" y="3865746"/>
                  <a:pt x="7571" y="3398900"/>
                  <a:pt x="354812" y="3285082"/>
                </a:cubicBezTo>
                <a:cubicBezTo>
                  <a:pt x="702053" y="3171264"/>
                  <a:pt x="2243415" y="3341027"/>
                  <a:pt x="2635025" y="3308232"/>
                </a:cubicBezTo>
                <a:cubicBezTo>
                  <a:pt x="3026635" y="3275437"/>
                  <a:pt x="2937896" y="3163549"/>
                  <a:pt x="2704473" y="3088313"/>
                </a:cubicBezTo>
                <a:cubicBezTo>
                  <a:pt x="2471050" y="3013077"/>
                  <a:pt x="1502635" y="3144257"/>
                  <a:pt x="1234488" y="2856819"/>
                </a:cubicBezTo>
                <a:cubicBezTo>
                  <a:pt x="966341" y="2569381"/>
                  <a:pt x="939334" y="1689705"/>
                  <a:pt x="1095592" y="1363685"/>
                </a:cubicBezTo>
                <a:cubicBezTo>
                  <a:pt x="1251850" y="1037665"/>
                  <a:pt x="1801647" y="985579"/>
                  <a:pt x="2172037" y="900698"/>
                </a:cubicBezTo>
                <a:cubicBezTo>
                  <a:pt x="2542427" y="815817"/>
                  <a:pt x="3144311" y="933493"/>
                  <a:pt x="3317931" y="854399"/>
                </a:cubicBezTo>
                <a:cubicBezTo>
                  <a:pt x="3491551" y="775305"/>
                  <a:pt x="3557141" y="489797"/>
                  <a:pt x="3213759" y="426136"/>
                </a:cubicBezTo>
                <a:cubicBezTo>
                  <a:pt x="2870377" y="362475"/>
                  <a:pt x="1585586" y="530307"/>
                  <a:pt x="1257637" y="472434"/>
                </a:cubicBezTo>
                <a:cubicBezTo>
                  <a:pt x="929688" y="414561"/>
                  <a:pt x="1109096" y="146414"/>
                  <a:pt x="1246063" y="78895"/>
                </a:cubicBezTo>
                <a:cubicBezTo>
                  <a:pt x="1383030" y="11376"/>
                  <a:pt x="1411967" y="76965"/>
                  <a:pt x="2056291" y="67320"/>
                </a:cubicBezTo>
                <a:close/>
              </a:path>
            </a:pathLst>
          </a:custGeom>
          <a:solidFill>
            <a:srgbClr val="D8F2CF"/>
          </a:solidFill>
          <a:ln cap="flat" cmpd="sng" w="57150">
            <a:solidFill>
              <a:srgbClr val="27531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0" name="Google Shape;250;p16"/>
          <p:cNvSpPr txBox="1"/>
          <p:nvPr/>
        </p:nvSpPr>
        <p:spPr>
          <a:xfrm>
            <a:off x="193249" y="280600"/>
            <a:ext cx="103860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chemeClr val="dk1"/>
                </a:solidFill>
                <a:latin typeface="Helvetica Neue"/>
                <a:ea typeface="Helvetica Neue"/>
                <a:cs typeface="Helvetica Neue"/>
                <a:sym typeface="Helvetica Neue"/>
              </a:rPr>
              <a:t>Gene expression determines cell type and function</a:t>
            </a:r>
            <a:endParaRPr/>
          </a:p>
        </p:txBody>
      </p:sp>
      <p:sp>
        <p:nvSpPr>
          <p:cNvPr id="251" name="Google Shape;251;p16"/>
          <p:cNvSpPr/>
          <p:nvPr/>
        </p:nvSpPr>
        <p:spPr>
          <a:xfrm>
            <a:off x="2220461" y="2212465"/>
            <a:ext cx="595493" cy="109937"/>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2" name="Google Shape;252;p16"/>
          <p:cNvSpPr/>
          <p:nvPr/>
        </p:nvSpPr>
        <p:spPr>
          <a:xfrm>
            <a:off x="2997229" y="2646005"/>
            <a:ext cx="595493" cy="10993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3" name="Google Shape;253;p16"/>
          <p:cNvSpPr/>
          <p:nvPr/>
        </p:nvSpPr>
        <p:spPr>
          <a:xfrm>
            <a:off x="2745532" y="2454044"/>
            <a:ext cx="595493" cy="10993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4" name="Google Shape;254;p16"/>
          <p:cNvSpPr/>
          <p:nvPr/>
        </p:nvSpPr>
        <p:spPr>
          <a:xfrm>
            <a:off x="2697754" y="2040754"/>
            <a:ext cx="595493" cy="109937"/>
          </a:xfrm>
          <a:prstGeom prst="rect">
            <a:avLst/>
          </a:prstGeom>
          <a:solidFill>
            <a:srgbClr val="B178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5" name="Google Shape;255;p16"/>
          <p:cNvSpPr/>
          <p:nvPr/>
        </p:nvSpPr>
        <p:spPr>
          <a:xfrm>
            <a:off x="2946870" y="1869113"/>
            <a:ext cx="595493" cy="109937"/>
          </a:xfrm>
          <a:prstGeom prst="rect">
            <a:avLst/>
          </a:prstGeom>
          <a:solidFill>
            <a:srgbClr val="B178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6" name="Google Shape;256;p16"/>
          <p:cNvSpPr/>
          <p:nvPr/>
        </p:nvSpPr>
        <p:spPr>
          <a:xfrm>
            <a:off x="2184095" y="2666575"/>
            <a:ext cx="595493" cy="10993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7" name="Google Shape;257;p16"/>
          <p:cNvSpPr/>
          <p:nvPr/>
        </p:nvSpPr>
        <p:spPr>
          <a:xfrm>
            <a:off x="2834480" y="2844209"/>
            <a:ext cx="595493" cy="10993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8" name="Google Shape;258;p16"/>
          <p:cNvSpPr/>
          <p:nvPr/>
        </p:nvSpPr>
        <p:spPr>
          <a:xfrm>
            <a:off x="2764404" y="3056171"/>
            <a:ext cx="595493" cy="10993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9" name="Google Shape;259;p16"/>
          <p:cNvSpPr/>
          <p:nvPr/>
        </p:nvSpPr>
        <p:spPr>
          <a:xfrm>
            <a:off x="2995500" y="2256687"/>
            <a:ext cx="595493" cy="109937"/>
          </a:xfrm>
          <a:prstGeom prst="rect">
            <a:avLst/>
          </a:prstGeom>
          <a:solidFill>
            <a:srgbClr val="B178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0" name="Google Shape;260;p16"/>
          <p:cNvSpPr/>
          <p:nvPr/>
        </p:nvSpPr>
        <p:spPr>
          <a:xfrm>
            <a:off x="2496849" y="5277791"/>
            <a:ext cx="595493" cy="109937"/>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1" name="Google Shape;261;p16"/>
          <p:cNvSpPr/>
          <p:nvPr/>
        </p:nvSpPr>
        <p:spPr>
          <a:xfrm>
            <a:off x="2496849" y="5582976"/>
            <a:ext cx="595493" cy="109937"/>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2" name="Google Shape;262;p16"/>
          <p:cNvSpPr/>
          <p:nvPr/>
        </p:nvSpPr>
        <p:spPr>
          <a:xfrm>
            <a:off x="3293246" y="5497667"/>
            <a:ext cx="595493" cy="109937"/>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3" name="Google Shape;263;p16"/>
          <p:cNvSpPr/>
          <p:nvPr/>
        </p:nvSpPr>
        <p:spPr>
          <a:xfrm>
            <a:off x="2123038" y="5012742"/>
            <a:ext cx="595493" cy="109937"/>
          </a:xfrm>
          <a:prstGeom prst="rect">
            <a:avLst/>
          </a:prstGeom>
          <a:solidFill>
            <a:srgbClr val="B178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4" name="Google Shape;264;p16"/>
          <p:cNvSpPr/>
          <p:nvPr/>
        </p:nvSpPr>
        <p:spPr>
          <a:xfrm>
            <a:off x="2787553" y="4934509"/>
            <a:ext cx="595493" cy="109937"/>
          </a:xfrm>
          <a:prstGeom prst="rect">
            <a:avLst/>
          </a:prstGeom>
          <a:solidFill>
            <a:srgbClr val="B178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5" name="Google Shape;265;p16"/>
          <p:cNvSpPr/>
          <p:nvPr/>
        </p:nvSpPr>
        <p:spPr>
          <a:xfrm>
            <a:off x="2148907" y="5827480"/>
            <a:ext cx="595493" cy="109937"/>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6" name="Google Shape;266;p16"/>
          <p:cNvSpPr/>
          <p:nvPr/>
        </p:nvSpPr>
        <p:spPr>
          <a:xfrm>
            <a:off x="2856298" y="5827480"/>
            <a:ext cx="595493" cy="109937"/>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7" name="Google Shape;267;p16"/>
          <p:cNvSpPr/>
          <p:nvPr/>
        </p:nvSpPr>
        <p:spPr>
          <a:xfrm>
            <a:off x="3097600" y="5125839"/>
            <a:ext cx="595493" cy="109937"/>
          </a:xfrm>
          <a:prstGeom prst="rect">
            <a:avLst/>
          </a:prstGeom>
          <a:solidFill>
            <a:srgbClr val="B178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68" name="Google Shape;268;p16"/>
          <p:cNvCxnSpPr/>
          <p:nvPr/>
        </p:nvCxnSpPr>
        <p:spPr>
          <a:xfrm>
            <a:off x="1933970" y="1504340"/>
            <a:ext cx="881984" cy="501658"/>
          </a:xfrm>
          <a:prstGeom prst="straightConnector1">
            <a:avLst/>
          </a:prstGeom>
          <a:noFill/>
          <a:ln cap="flat" cmpd="sng" w="57150">
            <a:solidFill>
              <a:srgbClr val="233616"/>
            </a:solidFill>
            <a:prstDash val="solid"/>
            <a:miter lim="8000"/>
            <a:headEnd len="sm" w="sm" type="none"/>
            <a:tailEnd len="med" w="med" type="triangle"/>
          </a:ln>
        </p:spPr>
      </p:cxnSp>
      <p:sp>
        <p:nvSpPr>
          <p:cNvPr id="269" name="Google Shape;269;p16"/>
          <p:cNvSpPr txBox="1"/>
          <p:nvPr/>
        </p:nvSpPr>
        <p:spPr>
          <a:xfrm>
            <a:off x="3031573" y="4991280"/>
            <a:ext cx="806631"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chemeClr val="dk1"/>
                </a:solidFill>
                <a:latin typeface="Helvetica Neue"/>
                <a:ea typeface="Helvetica Neue"/>
                <a:cs typeface="Helvetica Neue"/>
                <a:sym typeface="Helvetica Neue"/>
              </a:rPr>
              <a:t>gene C</a:t>
            </a:r>
            <a:endParaRPr/>
          </a:p>
        </p:txBody>
      </p:sp>
      <p:sp>
        <p:nvSpPr>
          <p:cNvPr id="270" name="Google Shape;270;p16"/>
          <p:cNvSpPr txBox="1"/>
          <p:nvPr/>
        </p:nvSpPr>
        <p:spPr>
          <a:xfrm>
            <a:off x="2109405" y="2100865"/>
            <a:ext cx="785023"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chemeClr val="dk1"/>
                </a:solidFill>
                <a:latin typeface="Helvetica Neue"/>
                <a:ea typeface="Helvetica Neue"/>
                <a:cs typeface="Helvetica Neue"/>
                <a:sym typeface="Helvetica Neue"/>
              </a:rPr>
              <a:t>gene A</a:t>
            </a:r>
            <a:endParaRPr/>
          </a:p>
        </p:txBody>
      </p:sp>
      <p:sp>
        <p:nvSpPr>
          <p:cNvPr id="271" name="Google Shape;271;p16"/>
          <p:cNvSpPr txBox="1"/>
          <p:nvPr/>
        </p:nvSpPr>
        <p:spPr>
          <a:xfrm>
            <a:off x="2887714" y="2518537"/>
            <a:ext cx="795411"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chemeClr val="dk1"/>
                </a:solidFill>
                <a:latin typeface="Helvetica Neue"/>
                <a:ea typeface="Helvetica Neue"/>
                <a:cs typeface="Helvetica Neue"/>
                <a:sym typeface="Helvetica Neue"/>
              </a:rPr>
              <a:t>gene B</a:t>
            </a:r>
            <a:endParaRPr/>
          </a:p>
        </p:txBody>
      </p:sp>
      <p:sp>
        <p:nvSpPr>
          <p:cNvPr id="272" name="Google Shape;272;p16"/>
          <p:cNvSpPr txBox="1"/>
          <p:nvPr/>
        </p:nvSpPr>
        <p:spPr>
          <a:xfrm>
            <a:off x="2612137" y="1909835"/>
            <a:ext cx="806631"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chemeClr val="dk1"/>
                </a:solidFill>
                <a:latin typeface="Helvetica Neue"/>
                <a:ea typeface="Helvetica Neue"/>
                <a:cs typeface="Helvetica Neue"/>
                <a:sym typeface="Helvetica Neue"/>
              </a:rPr>
              <a:t>gene C</a:t>
            </a:r>
            <a:endParaRPr/>
          </a:p>
        </p:txBody>
      </p:sp>
      <p:sp>
        <p:nvSpPr>
          <p:cNvPr id="273" name="Google Shape;273;p16"/>
          <p:cNvSpPr txBox="1"/>
          <p:nvPr/>
        </p:nvSpPr>
        <p:spPr>
          <a:xfrm>
            <a:off x="4846776" y="3003579"/>
            <a:ext cx="126188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Helvetica Neue"/>
                <a:ea typeface="Helvetica Neue"/>
                <a:cs typeface="Helvetica Neue"/>
                <a:sym typeface="Helvetica Neue"/>
              </a:rPr>
              <a:t>Neuron</a:t>
            </a:r>
            <a:endParaRPr/>
          </a:p>
        </p:txBody>
      </p:sp>
      <p:sp>
        <p:nvSpPr>
          <p:cNvPr id="274" name="Google Shape;274;p16"/>
          <p:cNvSpPr txBox="1"/>
          <p:nvPr/>
        </p:nvSpPr>
        <p:spPr>
          <a:xfrm>
            <a:off x="4151246" y="4834182"/>
            <a:ext cx="262764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Helvetica Neue"/>
                <a:ea typeface="Helvetica Neue"/>
                <a:cs typeface="Helvetica Neue"/>
                <a:sym typeface="Helvetica Neue"/>
              </a:rPr>
              <a:t>Oligodendrocyte</a:t>
            </a:r>
            <a:endParaRPr/>
          </a:p>
        </p:txBody>
      </p:sp>
      <p:sp>
        <p:nvSpPr>
          <p:cNvPr id="275" name="Google Shape;275;p16"/>
          <p:cNvSpPr/>
          <p:nvPr/>
        </p:nvSpPr>
        <p:spPr>
          <a:xfrm>
            <a:off x="1923344" y="5446105"/>
            <a:ext cx="595493" cy="10993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6" name="Google Shape;276;p16"/>
          <p:cNvSpPr txBox="1"/>
          <p:nvPr/>
        </p:nvSpPr>
        <p:spPr>
          <a:xfrm>
            <a:off x="1828578" y="5328774"/>
            <a:ext cx="795411"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chemeClr val="dk1"/>
                </a:solidFill>
                <a:latin typeface="Helvetica Neue"/>
                <a:ea typeface="Helvetica Neue"/>
                <a:cs typeface="Helvetica Neue"/>
                <a:sym typeface="Helvetica Neue"/>
              </a:rPr>
              <a:t>gene B</a:t>
            </a:r>
            <a:endParaRPr/>
          </a:p>
        </p:txBody>
      </p:sp>
      <p:sp>
        <p:nvSpPr>
          <p:cNvPr id="277" name="Google Shape;277;p16"/>
          <p:cNvSpPr txBox="1"/>
          <p:nvPr/>
        </p:nvSpPr>
        <p:spPr>
          <a:xfrm>
            <a:off x="3198480" y="5372738"/>
            <a:ext cx="785023"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chemeClr val="dk1"/>
                </a:solidFill>
                <a:latin typeface="Helvetica Neue"/>
                <a:ea typeface="Helvetica Neue"/>
                <a:cs typeface="Helvetica Neue"/>
                <a:sym typeface="Helvetica Neue"/>
              </a:rPr>
              <a:t>gene A</a:t>
            </a:r>
            <a:endParaRPr/>
          </a:p>
        </p:txBody>
      </p:sp>
      <p:sp>
        <p:nvSpPr>
          <p:cNvPr id="278" name="Google Shape;278;p16"/>
          <p:cNvSpPr txBox="1"/>
          <p:nvPr/>
        </p:nvSpPr>
        <p:spPr>
          <a:xfrm>
            <a:off x="4408923" y="5243950"/>
            <a:ext cx="2071868"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Helvetica Neue"/>
                <a:ea typeface="Helvetica Neue"/>
                <a:cs typeface="Helvetica Neue"/>
                <a:sym typeface="Helvetica Neue"/>
              </a:rPr>
              <a:t>High expression of gene A</a:t>
            </a:r>
            <a:endParaRPr/>
          </a:p>
        </p:txBody>
      </p:sp>
      <p:sp>
        <p:nvSpPr>
          <p:cNvPr id="279" name="Google Shape;279;p16"/>
          <p:cNvSpPr/>
          <p:nvPr/>
        </p:nvSpPr>
        <p:spPr>
          <a:xfrm>
            <a:off x="2036351" y="5192287"/>
            <a:ext cx="2562117" cy="868291"/>
          </a:xfrm>
          <a:custGeom>
            <a:rect b="b" l="l" r="r" t="t"/>
            <a:pathLst>
              <a:path extrusionOk="0" h="868291" w="2562117">
                <a:moveTo>
                  <a:pt x="2547224" y="189941"/>
                </a:moveTo>
                <a:cubicBezTo>
                  <a:pt x="2454627" y="155217"/>
                  <a:pt x="1823806" y="243956"/>
                  <a:pt x="1551801" y="213090"/>
                </a:cubicBezTo>
                <a:cubicBezTo>
                  <a:pt x="1279796" y="182224"/>
                  <a:pt x="1119679" y="25966"/>
                  <a:pt x="915193" y="4746"/>
                </a:cubicBezTo>
                <a:cubicBezTo>
                  <a:pt x="710707" y="-16474"/>
                  <a:pt x="376970" y="37541"/>
                  <a:pt x="324884" y="85769"/>
                </a:cubicBezTo>
                <a:cubicBezTo>
                  <a:pt x="272798" y="133997"/>
                  <a:pt x="600748" y="238169"/>
                  <a:pt x="602677" y="294113"/>
                </a:cubicBezTo>
                <a:cubicBezTo>
                  <a:pt x="604606" y="350057"/>
                  <a:pt x="434844" y="369349"/>
                  <a:pt x="336459" y="421435"/>
                </a:cubicBezTo>
                <a:cubicBezTo>
                  <a:pt x="238074" y="473521"/>
                  <a:pt x="31659" y="535252"/>
                  <a:pt x="12368" y="606629"/>
                </a:cubicBezTo>
                <a:cubicBezTo>
                  <a:pt x="-6923" y="678006"/>
                  <a:pt x="-37789" y="816903"/>
                  <a:pt x="220712" y="849698"/>
                </a:cubicBezTo>
                <a:cubicBezTo>
                  <a:pt x="479213" y="882493"/>
                  <a:pt x="1248930" y="874776"/>
                  <a:pt x="1563376" y="803399"/>
                </a:cubicBezTo>
                <a:cubicBezTo>
                  <a:pt x="1877822" y="732022"/>
                  <a:pt x="1937624" y="521749"/>
                  <a:pt x="2107386" y="421435"/>
                </a:cubicBezTo>
                <a:cubicBezTo>
                  <a:pt x="2277148" y="321121"/>
                  <a:pt x="2639821" y="224665"/>
                  <a:pt x="2547224" y="189941"/>
                </a:cubicBezTo>
                <a:close/>
              </a:path>
            </a:pathLst>
          </a:custGeom>
          <a:solidFill>
            <a:srgbClr val="FFFF00">
              <a:alpha val="9803"/>
            </a:srgbClr>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0" name="Google Shape;280;p16"/>
          <p:cNvSpPr txBox="1"/>
          <p:nvPr/>
        </p:nvSpPr>
        <p:spPr>
          <a:xfrm>
            <a:off x="4383857" y="3429000"/>
            <a:ext cx="2071868"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Helvetica Neue"/>
                <a:ea typeface="Helvetica Neue"/>
                <a:cs typeface="Helvetica Neue"/>
                <a:sym typeface="Helvetica Neue"/>
              </a:rPr>
              <a:t>High expression of gene B</a:t>
            </a:r>
            <a:endParaRPr/>
          </a:p>
        </p:txBody>
      </p:sp>
      <p:sp>
        <p:nvSpPr>
          <p:cNvPr id="281" name="Google Shape;281;p16"/>
          <p:cNvSpPr/>
          <p:nvPr/>
        </p:nvSpPr>
        <p:spPr>
          <a:xfrm>
            <a:off x="2121905" y="2407016"/>
            <a:ext cx="2410742" cy="1193127"/>
          </a:xfrm>
          <a:custGeom>
            <a:rect b="b" l="l" r="r" t="t"/>
            <a:pathLst>
              <a:path extrusionOk="0" h="1193127" w="2410742">
                <a:moveTo>
                  <a:pt x="2403796" y="1169561"/>
                </a:moveTo>
                <a:cubicBezTo>
                  <a:pt x="2347852" y="1051885"/>
                  <a:pt x="1834707" y="368978"/>
                  <a:pt x="1593568" y="174138"/>
                </a:cubicBezTo>
                <a:cubicBezTo>
                  <a:pt x="1352429" y="-20702"/>
                  <a:pt x="1211604" y="6305"/>
                  <a:pt x="956961" y="518"/>
                </a:cubicBezTo>
                <a:cubicBezTo>
                  <a:pt x="702318" y="-5269"/>
                  <a:pt x="196890" y="37171"/>
                  <a:pt x="65710" y="139414"/>
                </a:cubicBezTo>
                <a:cubicBezTo>
                  <a:pt x="-65470" y="241657"/>
                  <a:pt x="15553" y="484725"/>
                  <a:pt x="169882" y="613976"/>
                </a:cubicBezTo>
                <a:cubicBezTo>
                  <a:pt x="324211" y="743227"/>
                  <a:pt x="698460" y="870548"/>
                  <a:pt x="991685" y="914918"/>
                </a:cubicBezTo>
                <a:cubicBezTo>
                  <a:pt x="1284910" y="959288"/>
                  <a:pt x="1691953" y="831966"/>
                  <a:pt x="1929234" y="880194"/>
                </a:cubicBezTo>
                <a:cubicBezTo>
                  <a:pt x="2166515" y="928422"/>
                  <a:pt x="2459740" y="1287237"/>
                  <a:pt x="2403796" y="1169561"/>
                </a:cubicBezTo>
                <a:close/>
              </a:path>
            </a:pathLst>
          </a:custGeom>
          <a:solidFill>
            <a:srgbClr val="FFFF00">
              <a:alpha val="9803"/>
            </a:srgbClr>
          </a:soli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2" name="Google Shape;282;p16"/>
          <p:cNvSpPr txBox="1"/>
          <p:nvPr/>
        </p:nvSpPr>
        <p:spPr>
          <a:xfrm>
            <a:off x="-11189662" y="1880250"/>
            <a:ext cx="297549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Helvetica Neue"/>
                <a:ea typeface="Helvetica Neue"/>
                <a:cs typeface="Helvetica Neue"/>
                <a:sym typeface="Helvetica Neue"/>
              </a:rPr>
              <a:t>Microarray/RNA-seq</a:t>
            </a:r>
            <a:endParaRPr sz="2400">
              <a:solidFill>
                <a:schemeClr val="dk1"/>
              </a:solidFill>
              <a:latin typeface="Helvetica Neue"/>
              <a:ea typeface="Helvetica Neue"/>
              <a:cs typeface="Helvetica Neue"/>
              <a:sym typeface="Helvetica Neue"/>
            </a:endParaRPr>
          </a:p>
        </p:txBody>
      </p:sp>
      <p:sp>
        <p:nvSpPr>
          <p:cNvPr id="283" name="Google Shape;283;p16"/>
          <p:cNvSpPr/>
          <p:nvPr/>
        </p:nvSpPr>
        <p:spPr>
          <a:xfrm>
            <a:off x="1122397" y="1029839"/>
            <a:ext cx="5417758" cy="3033730"/>
          </a:xfrm>
          <a:custGeom>
            <a:rect b="b" l="l" r="r" t="t"/>
            <a:pathLst>
              <a:path extrusionOk="0" h="3033730" w="5417758">
                <a:moveTo>
                  <a:pt x="2118514" y="544318"/>
                </a:moveTo>
                <a:cubicBezTo>
                  <a:pt x="2006625" y="420855"/>
                  <a:pt x="1823360" y="-13196"/>
                  <a:pt x="1759699" y="308"/>
                </a:cubicBezTo>
                <a:cubicBezTo>
                  <a:pt x="1696038" y="13812"/>
                  <a:pt x="1900524" y="459437"/>
                  <a:pt x="1736549" y="625341"/>
                </a:cubicBezTo>
                <a:cubicBezTo>
                  <a:pt x="1572574" y="791245"/>
                  <a:pt x="1065217" y="920496"/>
                  <a:pt x="775850" y="995731"/>
                </a:cubicBezTo>
                <a:cubicBezTo>
                  <a:pt x="486483" y="1070966"/>
                  <a:pt x="-15086" y="1036242"/>
                  <a:pt x="347" y="1076753"/>
                </a:cubicBezTo>
                <a:cubicBezTo>
                  <a:pt x="15780" y="1117264"/>
                  <a:pt x="714119" y="1080612"/>
                  <a:pt x="868448" y="1238799"/>
                </a:cubicBezTo>
                <a:cubicBezTo>
                  <a:pt x="1022777" y="1396987"/>
                  <a:pt x="1001556" y="1784739"/>
                  <a:pt x="926321" y="2025878"/>
                </a:cubicBezTo>
                <a:cubicBezTo>
                  <a:pt x="851085" y="2267017"/>
                  <a:pt x="370736" y="2654768"/>
                  <a:pt x="417035" y="2685634"/>
                </a:cubicBezTo>
                <a:cubicBezTo>
                  <a:pt x="463334" y="2716500"/>
                  <a:pt x="968762" y="2247725"/>
                  <a:pt x="1204114" y="2211072"/>
                </a:cubicBezTo>
                <a:cubicBezTo>
                  <a:pt x="1439466" y="2174419"/>
                  <a:pt x="1667102" y="2328748"/>
                  <a:pt x="1829147" y="2465715"/>
                </a:cubicBezTo>
                <a:cubicBezTo>
                  <a:pt x="1991192" y="2602682"/>
                  <a:pt x="2122372" y="3056024"/>
                  <a:pt x="2176387" y="3032875"/>
                </a:cubicBezTo>
                <a:cubicBezTo>
                  <a:pt x="2230402" y="3009726"/>
                  <a:pt x="2072215" y="2488865"/>
                  <a:pt x="2153238" y="2326819"/>
                </a:cubicBezTo>
                <a:cubicBezTo>
                  <a:pt x="2234261" y="2164774"/>
                  <a:pt x="2448392" y="2058673"/>
                  <a:pt x="2662524" y="2060602"/>
                </a:cubicBezTo>
                <a:cubicBezTo>
                  <a:pt x="2876656" y="2062531"/>
                  <a:pt x="3436099" y="2402055"/>
                  <a:pt x="3438028" y="2338394"/>
                </a:cubicBezTo>
                <a:cubicBezTo>
                  <a:pt x="3439957" y="2274733"/>
                  <a:pt x="2465755" y="1807888"/>
                  <a:pt x="2674099" y="1678637"/>
                </a:cubicBezTo>
                <a:cubicBezTo>
                  <a:pt x="2882443" y="1549386"/>
                  <a:pt x="4252114" y="1547457"/>
                  <a:pt x="4688094" y="1562890"/>
                </a:cubicBezTo>
                <a:cubicBezTo>
                  <a:pt x="5124074" y="1578323"/>
                  <a:pt x="5311197" y="1834895"/>
                  <a:pt x="5289977" y="1771234"/>
                </a:cubicBezTo>
                <a:cubicBezTo>
                  <a:pt x="5268757" y="1707573"/>
                  <a:pt x="4539552" y="1310177"/>
                  <a:pt x="4560772" y="1180926"/>
                </a:cubicBezTo>
                <a:cubicBezTo>
                  <a:pt x="4581992" y="1051675"/>
                  <a:pt x="5440448" y="1032384"/>
                  <a:pt x="5417299" y="995731"/>
                </a:cubicBezTo>
                <a:cubicBezTo>
                  <a:pt x="5394150" y="959078"/>
                  <a:pt x="4610929" y="1045888"/>
                  <a:pt x="4421876" y="961007"/>
                </a:cubicBezTo>
                <a:cubicBezTo>
                  <a:pt x="4232823" y="876126"/>
                  <a:pt x="4346641" y="457508"/>
                  <a:pt x="4282980" y="486445"/>
                </a:cubicBezTo>
                <a:cubicBezTo>
                  <a:pt x="4219319" y="515382"/>
                  <a:pt x="4311916" y="997660"/>
                  <a:pt x="4039911" y="1134627"/>
                </a:cubicBezTo>
                <a:cubicBezTo>
                  <a:pt x="3767906" y="1271594"/>
                  <a:pt x="2785987" y="1414348"/>
                  <a:pt x="2650949" y="1308247"/>
                </a:cubicBezTo>
                <a:cubicBezTo>
                  <a:pt x="2515911" y="1202146"/>
                  <a:pt x="3266336" y="592545"/>
                  <a:pt x="3229683" y="498019"/>
                </a:cubicBezTo>
                <a:cubicBezTo>
                  <a:pt x="3193030" y="403493"/>
                  <a:pt x="2614296" y="733371"/>
                  <a:pt x="2431030" y="741088"/>
                </a:cubicBezTo>
                <a:cubicBezTo>
                  <a:pt x="2247764" y="748805"/>
                  <a:pt x="2230403" y="667781"/>
                  <a:pt x="2118514" y="544318"/>
                </a:cubicBezTo>
                <a:close/>
              </a:path>
            </a:pathLst>
          </a:custGeom>
          <a:solidFill>
            <a:srgbClr val="C55A11">
              <a:alpha val="23137"/>
            </a:srgbClr>
          </a:solidFill>
          <a:ln cap="flat" cmpd="sng" w="57150">
            <a:solidFill>
              <a:srgbClr val="7F340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4" name="Google Shape;28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5" name="Google Shape;285;p16"/>
          <p:cNvSpPr txBox="1"/>
          <p:nvPr/>
        </p:nvSpPr>
        <p:spPr>
          <a:xfrm>
            <a:off x="800621" y="1067665"/>
            <a:ext cx="205113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mRNA transcript</a:t>
            </a:r>
            <a:endParaRPr/>
          </a:p>
        </p:txBody>
      </p:sp>
      <p:pic>
        <p:nvPicPr>
          <p:cNvPr id="286" name="Google Shape;286;p16"/>
          <p:cNvPicPr preferRelativeResize="0"/>
          <p:nvPr/>
        </p:nvPicPr>
        <p:blipFill rotWithShape="1">
          <a:blip r:embed="rId3">
            <a:alphaModFix/>
          </a:blip>
          <a:srcRect b="0" l="0" r="0" t="0"/>
          <a:stretch/>
        </p:blipFill>
        <p:spPr>
          <a:xfrm>
            <a:off x="8182162" y="2071417"/>
            <a:ext cx="3953145" cy="3530600"/>
          </a:xfrm>
          <a:prstGeom prst="rect">
            <a:avLst/>
          </a:prstGeom>
          <a:noFill/>
          <a:ln>
            <a:noFill/>
          </a:ln>
        </p:spPr>
      </p:pic>
      <p:sp>
        <p:nvSpPr>
          <p:cNvPr id="287" name="Google Shape;287;p16"/>
          <p:cNvSpPr/>
          <p:nvPr/>
        </p:nvSpPr>
        <p:spPr>
          <a:xfrm rot="891091">
            <a:off x="6561114" y="2576678"/>
            <a:ext cx="1407057" cy="530047"/>
          </a:xfrm>
          <a:prstGeom prst="leftArrow">
            <a:avLst>
              <a:gd fmla="val 50000" name="adj1"/>
              <a:gd fmla="val 50000" name="adj2"/>
            </a:avLst>
          </a:prstGeom>
          <a:solidFill>
            <a:srgbClr val="7474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8" name="Google Shape;288;p16"/>
          <p:cNvSpPr/>
          <p:nvPr/>
        </p:nvSpPr>
        <p:spPr>
          <a:xfrm rot="-990183">
            <a:off x="6728803" y="4558813"/>
            <a:ext cx="1407057" cy="530047"/>
          </a:xfrm>
          <a:prstGeom prst="leftArrow">
            <a:avLst>
              <a:gd fmla="val 50000" name="adj1"/>
              <a:gd fmla="val 50000" name="adj2"/>
            </a:avLst>
          </a:prstGeom>
          <a:solidFill>
            <a:srgbClr val="74747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9" name="Google Shape;289;p16"/>
          <p:cNvSpPr txBox="1"/>
          <p:nvPr/>
        </p:nvSpPr>
        <p:spPr>
          <a:xfrm>
            <a:off x="4806241" y="6080840"/>
            <a:ext cx="6722481" cy="4770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500">
                <a:solidFill>
                  <a:schemeClr val="dk1"/>
                </a:solidFill>
                <a:latin typeface="Arial"/>
                <a:ea typeface="Arial"/>
                <a:cs typeface="Arial"/>
                <a:sym typeface="Arial"/>
              </a:rPr>
              <a:t>Gene expression = number of mRNA transcripts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7"/>
          <p:cNvSpPr txBox="1"/>
          <p:nvPr/>
        </p:nvSpPr>
        <p:spPr>
          <a:xfrm>
            <a:off x="290002" y="134155"/>
            <a:ext cx="11144452"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chemeClr val="dk1"/>
                </a:solidFill>
                <a:latin typeface="Helvetica Neue"/>
                <a:ea typeface="Helvetica Neue"/>
                <a:cs typeface="Helvetica Neue"/>
                <a:sym typeface="Helvetica Neue"/>
              </a:rPr>
              <a:t>Single cell </a:t>
            </a:r>
            <a:r>
              <a:rPr lang="en-US" sz="3000">
                <a:solidFill>
                  <a:schemeClr val="dk1"/>
                </a:solidFill>
                <a:latin typeface="Helvetica Neue"/>
                <a:ea typeface="Helvetica Neue"/>
                <a:cs typeface="Helvetica Neue"/>
                <a:sym typeface="Helvetica Neue"/>
              </a:rPr>
              <a:t>RNA-sequencing (scRNA-seq) measures gene expression in individual cells</a:t>
            </a:r>
            <a:endParaRPr/>
          </a:p>
        </p:txBody>
      </p:sp>
      <p:pic>
        <p:nvPicPr>
          <p:cNvPr id="296" name="Google Shape;296;p17"/>
          <p:cNvPicPr preferRelativeResize="0"/>
          <p:nvPr/>
        </p:nvPicPr>
        <p:blipFill rotWithShape="1">
          <a:blip r:embed="rId3">
            <a:alphaModFix/>
          </a:blip>
          <a:srcRect b="0" l="0" r="0" t="0"/>
          <a:stretch/>
        </p:blipFill>
        <p:spPr>
          <a:xfrm>
            <a:off x="176039" y="1947033"/>
            <a:ext cx="3909876" cy="3792914"/>
          </a:xfrm>
          <a:prstGeom prst="rect">
            <a:avLst/>
          </a:prstGeom>
          <a:noFill/>
          <a:ln>
            <a:noFill/>
          </a:ln>
        </p:spPr>
      </p:pic>
      <p:sp>
        <p:nvSpPr>
          <p:cNvPr id="297" name="Google Shape;297;p17"/>
          <p:cNvSpPr txBox="1"/>
          <p:nvPr/>
        </p:nvSpPr>
        <p:spPr>
          <a:xfrm>
            <a:off x="4955518" y="2427749"/>
            <a:ext cx="258115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Sequencing machine</a:t>
            </a:r>
            <a:endParaRPr/>
          </a:p>
        </p:txBody>
      </p:sp>
      <p:cxnSp>
        <p:nvCxnSpPr>
          <p:cNvPr id="298" name="Google Shape;298;p17"/>
          <p:cNvCxnSpPr/>
          <p:nvPr/>
        </p:nvCxnSpPr>
        <p:spPr>
          <a:xfrm flipH="1" rot="10800000">
            <a:off x="4085915" y="3708684"/>
            <a:ext cx="1010808" cy="20716"/>
          </a:xfrm>
          <a:prstGeom prst="straightConnector1">
            <a:avLst/>
          </a:prstGeom>
          <a:noFill/>
          <a:ln cap="flat" cmpd="sng" w="76200">
            <a:solidFill>
              <a:schemeClr val="dk1"/>
            </a:solidFill>
            <a:prstDash val="solid"/>
            <a:miter lim="8000"/>
            <a:headEnd len="sm" w="sm" type="none"/>
            <a:tailEnd len="med" w="med" type="triangle"/>
          </a:ln>
        </p:spPr>
      </p:cxnSp>
      <p:cxnSp>
        <p:nvCxnSpPr>
          <p:cNvPr id="299" name="Google Shape;299;p17"/>
          <p:cNvCxnSpPr/>
          <p:nvPr/>
        </p:nvCxnSpPr>
        <p:spPr>
          <a:xfrm flipH="1" rot="10800000">
            <a:off x="7476764" y="3682504"/>
            <a:ext cx="929513" cy="20041"/>
          </a:xfrm>
          <a:prstGeom prst="straightConnector1">
            <a:avLst/>
          </a:prstGeom>
          <a:noFill/>
          <a:ln cap="flat" cmpd="sng" w="76200">
            <a:solidFill>
              <a:schemeClr val="dk1"/>
            </a:solidFill>
            <a:prstDash val="solid"/>
            <a:miter lim="8000"/>
            <a:headEnd len="sm" w="sm" type="none"/>
            <a:tailEnd len="med" w="med" type="triangle"/>
          </a:ln>
        </p:spPr>
      </p:cxnSp>
      <p:sp>
        <p:nvSpPr>
          <p:cNvPr id="300" name="Google Shape;300;p17"/>
          <p:cNvSpPr txBox="1"/>
          <p:nvPr/>
        </p:nvSpPr>
        <p:spPr>
          <a:xfrm>
            <a:off x="921166" y="5775589"/>
            <a:ext cx="1165704"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chemeClr val="dk1"/>
                </a:solidFill>
                <a:latin typeface="Helvetica Neue"/>
                <a:ea typeface="Helvetica Neue"/>
                <a:cs typeface="Helvetica Neue"/>
                <a:sym typeface="Helvetica Neue"/>
              </a:rPr>
              <a:t>Cell 2</a:t>
            </a:r>
            <a:endParaRPr/>
          </a:p>
        </p:txBody>
      </p:sp>
      <p:sp>
        <p:nvSpPr>
          <p:cNvPr id="301" name="Google Shape;301;p17"/>
          <p:cNvSpPr txBox="1"/>
          <p:nvPr/>
        </p:nvSpPr>
        <p:spPr>
          <a:xfrm>
            <a:off x="866144" y="1375214"/>
            <a:ext cx="1165704"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chemeClr val="dk1"/>
                </a:solidFill>
                <a:latin typeface="Helvetica Neue"/>
                <a:ea typeface="Helvetica Neue"/>
                <a:cs typeface="Helvetica Neue"/>
                <a:sym typeface="Helvetica Neue"/>
              </a:rPr>
              <a:t>Cell 1</a:t>
            </a:r>
            <a:endParaRPr/>
          </a:p>
        </p:txBody>
      </p:sp>
      <p:sp>
        <p:nvSpPr>
          <p:cNvPr id="302" name="Google Shape;302;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03" name="Google Shape;303;p17"/>
          <p:cNvPicPr preferRelativeResize="0"/>
          <p:nvPr/>
        </p:nvPicPr>
        <p:blipFill rotWithShape="1">
          <a:blip r:embed="rId4">
            <a:alphaModFix/>
          </a:blip>
          <a:srcRect b="0" l="0" r="0" t="0"/>
          <a:stretch/>
        </p:blipFill>
        <p:spPr>
          <a:xfrm>
            <a:off x="5248403" y="3004292"/>
            <a:ext cx="1995386" cy="1587660"/>
          </a:xfrm>
          <a:prstGeom prst="rect">
            <a:avLst/>
          </a:prstGeom>
          <a:noFill/>
          <a:ln>
            <a:noFill/>
          </a:ln>
        </p:spPr>
      </p:pic>
      <p:grpSp>
        <p:nvGrpSpPr>
          <p:cNvPr id="304" name="Google Shape;304;p17"/>
          <p:cNvGrpSpPr/>
          <p:nvPr/>
        </p:nvGrpSpPr>
        <p:grpSpPr>
          <a:xfrm>
            <a:off x="7882649" y="1574300"/>
            <a:ext cx="4728009" cy="4478288"/>
            <a:chOff x="4974089" y="1771701"/>
            <a:chExt cx="5391050" cy="4907129"/>
          </a:xfrm>
        </p:grpSpPr>
        <p:pic>
          <p:nvPicPr>
            <p:cNvPr id="305" name="Google Shape;305;p17"/>
            <p:cNvPicPr preferRelativeResize="0"/>
            <p:nvPr/>
          </p:nvPicPr>
          <p:blipFill rotWithShape="1">
            <a:blip r:embed="rId5">
              <a:alphaModFix/>
            </a:blip>
            <a:srcRect b="36444" l="25315" r="7379" t="31466"/>
            <a:stretch/>
          </p:blipFill>
          <p:spPr>
            <a:xfrm flipH="1" rot="5400000">
              <a:off x="5354738" y="3080514"/>
              <a:ext cx="3553019" cy="1693947"/>
            </a:xfrm>
            <a:prstGeom prst="rect">
              <a:avLst/>
            </a:prstGeom>
            <a:noFill/>
            <a:ln>
              <a:noFill/>
            </a:ln>
          </p:spPr>
        </p:pic>
        <p:sp>
          <p:nvSpPr>
            <p:cNvPr id="306" name="Google Shape;306;p17"/>
            <p:cNvSpPr/>
            <p:nvPr/>
          </p:nvSpPr>
          <p:spPr>
            <a:xfrm>
              <a:off x="5904270" y="5935037"/>
              <a:ext cx="1198199" cy="735946"/>
            </a:xfrm>
            <a:custGeom>
              <a:rect b="b" l="l" r="r" t="t"/>
              <a:pathLst>
                <a:path extrusionOk="0" h="3033730" w="5417758">
                  <a:moveTo>
                    <a:pt x="2118514" y="544318"/>
                  </a:moveTo>
                  <a:cubicBezTo>
                    <a:pt x="2006625" y="420855"/>
                    <a:pt x="1823360" y="-13196"/>
                    <a:pt x="1759699" y="308"/>
                  </a:cubicBezTo>
                  <a:cubicBezTo>
                    <a:pt x="1696038" y="13812"/>
                    <a:pt x="1900524" y="459437"/>
                    <a:pt x="1736549" y="625341"/>
                  </a:cubicBezTo>
                  <a:cubicBezTo>
                    <a:pt x="1572574" y="791245"/>
                    <a:pt x="1065217" y="920496"/>
                    <a:pt x="775850" y="995731"/>
                  </a:cubicBezTo>
                  <a:cubicBezTo>
                    <a:pt x="486483" y="1070966"/>
                    <a:pt x="-15086" y="1036242"/>
                    <a:pt x="347" y="1076753"/>
                  </a:cubicBezTo>
                  <a:cubicBezTo>
                    <a:pt x="15780" y="1117264"/>
                    <a:pt x="714119" y="1080612"/>
                    <a:pt x="868448" y="1238799"/>
                  </a:cubicBezTo>
                  <a:cubicBezTo>
                    <a:pt x="1022777" y="1396987"/>
                    <a:pt x="1001556" y="1784739"/>
                    <a:pt x="926321" y="2025878"/>
                  </a:cubicBezTo>
                  <a:cubicBezTo>
                    <a:pt x="851085" y="2267017"/>
                    <a:pt x="370736" y="2654768"/>
                    <a:pt x="417035" y="2685634"/>
                  </a:cubicBezTo>
                  <a:cubicBezTo>
                    <a:pt x="463334" y="2716500"/>
                    <a:pt x="968762" y="2247725"/>
                    <a:pt x="1204114" y="2211072"/>
                  </a:cubicBezTo>
                  <a:cubicBezTo>
                    <a:pt x="1439466" y="2174419"/>
                    <a:pt x="1667102" y="2328748"/>
                    <a:pt x="1829147" y="2465715"/>
                  </a:cubicBezTo>
                  <a:cubicBezTo>
                    <a:pt x="1991192" y="2602682"/>
                    <a:pt x="2122372" y="3056024"/>
                    <a:pt x="2176387" y="3032875"/>
                  </a:cubicBezTo>
                  <a:cubicBezTo>
                    <a:pt x="2230402" y="3009726"/>
                    <a:pt x="2072215" y="2488865"/>
                    <a:pt x="2153238" y="2326819"/>
                  </a:cubicBezTo>
                  <a:cubicBezTo>
                    <a:pt x="2234261" y="2164774"/>
                    <a:pt x="2448392" y="2058673"/>
                    <a:pt x="2662524" y="2060602"/>
                  </a:cubicBezTo>
                  <a:cubicBezTo>
                    <a:pt x="2876656" y="2062531"/>
                    <a:pt x="3436099" y="2402055"/>
                    <a:pt x="3438028" y="2338394"/>
                  </a:cubicBezTo>
                  <a:cubicBezTo>
                    <a:pt x="3439957" y="2274733"/>
                    <a:pt x="2465755" y="1807888"/>
                    <a:pt x="2674099" y="1678637"/>
                  </a:cubicBezTo>
                  <a:cubicBezTo>
                    <a:pt x="2882443" y="1549386"/>
                    <a:pt x="4252114" y="1547457"/>
                    <a:pt x="4688094" y="1562890"/>
                  </a:cubicBezTo>
                  <a:cubicBezTo>
                    <a:pt x="5124074" y="1578323"/>
                    <a:pt x="5311197" y="1834895"/>
                    <a:pt x="5289977" y="1771234"/>
                  </a:cubicBezTo>
                  <a:cubicBezTo>
                    <a:pt x="5268757" y="1707573"/>
                    <a:pt x="4539552" y="1310177"/>
                    <a:pt x="4560772" y="1180926"/>
                  </a:cubicBezTo>
                  <a:cubicBezTo>
                    <a:pt x="4581992" y="1051675"/>
                    <a:pt x="5440448" y="1032384"/>
                    <a:pt x="5417299" y="995731"/>
                  </a:cubicBezTo>
                  <a:cubicBezTo>
                    <a:pt x="5394150" y="959078"/>
                    <a:pt x="4610929" y="1045888"/>
                    <a:pt x="4421876" y="961007"/>
                  </a:cubicBezTo>
                  <a:cubicBezTo>
                    <a:pt x="4232823" y="876126"/>
                    <a:pt x="4346641" y="457508"/>
                    <a:pt x="4282980" y="486445"/>
                  </a:cubicBezTo>
                  <a:cubicBezTo>
                    <a:pt x="4219319" y="515382"/>
                    <a:pt x="4311916" y="997660"/>
                    <a:pt x="4039911" y="1134627"/>
                  </a:cubicBezTo>
                  <a:cubicBezTo>
                    <a:pt x="3767906" y="1271594"/>
                    <a:pt x="2785987" y="1414348"/>
                    <a:pt x="2650949" y="1308247"/>
                  </a:cubicBezTo>
                  <a:cubicBezTo>
                    <a:pt x="2515911" y="1202146"/>
                    <a:pt x="3266336" y="592545"/>
                    <a:pt x="3229683" y="498019"/>
                  </a:cubicBezTo>
                  <a:cubicBezTo>
                    <a:pt x="3193030" y="403493"/>
                    <a:pt x="2614296" y="733371"/>
                    <a:pt x="2431030" y="741088"/>
                  </a:cubicBezTo>
                  <a:cubicBezTo>
                    <a:pt x="2247764" y="748805"/>
                    <a:pt x="2230403" y="667781"/>
                    <a:pt x="2118514" y="544318"/>
                  </a:cubicBezTo>
                  <a:close/>
                </a:path>
              </a:pathLst>
            </a:custGeom>
            <a:solidFill>
              <a:srgbClr val="C55A11">
                <a:alpha val="23137"/>
              </a:srgbClr>
            </a:solidFill>
            <a:ln cap="flat" cmpd="sng" w="28575">
              <a:solidFill>
                <a:srgbClr val="7F340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7" name="Google Shape;307;p17"/>
            <p:cNvSpPr/>
            <p:nvPr/>
          </p:nvSpPr>
          <p:spPr>
            <a:xfrm>
              <a:off x="7162987" y="6015971"/>
              <a:ext cx="739644" cy="662859"/>
            </a:xfrm>
            <a:custGeom>
              <a:rect b="b" l="l" r="r" t="t"/>
              <a:pathLst>
                <a:path extrusionOk="0" h="4093556" w="5883299">
                  <a:moveTo>
                    <a:pt x="2056291" y="67320"/>
                  </a:moveTo>
                  <a:cubicBezTo>
                    <a:pt x="2700615" y="57675"/>
                    <a:pt x="4625870" y="-42639"/>
                    <a:pt x="5112007" y="21022"/>
                  </a:cubicBezTo>
                  <a:cubicBezTo>
                    <a:pt x="5598144" y="84683"/>
                    <a:pt x="5162164" y="375979"/>
                    <a:pt x="4973111" y="449285"/>
                  </a:cubicBezTo>
                  <a:cubicBezTo>
                    <a:pt x="4784058" y="522591"/>
                    <a:pt x="4147450" y="375979"/>
                    <a:pt x="3977688" y="460860"/>
                  </a:cubicBezTo>
                  <a:cubicBezTo>
                    <a:pt x="3807926" y="545741"/>
                    <a:pt x="3753911" y="736723"/>
                    <a:pt x="3954539" y="958571"/>
                  </a:cubicBezTo>
                  <a:cubicBezTo>
                    <a:pt x="4155167" y="1180419"/>
                    <a:pt x="5025197" y="1438920"/>
                    <a:pt x="5181455" y="1791948"/>
                  </a:cubicBezTo>
                  <a:cubicBezTo>
                    <a:pt x="5337713" y="2144976"/>
                    <a:pt x="5108149" y="2847173"/>
                    <a:pt x="4892088" y="3076738"/>
                  </a:cubicBezTo>
                  <a:cubicBezTo>
                    <a:pt x="4676027" y="3306303"/>
                    <a:pt x="4054853" y="3105675"/>
                    <a:pt x="3885091" y="3169336"/>
                  </a:cubicBezTo>
                  <a:cubicBezTo>
                    <a:pt x="3715329" y="3232997"/>
                    <a:pt x="3628519" y="3404688"/>
                    <a:pt x="3873516" y="3458703"/>
                  </a:cubicBezTo>
                  <a:cubicBezTo>
                    <a:pt x="4118513" y="3512718"/>
                    <a:pt x="5083070" y="3396971"/>
                    <a:pt x="5355075" y="3493427"/>
                  </a:cubicBezTo>
                  <a:cubicBezTo>
                    <a:pt x="5627080" y="3589883"/>
                    <a:pt x="6306128" y="3954485"/>
                    <a:pt x="5505546" y="4037437"/>
                  </a:cubicBezTo>
                  <a:cubicBezTo>
                    <a:pt x="4704964" y="4120389"/>
                    <a:pt x="1410038" y="4116530"/>
                    <a:pt x="551582" y="3991138"/>
                  </a:cubicBezTo>
                  <a:cubicBezTo>
                    <a:pt x="-306874" y="3865746"/>
                    <a:pt x="7571" y="3398900"/>
                    <a:pt x="354812" y="3285082"/>
                  </a:cubicBezTo>
                  <a:cubicBezTo>
                    <a:pt x="702053" y="3171264"/>
                    <a:pt x="2243415" y="3341027"/>
                    <a:pt x="2635025" y="3308232"/>
                  </a:cubicBezTo>
                  <a:cubicBezTo>
                    <a:pt x="3026635" y="3275437"/>
                    <a:pt x="2937896" y="3163549"/>
                    <a:pt x="2704473" y="3088313"/>
                  </a:cubicBezTo>
                  <a:cubicBezTo>
                    <a:pt x="2471050" y="3013077"/>
                    <a:pt x="1502635" y="3144257"/>
                    <a:pt x="1234488" y="2856819"/>
                  </a:cubicBezTo>
                  <a:cubicBezTo>
                    <a:pt x="966341" y="2569381"/>
                    <a:pt x="939334" y="1689705"/>
                    <a:pt x="1095592" y="1363685"/>
                  </a:cubicBezTo>
                  <a:cubicBezTo>
                    <a:pt x="1251850" y="1037665"/>
                    <a:pt x="1801647" y="985579"/>
                    <a:pt x="2172037" y="900698"/>
                  </a:cubicBezTo>
                  <a:cubicBezTo>
                    <a:pt x="2542427" y="815817"/>
                    <a:pt x="3144311" y="933493"/>
                    <a:pt x="3317931" y="854399"/>
                  </a:cubicBezTo>
                  <a:cubicBezTo>
                    <a:pt x="3491551" y="775305"/>
                    <a:pt x="3557141" y="489797"/>
                    <a:pt x="3213759" y="426136"/>
                  </a:cubicBezTo>
                  <a:cubicBezTo>
                    <a:pt x="2870377" y="362475"/>
                    <a:pt x="1585586" y="530307"/>
                    <a:pt x="1257637" y="472434"/>
                  </a:cubicBezTo>
                  <a:cubicBezTo>
                    <a:pt x="929688" y="414561"/>
                    <a:pt x="1109096" y="146414"/>
                    <a:pt x="1246063" y="78895"/>
                  </a:cubicBezTo>
                  <a:cubicBezTo>
                    <a:pt x="1383030" y="11376"/>
                    <a:pt x="1411967" y="76965"/>
                    <a:pt x="2056291" y="67320"/>
                  </a:cubicBezTo>
                  <a:close/>
                </a:path>
              </a:pathLst>
            </a:custGeom>
            <a:solidFill>
              <a:srgbClr val="D8F2CF"/>
            </a:solidFill>
            <a:ln cap="flat" cmpd="sng" w="28575">
              <a:solidFill>
                <a:srgbClr val="27531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8" name="Google Shape;308;p17"/>
            <p:cNvSpPr txBox="1"/>
            <p:nvPr/>
          </p:nvSpPr>
          <p:spPr>
            <a:xfrm>
              <a:off x="8113002" y="6015971"/>
              <a:ext cx="1872629" cy="4924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600">
                  <a:solidFill>
                    <a:schemeClr val="dk1"/>
                  </a:solidFill>
                  <a:latin typeface="Helvetica Neue"/>
                  <a:ea typeface="Helvetica Neue"/>
                  <a:cs typeface="Helvetica Neue"/>
                  <a:sym typeface="Helvetica Neue"/>
                </a:rPr>
                <a:t>Cell types!</a:t>
              </a:r>
              <a:endParaRPr/>
            </a:p>
          </p:txBody>
        </p:sp>
        <p:sp>
          <p:nvSpPr>
            <p:cNvPr id="309" name="Google Shape;309;p17"/>
            <p:cNvSpPr/>
            <p:nvPr/>
          </p:nvSpPr>
          <p:spPr>
            <a:xfrm rot="-5400000">
              <a:off x="6530386" y="5332651"/>
              <a:ext cx="266149" cy="901709"/>
            </a:xfrm>
            <a:prstGeom prst="leftBrace">
              <a:avLst>
                <a:gd fmla="val 21910" name="adj1"/>
                <a:gd fmla="val 50000" name="adj2"/>
              </a:avLst>
            </a:prstGeom>
            <a:noFill/>
            <a:ln cap="flat" cmpd="sng" w="2857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10" name="Google Shape;310;p17"/>
            <p:cNvSpPr/>
            <p:nvPr/>
          </p:nvSpPr>
          <p:spPr>
            <a:xfrm rot="-5400000">
              <a:off x="7455149" y="5367868"/>
              <a:ext cx="269396" cy="828028"/>
            </a:xfrm>
            <a:prstGeom prst="leftBrace">
              <a:avLst>
                <a:gd fmla="val 21910" name="adj1"/>
                <a:gd fmla="val 50000" name="adj2"/>
              </a:avLst>
            </a:prstGeom>
            <a:noFill/>
            <a:ln cap="flat" cmpd="sng" w="2857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11" name="Google Shape;311;p17"/>
            <p:cNvSpPr/>
            <p:nvPr/>
          </p:nvSpPr>
          <p:spPr>
            <a:xfrm flipH="1" rot="10800000">
              <a:off x="8536929" y="2881849"/>
              <a:ext cx="292968" cy="1927250"/>
            </a:xfrm>
            <a:prstGeom prst="rect">
              <a:avLst/>
            </a:prstGeom>
            <a:gradFill>
              <a:gsLst>
                <a:gs pos="0">
                  <a:srgbClr val="EFF7FC"/>
                </a:gs>
                <a:gs pos="33000">
                  <a:srgbClr val="FDC794"/>
                </a:gs>
                <a:gs pos="53000">
                  <a:srgbClr val="FBC28A"/>
                </a:gs>
                <a:gs pos="100000">
                  <a:srgbClr val="C00000"/>
                </a:gs>
              </a:gsLst>
              <a:lin ang="5400000" scaled="0"/>
            </a:gra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2" name="Google Shape;312;p17"/>
            <p:cNvSpPr txBox="1"/>
            <p:nvPr/>
          </p:nvSpPr>
          <p:spPr>
            <a:xfrm>
              <a:off x="8825320" y="4312248"/>
              <a:ext cx="1281288" cy="7082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Helvetica Neue"/>
                  <a:ea typeface="Helvetica Neue"/>
                  <a:cs typeface="Helvetica Neue"/>
                  <a:sym typeface="Helvetica Neue"/>
                </a:rPr>
                <a:t>count = 0</a:t>
              </a:r>
              <a:endParaRPr/>
            </a:p>
          </p:txBody>
        </p:sp>
        <p:sp>
          <p:nvSpPr>
            <p:cNvPr id="313" name="Google Shape;313;p17"/>
            <p:cNvSpPr txBox="1"/>
            <p:nvPr/>
          </p:nvSpPr>
          <p:spPr>
            <a:xfrm>
              <a:off x="8859228" y="2806440"/>
              <a:ext cx="1505911" cy="7082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Helvetica Neue"/>
                  <a:ea typeface="Helvetica Neue"/>
                  <a:cs typeface="Helvetica Neue"/>
                  <a:sym typeface="Helvetica Neue"/>
                </a:rPr>
                <a:t>count = high</a:t>
              </a:r>
              <a:endParaRPr/>
            </a:p>
          </p:txBody>
        </p:sp>
        <p:sp>
          <p:nvSpPr>
            <p:cNvPr id="314" name="Google Shape;314;p17"/>
            <p:cNvSpPr/>
            <p:nvPr/>
          </p:nvSpPr>
          <p:spPr>
            <a:xfrm>
              <a:off x="6241608" y="2543297"/>
              <a:ext cx="1790486" cy="135467"/>
            </a:xfrm>
            <a:prstGeom prst="rect">
              <a:avLst/>
            </a:prstGeom>
            <a:noFill/>
            <a:ln cap="flat" cmpd="sng" w="2857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5" name="Google Shape;315;p17"/>
            <p:cNvSpPr/>
            <p:nvPr/>
          </p:nvSpPr>
          <p:spPr>
            <a:xfrm>
              <a:off x="6241608" y="4981906"/>
              <a:ext cx="1790486" cy="135467"/>
            </a:xfrm>
            <a:prstGeom prst="rect">
              <a:avLst/>
            </a:prstGeom>
            <a:noFill/>
            <a:ln cap="flat" cmpd="sng" w="2857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6" name="Google Shape;316;p17"/>
            <p:cNvSpPr txBox="1"/>
            <p:nvPr/>
          </p:nvSpPr>
          <p:spPr>
            <a:xfrm>
              <a:off x="4974089" y="2398086"/>
              <a:ext cx="1079142" cy="430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200">
                  <a:solidFill>
                    <a:schemeClr val="dk1"/>
                  </a:solidFill>
                  <a:latin typeface="Helvetica Neue"/>
                  <a:ea typeface="Helvetica Neue"/>
                  <a:cs typeface="Helvetica Neue"/>
                  <a:sym typeface="Helvetica Neue"/>
                </a:rPr>
                <a:t>gene B</a:t>
              </a:r>
              <a:endParaRPr/>
            </a:p>
          </p:txBody>
        </p:sp>
        <p:sp>
          <p:nvSpPr>
            <p:cNvPr id="317" name="Google Shape;317;p17"/>
            <p:cNvSpPr txBox="1"/>
            <p:nvPr/>
          </p:nvSpPr>
          <p:spPr>
            <a:xfrm>
              <a:off x="4974089" y="4809099"/>
              <a:ext cx="1063881" cy="430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200">
                  <a:solidFill>
                    <a:schemeClr val="dk1"/>
                  </a:solidFill>
                  <a:latin typeface="Helvetica Neue"/>
                  <a:ea typeface="Helvetica Neue"/>
                  <a:cs typeface="Helvetica Neue"/>
                  <a:sym typeface="Helvetica Neue"/>
                </a:rPr>
                <a:t>gene A</a:t>
              </a:r>
              <a:endParaRPr/>
            </a:p>
          </p:txBody>
        </p:sp>
        <p:sp>
          <p:nvSpPr>
            <p:cNvPr id="318" name="Google Shape;318;p17"/>
            <p:cNvSpPr txBox="1"/>
            <p:nvPr/>
          </p:nvSpPr>
          <p:spPr>
            <a:xfrm>
              <a:off x="6191360" y="3238425"/>
              <a:ext cx="1943252" cy="12140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200">
                  <a:solidFill>
                    <a:schemeClr val="dk1"/>
                  </a:solidFill>
                  <a:latin typeface="Helvetica Neue"/>
                  <a:ea typeface="Helvetica Neue"/>
                  <a:cs typeface="Helvetica Neue"/>
                  <a:sym typeface="Helvetica Neue"/>
                </a:rPr>
                <a:t>Transcript count matrix</a:t>
              </a:r>
              <a:endParaRPr/>
            </a:p>
          </p:txBody>
        </p:sp>
        <p:sp>
          <p:nvSpPr>
            <p:cNvPr id="319" name="Google Shape;319;p17"/>
            <p:cNvSpPr txBox="1"/>
            <p:nvPr/>
          </p:nvSpPr>
          <p:spPr>
            <a:xfrm rot="-5400000">
              <a:off x="5360556" y="3404797"/>
              <a:ext cx="1416900" cy="543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500">
                  <a:solidFill>
                    <a:schemeClr val="dk1"/>
                  </a:solidFill>
                  <a:latin typeface="Helvetica Neue"/>
                  <a:ea typeface="Helvetica Neue"/>
                  <a:cs typeface="Helvetica Neue"/>
                  <a:sym typeface="Helvetica Neue"/>
                </a:rPr>
                <a:t>Genes</a:t>
              </a:r>
              <a:endParaRPr/>
            </a:p>
          </p:txBody>
        </p:sp>
        <p:sp>
          <p:nvSpPr>
            <p:cNvPr id="320" name="Google Shape;320;p17"/>
            <p:cNvSpPr txBox="1"/>
            <p:nvPr/>
          </p:nvSpPr>
          <p:spPr>
            <a:xfrm>
              <a:off x="6660675" y="1771701"/>
              <a:ext cx="1329300" cy="522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500">
                  <a:solidFill>
                    <a:schemeClr val="dk1"/>
                  </a:solidFill>
                  <a:latin typeface="Helvetica Neue"/>
                  <a:ea typeface="Helvetica Neue"/>
                  <a:cs typeface="Helvetica Neue"/>
                  <a:sym typeface="Helvetica Neue"/>
                </a:rPr>
                <a:t>Cells</a:t>
              </a:r>
              <a:endParaRPr sz="2500">
                <a:solidFill>
                  <a:schemeClr val="dk1"/>
                </a:solidFill>
                <a:latin typeface="Helvetica Neue"/>
                <a:ea typeface="Helvetica Neue"/>
                <a:cs typeface="Helvetica Neue"/>
                <a:sym typeface="Helvetica Neue"/>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18"/>
          <p:cNvSpPr txBox="1"/>
          <p:nvPr/>
        </p:nvSpPr>
        <p:spPr>
          <a:xfrm>
            <a:off x="290002" y="134155"/>
            <a:ext cx="11144452"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000">
                <a:solidFill>
                  <a:schemeClr val="dk1"/>
                </a:solidFill>
                <a:latin typeface="Helvetica Neue"/>
                <a:ea typeface="Helvetica Neue"/>
                <a:cs typeface="Helvetica Neue"/>
                <a:sym typeface="Helvetica Neue"/>
              </a:rPr>
              <a:t>Single cell </a:t>
            </a:r>
            <a:r>
              <a:rPr lang="en-US" sz="3000">
                <a:solidFill>
                  <a:schemeClr val="dk1"/>
                </a:solidFill>
                <a:latin typeface="Helvetica Neue"/>
                <a:ea typeface="Helvetica Neue"/>
                <a:cs typeface="Helvetica Neue"/>
                <a:sym typeface="Helvetica Neue"/>
              </a:rPr>
              <a:t>RNA-sequencing (scRNA-seq) measures gene expression in individual cells</a:t>
            </a:r>
            <a:endParaRPr/>
          </a:p>
        </p:txBody>
      </p:sp>
      <p:pic>
        <p:nvPicPr>
          <p:cNvPr id="327" name="Google Shape;327;p18"/>
          <p:cNvPicPr preferRelativeResize="0"/>
          <p:nvPr/>
        </p:nvPicPr>
        <p:blipFill rotWithShape="1">
          <a:blip r:embed="rId3">
            <a:alphaModFix/>
          </a:blip>
          <a:srcRect b="0" l="0" r="0" t="0"/>
          <a:stretch/>
        </p:blipFill>
        <p:spPr>
          <a:xfrm>
            <a:off x="176039" y="1947033"/>
            <a:ext cx="3909876" cy="3792914"/>
          </a:xfrm>
          <a:prstGeom prst="rect">
            <a:avLst/>
          </a:prstGeom>
          <a:noFill/>
          <a:ln>
            <a:noFill/>
          </a:ln>
        </p:spPr>
      </p:pic>
      <p:sp>
        <p:nvSpPr>
          <p:cNvPr id="328" name="Google Shape;328;p18"/>
          <p:cNvSpPr txBox="1"/>
          <p:nvPr/>
        </p:nvSpPr>
        <p:spPr>
          <a:xfrm>
            <a:off x="4955518" y="2427749"/>
            <a:ext cx="258115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Helvetica Neue"/>
                <a:ea typeface="Helvetica Neue"/>
                <a:cs typeface="Helvetica Neue"/>
                <a:sym typeface="Helvetica Neue"/>
              </a:rPr>
              <a:t>Sequencing machine</a:t>
            </a:r>
            <a:endParaRPr/>
          </a:p>
        </p:txBody>
      </p:sp>
      <p:cxnSp>
        <p:nvCxnSpPr>
          <p:cNvPr id="329" name="Google Shape;329;p18"/>
          <p:cNvCxnSpPr/>
          <p:nvPr/>
        </p:nvCxnSpPr>
        <p:spPr>
          <a:xfrm flipH="1" rot="10800000">
            <a:off x="4085915" y="3708684"/>
            <a:ext cx="1010808" cy="20716"/>
          </a:xfrm>
          <a:prstGeom prst="straightConnector1">
            <a:avLst/>
          </a:prstGeom>
          <a:noFill/>
          <a:ln cap="flat" cmpd="sng" w="76200">
            <a:solidFill>
              <a:schemeClr val="dk1"/>
            </a:solidFill>
            <a:prstDash val="solid"/>
            <a:miter lim="8000"/>
            <a:headEnd len="sm" w="sm" type="none"/>
            <a:tailEnd len="med" w="med" type="triangle"/>
          </a:ln>
        </p:spPr>
      </p:cxnSp>
      <p:cxnSp>
        <p:nvCxnSpPr>
          <p:cNvPr id="330" name="Google Shape;330;p18"/>
          <p:cNvCxnSpPr/>
          <p:nvPr/>
        </p:nvCxnSpPr>
        <p:spPr>
          <a:xfrm flipH="1" rot="10800000">
            <a:off x="7476764" y="3682504"/>
            <a:ext cx="929513" cy="20041"/>
          </a:xfrm>
          <a:prstGeom prst="straightConnector1">
            <a:avLst/>
          </a:prstGeom>
          <a:noFill/>
          <a:ln cap="flat" cmpd="sng" w="76200">
            <a:solidFill>
              <a:schemeClr val="dk1"/>
            </a:solidFill>
            <a:prstDash val="solid"/>
            <a:miter lim="8000"/>
            <a:headEnd len="sm" w="sm" type="none"/>
            <a:tailEnd len="med" w="med" type="triangle"/>
          </a:ln>
        </p:spPr>
      </p:cxnSp>
      <p:sp>
        <p:nvSpPr>
          <p:cNvPr id="331" name="Google Shape;331;p18"/>
          <p:cNvSpPr txBox="1"/>
          <p:nvPr/>
        </p:nvSpPr>
        <p:spPr>
          <a:xfrm>
            <a:off x="921166" y="5775589"/>
            <a:ext cx="1165704"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chemeClr val="dk1"/>
                </a:solidFill>
                <a:latin typeface="Helvetica Neue"/>
                <a:ea typeface="Helvetica Neue"/>
                <a:cs typeface="Helvetica Neue"/>
                <a:sym typeface="Helvetica Neue"/>
              </a:rPr>
              <a:t>Cell 2</a:t>
            </a:r>
            <a:endParaRPr/>
          </a:p>
        </p:txBody>
      </p:sp>
      <p:sp>
        <p:nvSpPr>
          <p:cNvPr id="332" name="Google Shape;332;p18"/>
          <p:cNvSpPr txBox="1"/>
          <p:nvPr/>
        </p:nvSpPr>
        <p:spPr>
          <a:xfrm>
            <a:off x="866144" y="1375214"/>
            <a:ext cx="1165704" cy="5539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000">
                <a:solidFill>
                  <a:schemeClr val="dk1"/>
                </a:solidFill>
                <a:latin typeface="Helvetica Neue"/>
                <a:ea typeface="Helvetica Neue"/>
                <a:cs typeface="Helvetica Neue"/>
                <a:sym typeface="Helvetica Neue"/>
              </a:rPr>
              <a:t>Cell 1</a:t>
            </a:r>
            <a:endParaRPr/>
          </a:p>
        </p:txBody>
      </p:sp>
      <p:sp>
        <p:nvSpPr>
          <p:cNvPr id="333" name="Google Shape;33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34" name="Google Shape;334;p18"/>
          <p:cNvPicPr preferRelativeResize="0"/>
          <p:nvPr/>
        </p:nvPicPr>
        <p:blipFill rotWithShape="1">
          <a:blip r:embed="rId4">
            <a:alphaModFix/>
          </a:blip>
          <a:srcRect b="0" l="0" r="0" t="0"/>
          <a:stretch/>
        </p:blipFill>
        <p:spPr>
          <a:xfrm>
            <a:off x="5248403" y="3004292"/>
            <a:ext cx="1995386" cy="1587660"/>
          </a:xfrm>
          <a:prstGeom prst="rect">
            <a:avLst/>
          </a:prstGeom>
          <a:noFill/>
          <a:ln>
            <a:noFill/>
          </a:ln>
        </p:spPr>
      </p:pic>
      <p:grpSp>
        <p:nvGrpSpPr>
          <p:cNvPr id="335" name="Google Shape;335;p18"/>
          <p:cNvGrpSpPr/>
          <p:nvPr/>
        </p:nvGrpSpPr>
        <p:grpSpPr>
          <a:xfrm>
            <a:off x="5862228" y="1574302"/>
            <a:ext cx="6748431" cy="4949618"/>
            <a:chOff x="2670330" y="1771703"/>
            <a:chExt cx="7694809" cy="5423594"/>
          </a:xfrm>
        </p:grpSpPr>
        <p:pic>
          <p:nvPicPr>
            <p:cNvPr id="336" name="Google Shape;336;p18"/>
            <p:cNvPicPr preferRelativeResize="0"/>
            <p:nvPr/>
          </p:nvPicPr>
          <p:blipFill rotWithShape="1">
            <a:blip r:embed="rId5">
              <a:alphaModFix/>
            </a:blip>
            <a:srcRect b="36444" l="25315" r="7379" t="31466"/>
            <a:stretch/>
          </p:blipFill>
          <p:spPr>
            <a:xfrm flipH="1" rot="5400000">
              <a:off x="5354738" y="3080514"/>
              <a:ext cx="3553019" cy="1693947"/>
            </a:xfrm>
            <a:prstGeom prst="rect">
              <a:avLst/>
            </a:prstGeom>
            <a:noFill/>
            <a:ln>
              <a:noFill/>
            </a:ln>
          </p:spPr>
        </p:pic>
        <p:sp>
          <p:nvSpPr>
            <p:cNvPr id="337" name="Google Shape;337;p18"/>
            <p:cNvSpPr/>
            <p:nvPr/>
          </p:nvSpPr>
          <p:spPr>
            <a:xfrm>
              <a:off x="5904270" y="5935037"/>
              <a:ext cx="1198199" cy="735946"/>
            </a:xfrm>
            <a:custGeom>
              <a:rect b="b" l="l" r="r" t="t"/>
              <a:pathLst>
                <a:path extrusionOk="0" h="3033730" w="5417758">
                  <a:moveTo>
                    <a:pt x="2118514" y="544318"/>
                  </a:moveTo>
                  <a:cubicBezTo>
                    <a:pt x="2006625" y="420855"/>
                    <a:pt x="1823360" y="-13196"/>
                    <a:pt x="1759699" y="308"/>
                  </a:cubicBezTo>
                  <a:cubicBezTo>
                    <a:pt x="1696038" y="13812"/>
                    <a:pt x="1900524" y="459437"/>
                    <a:pt x="1736549" y="625341"/>
                  </a:cubicBezTo>
                  <a:cubicBezTo>
                    <a:pt x="1572574" y="791245"/>
                    <a:pt x="1065217" y="920496"/>
                    <a:pt x="775850" y="995731"/>
                  </a:cubicBezTo>
                  <a:cubicBezTo>
                    <a:pt x="486483" y="1070966"/>
                    <a:pt x="-15086" y="1036242"/>
                    <a:pt x="347" y="1076753"/>
                  </a:cubicBezTo>
                  <a:cubicBezTo>
                    <a:pt x="15780" y="1117264"/>
                    <a:pt x="714119" y="1080612"/>
                    <a:pt x="868448" y="1238799"/>
                  </a:cubicBezTo>
                  <a:cubicBezTo>
                    <a:pt x="1022777" y="1396987"/>
                    <a:pt x="1001556" y="1784739"/>
                    <a:pt x="926321" y="2025878"/>
                  </a:cubicBezTo>
                  <a:cubicBezTo>
                    <a:pt x="851085" y="2267017"/>
                    <a:pt x="370736" y="2654768"/>
                    <a:pt x="417035" y="2685634"/>
                  </a:cubicBezTo>
                  <a:cubicBezTo>
                    <a:pt x="463334" y="2716500"/>
                    <a:pt x="968762" y="2247725"/>
                    <a:pt x="1204114" y="2211072"/>
                  </a:cubicBezTo>
                  <a:cubicBezTo>
                    <a:pt x="1439466" y="2174419"/>
                    <a:pt x="1667102" y="2328748"/>
                    <a:pt x="1829147" y="2465715"/>
                  </a:cubicBezTo>
                  <a:cubicBezTo>
                    <a:pt x="1991192" y="2602682"/>
                    <a:pt x="2122372" y="3056024"/>
                    <a:pt x="2176387" y="3032875"/>
                  </a:cubicBezTo>
                  <a:cubicBezTo>
                    <a:pt x="2230402" y="3009726"/>
                    <a:pt x="2072215" y="2488865"/>
                    <a:pt x="2153238" y="2326819"/>
                  </a:cubicBezTo>
                  <a:cubicBezTo>
                    <a:pt x="2234261" y="2164774"/>
                    <a:pt x="2448392" y="2058673"/>
                    <a:pt x="2662524" y="2060602"/>
                  </a:cubicBezTo>
                  <a:cubicBezTo>
                    <a:pt x="2876656" y="2062531"/>
                    <a:pt x="3436099" y="2402055"/>
                    <a:pt x="3438028" y="2338394"/>
                  </a:cubicBezTo>
                  <a:cubicBezTo>
                    <a:pt x="3439957" y="2274733"/>
                    <a:pt x="2465755" y="1807888"/>
                    <a:pt x="2674099" y="1678637"/>
                  </a:cubicBezTo>
                  <a:cubicBezTo>
                    <a:pt x="2882443" y="1549386"/>
                    <a:pt x="4252114" y="1547457"/>
                    <a:pt x="4688094" y="1562890"/>
                  </a:cubicBezTo>
                  <a:cubicBezTo>
                    <a:pt x="5124074" y="1578323"/>
                    <a:pt x="5311197" y="1834895"/>
                    <a:pt x="5289977" y="1771234"/>
                  </a:cubicBezTo>
                  <a:cubicBezTo>
                    <a:pt x="5268757" y="1707573"/>
                    <a:pt x="4539552" y="1310177"/>
                    <a:pt x="4560772" y="1180926"/>
                  </a:cubicBezTo>
                  <a:cubicBezTo>
                    <a:pt x="4581992" y="1051675"/>
                    <a:pt x="5440448" y="1032384"/>
                    <a:pt x="5417299" y="995731"/>
                  </a:cubicBezTo>
                  <a:cubicBezTo>
                    <a:pt x="5394150" y="959078"/>
                    <a:pt x="4610929" y="1045888"/>
                    <a:pt x="4421876" y="961007"/>
                  </a:cubicBezTo>
                  <a:cubicBezTo>
                    <a:pt x="4232823" y="876126"/>
                    <a:pt x="4346641" y="457508"/>
                    <a:pt x="4282980" y="486445"/>
                  </a:cubicBezTo>
                  <a:cubicBezTo>
                    <a:pt x="4219319" y="515382"/>
                    <a:pt x="4311916" y="997660"/>
                    <a:pt x="4039911" y="1134627"/>
                  </a:cubicBezTo>
                  <a:cubicBezTo>
                    <a:pt x="3767906" y="1271594"/>
                    <a:pt x="2785987" y="1414348"/>
                    <a:pt x="2650949" y="1308247"/>
                  </a:cubicBezTo>
                  <a:cubicBezTo>
                    <a:pt x="2515911" y="1202146"/>
                    <a:pt x="3266336" y="592545"/>
                    <a:pt x="3229683" y="498019"/>
                  </a:cubicBezTo>
                  <a:cubicBezTo>
                    <a:pt x="3193030" y="403493"/>
                    <a:pt x="2614296" y="733371"/>
                    <a:pt x="2431030" y="741088"/>
                  </a:cubicBezTo>
                  <a:cubicBezTo>
                    <a:pt x="2247764" y="748805"/>
                    <a:pt x="2230403" y="667781"/>
                    <a:pt x="2118514" y="544318"/>
                  </a:cubicBezTo>
                  <a:close/>
                </a:path>
              </a:pathLst>
            </a:custGeom>
            <a:solidFill>
              <a:srgbClr val="C55A11">
                <a:alpha val="23137"/>
              </a:srgbClr>
            </a:solidFill>
            <a:ln cap="flat" cmpd="sng" w="28575">
              <a:solidFill>
                <a:srgbClr val="7F340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8" name="Google Shape;338;p18"/>
            <p:cNvSpPr/>
            <p:nvPr/>
          </p:nvSpPr>
          <p:spPr>
            <a:xfrm>
              <a:off x="7162987" y="6015971"/>
              <a:ext cx="739644" cy="662859"/>
            </a:xfrm>
            <a:custGeom>
              <a:rect b="b" l="l" r="r" t="t"/>
              <a:pathLst>
                <a:path extrusionOk="0" h="4093556" w="5883299">
                  <a:moveTo>
                    <a:pt x="2056291" y="67320"/>
                  </a:moveTo>
                  <a:cubicBezTo>
                    <a:pt x="2700615" y="57675"/>
                    <a:pt x="4625870" y="-42639"/>
                    <a:pt x="5112007" y="21022"/>
                  </a:cubicBezTo>
                  <a:cubicBezTo>
                    <a:pt x="5598144" y="84683"/>
                    <a:pt x="5162164" y="375979"/>
                    <a:pt x="4973111" y="449285"/>
                  </a:cubicBezTo>
                  <a:cubicBezTo>
                    <a:pt x="4784058" y="522591"/>
                    <a:pt x="4147450" y="375979"/>
                    <a:pt x="3977688" y="460860"/>
                  </a:cubicBezTo>
                  <a:cubicBezTo>
                    <a:pt x="3807926" y="545741"/>
                    <a:pt x="3753911" y="736723"/>
                    <a:pt x="3954539" y="958571"/>
                  </a:cubicBezTo>
                  <a:cubicBezTo>
                    <a:pt x="4155167" y="1180419"/>
                    <a:pt x="5025197" y="1438920"/>
                    <a:pt x="5181455" y="1791948"/>
                  </a:cubicBezTo>
                  <a:cubicBezTo>
                    <a:pt x="5337713" y="2144976"/>
                    <a:pt x="5108149" y="2847173"/>
                    <a:pt x="4892088" y="3076738"/>
                  </a:cubicBezTo>
                  <a:cubicBezTo>
                    <a:pt x="4676027" y="3306303"/>
                    <a:pt x="4054853" y="3105675"/>
                    <a:pt x="3885091" y="3169336"/>
                  </a:cubicBezTo>
                  <a:cubicBezTo>
                    <a:pt x="3715329" y="3232997"/>
                    <a:pt x="3628519" y="3404688"/>
                    <a:pt x="3873516" y="3458703"/>
                  </a:cubicBezTo>
                  <a:cubicBezTo>
                    <a:pt x="4118513" y="3512718"/>
                    <a:pt x="5083070" y="3396971"/>
                    <a:pt x="5355075" y="3493427"/>
                  </a:cubicBezTo>
                  <a:cubicBezTo>
                    <a:pt x="5627080" y="3589883"/>
                    <a:pt x="6306128" y="3954485"/>
                    <a:pt x="5505546" y="4037437"/>
                  </a:cubicBezTo>
                  <a:cubicBezTo>
                    <a:pt x="4704964" y="4120389"/>
                    <a:pt x="1410038" y="4116530"/>
                    <a:pt x="551582" y="3991138"/>
                  </a:cubicBezTo>
                  <a:cubicBezTo>
                    <a:pt x="-306874" y="3865746"/>
                    <a:pt x="7571" y="3398900"/>
                    <a:pt x="354812" y="3285082"/>
                  </a:cubicBezTo>
                  <a:cubicBezTo>
                    <a:pt x="702053" y="3171264"/>
                    <a:pt x="2243415" y="3341027"/>
                    <a:pt x="2635025" y="3308232"/>
                  </a:cubicBezTo>
                  <a:cubicBezTo>
                    <a:pt x="3026635" y="3275437"/>
                    <a:pt x="2937896" y="3163549"/>
                    <a:pt x="2704473" y="3088313"/>
                  </a:cubicBezTo>
                  <a:cubicBezTo>
                    <a:pt x="2471050" y="3013077"/>
                    <a:pt x="1502635" y="3144257"/>
                    <a:pt x="1234488" y="2856819"/>
                  </a:cubicBezTo>
                  <a:cubicBezTo>
                    <a:pt x="966341" y="2569381"/>
                    <a:pt x="939334" y="1689705"/>
                    <a:pt x="1095592" y="1363685"/>
                  </a:cubicBezTo>
                  <a:cubicBezTo>
                    <a:pt x="1251850" y="1037665"/>
                    <a:pt x="1801647" y="985579"/>
                    <a:pt x="2172037" y="900698"/>
                  </a:cubicBezTo>
                  <a:cubicBezTo>
                    <a:pt x="2542427" y="815817"/>
                    <a:pt x="3144311" y="933493"/>
                    <a:pt x="3317931" y="854399"/>
                  </a:cubicBezTo>
                  <a:cubicBezTo>
                    <a:pt x="3491551" y="775305"/>
                    <a:pt x="3557141" y="489797"/>
                    <a:pt x="3213759" y="426136"/>
                  </a:cubicBezTo>
                  <a:cubicBezTo>
                    <a:pt x="2870377" y="362475"/>
                    <a:pt x="1585586" y="530307"/>
                    <a:pt x="1257637" y="472434"/>
                  </a:cubicBezTo>
                  <a:cubicBezTo>
                    <a:pt x="929688" y="414561"/>
                    <a:pt x="1109096" y="146414"/>
                    <a:pt x="1246063" y="78895"/>
                  </a:cubicBezTo>
                  <a:cubicBezTo>
                    <a:pt x="1383030" y="11376"/>
                    <a:pt x="1411967" y="76965"/>
                    <a:pt x="2056291" y="67320"/>
                  </a:cubicBezTo>
                  <a:close/>
                </a:path>
              </a:pathLst>
            </a:custGeom>
            <a:solidFill>
              <a:srgbClr val="D8F2CF"/>
            </a:solidFill>
            <a:ln cap="flat" cmpd="sng" w="28575">
              <a:solidFill>
                <a:srgbClr val="27531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9" name="Google Shape;339;p18"/>
            <p:cNvSpPr txBox="1"/>
            <p:nvPr/>
          </p:nvSpPr>
          <p:spPr>
            <a:xfrm>
              <a:off x="8113002" y="6015971"/>
              <a:ext cx="1872629" cy="4924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600">
                  <a:solidFill>
                    <a:schemeClr val="dk1"/>
                  </a:solidFill>
                  <a:latin typeface="Helvetica Neue"/>
                  <a:ea typeface="Helvetica Neue"/>
                  <a:cs typeface="Helvetica Neue"/>
                  <a:sym typeface="Helvetica Neue"/>
                </a:rPr>
                <a:t>Cell types!</a:t>
              </a:r>
              <a:endParaRPr/>
            </a:p>
          </p:txBody>
        </p:sp>
        <p:sp>
          <p:nvSpPr>
            <p:cNvPr id="340" name="Google Shape;340;p18"/>
            <p:cNvSpPr/>
            <p:nvPr/>
          </p:nvSpPr>
          <p:spPr>
            <a:xfrm rot="-5400000">
              <a:off x="6530386" y="5332651"/>
              <a:ext cx="266149" cy="901709"/>
            </a:xfrm>
            <a:prstGeom prst="leftBrace">
              <a:avLst>
                <a:gd fmla="val 21910" name="adj1"/>
                <a:gd fmla="val 50000" name="adj2"/>
              </a:avLst>
            </a:prstGeom>
            <a:noFill/>
            <a:ln cap="flat" cmpd="sng" w="2857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41" name="Google Shape;341;p18"/>
            <p:cNvSpPr/>
            <p:nvPr/>
          </p:nvSpPr>
          <p:spPr>
            <a:xfrm rot="-5400000">
              <a:off x="7455149" y="5367868"/>
              <a:ext cx="269396" cy="828028"/>
            </a:xfrm>
            <a:prstGeom prst="leftBrace">
              <a:avLst>
                <a:gd fmla="val 21910" name="adj1"/>
                <a:gd fmla="val 50000" name="adj2"/>
              </a:avLst>
            </a:prstGeom>
            <a:noFill/>
            <a:ln cap="flat" cmpd="sng" w="2857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42" name="Google Shape;342;p18"/>
            <p:cNvSpPr txBox="1"/>
            <p:nvPr/>
          </p:nvSpPr>
          <p:spPr>
            <a:xfrm>
              <a:off x="2670330" y="6082374"/>
              <a:ext cx="2300713" cy="111292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Helvetica Neue"/>
                  <a:ea typeface="Helvetica Neue"/>
                  <a:cs typeface="Helvetica Neue"/>
                  <a:sym typeface="Helvetica Neue"/>
                </a:rPr>
                <a:t>i-th column = transcript counts for cell i</a:t>
              </a:r>
              <a:endParaRPr sz="2000">
                <a:solidFill>
                  <a:schemeClr val="dk1"/>
                </a:solidFill>
                <a:latin typeface="Helvetica Neue"/>
                <a:ea typeface="Helvetica Neue"/>
                <a:cs typeface="Helvetica Neue"/>
                <a:sym typeface="Helvetica Neue"/>
              </a:endParaRPr>
            </a:p>
          </p:txBody>
        </p:sp>
        <p:sp>
          <p:nvSpPr>
            <p:cNvPr id="343" name="Google Shape;343;p18"/>
            <p:cNvSpPr/>
            <p:nvPr/>
          </p:nvSpPr>
          <p:spPr>
            <a:xfrm flipH="1" rot="10800000">
              <a:off x="8536929" y="2881849"/>
              <a:ext cx="292968" cy="1927250"/>
            </a:xfrm>
            <a:prstGeom prst="rect">
              <a:avLst/>
            </a:prstGeom>
            <a:gradFill>
              <a:gsLst>
                <a:gs pos="0">
                  <a:srgbClr val="EFF7FC"/>
                </a:gs>
                <a:gs pos="33000">
                  <a:srgbClr val="FDC794"/>
                </a:gs>
                <a:gs pos="53000">
                  <a:srgbClr val="FBC28A"/>
                </a:gs>
                <a:gs pos="100000">
                  <a:srgbClr val="C00000"/>
                </a:gs>
              </a:gsLst>
              <a:lin ang="5400000" scaled="0"/>
            </a:gradFill>
            <a:ln cap="flat" cmpd="sng" w="19050">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4" name="Google Shape;344;p18"/>
            <p:cNvSpPr txBox="1"/>
            <p:nvPr/>
          </p:nvSpPr>
          <p:spPr>
            <a:xfrm>
              <a:off x="8825320" y="4312248"/>
              <a:ext cx="1281288" cy="7082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Helvetica Neue"/>
                  <a:ea typeface="Helvetica Neue"/>
                  <a:cs typeface="Helvetica Neue"/>
                  <a:sym typeface="Helvetica Neue"/>
                </a:rPr>
                <a:t>count = 0</a:t>
              </a:r>
              <a:endParaRPr/>
            </a:p>
          </p:txBody>
        </p:sp>
        <p:sp>
          <p:nvSpPr>
            <p:cNvPr id="345" name="Google Shape;345;p18"/>
            <p:cNvSpPr txBox="1"/>
            <p:nvPr/>
          </p:nvSpPr>
          <p:spPr>
            <a:xfrm>
              <a:off x="8859228" y="2806440"/>
              <a:ext cx="1505911" cy="7082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Helvetica Neue"/>
                  <a:ea typeface="Helvetica Neue"/>
                  <a:cs typeface="Helvetica Neue"/>
                  <a:sym typeface="Helvetica Neue"/>
                </a:rPr>
                <a:t>count = high</a:t>
              </a:r>
              <a:endParaRPr/>
            </a:p>
          </p:txBody>
        </p:sp>
        <p:sp>
          <p:nvSpPr>
            <p:cNvPr id="346" name="Google Shape;346;p18"/>
            <p:cNvSpPr/>
            <p:nvPr/>
          </p:nvSpPr>
          <p:spPr>
            <a:xfrm>
              <a:off x="6241608" y="2543297"/>
              <a:ext cx="1790486" cy="135467"/>
            </a:xfrm>
            <a:prstGeom prst="rect">
              <a:avLst/>
            </a:prstGeom>
            <a:noFill/>
            <a:ln cap="flat" cmpd="sng" w="2857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7" name="Google Shape;347;p18"/>
            <p:cNvSpPr/>
            <p:nvPr/>
          </p:nvSpPr>
          <p:spPr>
            <a:xfrm>
              <a:off x="6241608" y="4981906"/>
              <a:ext cx="1790486" cy="135467"/>
            </a:xfrm>
            <a:prstGeom prst="rect">
              <a:avLst/>
            </a:prstGeom>
            <a:noFill/>
            <a:ln cap="flat" cmpd="sng" w="2857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8" name="Google Shape;348;p18"/>
            <p:cNvSpPr txBox="1"/>
            <p:nvPr/>
          </p:nvSpPr>
          <p:spPr>
            <a:xfrm>
              <a:off x="4974089" y="2398086"/>
              <a:ext cx="1079142" cy="430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200">
                  <a:solidFill>
                    <a:schemeClr val="dk1"/>
                  </a:solidFill>
                  <a:latin typeface="Helvetica Neue"/>
                  <a:ea typeface="Helvetica Neue"/>
                  <a:cs typeface="Helvetica Neue"/>
                  <a:sym typeface="Helvetica Neue"/>
                </a:rPr>
                <a:t>gene B</a:t>
              </a:r>
              <a:endParaRPr/>
            </a:p>
          </p:txBody>
        </p:sp>
        <p:sp>
          <p:nvSpPr>
            <p:cNvPr id="349" name="Google Shape;349;p18"/>
            <p:cNvSpPr txBox="1"/>
            <p:nvPr/>
          </p:nvSpPr>
          <p:spPr>
            <a:xfrm>
              <a:off x="4974089" y="4809099"/>
              <a:ext cx="1063881" cy="430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200">
                  <a:solidFill>
                    <a:schemeClr val="dk1"/>
                  </a:solidFill>
                  <a:latin typeface="Helvetica Neue"/>
                  <a:ea typeface="Helvetica Neue"/>
                  <a:cs typeface="Helvetica Neue"/>
                  <a:sym typeface="Helvetica Neue"/>
                </a:rPr>
                <a:t>gene A</a:t>
              </a:r>
              <a:endParaRPr/>
            </a:p>
          </p:txBody>
        </p:sp>
        <p:sp>
          <p:nvSpPr>
            <p:cNvPr id="350" name="Google Shape;350;p18"/>
            <p:cNvSpPr txBox="1"/>
            <p:nvPr/>
          </p:nvSpPr>
          <p:spPr>
            <a:xfrm rot="-5400000">
              <a:off x="5383955" y="3428198"/>
              <a:ext cx="1370100" cy="543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500">
                  <a:solidFill>
                    <a:schemeClr val="dk1"/>
                  </a:solidFill>
                  <a:latin typeface="Helvetica Neue"/>
                  <a:ea typeface="Helvetica Neue"/>
                  <a:cs typeface="Helvetica Neue"/>
                  <a:sym typeface="Helvetica Neue"/>
                </a:rPr>
                <a:t>Genes</a:t>
              </a:r>
              <a:endParaRPr/>
            </a:p>
          </p:txBody>
        </p:sp>
        <p:sp>
          <p:nvSpPr>
            <p:cNvPr id="351" name="Google Shape;351;p18"/>
            <p:cNvSpPr txBox="1"/>
            <p:nvPr/>
          </p:nvSpPr>
          <p:spPr>
            <a:xfrm>
              <a:off x="6660674" y="1771703"/>
              <a:ext cx="1329300" cy="522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500">
                  <a:solidFill>
                    <a:schemeClr val="dk1"/>
                  </a:solidFill>
                  <a:latin typeface="Helvetica Neue"/>
                  <a:ea typeface="Helvetica Neue"/>
                  <a:cs typeface="Helvetica Neue"/>
                  <a:sym typeface="Helvetica Neue"/>
                </a:rPr>
                <a:t>Cells</a:t>
              </a:r>
              <a:endParaRPr sz="2500">
                <a:solidFill>
                  <a:schemeClr val="dk1"/>
                </a:solidFill>
                <a:latin typeface="Helvetica Neue"/>
                <a:ea typeface="Helvetica Neue"/>
                <a:cs typeface="Helvetica Neue"/>
                <a:sym typeface="Helvetica Neue"/>
              </a:endParaRPr>
            </a:p>
          </p:txBody>
        </p:sp>
      </p:grpSp>
      <p:sp>
        <p:nvSpPr>
          <p:cNvPr id="352" name="Google Shape;352;p18"/>
          <p:cNvSpPr/>
          <p:nvPr/>
        </p:nvSpPr>
        <p:spPr>
          <a:xfrm>
            <a:off x="9269674" y="1947034"/>
            <a:ext cx="184872" cy="3108132"/>
          </a:xfrm>
          <a:prstGeom prst="rect">
            <a:avLst/>
          </a:prstGeom>
          <a:noFill/>
          <a:ln cap="flat" cmpd="sng" w="28575">
            <a:solidFill>
              <a:schemeClr val="dk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53" name="Google Shape;353;p18"/>
          <p:cNvCxnSpPr/>
          <p:nvPr/>
        </p:nvCxnSpPr>
        <p:spPr>
          <a:xfrm flipH="1">
            <a:off x="7648623" y="4903786"/>
            <a:ext cx="1575222" cy="640108"/>
          </a:xfrm>
          <a:prstGeom prst="straightConnector1">
            <a:avLst/>
          </a:prstGeom>
          <a:noFill/>
          <a:ln cap="flat" cmpd="sng" w="28575">
            <a:solidFill>
              <a:schemeClr val="dk1"/>
            </a:solidFill>
            <a:prstDash val="solid"/>
            <a:miter lim="8000"/>
            <a:headEnd len="sm" w="sm"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19"/>
          <p:cNvSpPr txBox="1"/>
          <p:nvPr>
            <p:ph type="title"/>
          </p:nvPr>
        </p:nvSpPr>
        <p:spPr>
          <a:xfrm>
            <a:off x="199236" y="-14815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Single-cell sequencing</a:t>
            </a:r>
            <a:endParaRPr/>
          </a:p>
        </p:txBody>
      </p:sp>
      <p:pic>
        <p:nvPicPr>
          <p:cNvPr id="359" name="Google Shape;359;p19"/>
          <p:cNvPicPr preferRelativeResize="0"/>
          <p:nvPr/>
        </p:nvPicPr>
        <p:blipFill rotWithShape="1">
          <a:blip r:embed="rId3">
            <a:alphaModFix/>
          </a:blip>
          <a:srcRect b="0" l="0" r="0" t="0"/>
          <a:stretch/>
        </p:blipFill>
        <p:spPr>
          <a:xfrm>
            <a:off x="73200" y="849473"/>
            <a:ext cx="7041499" cy="3513400"/>
          </a:xfrm>
          <a:prstGeom prst="rect">
            <a:avLst/>
          </a:prstGeom>
          <a:noFill/>
          <a:ln>
            <a:noFill/>
          </a:ln>
        </p:spPr>
      </p:pic>
      <p:sp>
        <p:nvSpPr>
          <p:cNvPr id="360" name="Google Shape;360;p19"/>
          <p:cNvSpPr txBox="1"/>
          <p:nvPr/>
        </p:nvSpPr>
        <p:spPr>
          <a:xfrm>
            <a:off x="199225" y="4554500"/>
            <a:ext cx="6052800" cy="292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chemeClr val="dk1"/>
                </a:solidFill>
                <a:latin typeface="Arial"/>
                <a:ea typeface="Arial"/>
                <a:cs typeface="Arial"/>
                <a:sym typeface="Arial"/>
              </a:rPr>
              <a:t>Source: </a:t>
            </a:r>
            <a:r>
              <a:rPr lang="en-US" sz="1300" u="sng">
                <a:solidFill>
                  <a:schemeClr val="dk1"/>
                </a:solidFill>
                <a:latin typeface="Arial"/>
                <a:ea typeface="Arial"/>
                <a:cs typeface="Arial"/>
                <a:sym typeface="Arial"/>
                <a:hlinkClick r:id="rId4">
                  <a:extLst>
                    <a:ext uri="{A12FA001-AC4F-418D-AE19-62706E023703}">
                      <ahyp:hlinkClr val="tx"/>
                    </a:ext>
                  </a:extLst>
                </a:hlinkClick>
              </a:rPr>
              <a:t>https://www.tbmcore.cnrs.fr/onecell/?lang=en</a:t>
            </a:r>
            <a:r>
              <a:rPr lang="en-US" sz="1300">
                <a:solidFill>
                  <a:schemeClr val="dk1"/>
                </a:solidFill>
                <a:latin typeface="Arial"/>
                <a:ea typeface="Arial"/>
                <a:cs typeface="Arial"/>
                <a:sym typeface="Arial"/>
              </a:rPr>
              <a:t> (if GIF doesn’t work)</a:t>
            </a:r>
            <a:endParaRPr sz="900"/>
          </a:p>
        </p:txBody>
      </p:sp>
      <p:sp>
        <p:nvSpPr>
          <p:cNvPr id="361" name="Google Shape;361;p19"/>
          <p:cNvSpPr txBox="1"/>
          <p:nvPr/>
        </p:nvSpPr>
        <p:spPr>
          <a:xfrm>
            <a:off x="8683000" y="1768075"/>
            <a:ext cx="2880000" cy="4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rPr>
              <a:t>RNA sequencing</a:t>
            </a:r>
            <a:endParaRPr sz="2800">
              <a:solidFill>
                <a:schemeClr val="dk1"/>
              </a:solidFill>
            </a:endParaRPr>
          </a:p>
        </p:txBody>
      </p:sp>
      <p:sp>
        <p:nvSpPr>
          <p:cNvPr id="362" name="Google Shape;362;p19"/>
          <p:cNvSpPr/>
          <p:nvPr/>
        </p:nvSpPr>
        <p:spPr>
          <a:xfrm>
            <a:off x="7385550" y="1768075"/>
            <a:ext cx="1026600" cy="741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3" name="Google Shape;363;p19"/>
          <p:cNvSpPr/>
          <p:nvPr/>
        </p:nvSpPr>
        <p:spPr>
          <a:xfrm rot="5400000">
            <a:off x="9548496" y="2462366"/>
            <a:ext cx="1026600" cy="741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64" name="Google Shape;364;p19"/>
          <p:cNvPicPr preferRelativeResize="0"/>
          <p:nvPr/>
        </p:nvPicPr>
        <p:blipFill rotWithShape="1">
          <a:blip r:embed="rId5">
            <a:alphaModFix/>
          </a:blip>
          <a:srcRect b="11739" l="0" r="0" t="0"/>
          <a:stretch/>
        </p:blipFill>
        <p:spPr>
          <a:xfrm>
            <a:off x="8450675" y="3427275"/>
            <a:ext cx="3222251" cy="2627099"/>
          </a:xfrm>
          <a:prstGeom prst="rect">
            <a:avLst/>
          </a:prstGeom>
          <a:noFill/>
          <a:ln>
            <a:noFill/>
          </a:ln>
        </p:spPr>
      </p:pic>
      <p:sp>
        <p:nvSpPr>
          <p:cNvPr id="365" name="Google Shape;365;p19"/>
          <p:cNvSpPr txBox="1"/>
          <p:nvPr/>
        </p:nvSpPr>
        <p:spPr>
          <a:xfrm>
            <a:off x="7129200" y="3607300"/>
            <a:ext cx="1539300" cy="4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500">
                <a:solidFill>
                  <a:srgbClr val="C00000"/>
                </a:solidFill>
              </a:rPr>
              <a:t>Gene 1</a:t>
            </a:r>
            <a:endParaRPr sz="2500">
              <a:solidFill>
                <a:srgbClr val="C00000"/>
              </a:solidFill>
            </a:endParaRPr>
          </a:p>
          <a:p>
            <a:pPr indent="0" lvl="0" marL="0" rtl="0" algn="l">
              <a:spcBef>
                <a:spcPts val="0"/>
              </a:spcBef>
              <a:spcAft>
                <a:spcPts val="0"/>
              </a:spcAft>
              <a:buNone/>
            </a:pPr>
            <a:r>
              <a:rPr lang="en-US" sz="1600">
                <a:solidFill>
                  <a:srgbClr val="C00000"/>
                </a:solidFill>
              </a:rPr>
              <a:t>transcript count 3</a:t>
            </a:r>
            <a:endParaRPr sz="1600">
              <a:solidFill>
                <a:srgbClr val="C00000"/>
              </a:solidFill>
            </a:endParaRPr>
          </a:p>
        </p:txBody>
      </p:sp>
      <p:sp>
        <p:nvSpPr>
          <p:cNvPr id="366" name="Google Shape;366;p19"/>
          <p:cNvSpPr txBox="1"/>
          <p:nvPr/>
        </p:nvSpPr>
        <p:spPr>
          <a:xfrm>
            <a:off x="7129200" y="5583975"/>
            <a:ext cx="1539300" cy="4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500">
                <a:solidFill>
                  <a:srgbClr val="00B050"/>
                </a:solidFill>
              </a:rPr>
              <a:t>Gene 3</a:t>
            </a:r>
            <a:endParaRPr sz="2500">
              <a:solidFill>
                <a:srgbClr val="00B050"/>
              </a:solidFill>
            </a:endParaRPr>
          </a:p>
          <a:p>
            <a:pPr indent="0" lvl="0" marL="0" rtl="0" algn="l">
              <a:spcBef>
                <a:spcPts val="0"/>
              </a:spcBef>
              <a:spcAft>
                <a:spcPts val="0"/>
              </a:spcAft>
              <a:buNone/>
            </a:pPr>
            <a:r>
              <a:rPr lang="en-US" sz="1500">
                <a:solidFill>
                  <a:srgbClr val="00B050"/>
                </a:solidFill>
              </a:rPr>
              <a:t>transcript count 2</a:t>
            </a:r>
            <a:endParaRPr sz="1500">
              <a:solidFill>
                <a:srgbClr val="00B050"/>
              </a:solidFill>
            </a:endParaRPr>
          </a:p>
        </p:txBody>
      </p:sp>
      <p:sp>
        <p:nvSpPr>
          <p:cNvPr id="367" name="Google Shape;367;p19"/>
          <p:cNvSpPr txBox="1"/>
          <p:nvPr/>
        </p:nvSpPr>
        <p:spPr>
          <a:xfrm>
            <a:off x="7129200" y="4652663"/>
            <a:ext cx="1539300" cy="4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500">
                <a:solidFill>
                  <a:srgbClr val="0000FF"/>
                </a:solidFill>
              </a:rPr>
              <a:t>Gene 2</a:t>
            </a:r>
            <a:endParaRPr sz="2500">
              <a:solidFill>
                <a:srgbClr val="0000FF"/>
              </a:solidFill>
            </a:endParaRPr>
          </a:p>
          <a:p>
            <a:pPr indent="0" lvl="0" marL="0" rtl="0" algn="l">
              <a:spcBef>
                <a:spcPts val="0"/>
              </a:spcBef>
              <a:spcAft>
                <a:spcPts val="0"/>
              </a:spcAft>
              <a:buClr>
                <a:schemeClr val="dk1"/>
              </a:buClr>
              <a:buSzPts val="1100"/>
              <a:buFont typeface="Arial"/>
              <a:buNone/>
            </a:pPr>
            <a:r>
              <a:rPr lang="en-US" sz="1600">
                <a:solidFill>
                  <a:srgbClr val="0F465E"/>
                </a:solidFill>
              </a:rPr>
              <a:t>transcript count 3</a:t>
            </a:r>
            <a:endParaRPr sz="2500">
              <a:solidFill>
                <a:srgbClr val="0F465E"/>
              </a:solidFill>
            </a:endParaRPr>
          </a:p>
        </p:txBody>
      </p:sp>
      <p:sp>
        <p:nvSpPr>
          <p:cNvPr id="368" name="Google Shape;368;p19"/>
          <p:cNvSpPr txBox="1"/>
          <p:nvPr/>
        </p:nvSpPr>
        <p:spPr>
          <a:xfrm rot="5400000">
            <a:off x="7737600" y="6366150"/>
            <a:ext cx="567600" cy="41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000">
                <a:solidFill>
                  <a:schemeClr val="dk1"/>
                </a:solidFill>
              </a:rPr>
              <a:t>…</a:t>
            </a:r>
            <a:endParaRPr sz="3000">
              <a:solidFill>
                <a:schemeClr val="dk1"/>
              </a:solidFill>
            </a:endParaRPr>
          </a:p>
        </p:txBody>
      </p:sp>
      <p:sp>
        <p:nvSpPr>
          <p:cNvPr id="369" name="Google Shape;369;p19"/>
          <p:cNvSpPr txBox="1"/>
          <p:nvPr/>
        </p:nvSpPr>
        <p:spPr>
          <a:xfrm>
            <a:off x="327925" y="5646075"/>
            <a:ext cx="5090100" cy="96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rPr>
              <a:t>(UMI = unique molecular identifier)</a:t>
            </a:r>
            <a:endParaRPr sz="2800">
              <a:solidFill>
                <a:schemeClr val="dk1"/>
              </a:solidFill>
            </a:endParaRPr>
          </a:p>
        </p:txBody>
      </p:sp>
      <p:sp>
        <p:nvSpPr>
          <p:cNvPr id="370" name="Google Shape;370;p19"/>
          <p:cNvSpPr txBox="1"/>
          <p:nvPr/>
        </p:nvSpPr>
        <p:spPr>
          <a:xfrm rot="5400000">
            <a:off x="9779950" y="6211975"/>
            <a:ext cx="563700" cy="41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000">
                <a:solidFill>
                  <a:schemeClr val="dk1"/>
                </a:solidFill>
              </a:rPr>
              <a:t>…</a:t>
            </a:r>
            <a:endParaRPr sz="30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5" name="Shape 375"/>
        <p:cNvGrpSpPr/>
        <p:nvPr/>
      </p:nvGrpSpPr>
      <p:grpSpPr>
        <a:xfrm>
          <a:off x="0" y="0"/>
          <a:ext cx="0" cy="0"/>
          <a:chOff x="0" y="0"/>
          <a:chExt cx="0" cy="0"/>
        </a:xfrm>
      </p:grpSpPr>
      <p:sp>
        <p:nvSpPr>
          <p:cNvPr id="376" name="Google Shape;376;g3ebf7da3f9f_0_2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377" name="Google Shape;377;g3ebf7da3f9f_0_2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378" name="Google Shape;378;g3ebf7da3f9f_0_24"/>
          <p:cNvPicPr preferRelativeResize="0"/>
          <p:nvPr/>
        </p:nvPicPr>
        <p:blipFill>
          <a:blip r:embed="rId3">
            <a:alphaModFix/>
          </a:blip>
          <a:stretch>
            <a:fillRect/>
          </a:stretch>
        </p:blipFill>
        <p:spPr>
          <a:xfrm>
            <a:off x="0" y="0"/>
            <a:ext cx="12192000" cy="6858000"/>
          </a:xfrm>
          <a:prstGeom prst="rect">
            <a:avLst/>
          </a:prstGeom>
          <a:noFill/>
          <a:ln>
            <a:noFill/>
          </a:ln>
        </p:spPr>
      </p:pic>
      <p:sp>
        <p:nvSpPr>
          <p:cNvPr id="379" name="Google Shape;379;g3ebf7da3f9f_0_24"/>
          <p:cNvSpPr/>
          <p:nvPr/>
        </p:nvSpPr>
        <p:spPr>
          <a:xfrm>
            <a:off x="5126700" y="1386725"/>
            <a:ext cx="7065300" cy="5471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80" name="Google Shape;380;g3ebf7da3f9f_0_24"/>
          <p:cNvPicPr preferRelativeResize="0"/>
          <p:nvPr/>
        </p:nvPicPr>
        <p:blipFill rotWithShape="1">
          <a:blip r:embed="rId4">
            <a:alphaModFix/>
          </a:blip>
          <a:srcRect b="36442" l="25313" r="7383" t="31468"/>
          <a:stretch/>
        </p:blipFill>
        <p:spPr>
          <a:xfrm flipH="1" rot="5400000">
            <a:off x="5589892" y="2840909"/>
            <a:ext cx="3242516" cy="148561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g3ebf7da3f9f_0_1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Multi-omics</a:t>
            </a:r>
            <a:endParaRPr/>
          </a:p>
        </p:txBody>
      </p:sp>
      <p:sp>
        <p:nvSpPr>
          <p:cNvPr id="387" name="Google Shape;387;g3ebf7da3f9f_0_17"/>
          <p:cNvSpPr txBox="1"/>
          <p:nvPr/>
        </p:nvSpPr>
        <p:spPr>
          <a:xfrm>
            <a:off x="1064550" y="1708900"/>
            <a:ext cx="8446500" cy="302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rPr>
              <a:t>TODO…</a:t>
            </a:r>
            <a:endParaRPr sz="28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pic>
        <p:nvPicPr>
          <p:cNvPr id="393" name="Google Shape;393;p20"/>
          <p:cNvPicPr preferRelativeResize="0"/>
          <p:nvPr/>
        </p:nvPicPr>
        <p:blipFill rotWithShape="1">
          <a:blip r:embed="rId3">
            <a:alphaModFix/>
          </a:blip>
          <a:srcRect b="0" l="0" r="0" t="0"/>
          <a:stretch/>
        </p:blipFill>
        <p:spPr>
          <a:xfrm>
            <a:off x="7849617" y="1758607"/>
            <a:ext cx="1922576" cy="3589524"/>
          </a:xfrm>
          <a:prstGeom prst="rect">
            <a:avLst/>
          </a:prstGeom>
          <a:noFill/>
          <a:ln>
            <a:noFill/>
          </a:ln>
        </p:spPr>
      </p:pic>
      <p:pic>
        <p:nvPicPr>
          <p:cNvPr id="394" name="Google Shape;394;p20"/>
          <p:cNvPicPr preferRelativeResize="0"/>
          <p:nvPr/>
        </p:nvPicPr>
        <p:blipFill rotWithShape="1">
          <a:blip r:embed="rId4">
            <a:alphaModFix/>
          </a:blip>
          <a:srcRect b="0" l="0" r="0" t="0"/>
          <a:stretch/>
        </p:blipFill>
        <p:spPr>
          <a:xfrm>
            <a:off x="10145378" y="1758607"/>
            <a:ext cx="516513" cy="3575979"/>
          </a:xfrm>
          <a:prstGeom prst="rect">
            <a:avLst/>
          </a:prstGeom>
          <a:noFill/>
          <a:ln>
            <a:noFill/>
          </a:ln>
        </p:spPr>
      </p:pic>
      <p:sp>
        <p:nvSpPr>
          <p:cNvPr id="395" name="Google Shape;395;p20"/>
          <p:cNvSpPr txBox="1"/>
          <p:nvPr/>
        </p:nvSpPr>
        <p:spPr>
          <a:xfrm rot="-5400000">
            <a:off x="6465675" y="3003075"/>
            <a:ext cx="23592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Spots (samples)</a:t>
            </a:r>
            <a:endParaRPr/>
          </a:p>
        </p:txBody>
      </p:sp>
      <p:sp>
        <p:nvSpPr>
          <p:cNvPr id="396" name="Google Shape;396;p20"/>
          <p:cNvSpPr txBox="1"/>
          <p:nvPr/>
        </p:nvSpPr>
        <p:spPr>
          <a:xfrm>
            <a:off x="9786422" y="948668"/>
            <a:ext cx="1234424" cy="82065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200">
                <a:solidFill>
                  <a:schemeClr val="dk1"/>
                </a:solidFill>
                <a:latin typeface="Arial"/>
                <a:ea typeface="Arial"/>
                <a:cs typeface="Arial"/>
                <a:sym typeface="Arial"/>
              </a:rPr>
              <a:t>Spatial </a:t>
            </a:r>
            <a:br>
              <a:rPr lang="en-US" sz="2200">
                <a:solidFill>
                  <a:schemeClr val="dk1"/>
                </a:solidFill>
                <a:latin typeface="Arial"/>
                <a:ea typeface="Arial"/>
                <a:cs typeface="Arial"/>
                <a:sym typeface="Arial"/>
              </a:rPr>
            </a:br>
            <a:r>
              <a:rPr lang="en-US" sz="2200">
                <a:solidFill>
                  <a:schemeClr val="dk1"/>
                </a:solidFill>
                <a:latin typeface="Arial"/>
                <a:ea typeface="Arial"/>
                <a:cs typeface="Arial"/>
                <a:sym typeface="Arial"/>
              </a:rPr>
              <a:t>(2D)</a:t>
            </a:r>
            <a:endParaRPr/>
          </a:p>
        </p:txBody>
      </p:sp>
      <p:pic>
        <p:nvPicPr>
          <p:cNvPr id="397" name="Google Shape;397;p20"/>
          <p:cNvPicPr preferRelativeResize="0"/>
          <p:nvPr/>
        </p:nvPicPr>
        <p:blipFill rotWithShape="1">
          <a:blip r:embed="rId5">
            <a:alphaModFix/>
          </a:blip>
          <a:srcRect b="36444" l="25315" r="7379" t="31466"/>
          <a:stretch/>
        </p:blipFill>
        <p:spPr>
          <a:xfrm flipH="1" rot="5400000">
            <a:off x="6836682" y="2584776"/>
            <a:ext cx="3939955" cy="1922575"/>
          </a:xfrm>
          <a:prstGeom prst="rect">
            <a:avLst/>
          </a:prstGeom>
          <a:noFill/>
          <a:ln>
            <a:noFill/>
          </a:ln>
        </p:spPr>
      </p:pic>
      <p:pic>
        <p:nvPicPr>
          <p:cNvPr id="398" name="Google Shape;398;p20"/>
          <p:cNvPicPr preferRelativeResize="0"/>
          <p:nvPr/>
        </p:nvPicPr>
        <p:blipFill rotWithShape="1">
          <a:blip r:embed="rId6">
            <a:alphaModFix/>
          </a:blip>
          <a:srcRect b="0" l="78076" r="0" t="0"/>
          <a:stretch/>
        </p:blipFill>
        <p:spPr>
          <a:xfrm>
            <a:off x="-1019781" y="-4827432"/>
            <a:ext cx="3227646" cy="4573934"/>
          </a:xfrm>
          <a:prstGeom prst="rect">
            <a:avLst/>
          </a:prstGeom>
          <a:noFill/>
          <a:ln>
            <a:noFill/>
          </a:ln>
        </p:spPr>
      </p:pic>
      <p:sp>
        <p:nvSpPr>
          <p:cNvPr id="399" name="Google Shape;399;p20"/>
          <p:cNvSpPr txBox="1"/>
          <p:nvPr>
            <p:ph type="title"/>
          </p:nvPr>
        </p:nvSpPr>
        <p:spPr>
          <a:xfrm>
            <a:off x="105924" y="-29875"/>
            <a:ext cx="120813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500"/>
              <a:buFont typeface="Play"/>
              <a:buNone/>
            </a:pPr>
            <a:r>
              <a:rPr lang="en-US" sz="4500"/>
              <a:t>Spatial transcriptomics (spatial sequencing)</a:t>
            </a:r>
            <a:endParaRPr sz="4500" u="sng"/>
          </a:p>
        </p:txBody>
      </p:sp>
      <p:sp>
        <p:nvSpPr>
          <p:cNvPr id="400" name="Google Shape;400;p20"/>
          <p:cNvSpPr/>
          <p:nvPr/>
        </p:nvSpPr>
        <p:spPr>
          <a:xfrm>
            <a:off x="3942407" y="2870209"/>
            <a:ext cx="861937" cy="1266560"/>
          </a:xfrm>
          <a:prstGeom prst="rightArrow">
            <a:avLst>
              <a:gd fmla="val 50000" name="adj1"/>
              <a:gd fmla="val 50000" name="adj2"/>
            </a:avLst>
          </a:prstGeom>
          <a:solidFill>
            <a:schemeClr val="accent1"/>
          </a:solidFill>
          <a:ln cap="flat" cmpd="sng" w="19050">
            <a:solidFill>
              <a:srgbClr val="0F46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rial"/>
              <a:ea typeface="Arial"/>
              <a:cs typeface="Arial"/>
              <a:sym typeface="Arial"/>
            </a:endParaRPr>
          </a:p>
        </p:txBody>
      </p:sp>
      <p:sp>
        <p:nvSpPr>
          <p:cNvPr id="401" name="Google Shape;401;p20"/>
          <p:cNvSpPr txBox="1"/>
          <p:nvPr/>
        </p:nvSpPr>
        <p:spPr>
          <a:xfrm>
            <a:off x="8708967" y="-1032889"/>
            <a:ext cx="347830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Gene expression matrix + spatial coordinates</a:t>
            </a:r>
            <a:endParaRPr/>
          </a:p>
        </p:txBody>
      </p:sp>
      <p:sp>
        <p:nvSpPr>
          <p:cNvPr id="402" name="Google Shape;402;p20"/>
          <p:cNvSpPr txBox="1"/>
          <p:nvPr/>
        </p:nvSpPr>
        <p:spPr>
          <a:xfrm>
            <a:off x="7221441" y="5628538"/>
            <a:ext cx="4965834" cy="10618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100">
                <a:solidFill>
                  <a:schemeClr val="dk1"/>
                </a:solidFill>
                <a:latin typeface="Arial"/>
                <a:ea typeface="Arial"/>
                <a:cs typeface="Arial"/>
                <a:sym typeface="Arial"/>
              </a:rPr>
              <a:t>High-dimensional data:</a:t>
            </a:r>
            <a:r>
              <a:rPr lang="en-US" sz="2100">
                <a:solidFill>
                  <a:schemeClr val="dk1"/>
                </a:solidFill>
                <a:latin typeface="Arial"/>
                <a:ea typeface="Arial"/>
                <a:cs typeface="Arial"/>
                <a:sym typeface="Arial"/>
              </a:rPr>
              <a:t> </a:t>
            </a:r>
            <a:endParaRPr/>
          </a:p>
          <a:p>
            <a:pPr indent="0" lvl="0" marL="0" marR="0" rtl="0" algn="l">
              <a:spcBef>
                <a:spcPts val="0"/>
              </a:spcBef>
              <a:spcAft>
                <a:spcPts val="0"/>
              </a:spcAft>
              <a:buNone/>
            </a:pPr>
            <a:r>
              <a:rPr lang="en-US" sz="2100">
                <a:solidFill>
                  <a:schemeClr val="dk1"/>
                </a:solidFill>
                <a:latin typeface="Arial"/>
                <a:ea typeface="Arial"/>
                <a:cs typeface="Arial"/>
                <a:sym typeface="Arial"/>
              </a:rPr>
              <a:t>1,000-20,000 genes (</a:t>
            </a:r>
            <a:r>
              <a:rPr i="1" lang="en-US" sz="2100">
                <a:solidFill>
                  <a:schemeClr val="dk1"/>
                </a:solidFill>
                <a:latin typeface="Arial"/>
                <a:ea typeface="Arial"/>
                <a:cs typeface="Arial"/>
                <a:sym typeface="Arial"/>
              </a:rPr>
              <a:t>“features”</a:t>
            </a:r>
            <a:r>
              <a:rPr lang="en-US" sz="2100">
                <a:solidFill>
                  <a:schemeClr val="dk1"/>
                </a:solidFill>
                <a:latin typeface="Arial"/>
                <a:ea typeface="Arial"/>
                <a:cs typeface="Arial"/>
                <a:sym typeface="Arial"/>
              </a:rPr>
              <a:t>)</a:t>
            </a:r>
            <a:endParaRPr/>
          </a:p>
          <a:p>
            <a:pPr indent="0" lvl="0" marL="0" marR="0" rtl="0" algn="l">
              <a:spcBef>
                <a:spcPts val="0"/>
              </a:spcBef>
              <a:spcAft>
                <a:spcPts val="0"/>
              </a:spcAft>
              <a:buNone/>
            </a:pPr>
            <a:r>
              <a:rPr lang="en-US" sz="2100">
                <a:solidFill>
                  <a:schemeClr val="dk1"/>
                </a:solidFill>
                <a:latin typeface="Arial"/>
                <a:ea typeface="Arial"/>
                <a:cs typeface="Arial"/>
                <a:sym typeface="Arial"/>
              </a:rPr>
              <a:t>1,000s - 1,000,000s spots (</a:t>
            </a:r>
            <a:r>
              <a:rPr i="1" lang="en-US" sz="2100">
                <a:solidFill>
                  <a:schemeClr val="dk1"/>
                </a:solidFill>
                <a:latin typeface="Arial"/>
                <a:ea typeface="Arial"/>
                <a:cs typeface="Arial"/>
                <a:sym typeface="Arial"/>
              </a:rPr>
              <a:t>“samples”</a:t>
            </a:r>
            <a:r>
              <a:rPr lang="en-US" sz="2100">
                <a:solidFill>
                  <a:schemeClr val="dk1"/>
                </a:solidFill>
                <a:latin typeface="Arial"/>
                <a:ea typeface="Arial"/>
                <a:cs typeface="Arial"/>
                <a:sym typeface="Arial"/>
              </a:rPr>
              <a:t>)</a:t>
            </a:r>
            <a:endParaRPr/>
          </a:p>
        </p:txBody>
      </p:sp>
      <p:pic>
        <p:nvPicPr>
          <p:cNvPr descr="A picture containing food&#10;&#10;Description automatically generated" id="403" name="Google Shape;403;p20"/>
          <p:cNvPicPr preferRelativeResize="0"/>
          <p:nvPr/>
        </p:nvPicPr>
        <p:blipFill rotWithShape="1">
          <a:blip r:embed="rId7">
            <a:alphaModFix/>
          </a:blip>
          <a:srcRect b="29795" l="43670" r="31932" t="18576"/>
          <a:stretch/>
        </p:blipFill>
        <p:spPr>
          <a:xfrm>
            <a:off x="354273" y="2299998"/>
            <a:ext cx="2277875" cy="2506742"/>
          </a:xfrm>
          <a:prstGeom prst="rect">
            <a:avLst/>
          </a:prstGeom>
          <a:noFill/>
          <a:ln>
            <a:noFill/>
          </a:ln>
        </p:spPr>
      </p:pic>
      <p:grpSp>
        <p:nvGrpSpPr>
          <p:cNvPr id="404" name="Google Shape;404;p20"/>
          <p:cNvGrpSpPr/>
          <p:nvPr/>
        </p:nvGrpSpPr>
        <p:grpSpPr>
          <a:xfrm>
            <a:off x="438058" y="2635430"/>
            <a:ext cx="2097541" cy="1930439"/>
            <a:chOff x="3522322" y="2404372"/>
            <a:chExt cx="1568675" cy="1410430"/>
          </a:xfrm>
        </p:grpSpPr>
        <p:sp>
          <p:nvSpPr>
            <p:cNvPr id="405" name="Google Shape;405;p20"/>
            <p:cNvSpPr/>
            <p:nvPr/>
          </p:nvSpPr>
          <p:spPr>
            <a:xfrm>
              <a:off x="3795388" y="2404372"/>
              <a:ext cx="182880" cy="182880"/>
            </a:xfrm>
            <a:prstGeom prst="ellipse">
              <a:avLst/>
            </a:prstGeom>
            <a:solidFill>
              <a:srgbClr val="D8F2CF">
                <a:alpha val="74117"/>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06" name="Google Shape;406;p20"/>
            <p:cNvSpPr/>
            <p:nvPr/>
          </p:nvSpPr>
          <p:spPr>
            <a:xfrm>
              <a:off x="4073048" y="2404372"/>
              <a:ext cx="182880" cy="182880"/>
            </a:xfrm>
            <a:prstGeom prst="ellipse">
              <a:avLst/>
            </a:prstGeom>
            <a:solidFill>
              <a:srgbClr val="D8F2CF">
                <a:alpha val="74117"/>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07" name="Google Shape;407;p20"/>
            <p:cNvSpPr/>
            <p:nvPr/>
          </p:nvSpPr>
          <p:spPr>
            <a:xfrm>
              <a:off x="4352797" y="2404372"/>
              <a:ext cx="182880" cy="182880"/>
            </a:xfrm>
            <a:prstGeom prst="ellipse">
              <a:avLst/>
            </a:prstGeom>
            <a:solidFill>
              <a:srgbClr val="D8F2CF">
                <a:alpha val="74117"/>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08" name="Google Shape;408;p20"/>
            <p:cNvSpPr/>
            <p:nvPr/>
          </p:nvSpPr>
          <p:spPr>
            <a:xfrm>
              <a:off x="4630457" y="2404372"/>
              <a:ext cx="182880" cy="182880"/>
            </a:xfrm>
            <a:prstGeom prst="ellipse">
              <a:avLst/>
            </a:prstGeom>
            <a:solidFill>
              <a:srgbClr val="D8F2CF">
                <a:alpha val="74117"/>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09" name="Google Shape;409;p20"/>
            <p:cNvSpPr/>
            <p:nvPr/>
          </p:nvSpPr>
          <p:spPr>
            <a:xfrm>
              <a:off x="3795388" y="2649882"/>
              <a:ext cx="182880" cy="182880"/>
            </a:xfrm>
            <a:prstGeom prst="ellipse">
              <a:avLst/>
            </a:prstGeom>
            <a:solidFill>
              <a:srgbClr val="D8F2CF">
                <a:alpha val="74117"/>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10" name="Google Shape;410;p20"/>
            <p:cNvSpPr/>
            <p:nvPr/>
          </p:nvSpPr>
          <p:spPr>
            <a:xfrm>
              <a:off x="4073048" y="2649882"/>
              <a:ext cx="182880" cy="182880"/>
            </a:xfrm>
            <a:prstGeom prst="ellipse">
              <a:avLst/>
            </a:prstGeom>
            <a:solidFill>
              <a:srgbClr val="D8F2CF">
                <a:alpha val="74117"/>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11" name="Google Shape;411;p20"/>
            <p:cNvSpPr/>
            <p:nvPr/>
          </p:nvSpPr>
          <p:spPr>
            <a:xfrm>
              <a:off x="4352797" y="2649882"/>
              <a:ext cx="182880" cy="182880"/>
            </a:xfrm>
            <a:prstGeom prst="ellipse">
              <a:avLst/>
            </a:prstGeom>
            <a:solidFill>
              <a:srgbClr val="D8F2CF">
                <a:alpha val="74117"/>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12" name="Google Shape;412;p20"/>
            <p:cNvSpPr/>
            <p:nvPr/>
          </p:nvSpPr>
          <p:spPr>
            <a:xfrm>
              <a:off x="4630457" y="2649882"/>
              <a:ext cx="182880" cy="182880"/>
            </a:xfrm>
            <a:prstGeom prst="ellipse">
              <a:avLst/>
            </a:prstGeom>
            <a:solidFill>
              <a:srgbClr val="D8F2CF">
                <a:alpha val="74117"/>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13" name="Google Shape;413;p20"/>
            <p:cNvSpPr/>
            <p:nvPr/>
          </p:nvSpPr>
          <p:spPr>
            <a:xfrm>
              <a:off x="3795388" y="2895392"/>
              <a:ext cx="182880" cy="182880"/>
            </a:xfrm>
            <a:prstGeom prst="ellipse">
              <a:avLst/>
            </a:prstGeom>
            <a:solidFill>
              <a:srgbClr val="D8F2CF">
                <a:alpha val="74117"/>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14" name="Google Shape;414;p20"/>
            <p:cNvSpPr/>
            <p:nvPr/>
          </p:nvSpPr>
          <p:spPr>
            <a:xfrm>
              <a:off x="4073048" y="2895392"/>
              <a:ext cx="182880" cy="182880"/>
            </a:xfrm>
            <a:prstGeom prst="ellipse">
              <a:avLst/>
            </a:prstGeom>
            <a:solidFill>
              <a:srgbClr val="D8F2CF">
                <a:alpha val="74117"/>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15" name="Google Shape;415;p20"/>
            <p:cNvSpPr/>
            <p:nvPr/>
          </p:nvSpPr>
          <p:spPr>
            <a:xfrm>
              <a:off x="4352797" y="2895392"/>
              <a:ext cx="182880" cy="182880"/>
            </a:xfrm>
            <a:prstGeom prst="ellipse">
              <a:avLst/>
            </a:prstGeom>
            <a:solidFill>
              <a:srgbClr val="D8F2CF">
                <a:alpha val="74117"/>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16" name="Google Shape;416;p20"/>
            <p:cNvSpPr/>
            <p:nvPr/>
          </p:nvSpPr>
          <p:spPr>
            <a:xfrm>
              <a:off x="4630457" y="2895392"/>
              <a:ext cx="182880" cy="182880"/>
            </a:xfrm>
            <a:prstGeom prst="ellipse">
              <a:avLst/>
            </a:prstGeom>
            <a:solidFill>
              <a:srgbClr val="D8F2CF">
                <a:alpha val="74117"/>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17" name="Google Shape;417;p20"/>
            <p:cNvSpPr/>
            <p:nvPr/>
          </p:nvSpPr>
          <p:spPr>
            <a:xfrm>
              <a:off x="3795388" y="3140902"/>
              <a:ext cx="182880" cy="182880"/>
            </a:xfrm>
            <a:prstGeom prst="ellipse">
              <a:avLst/>
            </a:prstGeom>
            <a:solidFill>
              <a:srgbClr val="D8F2CF">
                <a:alpha val="74117"/>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18" name="Google Shape;418;p20"/>
            <p:cNvSpPr/>
            <p:nvPr/>
          </p:nvSpPr>
          <p:spPr>
            <a:xfrm>
              <a:off x="4073048" y="3140902"/>
              <a:ext cx="182880" cy="182880"/>
            </a:xfrm>
            <a:prstGeom prst="ellipse">
              <a:avLst/>
            </a:prstGeom>
            <a:solidFill>
              <a:srgbClr val="D8F2CF">
                <a:alpha val="74117"/>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19" name="Google Shape;419;p20"/>
            <p:cNvSpPr/>
            <p:nvPr/>
          </p:nvSpPr>
          <p:spPr>
            <a:xfrm>
              <a:off x="4352797" y="3140902"/>
              <a:ext cx="182880" cy="182880"/>
            </a:xfrm>
            <a:prstGeom prst="ellipse">
              <a:avLst/>
            </a:prstGeom>
            <a:solidFill>
              <a:srgbClr val="D8F2CF">
                <a:alpha val="74117"/>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0" name="Google Shape;420;p20"/>
            <p:cNvSpPr/>
            <p:nvPr/>
          </p:nvSpPr>
          <p:spPr>
            <a:xfrm>
              <a:off x="4630457" y="3140902"/>
              <a:ext cx="182880" cy="182880"/>
            </a:xfrm>
            <a:prstGeom prst="ellipse">
              <a:avLst/>
            </a:prstGeom>
            <a:solidFill>
              <a:srgbClr val="D8F2CF">
                <a:alpha val="74117"/>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1" name="Google Shape;421;p20"/>
            <p:cNvSpPr/>
            <p:nvPr/>
          </p:nvSpPr>
          <p:spPr>
            <a:xfrm>
              <a:off x="3795388" y="3386412"/>
              <a:ext cx="182880" cy="182880"/>
            </a:xfrm>
            <a:prstGeom prst="ellipse">
              <a:avLst/>
            </a:prstGeom>
            <a:solidFill>
              <a:srgbClr val="D8F2CF">
                <a:alpha val="74117"/>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2" name="Google Shape;422;p20"/>
            <p:cNvSpPr/>
            <p:nvPr/>
          </p:nvSpPr>
          <p:spPr>
            <a:xfrm>
              <a:off x="4073048" y="3386412"/>
              <a:ext cx="182880" cy="182880"/>
            </a:xfrm>
            <a:prstGeom prst="ellipse">
              <a:avLst/>
            </a:prstGeom>
            <a:solidFill>
              <a:srgbClr val="D8F2CF">
                <a:alpha val="74117"/>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3" name="Google Shape;423;p20"/>
            <p:cNvSpPr/>
            <p:nvPr/>
          </p:nvSpPr>
          <p:spPr>
            <a:xfrm>
              <a:off x="4352797" y="3386412"/>
              <a:ext cx="182880" cy="182880"/>
            </a:xfrm>
            <a:prstGeom prst="ellipse">
              <a:avLst/>
            </a:prstGeom>
            <a:solidFill>
              <a:srgbClr val="D8F2CF">
                <a:alpha val="74117"/>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4" name="Google Shape;424;p20"/>
            <p:cNvSpPr/>
            <p:nvPr/>
          </p:nvSpPr>
          <p:spPr>
            <a:xfrm>
              <a:off x="4630457" y="3386412"/>
              <a:ext cx="182880" cy="182880"/>
            </a:xfrm>
            <a:prstGeom prst="ellipse">
              <a:avLst/>
            </a:prstGeom>
            <a:solidFill>
              <a:srgbClr val="D8F2CF">
                <a:alpha val="74117"/>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5" name="Google Shape;425;p20"/>
            <p:cNvSpPr/>
            <p:nvPr/>
          </p:nvSpPr>
          <p:spPr>
            <a:xfrm>
              <a:off x="4908117" y="2404372"/>
              <a:ext cx="182880" cy="182880"/>
            </a:xfrm>
            <a:prstGeom prst="ellipse">
              <a:avLst/>
            </a:prstGeom>
            <a:solidFill>
              <a:srgbClr val="D8F2CF">
                <a:alpha val="74117"/>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6" name="Google Shape;426;p20"/>
            <p:cNvSpPr/>
            <p:nvPr/>
          </p:nvSpPr>
          <p:spPr>
            <a:xfrm>
              <a:off x="4908117" y="2649882"/>
              <a:ext cx="182880" cy="182880"/>
            </a:xfrm>
            <a:prstGeom prst="ellipse">
              <a:avLst/>
            </a:prstGeom>
            <a:solidFill>
              <a:srgbClr val="D8F2CF">
                <a:alpha val="74117"/>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7" name="Google Shape;427;p20"/>
            <p:cNvSpPr/>
            <p:nvPr/>
          </p:nvSpPr>
          <p:spPr>
            <a:xfrm>
              <a:off x="4908117" y="2895392"/>
              <a:ext cx="182880" cy="182880"/>
            </a:xfrm>
            <a:prstGeom prst="ellipse">
              <a:avLst/>
            </a:prstGeom>
            <a:solidFill>
              <a:srgbClr val="D8F2CF">
                <a:alpha val="74117"/>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8" name="Google Shape;428;p20"/>
            <p:cNvSpPr/>
            <p:nvPr/>
          </p:nvSpPr>
          <p:spPr>
            <a:xfrm>
              <a:off x="4908117" y="3140902"/>
              <a:ext cx="182880" cy="182880"/>
            </a:xfrm>
            <a:prstGeom prst="ellipse">
              <a:avLst/>
            </a:prstGeom>
            <a:solidFill>
              <a:srgbClr val="D8F2CF">
                <a:alpha val="74117"/>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9" name="Google Shape;429;p20"/>
            <p:cNvSpPr/>
            <p:nvPr/>
          </p:nvSpPr>
          <p:spPr>
            <a:xfrm>
              <a:off x="4908117" y="3386412"/>
              <a:ext cx="182880" cy="182880"/>
            </a:xfrm>
            <a:prstGeom prst="ellipse">
              <a:avLst/>
            </a:prstGeom>
            <a:solidFill>
              <a:srgbClr val="D8F2CF">
                <a:alpha val="74117"/>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30" name="Google Shape;430;p20"/>
            <p:cNvSpPr/>
            <p:nvPr/>
          </p:nvSpPr>
          <p:spPr>
            <a:xfrm>
              <a:off x="4073048" y="3631922"/>
              <a:ext cx="182880" cy="182880"/>
            </a:xfrm>
            <a:prstGeom prst="ellipse">
              <a:avLst/>
            </a:prstGeom>
            <a:solidFill>
              <a:srgbClr val="D8F2CF">
                <a:alpha val="74117"/>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31" name="Google Shape;431;p20"/>
            <p:cNvSpPr/>
            <p:nvPr/>
          </p:nvSpPr>
          <p:spPr>
            <a:xfrm>
              <a:off x="4352797" y="3631922"/>
              <a:ext cx="182880" cy="182880"/>
            </a:xfrm>
            <a:prstGeom prst="ellipse">
              <a:avLst/>
            </a:prstGeom>
            <a:solidFill>
              <a:srgbClr val="D8F2CF">
                <a:alpha val="74117"/>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32" name="Google Shape;432;p20"/>
            <p:cNvSpPr/>
            <p:nvPr/>
          </p:nvSpPr>
          <p:spPr>
            <a:xfrm>
              <a:off x="4630457" y="3631922"/>
              <a:ext cx="182880" cy="182880"/>
            </a:xfrm>
            <a:prstGeom prst="ellipse">
              <a:avLst/>
            </a:prstGeom>
            <a:solidFill>
              <a:srgbClr val="D8F2CF">
                <a:alpha val="74117"/>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33" name="Google Shape;433;p20"/>
            <p:cNvSpPr/>
            <p:nvPr/>
          </p:nvSpPr>
          <p:spPr>
            <a:xfrm>
              <a:off x="4908117" y="3631922"/>
              <a:ext cx="182880" cy="182880"/>
            </a:xfrm>
            <a:prstGeom prst="ellipse">
              <a:avLst/>
            </a:prstGeom>
            <a:solidFill>
              <a:srgbClr val="D8F2CF">
                <a:alpha val="74117"/>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34" name="Google Shape;434;p20"/>
            <p:cNvSpPr/>
            <p:nvPr/>
          </p:nvSpPr>
          <p:spPr>
            <a:xfrm>
              <a:off x="3522322" y="3146121"/>
              <a:ext cx="182880" cy="182880"/>
            </a:xfrm>
            <a:prstGeom prst="ellipse">
              <a:avLst/>
            </a:prstGeom>
            <a:solidFill>
              <a:srgbClr val="D8F2CF">
                <a:alpha val="74117"/>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cxnSp>
        <p:nvCxnSpPr>
          <p:cNvPr id="435" name="Google Shape;435;p20"/>
          <p:cNvCxnSpPr>
            <a:stCxn id="425" idx="0"/>
          </p:cNvCxnSpPr>
          <p:nvPr/>
        </p:nvCxnSpPr>
        <p:spPr>
          <a:xfrm>
            <a:off x="2413331" y="2635430"/>
            <a:ext cx="933600" cy="124200"/>
          </a:xfrm>
          <a:prstGeom prst="straightConnector1">
            <a:avLst/>
          </a:prstGeom>
          <a:noFill/>
          <a:ln cap="flat" cmpd="sng" w="28575">
            <a:solidFill>
              <a:schemeClr val="dk1"/>
            </a:solidFill>
            <a:prstDash val="dash"/>
            <a:miter lim="8000"/>
            <a:headEnd len="sm" w="sm" type="none"/>
            <a:tailEnd len="sm" w="sm" type="none"/>
          </a:ln>
        </p:spPr>
      </p:cxnSp>
      <p:cxnSp>
        <p:nvCxnSpPr>
          <p:cNvPr id="436" name="Google Shape;436;p20"/>
          <p:cNvCxnSpPr/>
          <p:nvPr/>
        </p:nvCxnSpPr>
        <p:spPr>
          <a:xfrm>
            <a:off x="2413331" y="2948091"/>
            <a:ext cx="837485" cy="1192941"/>
          </a:xfrm>
          <a:prstGeom prst="straightConnector1">
            <a:avLst/>
          </a:prstGeom>
          <a:noFill/>
          <a:ln cap="flat" cmpd="sng" w="28575">
            <a:solidFill>
              <a:schemeClr val="dk1"/>
            </a:solidFill>
            <a:prstDash val="dash"/>
            <a:miter lim="8000"/>
            <a:headEnd len="sm" w="sm" type="none"/>
            <a:tailEnd len="sm" w="sm" type="none"/>
          </a:ln>
        </p:spPr>
      </p:cxnSp>
      <p:grpSp>
        <p:nvGrpSpPr>
          <p:cNvPr id="437" name="Google Shape;437;p20"/>
          <p:cNvGrpSpPr/>
          <p:nvPr/>
        </p:nvGrpSpPr>
        <p:grpSpPr>
          <a:xfrm>
            <a:off x="3122331" y="2735794"/>
            <a:ext cx="482240" cy="2035772"/>
            <a:chOff x="3847583" y="7753473"/>
            <a:chExt cx="421176" cy="1815826"/>
          </a:xfrm>
        </p:grpSpPr>
        <p:sp>
          <p:nvSpPr>
            <p:cNvPr id="438" name="Google Shape;438;p20"/>
            <p:cNvSpPr/>
            <p:nvPr/>
          </p:nvSpPr>
          <p:spPr>
            <a:xfrm>
              <a:off x="3981601" y="7753473"/>
              <a:ext cx="153141" cy="214547"/>
            </a:xfrm>
            <a:prstGeom prst="rect">
              <a:avLst/>
            </a:prstGeom>
            <a:solidFill>
              <a:srgbClr val="0A304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
                <a:solidFill>
                  <a:schemeClr val="lt1"/>
                </a:solidFill>
                <a:latin typeface="Arial"/>
                <a:ea typeface="Arial"/>
                <a:cs typeface="Arial"/>
                <a:sym typeface="Arial"/>
              </a:endParaRPr>
            </a:p>
          </p:txBody>
        </p:sp>
        <p:sp>
          <p:nvSpPr>
            <p:cNvPr id="439" name="Google Shape;439;p20"/>
            <p:cNvSpPr/>
            <p:nvPr/>
          </p:nvSpPr>
          <p:spPr>
            <a:xfrm>
              <a:off x="3983558" y="7968021"/>
              <a:ext cx="151184" cy="214547"/>
            </a:xfrm>
            <a:prstGeom prst="rect">
              <a:avLst/>
            </a:prstGeom>
            <a:no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
                <a:solidFill>
                  <a:schemeClr val="lt1"/>
                </a:solidFill>
                <a:latin typeface="Arial"/>
                <a:ea typeface="Arial"/>
                <a:cs typeface="Arial"/>
                <a:sym typeface="Arial"/>
              </a:endParaRPr>
            </a:p>
          </p:txBody>
        </p:sp>
        <p:sp>
          <p:nvSpPr>
            <p:cNvPr id="440" name="Google Shape;440;p20"/>
            <p:cNvSpPr/>
            <p:nvPr/>
          </p:nvSpPr>
          <p:spPr>
            <a:xfrm>
              <a:off x="3983228" y="8182568"/>
              <a:ext cx="151184" cy="214547"/>
            </a:xfrm>
            <a:prstGeom prst="rect">
              <a:avLst/>
            </a:prstGeom>
            <a:no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
                <a:solidFill>
                  <a:schemeClr val="lt1"/>
                </a:solidFill>
                <a:latin typeface="Arial"/>
                <a:ea typeface="Arial"/>
                <a:cs typeface="Arial"/>
                <a:sym typeface="Arial"/>
              </a:endParaRPr>
            </a:p>
          </p:txBody>
        </p:sp>
        <p:sp>
          <p:nvSpPr>
            <p:cNvPr id="441" name="Google Shape;441;p20"/>
            <p:cNvSpPr/>
            <p:nvPr/>
          </p:nvSpPr>
          <p:spPr>
            <a:xfrm>
              <a:off x="3981601" y="8397114"/>
              <a:ext cx="153141" cy="214547"/>
            </a:xfrm>
            <a:prstGeom prst="rect">
              <a:avLst/>
            </a:prstGeom>
            <a:solidFill>
              <a:srgbClr val="C0E4F5"/>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
                <a:solidFill>
                  <a:schemeClr val="lt1"/>
                </a:solidFill>
                <a:latin typeface="Arial"/>
                <a:ea typeface="Arial"/>
                <a:cs typeface="Arial"/>
                <a:sym typeface="Arial"/>
              </a:endParaRPr>
            </a:p>
          </p:txBody>
        </p:sp>
        <p:sp>
          <p:nvSpPr>
            <p:cNvPr id="442" name="Google Shape;442;p20"/>
            <p:cNvSpPr/>
            <p:nvPr/>
          </p:nvSpPr>
          <p:spPr>
            <a:xfrm>
              <a:off x="3982306" y="8611661"/>
              <a:ext cx="153141" cy="214547"/>
            </a:xfrm>
            <a:prstGeom prst="rect">
              <a:avLst/>
            </a:prstGeom>
            <a:solidFill>
              <a:srgbClr val="0A304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
                <a:solidFill>
                  <a:schemeClr val="lt1"/>
                </a:solidFill>
                <a:latin typeface="Arial"/>
                <a:ea typeface="Arial"/>
                <a:cs typeface="Arial"/>
                <a:sym typeface="Arial"/>
              </a:endParaRPr>
            </a:p>
          </p:txBody>
        </p:sp>
        <p:sp>
          <p:nvSpPr>
            <p:cNvPr id="443" name="Google Shape;443;p20"/>
            <p:cNvSpPr/>
            <p:nvPr/>
          </p:nvSpPr>
          <p:spPr>
            <a:xfrm>
              <a:off x="3981601" y="8826209"/>
              <a:ext cx="153141" cy="214547"/>
            </a:xfrm>
            <a:prstGeom prst="rect">
              <a:avLst/>
            </a:prstGeom>
            <a:no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
                <a:solidFill>
                  <a:schemeClr val="lt1"/>
                </a:solidFill>
                <a:latin typeface="Arial"/>
                <a:ea typeface="Arial"/>
                <a:cs typeface="Arial"/>
                <a:sym typeface="Arial"/>
              </a:endParaRPr>
            </a:p>
          </p:txBody>
        </p:sp>
        <p:sp>
          <p:nvSpPr>
            <p:cNvPr id="444" name="Google Shape;444;p20"/>
            <p:cNvSpPr txBox="1"/>
            <p:nvPr/>
          </p:nvSpPr>
          <p:spPr>
            <a:xfrm rot="5400000">
              <a:off x="3793898" y="9094438"/>
              <a:ext cx="528545" cy="42117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33">
                  <a:solidFill>
                    <a:schemeClr val="dk1"/>
                  </a:solidFill>
                  <a:latin typeface="Arial"/>
                  <a:ea typeface="Arial"/>
                  <a:cs typeface="Arial"/>
                  <a:sym typeface="Arial"/>
                </a:rPr>
                <a:t>…</a:t>
              </a:r>
              <a:endParaRPr/>
            </a:p>
          </p:txBody>
        </p:sp>
      </p:grpSp>
      <p:sp>
        <p:nvSpPr>
          <p:cNvPr id="445" name="Google Shape;445;p20"/>
          <p:cNvSpPr txBox="1"/>
          <p:nvPr/>
        </p:nvSpPr>
        <p:spPr>
          <a:xfrm>
            <a:off x="2475763" y="4430292"/>
            <a:ext cx="2223555"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Helvetica Neue"/>
                <a:ea typeface="Helvetica Neue"/>
                <a:cs typeface="Helvetica Neue"/>
                <a:sym typeface="Helvetica Neue"/>
              </a:rPr>
              <a:t>Gene expression vector</a:t>
            </a:r>
            <a:endParaRPr/>
          </a:p>
        </p:txBody>
      </p:sp>
      <p:sp>
        <p:nvSpPr>
          <p:cNvPr id="446" name="Google Shape;446;p20"/>
          <p:cNvSpPr txBox="1"/>
          <p:nvPr/>
        </p:nvSpPr>
        <p:spPr>
          <a:xfrm>
            <a:off x="1961125" y="1508030"/>
            <a:ext cx="2056692"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Helvetica Neue"/>
                <a:ea typeface="Helvetica Neue"/>
                <a:cs typeface="Helvetica Neue"/>
                <a:sym typeface="Helvetica Neue"/>
              </a:rPr>
              <a:t>Spatial coordinate of spot</a:t>
            </a:r>
            <a:endParaRPr/>
          </a:p>
        </p:txBody>
      </p:sp>
      <p:pic>
        <p:nvPicPr>
          <p:cNvPr id="447" name="Google Shape;447;p20"/>
          <p:cNvPicPr preferRelativeResize="0"/>
          <p:nvPr/>
        </p:nvPicPr>
        <p:blipFill rotWithShape="1">
          <a:blip r:embed="rId8">
            <a:alphaModFix/>
          </a:blip>
          <a:srcRect b="0" l="0" r="0" t="0"/>
          <a:stretch/>
        </p:blipFill>
        <p:spPr>
          <a:xfrm>
            <a:off x="2602588" y="2200274"/>
            <a:ext cx="773766" cy="364062"/>
          </a:xfrm>
          <a:prstGeom prst="rect">
            <a:avLst/>
          </a:prstGeom>
          <a:noFill/>
          <a:ln>
            <a:noFill/>
          </a:ln>
        </p:spPr>
      </p:pic>
      <p:sp>
        <p:nvSpPr>
          <p:cNvPr id="448" name="Google Shape;448;p20"/>
          <p:cNvSpPr txBox="1"/>
          <p:nvPr/>
        </p:nvSpPr>
        <p:spPr>
          <a:xfrm rot="5400000">
            <a:off x="3313550" y="3344261"/>
            <a:ext cx="68640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Genes</a:t>
            </a:r>
            <a:endParaRPr/>
          </a:p>
        </p:txBody>
      </p:sp>
      <p:sp>
        <p:nvSpPr>
          <p:cNvPr id="449" name="Google Shape;449;p20"/>
          <p:cNvSpPr txBox="1"/>
          <p:nvPr/>
        </p:nvSpPr>
        <p:spPr>
          <a:xfrm>
            <a:off x="749054" y="7310777"/>
            <a:ext cx="10693891" cy="4770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500" u="sng">
                <a:solidFill>
                  <a:schemeClr val="dk1"/>
                </a:solidFill>
                <a:latin typeface="Arial"/>
                <a:ea typeface="Arial"/>
                <a:cs typeface="Arial"/>
                <a:sym typeface="Arial"/>
              </a:rPr>
              <a:t>Computational opportunities (and challenges):</a:t>
            </a:r>
            <a:r>
              <a:rPr lang="en-US" sz="2500">
                <a:solidFill>
                  <a:schemeClr val="dk1"/>
                </a:solidFill>
                <a:latin typeface="Arial"/>
                <a:ea typeface="Arial"/>
                <a:cs typeface="Arial"/>
                <a:sym typeface="Arial"/>
              </a:rPr>
              <a:t> modeling </a:t>
            </a:r>
            <a:r>
              <a:rPr b="1" lang="en-US" sz="2500">
                <a:solidFill>
                  <a:schemeClr val="dk1"/>
                </a:solidFill>
                <a:latin typeface="Arial"/>
                <a:ea typeface="Arial"/>
                <a:cs typeface="Arial"/>
                <a:sym typeface="Arial"/>
              </a:rPr>
              <a:t>spatial</a:t>
            </a:r>
            <a:r>
              <a:rPr lang="en-US" sz="2500">
                <a:solidFill>
                  <a:schemeClr val="dk1"/>
                </a:solidFill>
                <a:latin typeface="Arial"/>
                <a:ea typeface="Arial"/>
                <a:cs typeface="Arial"/>
                <a:sym typeface="Arial"/>
              </a:rPr>
              <a:t> structure</a:t>
            </a:r>
            <a:endParaRPr/>
          </a:p>
        </p:txBody>
      </p:sp>
      <p:sp>
        <p:nvSpPr>
          <p:cNvPr id="450" name="Google Shape;450;p20"/>
          <p:cNvSpPr txBox="1"/>
          <p:nvPr/>
        </p:nvSpPr>
        <p:spPr>
          <a:xfrm>
            <a:off x="263350" y="1592668"/>
            <a:ext cx="15906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500">
                <a:solidFill>
                  <a:schemeClr val="dk1"/>
                </a:solidFill>
                <a:latin typeface="Arial"/>
                <a:ea typeface="Arial"/>
                <a:cs typeface="Arial"/>
                <a:sym typeface="Arial"/>
              </a:rPr>
              <a:t>2-D tissue</a:t>
            </a:r>
            <a:endParaRPr/>
          </a:p>
        </p:txBody>
      </p:sp>
      <p:graphicFrame>
        <p:nvGraphicFramePr>
          <p:cNvPr id="451" name="Google Shape;451;p20"/>
          <p:cNvGraphicFramePr/>
          <p:nvPr/>
        </p:nvGraphicFramePr>
        <p:xfrm>
          <a:off x="-2005279" y="3300937"/>
          <a:ext cx="3000000" cy="3000000"/>
        </p:xfrm>
        <a:graphic>
          <a:graphicData uri="http://schemas.openxmlformats.org/drawingml/2006/table">
            <a:tbl>
              <a:tblPr>
                <a:noFill/>
                <a:tableStyleId>{621C8F2A-40A0-4A7D-A9DE-2E6CE038B251}</a:tableStyleId>
              </a:tblPr>
              <a:tblGrid>
                <a:gridCol w="166625"/>
                <a:gridCol w="166625"/>
                <a:gridCol w="166625"/>
                <a:gridCol w="166625"/>
                <a:gridCol w="166625"/>
                <a:gridCol w="166625"/>
                <a:gridCol w="166625"/>
                <a:gridCol w="166625"/>
                <a:gridCol w="166625"/>
                <a:gridCol w="166625"/>
              </a:tblGrid>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bl>
          </a:graphicData>
        </a:graphic>
      </p:graphicFrame>
      <p:graphicFrame>
        <p:nvGraphicFramePr>
          <p:cNvPr id="452" name="Google Shape;452;p20"/>
          <p:cNvGraphicFramePr/>
          <p:nvPr/>
        </p:nvGraphicFramePr>
        <p:xfrm>
          <a:off x="-981196" y="-636833"/>
          <a:ext cx="3000000" cy="3000000"/>
        </p:xfrm>
        <a:graphic>
          <a:graphicData uri="http://schemas.openxmlformats.org/drawingml/2006/table">
            <a:tbl>
              <a:tblPr>
                <a:noFill/>
                <a:tableStyleId>{621C8F2A-40A0-4A7D-A9DE-2E6CE038B251}</a:tableStyleId>
              </a:tblPr>
              <a:tblGrid>
                <a:gridCol w="213250"/>
                <a:gridCol w="213250"/>
              </a:tblGrid>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r h="166275">
                <a:tc>
                  <a:txBody>
                    <a:bodyPr/>
                    <a:lstStyle/>
                    <a:p>
                      <a:pPr indent="0" lvl="0" marL="0" marR="0" rtl="0" algn="l">
                        <a:spcBef>
                          <a:spcPts val="0"/>
                        </a:spcBef>
                        <a:spcAft>
                          <a:spcPts val="0"/>
                        </a:spcAft>
                        <a:buNone/>
                      </a:pPr>
                      <a:r>
                        <a:t/>
                      </a:r>
                      <a:endParaRPr sz="100"/>
                    </a:p>
                  </a:txBody>
                  <a:tcPr marT="0" marB="0" marR="0" marL="0"/>
                </a:tc>
                <a:tc>
                  <a:txBody>
                    <a:bodyPr/>
                    <a:lstStyle/>
                    <a:p>
                      <a:pPr indent="0" lvl="0" marL="0" marR="0" rtl="0" algn="l">
                        <a:spcBef>
                          <a:spcPts val="0"/>
                        </a:spcBef>
                        <a:spcAft>
                          <a:spcPts val="0"/>
                        </a:spcAft>
                        <a:buNone/>
                      </a:pPr>
                      <a:r>
                        <a:t/>
                      </a:r>
                      <a:endParaRPr sz="100"/>
                    </a:p>
                  </a:txBody>
                  <a:tcPr marT="0" marB="0" marR="0" marL="0"/>
                </a:tc>
              </a:tr>
            </a:tbl>
          </a:graphicData>
        </a:graphic>
      </p:graphicFrame>
      <p:sp>
        <p:nvSpPr>
          <p:cNvPr id="453" name="Google Shape;453;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54" name="Google Shape;454;p20"/>
          <p:cNvPicPr preferRelativeResize="0"/>
          <p:nvPr/>
        </p:nvPicPr>
        <p:blipFill rotWithShape="1">
          <a:blip r:embed="rId9">
            <a:alphaModFix/>
          </a:blip>
          <a:srcRect b="0" l="0" r="0" t="0"/>
          <a:stretch/>
        </p:blipFill>
        <p:spPr>
          <a:xfrm>
            <a:off x="4927641" y="2973136"/>
            <a:ext cx="1229829" cy="978533"/>
          </a:xfrm>
          <a:prstGeom prst="rect">
            <a:avLst/>
          </a:prstGeom>
          <a:noFill/>
          <a:ln>
            <a:noFill/>
          </a:ln>
        </p:spPr>
      </p:pic>
      <p:sp>
        <p:nvSpPr>
          <p:cNvPr id="455" name="Google Shape;455;p20"/>
          <p:cNvSpPr/>
          <p:nvPr/>
        </p:nvSpPr>
        <p:spPr>
          <a:xfrm>
            <a:off x="6296089" y="2830508"/>
            <a:ext cx="861937" cy="1266560"/>
          </a:xfrm>
          <a:prstGeom prst="rightArrow">
            <a:avLst>
              <a:gd fmla="val 50000" name="adj1"/>
              <a:gd fmla="val 50000" name="adj2"/>
            </a:avLst>
          </a:prstGeom>
          <a:solidFill>
            <a:schemeClr val="accent1"/>
          </a:solidFill>
          <a:ln cap="flat" cmpd="sng" w="19050">
            <a:solidFill>
              <a:srgbClr val="0F465E"/>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Arial"/>
              <a:ea typeface="Arial"/>
              <a:cs typeface="Arial"/>
              <a:sym typeface="Arial"/>
            </a:endParaRPr>
          </a:p>
        </p:txBody>
      </p:sp>
      <p:sp>
        <p:nvSpPr>
          <p:cNvPr id="456" name="Google Shape;456;p20"/>
          <p:cNvSpPr txBox="1"/>
          <p:nvPr/>
        </p:nvSpPr>
        <p:spPr>
          <a:xfrm>
            <a:off x="263341" y="5824238"/>
            <a:ext cx="4965900" cy="738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100">
                <a:solidFill>
                  <a:schemeClr val="dk1"/>
                </a:solidFill>
              </a:rPr>
              <a:t>Spots may contain &lt;1 cell, 1 cell, or multiple cells</a:t>
            </a:r>
            <a:endParaRPr/>
          </a:p>
        </p:txBody>
      </p:sp>
      <p:sp>
        <p:nvSpPr>
          <p:cNvPr id="457" name="Google Shape;457;p20"/>
          <p:cNvSpPr txBox="1"/>
          <p:nvPr/>
        </p:nvSpPr>
        <p:spPr>
          <a:xfrm>
            <a:off x="7763424" y="1369050"/>
            <a:ext cx="22779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Genes (features)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g3ebf7da3f9f_0_1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Show different spatial sequencing technologies: Visium, Xenium, …</a:t>
            </a:r>
            <a:endParaRPr/>
          </a:p>
        </p:txBody>
      </p:sp>
      <p:sp>
        <p:nvSpPr>
          <p:cNvPr id="464" name="Google Shape;464;g3ebf7da3f9f_0_11"/>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21"/>
          <p:cNvSpPr txBox="1"/>
          <p:nvPr>
            <p:ph type="title"/>
          </p:nvPr>
        </p:nvSpPr>
        <p:spPr>
          <a:xfrm>
            <a:off x="303798" y="246375"/>
            <a:ext cx="11952600" cy="1325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sz="4200"/>
              <a:t>Technical challenges: </a:t>
            </a:r>
            <a:r>
              <a:rPr b="1" lang="en-US" sz="4200"/>
              <a:t>sparsity </a:t>
            </a:r>
            <a:r>
              <a:rPr lang="en-US" sz="4200"/>
              <a:t>and </a:t>
            </a:r>
            <a:r>
              <a:rPr b="1" lang="en-US" sz="4200"/>
              <a:t>batch effects</a:t>
            </a:r>
            <a:endParaRPr sz="4200"/>
          </a:p>
        </p:txBody>
      </p:sp>
      <p:pic>
        <p:nvPicPr>
          <p:cNvPr id="470" name="Google Shape;470;p21"/>
          <p:cNvPicPr preferRelativeResize="0"/>
          <p:nvPr/>
        </p:nvPicPr>
        <p:blipFill rotWithShape="1">
          <a:blip r:embed="rId3">
            <a:alphaModFix/>
          </a:blip>
          <a:srcRect b="0" l="0" r="0" t="0"/>
          <a:stretch/>
        </p:blipFill>
        <p:spPr>
          <a:xfrm>
            <a:off x="688796" y="2102992"/>
            <a:ext cx="1922576" cy="3589524"/>
          </a:xfrm>
          <a:prstGeom prst="rect">
            <a:avLst/>
          </a:prstGeom>
          <a:noFill/>
          <a:ln>
            <a:noFill/>
          </a:ln>
        </p:spPr>
      </p:pic>
      <p:pic>
        <p:nvPicPr>
          <p:cNvPr id="471" name="Google Shape;471;p21"/>
          <p:cNvPicPr preferRelativeResize="0"/>
          <p:nvPr/>
        </p:nvPicPr>
        <p:blipFill rotWithShape="1">
          <a:blip r:embed="rId4">
            <a:alphaModFix/>
          </a:blip>
          <a:srcRect b="0" l="0" r="0" t="0"/>
          <a:stretch/>
        </p:blipFill>
        <p:spPr>
          <a:xfrm>
            <a:off x="2984557" y="2102992"/>
            <a:ext cx="516513" cy="3575979"/>
          </a:xfrm>
          <a:prstGeom prst="rect">
            <a:avLst/>
          </a:prstGeom>
          <a:noFill/>
          <a:ln>
            <a:noFill/>
          </a:ln>
        </p:spPr>
      </p:pic>
      <p:sp>
        <p:nvSpPr>
          <p:cNvPr id="472" name="Google Shape;472;p21"/>
          <p:cNvSpPr txBox="1"/>
          <p:nvPr/>
        </p:nvSpPr>
        <p:spPr>
          <a:xfrm rot="-5400000">
            <a:off x="-574729" y="2873577"/>
            <a:ext cx="197740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Spots (samples)</a:t>
            </a:r>
            <a:endParaRPr/>
          </a:p>
        </p:txBody>
      </p:sp>
      <p:sp>
        <p:nvSpPr>
          <p:cNvPr id="473" name="Google Shape;473;p21"/>
          <p:cNvSpPr txBox="1"/>
          <p:nvPr/>
        </p:nvSpPr>
        <p:spPr>
          <a:xfrm>
            <a:off x="2625601" y="1293053"/>
            <a:ext cx="1234424" cy="82065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200">
                <a:solidFill>
                  <a:schemeClr val="dk1"/>
                </a:solidFill>
                <a:latin typeface="Arial"/>
                <a:ea typeface="Arial"/>
                <a:cs typeface="Arial"/>
                <a:sym typeface="Arial"/>
              </a:rPr>
              <a:t>Spatial </a:t>
            </a:r>
            <a:br>
              <a:rPr lang="en-US" sz="2200">
                <a:solidFill>
                  <a:schemeClr val="dk1"/>
                </a:solidFill>
                <a:latin typeface="Arial"/>
                <a:ea typeface="Arial"/>
                <a:cs typeface="Arial"/>
                <a:sym typeface="Arial"/>
              </a:rPr>
            </a:br>
            <a:r>
              <a:rPr lang="en-US" sz="2200">
                <a:solidFill>
                  <a:schemeClr val="dk1"/>
                </a:solidFill>
                <a:latin typeface="Arial"/>
                <a:ea typeface="Arial"/>
                <a:cs typeface="Arial"/>
                <a:sym typeface="Arial"/>
              </a:rPr>
              <a:t>(2D)</a:t>
            </a:r>
            <a:endParaRPr/>
          </a:p>
        </p:txBody>
      </p:sp>
      <p:sp>
        <p:nvSpPr>
          <p:cNvPr id="474" name="Google Shape;474;p21"/>
          <p:cNvSpPr txBox="1"/>
          <p:nvPr/>
        </p:nvSpPr>
        <p:spPr>
          <a:xfrm>
            <a:off x="602615" y="1678447"/>
            <a:ext cx="201587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Genes (features)</a:t>
            </a:r>
            <a:endParaRPr/>
          </a:p>
        </p:txBody>
      </p:sp>
      <p:pic>
        <p:nvPicPr>
          <p:cNvPr id="475" name="Google Shape;475;p21"/>
          <p:cNvPicPr preferRelativeResize="0"/>
          <p:nvPr/>
        </p:nvPicPr>
        <p:blipFill rotWithShape="1">
          <a:blip r:embed="rId5">
            <a:alphaModFix/>
          </a:blip>
          <a:srcRect b="4656" l="28141" r="42183" t="6114"/>
          <a:stretch/>
        </p:blipFill>
        <p:spPr>
          <a:xfrm>
            <a:off x="689808" y="2113711"/>
            <a:ext cx="1921564" cy="3634385"/>
          </a:xfrm>
          <a:prstGeom prst="rect">
            <a:avLst/>
          </a:prstGeom>
          <a:noFill/>
          <a:ln>
            <a:noFill/>
          </a:ln>
        </p:spPr>
      </p:pic>
      <p:sp>
        <p:nvSpPr>
          <p:cNvPr id="476" name="Google Shape;476;p21"/>
          <p:cNvSpPr txBox="1"/>
          <p:nvPr/>
        </p:nvSpPr>
        <p:spPr>
          <a:xfrm>
            <a:off x="617237" y="5961413"/>
            <a:ext cx="206569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70-90% zeros!</a:t>
            </a:r>
            <a:endParaRPr/>
          </a:p>
        </p:txBody>
      </p:sp>
      <p:sp>
        <p:nvSpPr>
          <p:cNvPr id="477" name="Google Shape;477;p21"/>
          <p:cNvSpPr txBox="1"/>
          <p:nvPr/>
        </p:nvSpPr>
        <p:spPr>
          <a:xfrm>
            <a:off x="5712031" y="1678350"/>
            <a:ext cx="6479969" cy="1631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500" u="sng">
                <a:solidFill>
                  <a:schemeClr val="dk1"/>
                </a:solidFill>
                <a:latin typeface="Arial"/>
                <a:ea typeface="Arial"/>
                <a:cs typeface="Arial"/>
                <a:sym typeface="Arial"/>
              </a:rPr>
              <a:t>Batch effects:</a:t>
            </a:r>
            <a:r>
              <a:rPr lang="en-US" sz="2500">
                <a:solidFill>
                  <a:schemeClr val="dk1"/>
                </a:solidFill>
                <a:latin typeface="Arial"/>
                <a:ea typeface="Arial"/>
                <a:cs typeface="Arial"/>
                <a:sym typeface="Arial"/>
              </a:rPr>
              <a:t> </a:t>
            </a:r>
            <a:endParaRPr/>
          </a:p>
          <a:p>
            <a:pPr indent="0" lvl="0" marL="0" marR="0" rtl="0" algn="l">
              <a:spcBef>
                <a:spcPts val="0"/>
              </a:spcBef>
              <a:spcAft>
                <a:spcPts val="0"/>
              </a:spcAft>
              <a:buNone/>
            </a:pPr>
            <a:r>
              <a:rPr lang="en-US" sz="2500">
                <a:solidFill>
                  <a:schemeClr val="dk1"/>
                </a:solidFill>
                <a:latin typeface="Arial"/>
                <a:ea typeface="Arial"/>
                <a:cs typeface="Arial"/>
                <a:sym typeface="Arial"/>
              </a:rPr>
              <a:t>even if you measure </a:t>
            </a:r>
            <a:r>
              <a:rPr b="1" lang="en-US" sz="2500">
                <a:solidFill>
                  <a:schemeClr val="dk1"/>
                </a:solidFill>
                <a:latin typeface="Arial"/>
                <a:ea typeface="Arial"/>
                <a:cs typeface="Arial"/>
                <a:sym typeface="Arial"/>
              </a:rPr>
              <a:t>exact same dataset</a:t>
            </a:r>
            <a:r>
              <a:rPr lang="en-US" sz="2500">
                <a:solidFill>
                  <a:schemeClr val="dk1"/>
                </a:solidFill>
                <a:latin typeface="Arial"/>
                <a:ea typeface="Arial"/>
                <a:cs typeface="Arial"/>
                <a:sym typeface="Arial"/>
              </a:rPr>
              <a:t>, there will be (large, unknown) differences in measurements</a:t>
            </a:r>
            <a:endParaRPr/>
          </a:p>
        </p:txBody>
      </p:sp>
      <p:pic>
        <p:nvPicPr>
          <p:cNvPr id="478" name="Google Shape;478;p21"/>
          <p:cNvPicPr preferRelativeResize="0"/>
          <p:nvPr/>
        </p:nvPicPr>
        <p:blipFill rotWithShape="1">
          <a:blip r:embed="rId6">
            <a:alphaModFix/>
          </a:blip>
          <a:srcRect b="36444" l="58280" r="10855" t="49451"/>
          <a:stretch/>
        </p:blipFill>
        <p:spPr>
          <a:xfrm flipH="1" rot="5400000">
            <a:off x="6404929" y="4160498"/>
            <a:ext cx="1806738" cy="845076"/>
          </a:xfrm>
          <a:prstGeom prst="rect">
            <a:avLst/>
          </a:prstGeom>
          <a:noFill/>
          <a:ln>
            <a:noFill/>
          </a:ln>
        </p:spPr>
      </p:pic>
      <p:pic>
        <p:nvPicPr>
          <p:cNvPr id="479" name="Google Shape;479;p21"/>
          <p:cNvPicPr preferRelativeResize="0"/>
          <p:nvPr/>
        </p:nvPicPr>
        <p:blipFill rotWithShape="1">
          <a:blip r:embed="rId6">
            <a:alphaModFix/>
          </a:blip>
          <a:srcRect b="54606" l="39685" r="29450" t="31289"/>
          <a:stretch/>
        </p:blipFill>
        <p:spPr>
          <a:xfrm flipH="1" rot="5400000">
            <a:off x="9367477" y="4071729"/>
            <a:ext cx="1806738" cy="845078"/>
          </a:xfrm>
          <a:prstGeom prst="rect">
            <a:avLst/>
          </a:prstGeom>
          <a:noFill/>
          <a:ln>
            <a:noFill/>
          </a:ln>
        </p:spPr>
      </p:pic>
      <p:sp>
        <p:nvSpPr>
          <p:cNvPr id="480" name="Google Shape;480;p21"/>
          <p:cNvSpPr txBox="1"/>
          <p:nvPr/>
        </p:nvSpPr>
        <p:spPr>
          <a:xfrm>
            <a:off x="5913912" y="5678970"/>
            <a:ext cx="224809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Dataset A measured on Tuesday</a:t>
            </a:r>
            <a:endParaRPr/>
          </a:p>
        </p:txBody>
      </p:sp>
      <p:sp>
        <p:nvSpPr>
          <p:cNvPr id="481" name="Google Shape;481;p21"/>
          <p:cNvSpPr txBox="1"/>
          <p:nvPr/>
        </p:nvSpPr>
        <p:spPr>
          <a:xfrm>
            <a:off x="9216452" y="5692516"/>
            <a:ext cx="224809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Dataset A measured on Wednesday</a:t>
            </a:r>
            <a:endParaRPr/>
          </a:p>
        </p:txBody>
      </p:sp>
      <p:sp>
        <p:nvSpPr>
          <p:cNvPr id="482" name="Google Shape;482;p21"/>
          <p:cNvSpPr txBox="1"/>
          <p:nvPr/>
        </p:nvSpPr>
        <p:spPr>
          <a:xfrm>
            <a:off x="6258296" y="6517866"/>
            <a:ext cx="55487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(or by different people, or with different machine, or …)</a:t>
            </a:r>
            <a:endParaRPr/>
          </a:p>
        </p:txBody>
      </p:sp>
      <p:sp>
        <p:nvSpPr>
          <p:cNvPr id="483" name="Google Shape;483;p21"/>
          <p:cNvSpPr txBox="1"/>
          <p:nvPr/>
        </p:nvSpPr>
        <p:spPr>
          <a:xfrm rot="-5400000">
            <a:off x="6316655" y="3843814"/>
            <a:ext cx="69762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Cells</a:t>
            </a:r>
            <a:endParaRPr/>
          </a:p>
        </p:txBody>
      </p:sp>
      <p:sp>
        <p:nvSpPr>
          <p:cNvPr id="484" name="Google Shape;484;p21"/>
          <p:cNvSpPr txBox="1"/>
          <p:nvPr/>
        </p:nvSpPr>
        <p:spPr>
          <a:xfrm>
            <a:off x="6900159" y="3317465"/>
            <a:ext cx="83067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Genes</a:t>
            </a:r>
            <a:endParaRPr/>
          </a:p>
        </p:txBody>
      </p:sp>
      <p:sp>
        <p:nvSpPr>
          <p:cNvPr id="485" name="Google Shape;485;p21"/>
          <p:cNvSpPr txBox="1"/>
          <p:nvPr/>
        </p:nvSpPr>
        <p:spPr>
          <a:xfrm>
            <a:off x="9848307" y="3212675"/>
            <a:ext cx="83067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Genes</a:t>
            </a:r>
            <a:endParaRPr/>
          </a:p>
        </p:txBody>
      </p:sp>
      <p:sp>
        <p:nvSpPr>
          <p:cNvPr id="486" name="Google Shape;486;p21"/>
          <p:cNvSpPr txBox="1"/>
          <p:nvPr/>
        </p:nvSpPr>
        <p:spPr>
          <a:xfrm rot="-5400000">
            <a:off x="9346347" y="3783213"/>
            <a:ext cx="69762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Cells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g3ebf7da3f9f_0_3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Biological challenges: biological structure is subtle and “low dimensional”</a:t>
            </a:r>
            <a:endParaRPr/>
          </a:p>
        </p:txBody>
      </p:sp>
      <p:sp>
        <p:nvSpPr>
          <p:cNvPr id="493" name="Google Shape;493;g3ebf7da3f9f_0_3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22"/>
          <p:cNvSpPr txBox="1"/>
          <p:nvPr>
            <p:ph type="title"/>
          </p:nvPr>
        </p:nvSpPr>
        <p:spPr>
          <a:xfrm>
            <a:off x="62345" y="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Problems</a:t>
            </a:r>
            <a:endParaRPr/>
          </a:p>
        </p:txBody>
      </p:sp>
      <p:sp>
        <p:nvSpPr>
          <p:cNvPr id="499" name="Google Shape;499;p22"/>
          <p:cNvSpPr txBox="1"/>
          <p:nvPr>
            <p:ph idx="1" type="body"/>
          </p:nvPr>
        </p:nvSpPr>
        <p:spPr>
          <a:xfrm>
            <a:off x="351297" y="1182500"/>
            <a:ext cx="6340200" cy="8442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lang="en-US" u="sng"/>
              <a:t>Dimensionality reduction + data visualization </a:t>
            </a:r>
            <a:endParaRPr/>
          </a:p>
        </p:txBody>
      </p:sp>
      <p:grpSp>
        <p:nvGrpSpPr>
          <p:cNvPr id="500" name="Google Shape;500;p22"/>
          <p:cNvGrpSpPr/>
          <p:nvPr/>
        </p:nvGrpSpPr>
        <p:grpSpPr>
          <a:xfrm>
            <a:off x="202674" y="2089244"/>
            <a:ext cx="2336683" cy="2757507"/>
            <a:chOff x="7431262" y="1334062"/>
            <a:chExt cx="2336683" cy="2757507"/>
          </a:xfrm>
        </p:grpSpPr>
        <p:sp>
          <p:nvSpPr>
            <p:cNvPr id="501" name="Google Shape;501;p22"/>
            <p:cNvSpPr txBox="1"/>
            <p:nvPr/>
          </p:nvSpPr>
          <p:spPr>
            <a:xfrm rot="-5400000">
              <a:off x="6906150" y="2151731"/>
              <a:ext cx="145033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Cells/spots</a:t>
              </a:r>
              <a:endParaRPr/>
            </a:p>
          </p:txBody>
        </p:sp>
        <p:pic>
          <p:nvPicPr>
            <p:cNvPr id="502" name="Google Shape;502;p22"/>
            <p:cNvPicPr preferRelativeResize="0"/>
            <p:nvPr/>
          </p:nvPicPr>
          <p:blipFill rotWithShape="1">
            <a:blip r:embed="rId3">
              <a:alphaModFix/>
            </a:blip>
            <a:srcRect b="36444" l="25315" r="7379" t="31466"/>
            <a:stretch/>
          </p:blipFill>
          <p:spPr>
            <a:xfrm flipH="1" rot="5400000">
              <a:off x="7548915" y="1872539"/>
              <a:ext cx="2515485" cy="1922575"/>
            </a:xfrm>
            <a:prstGeom prst="rect">
              <a:avLst/>
            </a:prstGeom>
            <a:noFill/>
            <a:ln>
              <a:noFill/>
            </a:ln>
          </p:spPr>
        </p:pic>
        <p:sp>
          <p:nvSpPr>
            <p:cNvPr id="503" name="Google Shape;503;p22"/>
            <p:cNvSpPr txBox="1"/>
            <p:nvPr/>
          </p:nvSpPr>
          <p:spPr>
            <a:xfrm>
              <a:off x="7763436" y="1334062"/>
              <a:ext cx="90120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Genes</a:t>
              </a:r>
              <a:endParaRPr/>
            </a:p>
          </p:txBody>
        </p:sp>
      </p:grpSp>
      <p:cxnSp>
        <p:nvCxnSpPr>
          <p:cNvPr id="504" name="Google Shape;504;p22"/>
          <p:cNvCxnSpPr/>
          <p:nvPr/>
        </p:nvCxnSpPr>
        <p:spPr>
          <a:xfrm>
            <a:off x="2752601" y="3426031"/>
            <a:ext cx="881248" cy="0"/>
          </a:xfrm>
          <a:prstGeom prst="straightConnector1">
            <a:avLst/>
          </a:prstGeom>
          <a:noFill/>
          <a:ln cap="flat" cmpd="sng" w="76200">
            <a:solidFill>
              <a:schemeClr val="accent1"/>
            </a:solidFill>
            <a:prstDash val="solid"/>
            <a:miter lim="8000"/>
            <a:headEnd len="sm" w="sm" type="none"/>
            <a:tailEnd len="med" w="med" type="triangle"/>
          </a:ln>
        </p:spPr>
      </p:cxnSp>
      <p:pic>
        <p:nvPicPr>
          <p:cNvPr descr="Annotating single cell datasets: A Q&amp;A covering challenges of automated and  manual methods | 10x Genomics" id="505" name="Google Shape;505;p22"/>
          <p:cNvPicPr preferRelativeResize="0"/>
          <p:nvPr/>
        </p:nvPicPr>
        <p:blipFill rotWithShape="1">
          <a:blip r:embed="rId4">
            <a:alphaModFix/>
          </a:blip>
          <a:srcRect b="0" l="0" r="0" t="0"/>
          <a:stretch/>
        </p:blipFill>
        <p:spPr>
          <a:xfrm>
            <a:off x="3820674" y="2240329"/>
            <a:ext cx="2870670" cy="2018440"/>
          </a:xfrm>
          <a:prstGeom prst="rect">
            <a:avLst/>
          </a:prstGeom>
          <a:noFill/>
          <a:ln>
            <a:noFill/>
          </a:ln>
        </p:spPr>
      </p:pic>
      <p:sp>
        <p:nvSpPr>
          <p:cNvPr id="506" name="Google Shape;506;p22"/>
          <p:cNvSpPr txBox="1"/>
          <p:nvPr/>
        </p:nvSpPr>
        <p:spPr>
          <a:xfrm>
            <a:off x="3883760" y="4177131"/>
            <a:ext cx="292900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(dot=cell, color = cell types)</a:t>
            </a:r>
            <a:endParaRPr/>
          </a:p>
        </p:txBody>
      </p:sp>
      <p:sp>
        <p:nvSpPr>
          <p:cNvPr id="507" name="Google Shape;507;p22"/>
          <p:cNvSpPr txBox="1"/>
          <p:nvPr/>
        </p:nvSpPr>
        <p:spPr>
          <a:xfrm>
            <a:off x="2567355" y="2922302"/>
            <a:ext cx="12298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chemeClr val="dk1"/>
                </a:solidFill>
                <a:latin typeface="Arial"/>
                <a:ea typeface="Arial"/>
                <a:cs typeface="Arial"/>
                <a:sym typeface="Arial"/>
              </a:rPr>
              <a:t>Single-cell</a:t>
            </a:r>
            <a:endParaRPr/>
          </a:p>
        </p:txBody>
      </p:sp>
      <p:grpSp>
        <p:nvGrpSpPr>
          <p:cNvPr id="508" name="Google Shape;508;p22"/>
          <p:cNvGrpSpPr/>
          <p:nvPr/>
        </p:nvGrpSpPr>
        <p:grpSpPr>
          <a:xfrm>
            <a:off x="8467253" y="2026620"/>
            <a:ext cx="3091647" cy="2177032"/>
            <a:chOff x="4987403" y="3940553"/>
            <a:chExt cx="4489106" cy="2595722"/>
          </a:xfrm>
        </p:grpSpPr>
        <p:sp>
          <p:nvSpPr>
            <p:cNvPr id="509" name="Google Shape;509;p22"/>
            <p:cNvSpPr txBox="1"/>
            <p:nvPr/>
          </p:nvSpPr>
          <p:spPr>
            <a:xfrm>
              <a:off x="6380101" y="6034675"/>
              <a:ext cx="2541600" cy="501600"/>
            </a:xfrm>
            <a:prstGeom prst="rect">
              <a:avLst/>
            </a:prstGeom>
            <a:noFill/>
            <a:ln>
              <a:noFill/>
            </a:ln>
          </p:spPr>
          <p:txBody>
            <a:bodyPr anchorCtr="0" anchor="ctr" bIns="25400" lIns="25400" spcFirstLastPara="1" rIns="25400" wrap="square" tIns="25400">
              <a:spAutoFit/>
            </a:bodyPr>
            <a:lstStyle/>
            <a:p>
              <a:pPr indent="0" lvl="0" marL="0" marR="0" rtl="0" algn="l">
                <a:spcBef>
                  <a:spcPts val="0"/>
                </a:spcBef>
                <a:spcAft>
                  <a:spcPts val="0"/>
                </a:spcAft>
                <a:buNone/>
              </a:pPr>
              <a:r>
                <a:rPr b="0" lang="en-US" sz="800">
                  <a:solidFill>
                    <a:srgbClr val="7F7F7F"/>
                  </a:solidFill>
                  <a:latin typeface="Arial"/>
                  <a:ea typeface="Arial"/>
                  <a:cs typeface="Arial"/>
                  <a:sym typeface="Arial"/>
                </a:rPr>
                <a:t>Zhao et al., Nat. Biotech.  (2021)</a:t>
              </a:r>
              <a:endParaRPr/>
            </a:p>
            <a:p>
              <a:pPr indent="0" lvl="0" marL="0" marR="0" rtl="0" algn="l">
                <a:spcBef>
                  <a:spcPts val="0"/>
                </a:spcBef>
                <a:spcAft>
                  <a:spcPts val="0"/>
                </a:spcAft>
                <a:buNone/>
              </a:pPr>
              <a:r>
                <a:rPr b="0" lang="en-US" sz="800">
                  <a:solidFill>
                    <a:srgbClr val="7F7F7F"/>
                  </a:solidFill>
                  <a:latin typeface="Arial"/>
                  <a:ea typeface="Arial"/>
                  <a:cs typeface="Arial"/>
                  <a:sym typeface="Arial"/>
                </a:rPr>
                <a:t>Data: Thrane, et al. </a:t>
              </a:r>
              <a:r>
                <a:rPr b="0" i="1" lang="en-US" sz="800">
                  <a:solidFill>
                    <a:srgbClr val="7F7F7F"/>
                  </a:solidFill>
                  <a:latin typeface="Arial"/>
                  <a:ea typeface="Arial"/>
                  <a:cs typeface="Arial"/>
                  <a:sym typeface="Arial"/>
                </a:rPr>
                <a:t>Cancer Res.</a:t>
              </a:r>
              <a:r>
                <a:rPr b="0" lang="en-US" sz="800">
                  <a:solidFill>
                    <a:srgbClr val="7F7F7F"/>
                  </a:solidFill>
                  <a:latin typeface="Arial"/>
                  <a:ea typeface="Arial"/>
                  <a:cs typeface="Arial"/>
                  <a:sym typeface="Arial"/>
                </a:rPr>
                <a:t> (2018)</a:t>
              </a:r>
              <a:endParaRPr b="0" sz="800">
                <a:solidFill>
                  <a:srgbClr val="7F7F7F"/>
                </a:solidFill>
                <a:latin typeface="Arial"/>
                <a:ea typeface="Arial"/>
                <a:cs typeface="Arial"/>
                <a:sym typeface="Arial"/>
              </a:endParaRPr>
            </a:p>
          </p:txBody>
        </p:sp>
        <p:sp>
          <p:nvSpPr>
            <p:cNvPr id="510" name="Google Shape;510;p22"/>
            <p:cNvSpPr txBox="1"/>
            <p:nvPr/>
          </p:nvSpPr>
          <p:spPr>
            <a:xfrm>
              <a:off x="6059009" y="3940553"/>
              <a:ext cx="1866600" cy="795300"/>
            </a:xfrm>
            <a:prstGeom prst="rect">
              <a:avLst/>
            </a:prstGeom>
            <a:noFill/>
            <a:ln>
              <a:noFill/>
            </a:ln>
          </p:spPr>
          <p:txBody>
            <a:bodyPr anchorCtr="0" anchor="ctr" bIns="25400" lIns="25400" spcFirstLastPara="1" rIns="25400" wrap="square" tIns="25400">
              <a:spAutoFit/>
            </a:bodyPr>
            <a:lstStyle/>
            <a:p>
              <a:pPr indent="0" lvl="0" marL="0" marR="0" rtl="0" algn="l">
                <a:spcBef>
                  <a:spcPts val="0"/>
                </a:spcBef>
                <a:spcAft>
                  <a:spcPts val="0"/>
                </a:spcAft>
                <a:buNone/>
              </a:pPr>
              <a:r>
                <a:rPr b="1" lang="en-US" sz="2000">
                  <a:solidFill>
                    <a:schemeClr val="dk1"/>
                  </a:solidFill>
                  <a:latin typeface="Arial"/>
                  <a:ea typeface="Arial"/>
                  <a:cs typeface="Arial"/>
                  <a:sym typeface="Arial"/>
                </a:rPr>
                <a:t>Melanoma</a:t>
              </a:r>
              <a:endParaRPr b="1" sz="2000">
                <a:solidFill>
                  <a:schemeClr val="dk1"/>
                </a:solidFill>
                <a:latin typeface="Arial"/>
                <a:ea typeface="Arial"/>
                <a:cs typeface="Arial"/>
                <a:sym typeface="Arial"/>
              </a:endParaRPr>
            </a:p>
          </p:txBody>
        </p:sp>
        <p:pic>
          <p:nvPicPr>
            <p:cNvPr id="511" name="Google Shape;511;p22"/>
            <p:cNvPicPr preferRelativeResize="0"/>
            <p:nvPr/>
          </p:nvPicPr>
          <p:blipFill rotWithShape="1">
            <a:blip r:embed="rId5">
              <a:alphaModFix/>
            </a:blip>
            <a:srcRect b="0" l="0" r="0" t="0"/>
            <a:stretch/>
          </p:blipFill>
          <p:spPr>
            <a:xfrm>
              <a:off x="4987403" y="4230647"/>
              <a:ext cx="4489106" cy="1939293"/>
            </a:xfrm>
            <a:prstGeom prst="rect">
              <a:avLst/>
            </a:prstGeom>
            <a:noFill/>
            <a:ln>
              <a:noFill/>
            </a:ln>
          </p:spPr>
        </p:pic>
      </p:grpSp>
      <p:sp>
        <p:nvSpPr>
          <p:cNvPr id="512" name="Google Shape;512;p22"/>
          <p:cNvSpPr txBox="1"/>
          <p:nvPr/>
        </p:nvSpPr>
        <p:spPr>
          <a:xfrm>
            <a:off x="8261457" y="1066507"/>
            <a:ext cx="3868198" cy="844138"/>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800"/>
              <a:buFont typeface="Arial"/>
              <a:buNone/>
            </a:pPr>
            <a:r>
              <a:rPr lang="en-US" sz="2800" u="sng">
                <a:solidFill>
                  <a:schemeClr val="dk1"/>
                </a:solidFill>
              </a:rPr>
              <a:t>(Spatial) clustering</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g3ebf7da3f9f_0_40"/>
          <p:cNvSpPr txBox="1"/>
          <p:nvPr/>
        </p:nvSpPr>
        <p:spPr>
          <a:xfrm>
            <a:off x="8261457" y="1066507"/>
            <a:ext cx="3868200" cy="8442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800"/>
              <a:buFont typeface="Arial"/>
              <a:buNone/>
            </a:pPr>
            <a:r>
              <a:rPr lang="en-US" sz="2800" u="sng">
                <a:solidFill>
                  <a:schemeClr val="dk1"/>
                </a:solidFill>
                <a:latin typeface="Arial"/>
                <a:ea typeface="Arial"/>
                <a:cs typeface="Arial"/>
                <a:sym typeface="Arial"/>
              </a:rPr>
              <a:t>Trajectory inference</a:t>
            </a:r>
            <a:endParaRPr/>
          </a:p>
        </p:txBody>
      </p:sp>
      <p:pic>
        <p:nvPicPr>
          <p:cNvPr descr="Chapter 10 Trajectory Analysis | Advanced Single-Cell Analysis with  Bioconductor" id="518" name="Google Shape;518;g3ebf7da3f9f_0_40"/>
          <p:cNvPicPr preferRelativeResize="0"/>
          <p:nvPr/>
        </p:nvPicPr>
        <p:blipFill rotWithShape="1">
          <a:blip r:embed="rId3">
            <a:alphaModFix/>
          </a:blip>
          <a:srcRect b="0" l="0" r="0" t="0"/>
          <a:stretch/>
        </p:blipFill>
        <p:spPr>
          <a:xfrm>
            <a:off x="8086090" y="1612128"/>
            <a:ext cx="3668485" cy="2620346"/>
          </a:xfrm>
          <a:prstGeom prst="rect">
            <a:avLst/>
          </a:prstGeom>
          <a:noFill/>
          <a:ln>
            <a:noFill/>
          </a:ln>
        </p:spPr>
      </p:pic>
      <p:sp>
        <p:nvSpPr>
          <p:cNvPr id="519" name="Google Shape;519;g3ebf7da3f9f_0_40"/>
          <p:cNvSpPr txBox="1"/>
          <p:nvPr/>
        </p:nvSpPr>
        <p:spPr>
          <a:xfrm>
            <a:off x="7994787" y="4361797"/>
            <a:ext cx="3851100" cy="120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Data=single snapshot but cells are at different stages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can you infer “pseudo” time ordering of cells?</a:t>
            </a:r>
            <a:endParaRPr/>
          </a:p>
        </p:txBody>
      </p:sp>
      <p:sp>
        <p:nvSpPr>
          <p:cNvPr id="520" name="Google Shape;520;g3ebf7da3f9f_0_40"/>
          <p:cNvSpPr txBox="1"/>
          <p:nvPr>
            <p:ph type="title"/>
          </p:nvPr>
        </p:nvSpPr>
        <p:spPr>
          <a:xfrm>
            <a:off x="62345" y="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Problems</a:t>
            </a:r>
            <a:endParaRPr/>
          </a:p>
        </p:txBody>
      </p:sp>
      <p:sp>
        <p:nvSpPr>
          <p:cNvPr id="521" name="Google Shape;521;g3ebf7da3f9f_0_40"/>
          <p:cNvSpPr txBox="1"/>
          <p:nvPr>
            <p:ph idx="1" type="body"/>
          </p:nvPr>
        </p:nvSpPr>
        <p:spPr>
          <a:xfrm>
            <a:off x="616782" y="1472260"/>
            <a:ext cx="4756500" cy="917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u="sng"/>
              <a:t>Data integration/differential analysis</a:t>
            </a:r>
            <a:endParaRPr/>
          </a:p>
        </p:txBody>
      </p:sp>
      <p:grpSp>
        <p:nvGrpSpPr>
          <p:cNvPr id="522" name="Google Shape;522;g3ebf7da3f9f_0_40"/>
          <p:cNvGrpSpPr/>
          <p:nvPr/>
        </p:nvGrpSpPr>
        <p:grpSpPr>
          <a:xfrm>
            <a:off x="169560" y="2949610"/>
            <a:ext cx="2369412" cy="2757507"/>
            <a:chOff x="7410024" y="1334062"/>
            <a:chExt cx="2369412" cy="2757507"/>
          </a:xfrm>
        </p:grpSpPr>
        <p:sp>
          <p:nvSpPr>
            <p:cNvPr id="523" name="Google Shape;523;g3ebf7da3f9f_0_40"/>
            <p:cNvSpPr txBox="1"/>
            <p:nvPr/>
          </p:nvSpPr>
          <p:spPr>
            <a:xfrm rot="-5400000">
              <a:off x="6885024" y="2101217"/>
              <a:ext cx="14502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Cells/spots</a:t>
              </a:r>
              <a:endParaRPr/>
            </a:p>
          </p:txBody>
        </p:sp>
        <p:pic>
          <p:nvPicPr>
            <p:cNvPr id="524" name="Google Shape;524;g3ebf7da3f9f_0_40"/>
            <p:cNvPicPr preferRelativeResize="0"/>
            <p:nvPr/>
          </p:nvPicPr>
          <p:blipFill rotWithShape="1">
            <a:blip r:embed="rId4">
              <a:alphaModFix/>
            </a:blip>
            <a:srcRect b="36442" l="25313" r="7383" t="31468"/>
            <a:stretch/>
          </p:blipFill>
          <p:spPr>
            <a:xfrm flipH="1" rot="5400000">
              <a:off x="7548915" y="1872539"/>
              <a:ext cx="2515486" cy="1922575"/>
            </a:xfrm>
            <a:prstGeom prst="rect">
              <a:avLst/>
            </a:prstGeom>
            <a:noFill/>
            <a:ln>
              <a:noFill/>
            </a:ln>
          </p:spPr>
        </p:pic>
        <p:sp>
          <p:nvSpPr>
            <p:cNvPr id="525" name="Google Shape;525;g3ebf7da3f9f_0_40"/>
            <p:cNvSpPr txBox="1"/>
            <p:nvPr/>
          </p:nvSpPr>
          <p:spPr>
            <a:xfrm>
              <a:off x="7763436" y="1334062"/>
              <a:ext cx="20160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Genes (features)</a:t>
              </a:r>
              <a:endParaRPr/>
            </a:p>
          </p:txBody>
        </p:sp>
      </p:grpSp>
      <p:grpSp>
        <p:nvGrpSpPr>
          <p:cNvPr id="526" name="Google Shape;526;g3ebf7da3f9f_0_40"/>
          <p:cNvGrpSpPr/>
          <p:nvPr/>
        </p:nvGrpSpPr>
        <p:grpSpPr>
          <a:xfrm>
            <a:off x="3263529" y="3149665"/>
            <a:ext cx="2369461" cy="1983645"/>
            <a:chOff x="2853152" y="2683011"/>
            <a:chExt cx="2369462" cy="1983645"/>
          </a:xfrm>
        </p:grpSpPr>
        <p:grpSp>
          <p:nvGrpSpPr>
            <p:cNvPr id="527" name="Google Shape;527;g3ebf7da3f9f_0_40"/>
            <p:cNvGrpSpPr/>
            <p:nvPr/>
          </p:nvGrpSpPr>
          <p:grpSpPr>
            <a:xfrm>
              <a:off x="3206613" y="2683011"/>
              <a:ext cx="2016000" cy="1983645"/>
              <a:chOff x="7763436" y="1334062"/>
              <a:chExt cx="2016000" cy="1983645"/>
            </a:xfrm>
          </p:grpSpPr>
          <p:pic>
            <p:nvPicPr>
              <p:cNvPr id="528" name="Google Shape;528;g3ebf7da3f9f_0_40"/>
              <p:cNvPicPr preferRelativeResize="0"/>
              <p:nvPr/>
            </p:nvPicPr>
            <p:blipFill rotWithShape="1">
              <a:blip r:embed="rId4">
                <a:alphaModFix/>
              </a:blip>
              <a:srcRect b="36442" l="50250" r="7381" t="31468"/>
              <a:stretch/>
            </p:blipFill>
            <p:spPr>
              <a:xfrm flipH="1" rot="-5400000">
                <a:off x="8002930" y="1564653"/>
                <a:ext cx="1583534" cy="1922575"/>
              </a:xfrm>
              <a:prstGeom prst="rect">
                <a:avLst/>
              </a:prstGeom>
              <a:noFill/>
              <a:ln>
                <a:noFill/>
              </a:ln>
            </p:spPr>
          </p:pic>
          <p:sp>
            <p:nvSpPr>
              <p:cNvPr id="529" name="Google Shape;529;g3ebf7da3f9f_0_40"/>
              <p:cNvSpPr txBox="1"/>
              <p:nvPr/>
            </p:nvSpPr>
            <p:spPr>
              <a:xfrm>
                <a:off x="7763436" y="1334062"/>
                <a:ext cx="20160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Genes (features)</a:t>
                </a:r>
                <a:endParaRPr/>
              </a:p>
            </p:txBody>
          </p:sp>
        </p:grpSp>
        <p:sp>
          <p:nvSpPr>
            <p:cNvPr id="530" name="Google Shape;530;g3ebf7da3f9f_0_40"/>
            <p:cNvSpPr txBox="1"/>
            <p:nvPr/>
          </p:nvSpPr>
          <p:spPr>
            <a:xfrm rot="-5400000">
              <a:off x="2328152" y="3608256"/>
              <a:ext cx="14502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Cells/spots</a:t>
              </a:r>
              <a:endParaRPr/>
            </a:p>
          </p:txBody>
        </p:sp>
      </p:grpSp>
      <p:sp>
        <p:nvSpPr>
          <p:cNvPr id="531" name="Google Shape;531;g3ebf7da3f9f_0_40"/>
          <p:cNvSpPr txBox="1"/>
          <p:nvPr/>
        </p:nvSpPr>
        <p:spPr>
          <a:xfrm>
            <a:off x="867906" y="2389835"/>
            <a:ext cx="13260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500">
                <a:solidFill>
                  <a:schemeClr val="dk1"/>
                </a:solidFill>
                <a:latin typeface="Arial"/>
                <a:ea typeface="Arial"/>
                <a:cs typeface="Arial"/>
                <a:sym typeface="Arial"/>
              </a:rPr>
              <a:t>Healthy</a:t>
            </a:r>
            <a:endParaRPr/>
          </a:p>
        </p:txBody>
      </p:sp>
      <p:sp>
        <p:nvSpPr>
          <p:cNvPr id="532" name="Google Shape;532;g3ebf7da3f9f_0_40"/>
          <p:cNvSpPr txBox="1"/>
          <p:nvPr/>
        </p:nvSpPr>
        <p:spPr>
          <a:xfrm>
            <a:off x="3811007" y="2389835"/>
            <a:ext cx="1547100" cy="86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500">
                <a:solidFill>
                  <a:schemeClr val="dk1"/>
                </a:solidFill>
                <a:latin typeface="Arial"/>
                <a:ea typeface="Arial"/>
                <a:cs typeface="Arial"/>
                <a:sym typeface="Arial"/>
              </a:rPr>
              <a:t>Diseased</a:t>
            </a:r>
            <a:endParaRPr/>
          </a:p>
        </p:txBody>
      </p:sp>
      <p:sp>
        <p:nvSpPr>
          <p:cNvPr id="533" name="Google Shape;533;g3ebf7da3f9f_0_40"/>
          <p:cNvSpPr txBox="1"/>
          <p:nvPr/>
        </p:nvSpPr>
        <p:spPr>
          <a:xfrm>
            <a:off x="1451685" y="6057319"/>
            <a:ext cx="31731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B050"/>
                </a:solidFill>
                <a:latin typeface="Arial"/>
                <a:ea typeface="Arial"/>
                <a:cs typeface="Arial"/>
                <a:sym typeface="Arial"/>
              </a:rPr>
              <a:t>Cell type disappeared!</a:t>
            </a:r>
            <a:endParaRPr/>
          </a:p>
        </p:txBody>
      </p:sp>
      <p:sp>
        <p:nvSpPr>
          <p:cNvPr id="534" name="Google Shape;534;g3ebf7da3f9f_0_40"/>
          <p:cNvSpPr/>
          <p:nvPr/>
        </p:nvSpPr>
        <p:spPr>
          <a:xfrm>
            <a:off x="569671" y="3251006"/>
            <a:ext cx="2090400" cy="855900"/>
          </a:xfrm>
          <a:prstGeom prst="rect">
            <a:avLst/>
          </a:prstGeom>
          <a:noFill/>
          <a:ln cap="flat" cmpd="sng" w="57150">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535" name="Google Shape;535;g3ebf7da3f9f_0_40"/>
          <p:cNvCxnSpPr/>
          <p:nvPr/>
        </p:nvCxnSpPr>
        <p:spPr>
          <a:xfrm>
            <a:off x="2030680" y="4149830"/>
            <a:ext cx="273000" cy="1864500"/>
          </a:xfrm>
          <a:prstGeom prst="straightConnector1">
            <a:avLst/>
          </a:prstGeom>
          <a:noFill/>
          <a:ln cap="flat" cmpd="sng" w="19050">
            <a:solidFill>
              <a:schemeClr val="accent6"/>
            </a:solidFill>
            <a:prstDash val="solid"/>
            <a:miter lim="8000"/>
            <a:headEnd len="sm" w="sm" type="none"/>
            <a:tailEnd len="med" w="med" type="triangl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23"/>
          <p:cNvSpPr txBox="1"/>
          <p:nvPr>
            <p:ph type="title"/>
          </p:nvPr>
        </p:nvSpPr>
        <p:spPr>
          <a:xfrm>
            <a:off x="386938" y="37700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Problems</a:t>
            </a:r>
            <a:endParaRPr/>
          </a:p>
        </p:txBody>
      </p:sp>
      <p:sp>
        <p:nvSpPr>
          <p:cNvPr id="541" name="Google Shape;541;p23"/>
          <p:cNvSpPr txBox="1"/>
          <p:nvPr/>
        </p:nvSpPr>
        <p:spPr>
          <a:xfrm>
            <a:off x="6647858" y="1396222"/>
            <a:ext cx="5061211" cy="917575"/>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800"/>
              <a:buFont typeface="Arial"/>
              <a:buNone/>
            </a:pPr>
            <a:r>
              <a:rPr lang="en-US" sz="2800" u="sng">
                <a:solidFill>
                  <a:schemeClr val="dk1"/>
                </a:solidFill>
                <a:latin typeface="Arial"/>
                <a:ea typeface="Arial"/>
                <a:cs typeface="Arial"/>
                <a:sym typeface="Arial"/>
              </a:rPr>
              <a:t>(Spatio)temporal time series</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optimal transport, diffusion, …</a:t>
            </a:r>
            <a:endParaRPr/>
          </a:p>
        </p:txBody>
      </p:sp>
      <p:pic>
        <p:nvPicPr>
          <p:cNvPr descr="A diagram of a human body&#10;&#10;AI-generated content may be incorrect." id="542" name="Google Shape;542;p23"/>
          <p:cNvPicPr preferRelativeResize="0"/>
          <p:nvPr/>
        </p:nvPicPr>
        <p:blipFill rotWithShape="1">
          <a:blip r:embed="rId3">
            <a:alphaModFix/>
          </a:blip>
          <a:srcRect b="0" l="0" r="0" t="0"/>
          <a:stretch/>
        </p:blipFill>
        <p:spPr>
          <a:xfrm>
            <a:off x="6931296" y="2290767"/>
            <a:ext cx="4148381" cy="3819641"/>
          </a:xfrm>
          <a:prstGeom prst="rect">
            <a:avLst/>
          </a:prstGeom>
          <a:noFill/>
          <a:ln>
            <a:noFill/>
          </a:ln>
        </p:spPr>
      </p:pic>
      <p:sp>
        <p:nvSpPr>
          <p:cNvPr id="543" name="Google Shape;543;p23"/>
          <p:cNvSpPr txBox="1"/>
          <p:nvPr/>
        </p:nvSpPr>
        <p:spPr>
          <a:xfrm>
            <a:off x="7392565" y="6111668"/>
            <a:ext cx="300717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Mouse embryo E10.5 -&gt; E9.5</a:t>
            </a:r>
            <a:endParaRPr/>
          </a:p>
        </p:txBody>
      </p:sp>
      <p:sp>
        <p:nvSpPr>
          <p:cNvPr id="544" name="Google Shape;544;p23"/>
          <p:cNvSpPr txBox="1"/>
          <p:nvPr/>
        </p:nvSpPr>
        <p:spPr>
          <a:xfrm>
            <a:off x="10112905" y="6581001"/>
            <a:ext cx="193354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7F7F7F"/>
                </a:solidFill>
                <a:latin typeface="Arial"/>
                <a:ea typeface="Arial"/>
                <a:cs typeface="Arial"/>
                <a:sym typeface="Arial"/>
              </a:rPr>
              <a:t>Halmos et al, bioRxiv 2025</a:t>
            </a:r>
            <a:endParaRPr/>
          </a:p>
        </p:txBody>
      </p:sp>
      <p:sp>
        <p:nvSpPr>
          <p:cNvPr id="545" name="Google Shape;545;p23"/>
          <p:cNvSpPr txBox="1"/>
          <p:nvPr/>
        </p:nvSpPr>
        <p:spPr>
          <a:xfrm>
            <a:off x="809557" y="1780882"/>
            <a:ext cx="3868200" cy="8442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800"/>
              <a:buFont typeface="Arial"/>
              <a:buNone/>
            </a:pPr>
            <a:r>
              <a:rPr lang="en-US" sz="2800" u="sng">
                <a:solidFill>
                  <a:schemeClr val="dk1"/>
                </a:solidFill>
                <a:latin typeface="Arial"/>
                <a:ea typeface="Arial"/>
                <a:cs typeface="Arial"/>
                <a:sym typeface="Arial"/>
              </a:rPr>
              <a:t>Trajectory inference</a:t>
            </a:r>
            <a:endParaRPr/>
          </a:p>
        </p:txBody>
      </p:sp>
      <p:pic>
        <p:nvPicPr>
          <p:cNvPr descr="Chapter 10 Trajectory Analysis | Advanced Single-Cell Analysis with  Bioconductor" id="546" name="Google Shape;546;p23"/>
          <p:cNvPicPr preferRelativeResize="0"/>
          <p:nvPr/>
        </p:nvPicPr>
        <p:blipFill rotWithShape="1">
          <a:blip r:embed="rId4">
            <a:alphaModFix/>
          </a:blip>
          <a:srcRect b="0" l="0" r="0" t="0"/>
          <a:stretch/>
        </p:blipFill>
        <p:spPr>
          <a:xfrm>
            <a:off x="634190" y="2326503"/>
            <a:ext cx="3668485" cy="2620346"/>
          </a:xfrm>
          <a:prstGeom prst="rect">
            <a:avLst/>
          </a:prstGeom>
          <a:noFill/>
          <a:ln>
            <a:noFill/>
          </a:ln>
        </p:spPr>
      </p:pic>
      <p:sp>
        <p:nvSpPr>
          <p:cNvPr id="547" name="Google Shape;547;p23"/>
          <p:cNvSpPr txBox="1"/>
          <p:nvPr/>
        </p:nvSpPr>
        <p:spPr>
          <a:xfrm>
            <a:off x="542887" y="5076172"/>
            <a:ext cx="3851100" cy="120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Data=single snapshot but cells are at different stages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can you infer “pseudo” time ordering of cells?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g3ebf7da3f9f_0_8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554" name="Google Shape;554;g3ebf7da3f9f_0_81"/>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Add some more applications: segmentation, multi-omics / gene regulatory inference, histology + ST, spatial gradients, foundation models……</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US"/>
              <a:t>Organize applications better</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24"/>
          <p:cNvSpPr txBox="1"/>
          <p:nvPr>
            <p:ph type="title"/>
          </p:nvPr>
        </p:nvSpPr>
        <p:spPr>
          <a:xfrm>
            <a:off x="137556" y="223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Applications</a:t>
            </a:r>
            <a:endParaRPr/>
          </a:p>
        </p:txBody>
      </p:sp>
      <p:grpSp>
        <p:nvGrpSpPr>
          <p:cNvPr id="560" name="Google Shape;560;p24"/>
          <p:cNvGrpSpPr/>
          <p:nvPr/>
        </p:nvGrpSpPr>
        <p:grpSpPr>
          <a:xfrm>
            <a:off x="6934452" y="2380732"/>
            <a:ext cx="2660824" cy="3099025"/>
            <a:chOff x="509901" y="1888175"/>
            <a:chExt cx="2660824" cy="3099025"/>
          </a:xfrm>
        </p:grpSpPr>
        <p:pic>
          <p:nvPicPr>
            <p:cNvPr id="561" name="Google Shape;561;p24"/>
            <p:cNvPicPr preferRelativeResize="0"/>
            <p:nvPr/>
          </p:nvPicPr>
          <p:blipFill rotWithShape="1">
            <a:blip r:embed="rId3">
              <a:alphaModFix/>
            </a:blip>
            <a:srcRect b="36444" l="29315" r="10632" t="31466"/>
            <a:stretch/>
          </p:blipFill>
          <p:spPr>
            <a:xfrm flipH="1" rot="5400000">
              <a:off x="348970" y="2049106"/>
              <a:ext cx="2244437" cy="1922575"/>
            </a:xfrm>
            <a:prstGeom prst="rect">
              <a:avLst/>
            </a:prstGeom>
            <a:noFill/>
            <a:ln cap="flat" cmpd="sng" w="28575">
              <a:solidFill>
                <a:schemeClr val="dk1"/>
              </a:solidFill>
              <a:prstDash val="solid"/>
              <a:round/>
              <a:headEnd len="sm" w="sm" type="none"/>
              <a:tailEnd len="sm" w="sm" type="none"/>
            </a:ln>
          </p:spPr>
        </p:pic>
        <p:pic>
          <p:nvPicPr>
            <p:cNvPr id="562" name="Google Shape;562;p24"/>
            <p:cNvPicPr preferRelativeResize="0"/>
            <p:nvPr/>
          </p:nvPicPr>
          <p:blipFill rotWithShape="1">
            <a:blip r:embed="rId3">
              <a:alphaModFix/>
            </a:blip>
            <a:srcRect b="36444" l="29315" r="10632" t="31466"/>
            <a:stretch/>
          </p:blipFill>
          <p:spPr>
            <a:xfrm flipH="1" rot="5400000">
              <a:off x="477619" y="2294094"/>
              <a:ext cx="2244437" cy="1922575"/>
            </a:xfrm>
            <a:prstGeom prst="rect">
              <a:avLst/>
            </a:prstGeom>
            <a:noFill/>
            <a:ln cap="flat" cmpd="sng" w="28575">
              <a:solidFill>
                <a:schemeClr val="dk1"/>
              </a:solidFill>
              <a:prstDash val="solid"/>
              <a:round/>
              <a:headEnd len="sm" w="sm" type="none"/>
              <a:tailEnd len="sm" w="sm" type="none"/>
            </a:ln>
          </p:spPr>
        </p:pic>
        <p:pic>
          <p:nvPicPr>
            <p:cNvPr id="563" name="Google Shape;563;p24"/>
            <p:cNvPicPr preferRelativeResize="0"/>
            <p:nvPr/>
          </p:nvPicPr>
          <p:blipFill rotWithShape="1">
            <a:blip r:embed="rId3">
              <a:alphaModFix/>
            </a:blip>
            <a:srcRect b="36444" l="29315" r="10632" t="31466"/>
            <a:stretch/>
          </p:blipFill>
          <p:spPr>
            <a:xfrm flipH="1" rot="5400000">
              <a:off x="630019" y="2446494"/>
              <a:ext cx="2244437" cy="1922575"/>
            </a:xfrm>
            <a:prstGeom prst="rect">
              <a:avLst/>
            </a:prstGeom>
            <a:noFill/>
            <a:ln cap="flat" cmpd="sng" w="28575">
              <a:solidFill>
                <a:schemeClr val="dk1"/>
              </a:solidFill>
              <a:prstDash val="solid"/>
              <a:round/>
              <a:headEnd len="sm" w="sm" type="none"/>
              <a:tailEnd len="sm" w="sm" type="none"/>
            </a:ln>
          </p:spPr>
        </p:pic>
        <p:pic>
          <p:nvPicPr>
            <p:cNvPr id="564" name="Google Shape;564;p24"/>
            <p:cNvPicPr preferRelativeResize="0"/>
            <p:nvPr/>
          </p:nvPicPr>
          <p:blipFill rotWithShape="1">
            <a:blip r:embed="rId3">
              <a:alphaModFix/>
            </a:blip>
            <a:srcRect b="36444" l="29315" r="10632" t="31466"/>
            <a:stretch/>
          </p:blipFill>
          <p:spPr>
            <a:xfrm flipH="1" rot="5400000">
              <a:off x="782419" y="2598894"/>
              <a:ext cx="2244437" cy="1922575"/>
            </a:xfrm>
            <a:prstGeom prst="rect">
              <a:avLst/>
            </a:prstGeom>
            <a:noFill/>
            <a:ln cap="flat" cmpd="sng" w="28575">
              <a:solidFill>
                <a:schemeClr val="dk1"/>
              </a:solidFill>
              <a:prstDash val="solid"/>
              <a:round/>
              <a:headEnd len="sm" w="sm" type="none"/>
              <a:tailEnd len="sm" w="sm" type="none"/>
            </a:ln>
          </p:spPr>
        </p:pic>
        <p:pic>
          <p:nvPicPr>
            <p:cNvPr id="565" name="Google Shape;565;p24"/>
            <p:cNvPicPr preferRelativeResize="0"/>
            <p:nvPr/>
          </p:nvPicPr>
          <p:blipFill rotWithShape="1">
            <a:blip r:embed="rId3">
              <a:alphaModFix/>
            </a:blip>
            <a:srcRect b="36444" l="29315" r="10632" t="31466"/>
            <a:stretch/>
          </p:blipFill>
          <p:spPr>
            <a:xfrm flipH="1" rot="5400000">
              <a:off x="934819" y="2751294"/>
              <a:ext cx="2244437" cy="1922575"/>
            </a:xfrm>
            <a:prstGeom prst="rect">
              <a:avLst/>
            </a:prstGeom>
            <a:noFill/>
            <a:ln cap="flat" cmpd="sng" w="28575">
              <a:solidFill>
                <a:schemeClr val="dk1"/>
              </a:solidFill>
              <a:prstDash val="solid"/>
              <a:round/>
              <a:headEnd len="sm" w="sm" type="none"/>
              <a:tailEnd len="sm" w="sm" type="none"/>
            </a:ln>
          </p:spPr>
        </p:pic>
        <p:pic>
          <p:nvPicPr>
            <p:cNvPr id="566" name="Google Shape;566;p24"/>
            <p:cNvPicPr preferRelativeResize="0"/>
            <p:nvPr/>
          </p:nvPicPr>
          <p:blipFill rotWithShape="1">
            <a:blip r:embed="rId3">
              <a:alphaModFix/>
            </a:blip>
            <a:srcRect b="36444" l="29315" r="10632" t="31466"/>
            <a:stretch/>
          </p:blipFill>
          <p:spPr>
            <a:xfrm flipH="1" rot="5400000">
              <a:off x="1087219" y="2903694"/>
              <a:ext cx="2244437" cy="1922575"/>
            </a:xfrm>
            <a:prstGeom prst="rect">
              <a:avLst/>
            </a:prstGeom>
            <a:noFill/>
            <a:ln cap="flat" cmpd="sng" w="28575">
              <a:solidFill>
                <a:schemeClr val="dk1"/>
              </a:solidFill>
              <a:prstDash val="solid"/>
              <a:round/>
              <a:headEnd len="sm" w="sm" type="none"/>
              <a:tailEnd len="sm" w="sm" type="none"/>
            </a:ln>
          </p:spPr>
        </p:pic>
      </p:grpSp>
      <p:sp>
        <p:nvSpPr>
          <p:cNvPr id="567" name="Google Shape;567;p24"/>
          <p:cNvSpPr txBox="1"/>
          <p:nvPr/>
        </p:nvSpPr>
        <p:spPr>
          <a:xfrm>
            <a:off x="6042318" y="969628"/>
            <a:ext cx="5679374" cy="12464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500" u="sng">
                <a:solidFill>
                  <a:schemeClr val="dk1"/>
                </a:solidFill>
                <a:latin typeface="Arial"/>
                <a:ea typeface="Arial"/>
                <a:cs typeface="Arial"/>
                <a:sym typeface="Arial"/>
              </a:rPr>
              <a:t>Foundation models</a:t>
            </a:r>
            <a:endParaRPr/>
          </a:p>
          <a:p>
            <a:pPr indent="-342900" lvl="0" marL="342900" marR="0" rtl="0" algn="l">
              <a:spcBef>
                <a:spcPts val="0"/>
              </a:spcBef>
              <a:spcAft>
                <a:spcPts val="0"/>
              </a:spcAft>
              <a:buClr>
                <a:schemeClr val="dk1"/>
              </a:buClr>
              <a:buSzPts val="2500"/>
              <a:buFont typeface="Arial"/>
              <a:buChar char="•"/>
            </a:pPr>
            <a:r>
              <a:rPr lang="en-US" sz="2500">
                <a:solidFill>
                  <a:schemeClr val="dk1"/>
                </a:solidFill>
                <a:latin typeface="Arial"/>
                <a:ea typeface="Arial"/>
                <a:cs typeface="Arial"/>
                <a:sym typeface="Arial"/>
              </a:rPr>
              <a:t>How to learn insights from </a:t>
            </a:r>
            <a:r>
              <a:rPr b="1" lang="en-US" sz="2500">
                <a:solidFill>
                  <a:schemeClr val="dk1"/>
                </a:solidFill>
                <a:latin typeface="Arial"/>
                <a:ea typeface="Arial"/>
                <a:cs typeface="Arial"/>
                <a:sym typeface="Arial"/>
              </a:rPr>
              <a:t>large</a:t>
            </a:r>
            <a:r>
              <a:rPr lang="en-US" sz="2500">
                <a:solidFill>
                  <a:schemeClr val="dk1"/>
                </a:solidFill>
                <a:latin typeface="Arial"/>
                <a:ea typeface="Arial"/>
                <a:cs typeface="Arial"/>
                <a:sym typeface="Arial"/>
              </a:rPr>
              <a:t> volume of datasets?</a:t>
            </a:r>
            <a:endParaRPr/>
          </a:p>
        </p:txBody>
      </p:sp>
      <p:sp>
        <p:nvSpPr>
          <p:cNvPr id="568" name="Google Shape;568;p24"/>
          <p:cNvSpPr txBox="1"/>
          <p:nvPr/>
        </p:nvSpPr>
        <p:spPr>
          <a:xfrm>
            <a:off x="250250" y="1236150"/>
            <a:ext cx="5679374" cy="4770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500" u="sng">
                <a:solidFill>
                  <a:schemeClr val="dk1"/>
                </a:solidFill>
                <a:latin typeface="Arial"/>
                <a:ea typeface="Arial"/>
                <a:cs typeface="Arial"/>
                <a:sym typeface="Arial"/>
              </a:rPr>
              <a:t>Multi-modal data</a:t>
            </a:r>
            <a:endParaRPr/>
          </a:p>
        </p:txBody>
      </p:sp>
      <p:pic>
        <p:nvPicPr>
          <p:cNvPr descr="Hot deep neural networks definition Deals 12 Types of Neural Networks in  Deep Learning" id="569" name="Google Shape;569;p24"/>
          <p:cNvPicPr preferRelativeResize="0"/>
          <p:nvPr/>
        </p:nvPicPr>
        <p:blipFill rotWithShape="1">
          <a:blip r:embed="rId4">
            <a:alphaModFix/>
          </a:blip>
          <a:srcRect b="18398" l="27016" r="22531" t="4581"/>
          <a:stretch/>
        </p:blipFill>
        <p:spPr>
          <a:xfrm>
            <a:off x="9951522" y="2942748"/>
            <a:ext cx="1944742" cy="1610380"/>
          </a:xfrm>
          <a:prstGeom prst="rect">
            <a:avLst/>
          </a:prstGeom>
          <a:noFill/>
          <a:ln>
            <a:noFill/>
          </a:ln>
        </p:spPr>
      </p:pic>
      <p:pic>
        <p:nvPicPr>
          <p:cNvPr descr="A diagram of a diagram of a barcode&#10;&#10;AI-generated content may be incorrect." id="570" name="Google Shape;570;p24"/>
          <p:cNvPicPr preferRelativeResize="0"/>
          <p:nvPr/>
        </p:nvPicPr>
        <p:blipFill rotWithShape="1">
          <a:blip r:embed="rId5">
            <a:alphaModFix/>
          </a:blip>
          <a:srcRect b="0" l="0" r="0" t="0"/>
          <a:stretch/>
        </p:blipFill>
        <p:spPr>
          <a:xfrm>
            <a:off x="295736" y="4473481"/>
            <a:ext cx="3516243" cy="2362194"/>
          </a:xfrm>
          <a:prstGeom prst="rect">
            <a:avLst/>
          </a:prstGeom>
          <a:noFill/>
          <a:ln>
            <a:noFill/>
          </a:ln>
        </p:spPr>
      </p:pic>
      <p:pic>
        <p:nvPicPr>
          <p:cNvPr id="571" name="Google Shape;571;p24"/>
          <p:cNvPicPr preferRelativeResize="0"/>
          <p:nvPr/>
        </p:nvPicPr>
        <p:blipFill rotWithShape="1">
          <a:blip r:embed="rId3">
            <a:alphaModFix/>
          </a:blip>
          <a:srcRect b="36444" l="58280" r="10855" t="31466"/>
          <a:stretch/>
        </p:blipFill>
        <p:spPr>
          <a:xfrm flipH="1" rot="5400000">
            <a:off x="622743" y="2341899"/>
            <a:ext cx="1806738" cy="1922575"/>
          </a:xfrm>
          <a:prstGeom prst="rect">
            <a:avLst/>
          </a:prstGeom>
          <a:noFill/>
          <a:ln>
            <a:noFill/>
          </a:ln>
        </p:spPr>
      </p:pic>
      <p:sp>
        <p:nvSpPr>
          <p:cNvPr id="572" name="Google Shape;572;p24"/>
          <p:cNvSpPr txBox="1"/>
          <p:nvPr/>
        </p:nvSpPr>
        <p:spPr>
          <a:xfrm rot="-5400000">
            <a:off x="-20622" y="2632273"/>
            <a:ext cx="814647" cy="430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200">
                <a:solidFill>
                  <a:schemeClr val="dk1"/>
                </a:solidFill>
                <a:latin typeface="Arial"/>
                <a:ea typeface="Arial"/>
                <a:cs typeface="Arial"/>
                <a:sym typeface="Arial"/>
              </a:rPr>
              <a:t>Cells</a:t>
            </a:r>
            <a:endParaRPr/>
          </a:p>
        </p:txBody>
      </p:sp>
      <p:sp>
        <p:nvSpPr>
          <p:cNvPr id="573" name="Google Shape;573;p24"/>
          <p:cNvSpPr txBox="1"/>
          <p:nvPr/>
        </p:nvSpPr>
        <p:spPr>
          <a:xfrm>
            <a:off x="564824" y="2011399"/>
            <a:ext cx="976549" cy="430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200">
                <a:solidFill>
                  <a:schemeClr val="dk1"/>
                </a:solidFill>
                <a:latin typeface="Arial"/>
                <a:ea typeface="Arial"/>
                <a:cs typeface="Arial"/>
                <a:sym typeface="Arial"/>
              </a:rPr>
              <a:t>Genes</a:t>
            </a:r>
            <a:endParaRPr/>
          </a:p>
        </p:txBody>
      </p:sp>
      <p:pic>
        <p:nvPicPr>
          <p:cNvPr id="574" name="Google Shape;574;p24"/>
          <p:cNvPicPr preferRelativeResize="0"/>
          <p:nvPr/>
        </p:nvPicPr>
        <p:blipFill rotWithShape="1">
          <a:blip r:embed="rId3">
            <a:alphaModFix/>
          </a:blip>
          <a:srcRect b="36444" l="58280" r="10855" t="49451"/>
          <a:stretch/>
        </p:blipFill>
        <p:spPr>
          <a:xfrm flipH="1" rot="5400000">
            <a:off x="2260441" y="2889838"/>
            <a:ext cx="1806738" cy="845076"/>
          </a:xfrm>
          <a:prstGeom prst="rect">
            <a:avLst/>
          </a:prstGeom>
          <a:noFill/>
          <a:ln>
            <a:noFill/>
          </a:ln>
        </p:spPr>
      </p:pic>
      <p:sp>
        <p:nvSpPr>
          <p:cNvPr id="575" name="Google Shape;575;p24"/>
          <p:cNvSpPr txBox="1"/>
          <p:nvPr/>
        </p:nvSpPr>
        <p:spPr>
          <a:xfrm>
            <a:off x="2535650" y="1981130"/>
            <a:ext cx="136563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Metabolites</a:t>
            </a:r>
            <a:endParaRPr/>
          </a:p>
        </p:txBody>
      </p:sp>
      <p:pic>
        <p:nvPicPr>
          <p:cNvPr id="576" name="Google Shape;576;p24"/>
          <p:cNvPicPr preferRelativeResize="0"/>
          <p:nvPr/>
        </p:nvPicPr>
        <p:blipFill rotWithShape="1">
          <a:blip r:embed="rId3">
            <a:alphaModFix/>
          </a:blip>
          <a:srcRect b="54606" l="39685" r="29450" t="31289"/>
          <a:stretch/>
        </p:blipFill>
        <p:spPr>
          <a:xfrm flipH="1" rot="5400000">
            <a:off x="3536693" y="2863724"/>
            <a:ext cx="1806738" cy="845078"/>
          </a:xfrm>
          <a:prstGeom prst="rect">
            <a:avLst/>
          </a:prstGeom>
          <a:noFill/>
          <a:ln>
            <a:noFill/>
          </a:ln>
        </p:spPr>
      </p:pic>
      <p:sp>
        <p:nvSpPr>
          <p:cNvPr id="577" name="Google Shape;577;p24"/>
          <p:cNvSpPr txBox="1"/>
          <p:nvPr/>
        </p:nvSpPr>
        <p:spPr>
          <a:xfrm>
            <a:off x="4118499" y="1960842"/>
            <a:ext cx="64312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DNA</a:t>
            </a:r>
            <a:endParaRPr/>
          </a:p>
        </p:txBody>
      </p:sp>
      <p:sp>
        <p:nvSpPr>
          <p:cNvPr id="578" name="Google Shape;578;p24"/>
          <p:cNvSpPr txBox="1"/>
          <p:nvPr/>
        </p:nvSpPr>
        <p:spPr>
          <a:xfrm>
            <a:off x="4958074" y="2721114"/>
            <a:ext cx="604653"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000">
                <a:solidFill>
                  <a:schemeClr val="dk1"/>
                </a:solidFill>
                <a:latin typeface="Arial"/>
                <a:ea typeface="Arial"/>
                <a:cs typeface="Arial"/>
                <a:sym typeface="Arial"/>
              </a:rPr>
              <a: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25"/>
          <p:cNvSpPr txBox="1"/>
          <p:nvPr>
            <p:ph type="title"/>
          </p:nvPr>
        </p:nvSpPr>
        <p:spPr>
          <a:xfrm>
            <a:off x="137555" y="0"/>
            <a:ext cx="1177339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Tentative course roadmap</a:t>
            </a:r>
            <a:endParaRPr/>
          </a:p>
        </p:txBody>
      </p:sp>
      <p:sp>
        <p:nvSpPr>
          <p:cNvPr id="584" name="Google Shape;584;p25"/>
          <p:cNvSpPr txBox="1"/>
          <p:nvPr>
            <p:ph idx="1" type="body"/>
          </p:nvPr>
        </p:nvSpPr>
        <p:spPr>
          <a:xfrm>
            <a:off x="600694" y="1325563"/>
            <a:ext cx="10515600" cy="531274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Part 1: dimensionality reduction</a:t>
            </a:r>
            <a:endParaRPr/>
          </a:p>
          <a:p>
            <a:pPr indent="0" lvl="0" marL="0" rtl="0" algn="l">
              <a:lnSpc>
                <a:spcPct val="90000"/>
              </a:lnSpc>
              <a:spcBef>
                <a:spcPts val="1000"/>
              </a:spcBef>
              <a:spcAft>
                <a:spcPts val="0"/>
              </a:spcAft>
              <a:buClr>
                <a:schemeClr val="dk1"/>
              </a:buClr>
              <a:buSzPts val="2800"/>
              <a:buNone/>
            </a:pPr>
            <a:r>
              <a:rPr lang="en-US"/>
              <a:t>PCA, NMF, factor analysis</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Part 2: graphs and manifold learning</a:t>
            </a:r>
            <a:endParaRPr/>
          </a:p>
          <a:p>
            <a:pPr indent="0" lvl="0" marL="0" rtl="0" algn="l">
              <a:lnSpc>
                <a:spcPct val="90000"/>
              </a:lnSpc>
              <a:spcBef>
                <a:spcPts val="1000"/>
              </a:spcBef>
              <a:spcAft>
                <a:spcPts val="0"/>
              </a:spcAft>
              <a:buClr>
                <a:schemeClr val="dk1"/>
              </a:buClr>
              <a:buSzPts val="2800"/>
              <a:buNone/>
            </a:pPr>
            <a:r>
              <a:rPr lang="en-US"/>
              <a:t>Neighborhood graphs, random walks, diffusion, clustering, trajectories</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Part 3: optimal transport and flow matching</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Next class: refresher on ML/stats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2026-01-18T19:39:29Z</dcterms:created>
  <dc:creator>Uthsav Chitra</dc:creator>
</cp:coreProperties>
</file>
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1847" r:id="rId3"/>
    <p:sldId id="1848" r:id="rId4"/>
    <p:sldId id="1851" r:id="rId5"/>
    <p:sldId id="1849" r:id="rId6"/>
    <p:sldId id="1850" r:id="rId7"/>
    <p:sldId id="1852" r:id="rId8"/>
    <p:sldId id="1860" r:id="rId9"/>
    <p:sldId id="1854" r:id="rId10"/>
    <p:sldId id="1859" r:id="rId11"/>
    <p:sldId id="1862" r:id="rId12"/>
    <p:sldId id="1855" r:id="rId13"/>
    <p:sldId id="1858" r:id="rId14"/>
    <p:sldId id="1856" r:id="rId15"/>
    <p:sldId id="1861" r:id="rId16"/>
    <p:sldId id="257" r:id="rId17"/>
    <p:sldId id="1853" r:id="rId18"/>
    <p:sldId id="264" r:id="rId19"/>
    <p:sldId id="1857" r:id="rId20"/>
    <p:sldId id="272" r:id="rId21"/>
    <p:sldId id="273" r:id="rId22"/>
    <p:sldId id="425" r:id="rId23"/>
    <p:sldId id="1865" r:id="rId24"/>
    <p:sldId id="426" r:id="rId25"/>
    <p:sldId id="266" r:id="rId26"/>
    <p:sldId id="1843" r:id="rId27"/>
    <p:sldId id="270" r:id="rId28"/>
    <p:sldId id="1863" r:id="rId29"/>
    <p:sldId id="1846" r:id="rId30"/>
    <p:sldId id="1844" r:id="rId31"/>
    <p:sldId id="1864" r:id="rId32"/>
    <p:sldId id="1845" r:id="rId33"/>
    <p:sldId id="265"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66"/>
    <p:restoredTop sz="94557"/>
  </p:normalViewPr>
  <p:slideViewPr>
    <p:cSldViewPr snapToGrid="0">
      <p:cViewPr varScale="1">
        <p:scale>
          <a:sx n="129" d="100"/>
          <a:sy n="129" d="100"/>
        </p:scale>
        <p:origin x="144"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9A3A4B-C475-AC41-80A2-C8FBF29EFC4E}" type="datetimeFigureOut">
              <a:rPr lang="en-US" smtClean="0"/>
              <a:t>8/29/26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798662-54CD-334A-8FC1-72498E71561A}" type="slidenum">
              <a:rPr lang="en-US" smtClean="0"/>
              <a:t>‹#›</a:t>
            </a:fld>
            <a:endParaRPr lang="en-US"/>
          </a:p>
        </p:txBody>
      </p:sp>
    </p:spTree>
    <p:extLst>
      <p:ext uri="{BB962C8B-B14F-4D97-AF65-F5344CB8AC3E}">
        <p14:creationId xmlns:p14="http://schemas.microsoft.com/office/powerpoint/2010/main" val="4261277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delve any deeper</a:t>
            </a:r>
            <a:r>
              <a:rPr lang="en-US" baseline="0" dirty="0"/>
              <a:t> into this topic I will first briefly review gene expression and RNA sequencing. </a:t>
            </a:r>
          </a:p>
          <a:p>
            <a:endParaRPr lang="en-US" baseline="0" dirty="0"/>
          </a:p>
          <a:p>
            <a:r>
              <a:rPr lang="en-US" baseline="0" dirty="0"/>
              <a:t>Gene expression is the quantity and relative proportions of mRNA transcripts in a cell. These mRNA transcripts are transcribed from genes within the genome and then translated into proteins, so in this way the gene expression, or the expression of mRNA transcripts, determines cell type and function</a:t>
            </a:r>
            <a:endParaRPr lang="en-US" dirty="0"/>
          </a:p>
        </p:txBody>
      </p:sp>
      <p:sp>
        <p:nvSpPr>
          <p:cNvPr id="4" name="Slide Number Placeholder 3"/>
          <p:cNvSpPr>
            <a:spLocks noGrp="1"/>
          </p:cNvSpPr>
          <p:nvPr>
            <p:ph type="sldNum" sz="quarter" idx="10"/>
          </p:nvPr>
        </p:nvSpPr>
        <p:spPr/>
        <p:txBody>
          <a:bodyPr/>
          <a:lstStyle/>
          <a:p>
            <a:fld id="{C1C8D8D4-02D8-ED42-8FF0-5BBCCE9B4549}" type="slidenum">
              <a:rPr lang="en-US" smtClean="0"/>
              <a:t>20</a:t>
            </a:fld>
            <a:endParaRPr lang="en-US"/>
          </a:p>
        </p:txBody>
      </p:sp>
    </p:spTree>
    <p:extLst>
      <p:ext uri="{BB962C8B-B14F-4D97-AF65-F5344CB8AC3E}">
        <p14:creationId xmlns:p14="http://schemas.microsoft.com/office/powerpoint/2010/main" val="518681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toy example </a:t>
            </a:r>
            <a:r>
              <a:rPr lang="en-US" baseline="0" dirty="0"/>
              <a:t>we have two different brain cell types, a neuron and an oligodendrocyte, which have different gene expression.</a:t>
            </a:r>
          </a:p>
          <a:p>
            <a:endParaRPr lang="en-US" baseline="0" dirty="0"/>
          </a:p>
          <a:p>
            <a:r>
              <a:rPr lang="en-US" baseline="0" dirty="0"/>
              <a:t>The neuron has high expression of gene B and the oligodendrocyte has high expression of gene A.</a:t>
            </a:r>
            <a:endParaRPr lang="en-US" dirty="0"/>
          </a:p>
        </p:txBody>
      </p:sp>
      <p:sp>
        <p:nvSpPr>
          <p:cNvPr id="4" name="Slide Number Placeholder 3"/>
          <p:cNvSpPr>
            <a:spLocks noGrp="1"/>
          </p:cNvSpPr>
          <p:nvPr>
            <p:ph type="sldNum" sz="quarter" idx="10"/>
          </p:nvPr>
        </p:nvSpPr>
        <p:spPr/>
        <p:txBody>
          <a:bodyPr/>
          <a:lstStyle/>
          <a:p>
            <a:fld id="{C1C8D8D4-02D8-ED42-8FF0-5BBCCE9B4549}" type="slidenum">
              <a:rPr lang="en-US" smtClean="0"/>
              <a:t>21</a:t>
            </a:fld>
            <a:endParaRPr lang="en-US"/>
          </a:p>
        </p:txBody>
      </p:sp>
    </p:spTree>
    <p:extLst>
      <p:ext uri="{BB962C8B-B14F-4D97-AF65-F5344CB8AC3E}">
        <p14:creationId xmlns:p14="http://schemas.microsoft.com/office/powerpoint/2010/main" val="20235173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newer technologies are called droplet-based single cell sequencing are more commonly used due to their ability to sequence many more cells. These include drop-</a:t>
            </a:r>
            <a:r>
              <a:rPr lang="en-US" baseline="0" dirty="0" err="1"/>
              <a:t>seq</a:t>
            </a:r>
            <a:r>
              <a:rPr lang="en-US" baseline="0" dirty="0"/>
              <a:t>, </a:t>
            </a:r>
            <a:r>
              <a:rPr lang="en-US" baseline="0" dirty="0" err="1"/>
              <a:t>inDrops</a:t>
            </a:r>
            <a:r>
              <a:rPr lang="en-US" baseline="0" dirty="0"/>
              <a:t>, and 10X Genomics. 10X Genomics droplet based technology is by far the most commonly used currently. With droplet based methods, cells are encapsulated in tiny droplets of oil, where each droplet contains a bead covered in barcodes unique to that droplet. With this technology we can now sequence from 1000 to up to 100,000 cells on a single sequencing run. However this comes at the cost of sequencing only about 70 thousand reads per cell instead of 1 million using plate-based methods.</a:t>
            </a:r>
          </a:p>
          <a:p>
            <a:endParaRPr lang="en-US" baseline="0" dirty="0"/>
          </a:p>
          <a:p>
            <a:r>
              <a:rPr lang="en-US" baseline="0" dirty="0"/>
              <a:t>This ability to assign barcoded reads to cells allows us to retain cell type information and investigate cellular heterogeneity within a single sample.</a:t>
            </a:r>
          </a:p>
          <a:p>
            <a:endParaRPr lang="en-US" baseline="0" dirty="0"/>
          </a:p>
        </p:txBody>
      </p:sp>
      <p:sp>
        <p:nvSpPr>
          <p:cNvPr id="4" name="Slide Number Placeholder 3"/>
          <p:cNvSpPr>
            <a:spLocks noGrp="1"/>
          </p:cNvSpPr>
          <p:nvPr>
            <p:ph type="sldNum" sz="quarter" idx="10"/>
          </p:nvPr>
        </p:nvSpPr>
        <p:spPr/>
        <p:txBody>
          <a:bodyPr/>
          <a:lstStyle/>
          <a:p>
            <a:fld id="{C1C8D8D4-02D8-ED42-8FF0-5BBCCE9B4549}" type="slidenum">
              <a:rPr lang="en-US" smtClean="0"/>
              <a:t>22</a:t>
            </a:fld>
            <a:endParaRPr lang="en-US"/>
          </a:p>
        </p:txBody>
      </p:sp>
    </p:spTree>
    <p:extLst>
      <p:ext uri="{BB962C8B-B14F-4D97-AF65-F5344CB8AC3E}">
        <p14:creationId xmlns:p14="http://schemas.microsoft.com/office/powerpoint/2010/main" val="13415908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378EB-D338-8479-2156-82CDE52ACA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79FB84-D4CC-121B-7E0C-86B67A0C48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14AB11-9E0B-70AD-C975-8A6F3A7B17E9}"/>
              </a:ext>
            </a:extLst>
          </p:cNvPr>
          <p:cNvSpPr>
            <a:spLocks noGrp="1"/>
          </p:cNvSpPr>
          <p:nvPr>
            <p:ph type="body" idx="1"/>
          </p:nvPr>
        </p:nvSpPr>
        <p:spPr/>
        <p:txBody>
          <a:bodyPr/>
          <a:lstStyle/>
          <a:p>
            <a:r>
              <a:rPr lang="en-US" dirty="0"/>
              <a:t>The</a:t>
            </a:r>
            <a:r>
              <a:rPr lang="en-US" baseline="0" dirty="0"/>
              <a:t> newer technologies are called droplet-based single cell sequencing are more commonly used due to their ability to sequence many more cells. These include drop-</a:t>
            </a:r>
            <a:r>
              <a:rPr lang="en-US" baseline="0" dirty="0" err="1"/>
              <a:t>seq</a:t>
            </a:r>
            <a:r>
              <a:rPr lang="en-US" baseline="0" dirty="0"/>
              <a:t>, </a:t>
            </a:r>
            <a:r>
              <a:rPr lang="en-US" baseline="0" dirty="0" err="1"/>
              <a:t>inDrops</a:t>
            </a:r>
            <a:r>
              <a:rPr lang="en-US" baseline="0" dirty="0"/>
              <a:t>, and 10X Genomics. 10X Genomics droplet based technology is by far the most commonly used currently. With droplet based methods, cells are encapsulated in tiny droplets of oil, where each droplet contains a bead covered in barcodes unique to that droplet. With this technology we can now sequence from 1000 to up to 100,000 cells on a single sequencing run. However this comes at the cost of sequencing only about 70 thousand reads per cell instead of 1 million using plate-based methods.</a:t>
            </a:r>
          </a:p>
          <a:p>
            <a:endParaRPr lang="en-US" baseline="0" dirty="0"/>
          </a:p>
          <a:p>
            <a:r>
              <a:rPr lang="en-US" baseline="0" dirty="0"/>
              <a:t>This ability to assign barcoded reads to cells allows us to retain cell type information and investigate cellular heterogeneity within a single sample.</a:t>
            </a:r>
          </a:p>
          <a:p>
            <a:endParaRPr lang="en-US" baseline="0" dirty="0"/>
          </a:p>
        </p:txBody>
      </p:sp>
      <p:sp>
        <p:nvSpPr>
          <p:cNvPr id="4" name="Slide Number Placeholder 3">
            <a:extLst>
              <a:ext uri="{FF2B5EF4-FFF2-40B4-BE49-F238E27FC236}">
                <a16:creationId xmlns:a16="http://schemas.microsoft.com/office/drawing/2014/main" id="{CD6E078B-AA8E-DD17-A974-F6E8A739ACDB}"/>
              </a:ext>
            </a:extLst>
          </p:cNvPr>
          <p:cNvSpPr>
            <a:spLocks noGrp="1"/>
          </p:cNvSpPr>
          <p:nvPr>
            <p:ph type="sldNum" sz="quarter" idx="10"/>
          </p:nvPr>
        </p:nvSpPr>
        <p:spPr/>
        <p:txBody>
          <a:bodyPr/>
          <a:lstStyle/>
          <a:p>
            <a:fld id="{C1C8D8D4-02D8-ED42-8FF0-5BBCCE9B4549}" type="slidenum">
              <a:rPr lang="en-US" smtClean="0"/>
              <a:t>23</a:t>
            </a:fld>
            <a:endParaRPr lang="en-US"/>
          </a:p>
        </p:txBody>
      </p:sp>
    </p:spTree>
    <p:extLst>
      <p:ext uri="{BB962C8B-B14F-4D97-AF65-F5344CB8AC3E}">
        <p14:creationId xmlns:p14="http://schemas.microsoft.com/office/powerpoint/2010/main" val="36416581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52A04-E05F-D889-D682-35EB4C3EE7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C39081-BAC0-D45F-DD30-AA39DD0084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223E28-4AD1-8A72-13AA-AF8A48E0F852}"/>
              </a:ext>
            </a:extLst>
          </p:cNvPr>
          <p:cNvSpPr>
            <a:spLocks noGrp="1"/>
          </p:cNvSpPr>
          <p:nvPr>
            <p:ph type="body" idx="1"/>
          </p:nvPr>
        </p:nvSpPr>
        <p:spPr/>
        <p:txBody>
          <a:bodyPr/>
          <a:lstStyle/>
          <a:p>
            <a:r>
              <a:rPr lang="en-US" dirty="0"/>
              <a:t>The</a:t>
            </a:r>
            <a:r>
              <a:rPr lang="en-US" baseline="0" dirty="0"/>
              <a:t> newer technologies are called droplet-based single cell sequencing are more commonly used due to their ability to sequence many more cells. These include drop-</a:t>
            </a:r>
            <a:r>
              <a:rPr lang="en-US" baseline="0" dirty="0" err="1"/>
              <a:t>seq</a:t>
            </a:r>
            <a:r>
              <a:rPr lang="en-US" baseline="0" dirty="0"/>
              <a:t>, </a:t>
            </a:r>
            <a:r>
              <a:rPr lang="en-US" baseline="0" dirty="0" err="1"/>
              <a:t>inDrops</a:t>
            </a:r>
            <a:r>
              <a:rPr lang="en-US" baseline="0" dirty="0"/>
              <a:t>, and 10X Genomics. 10X Genomics droplet based technology is by far the most commonly used currently. With droplet based methods, cells are encapsulated in tiny droplets of oil, where each droplet contains a bead covered in barcodes unique to that droplet. With this technology we can now sequence from 1000 to up to 100,000 cells on a single sequencing run. However this comes at the cost of sequencing only about 70 thousand reads per cell instead of 1 million using plate-based methods.</a:t>
            </a:r>
          </a:p>
          <a:p>
            <a:endParaRPr lang="en-US" baseline="0" dirty="0"/>
          </a:p>
          <a:p>
            <a:r>
              <a:rPr lang="en-US" baseline="0" dirty="0"/>
              <a:t>This ability to assign barcoded reads to cells allows us to retain cell type information and investigate cellular heterogeneity within a single sample.</a:t>
            </a:r>
          </a:p>
          <a:p>
            <a:endParaRPr lang="en-US" baseline="0" dirty="0"/>
          </a:p>
        </p:txBody>
      </p:sp>
      <p:sp>
        <p:nvSpPr>
          <p:cNvPr id="4" name="Slide Number Placeholder 3">
            <a:extLst>
              <a:ext uri="{FF2B5EF4-FFF2-40B4-BE49-F238E27FC236}">
                <a16:creationId xmlns:a16="http://schemas.microsoft.com/office/drawing/2014/main" id="{DFEC9B84-3224-7AE1-7E61-82E8986C316D}"/>
              </a:ext>
            </a:extLst>
          </p:cNvPr>
          <p:cNvSpPr>
            <a:spLocks noGrp="1"/>
          </p:cNvSpPr>
          <p:nvPr>
            <p:ph type="sldNum" sz="quarter" idx="10"/>
          </p:nvPr>
        </p:nvSpPr>
        <p:spPr/>
        <p:txBody>
          <a:bodyPr/>
          <a:lstStyle/>
          <a:p>
            <a:fld id="{C1C8D8D4-02D8-ED42-8FF0-5BBCCE9B4549}" type="slidenum">
              <a:rPr lang="en-US" smtClean="0"/>
              <a:t>24</a:t>
            </a:fld>
            <a:endParaRPr lang="en-US"/>
          </a:p>
        </p:txBody>
      </p:sp>
    </p:spTree>
    <p:extLst>
      <p:ext uri="{BB962C8B-B14F-4D97-AF65-F5344CB8AC3E}">
        <p14:creationId xmlns:p14="http://schemas.microsoft.com/office/powerpoint/2010/main" val="2056948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348E6-10E4-4E6A-ED81-84D91D864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4CF82A-377F-FF74-68B4-B6CE948087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BFA459-FFBA-8597-F71F-92B2DB37993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Emphasize that  it’s high-dim, multi-modal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How to explain what expression 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Single cell</a:t>
            </a:r>
            <a:endParaRPr lang="en-US" dirty="0"/>
          </a:p>
        </p:txBody>
      </p:sp>
      <p:sp>
        <p:nvSpPr>
          <p:cNvPr id="4" name="Slide Number Placeholder 3">
            <a:extLst>
              <a:ext uri="{FF2B5EF4-FFF2-40B4-BE49-F238E27FC236}">
                <a16:creationId xmlns:a16="http://schemas.microsoft.com/office/drawing/2014/main" id="{CF5A03BA-A81B-541E-F7BD-69CA21F7A0D4}"/>
              </a:ext>
            </a:extLst>
          </p:cNvPr>
          <p:cNvSpPr>
            <a:spLocks noGrp="1"/>
          </p:cNvSpPr>
          <p:nvPr>
            <p:ph type="sldNum" sz="quarter" idx="5"/>
          </p:nvPr>
        </p:nvSpPr>
        <p:spPr/>
        <p:txBody>
          <a:bodyPr/>
          <a:lstStyle/>
          <a:p>
            <a:fld id="{F3C5A107-7C94-0B4E-A0F5-FC38FA4541C6}" type="slidenum">
              <a:rPr lang="en-US" smtClean="0"/>
              <a:t>26</a:t>
            </a:fld>
            <a:endParaRPr lang="en-US"/>
          </a:p>
        </p:txBody>
      </p:sp>
    </p:spTree>
    <p:extLst>
      <p:ext uri="{BB962C8B-B14F-4D97-AF65-F5344CB8AC3E}">
        <p14:creationId xmlns:p14="http://schemas.microsoft.com/office/powerpoint/2010/main" val="3357678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ED0C5-9D17-D4D8-EC9B-9DF04ACF4F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71FDC88-10B4-F750-AC44-E729E04D9F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FB95F0-5372-4D04-BED8-F17548B43B38}"/>
              </a:ext>
            </a:extLst>
          </p:cNvPr>
          <p:cNvSpPr>
            <a:spLocks noGrp="1"/>
          </p:cNvSpPr>
          <p:nvPr>
            <p:ph type="dt" sz="half" idx="10"/>
          </p:nvPr>
        </p:nvSpPr>
        <p:spPr/>
        <p:txBody>
          <a:bodyPr/>
          <a:lstStyle/>
          <a:p>
            <a:fld id="{FB122A29-4E7B-2C41-B1A1-9A7F1252260B}" type="datetimeFigureOut">
              <a:rPr lang="en-US" smtClean="0"/>
              <a:t>8/29/26</a:t>
            </a:fld>
            <a:endParaRPr lang="en-US"/>
          </a:p>
        </p:txBody>
      </p:sp>
      <p:sp>
        <p:nvSpPr>
          <p:cNvPr id="5" name="Footer Placeholder 4">
            <a:extLst>
              <a:ext uri="{FF2B5EF4-FFF2-40B4-BE49-F238E27FC236}">
                <a16:creationId xmlns:a16="http://schemas.microsoft.com/office/drawing/2014/main" id="{2FA597B0-AE13-A29D-9812-8718B79F1E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CD5E85-96E9-DBDC-A9EF-7EEA5CAF9A76}"/>
              </a:ext>
            </a:extLst>
          </p:cNvPr>
          <p:cNvSpPr>
            <a:spLocks noGrp="1"/>
          </p:cNvSpPr>
          <p:nvPr>
            <p:ph type="sldNum" sz="quarter" idx="12"/>
          </p:nvPr>
        </p:nvSpPr>
        <p:spPr/>
        <p:txBody>
          <a:bodyPr/>
          <a:lstStyle/>
          <a:p>
            <a:fld id="{516AD91B-61A7-F544-AB96-CE2CCE080893}" type="slidenum">
              <a:rPr lang="en-US" smtClean="0"/>
              <a:t>‹#›</a:t>
            </a:fld>
            <a:endParaRPr lang="en-US"/>
          </a:p>
        </p:txBody>
      </p:sp>
    </p:spTree>
    <p:extLst>
      <p:ext uri="{BB962C8B-B14F-4D97-AF65-F5344CB8AC3E}">
        <p14:creationId xmlns:p14="http://schemas.microsoft.com/office/powerpoint/2010/main" val="1217278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FD76B-06B1-3F2B-274D-BEE6D49D78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64D93A-49EC-A99E-B631-7F0EC0C894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8CA1D5-BBF9-8226-6301-E5B33F285EA2}"/>
              </a:ext>
            </a:extLst>
          </p:cNvPr>
          <p:cNvSpPr>
            <a:spLocks noGrp="1"/>
          </p:cNvSpPr>
          <p:nvPr>
            <p:ph type="dt" sz="half" idx="10"/>
          </p:nvPr>
        </p:nvSpPr>
        <p:spPr/>
        <p:txBody>
          <a:bodyPr/>
          <a:lstStyle/>
          <a:p>
            <a:fld id="{FB122A29-4E7B-2C41-B1A1-9A7F1252260B}" type="datetimeFigureOut">
              <a:rPr lang="en-US" smtClean="0"/>
              <a:t>8/29/26</a:t>
            </a:fld>
            <a:endParaRPr lang="en-US"/>
          </a:p>
        </p:txBody>
      </p:sp>
      <p:sp>
        <p:nvSpPr>
          <p:cNvPr id="5" name="Footer Placeholder 4">
            <a:extLst>
              <a:ext uri="{FF2B5EF4-FFF2-40B4-BE49-F238E27FC236}">
                <a16:creationId xmlns:a16="http://schemas.microsoft.com/office/drawing/2014/main" id="{F7685E90-2F42-D469-FFA0-C17E513DAA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36458B-F100-719E-0C5B-13C0D9193E7F}"/>
              </a:ext>
            </a:extLst>
          </p:cNvPr>
          <p:cNvSpPr>
            <a:spLocks noGrp="1"/>
          </p:cNvSpPr>
          <p:nvPr>
            <p:ph type="sldNum" sz="quarter" idx="12"/>
          </p:nvPr>
        </p:nvSpPr>
        <p:spPr/>
        <p:txBody>
          <a:bodyPr/>
          <a:lstStyle/>
          <a:p>
            <a:fld id="{516AD91B-61A7-F544-AB96-CE2CCE080893}" type="slidenum">
              <a:rPr lang="en-US" smtClean="0"/>
              <a:t>‹#›</a:t>
            </a:fld>
            <a:endParaRPr lang="en-US"/>
          </a:p>
        </p:txBody>
      </p:sp>
    </p:spTree>
    <p:extLst>
      <p:ext uri="{BB962C8B-B14F-4D97-AF65-F5344CB8AC3E}">
        <p14:creationId xmlns:p14="http://schemas.microsoft.com/office/powerpoint/2010/main" val="4007749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5908F-D29E-ADB0-29E6-AB52BF8AC3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DF30F2E-159D-0C74-BFF2-6A1B8F13D1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DFBCA4-7878-0F9D-4302-92B44833A90E}"/>
              </a:ext>
            </a:extLst>
          </p:cNvPr>
          <p:cNvSpPr>
            <a:spLocks noGrp="1"/>
          </p:cNvSpPr>
          <p:nvPr>
            <p:ph type="dt" sz="half" idx="10"/>
          </p:nvPr>
        </p:nvSpPr>
        <p:spPr/>
        <p:txBody>
          <a:bodyPr/>
          <a:lstStyle/>
          <a:p>
            <a:fld id="{FB122A29-4E7B-2C41-B1A1-9A7F1252260B}" type="datetimeFigureOut">
              <a:rPr lang="en-US" smtClean="0"/>
              <a:t>8/29/26</a:t>
            </a:fld>
            <a:endParaRPr lang="en-US"/>
          </a:p>
        </p:txBody>
      </p:sp>
      <p:sp>
        <p:nvSpPr>
          <p:cNvPr id="5" name="Footer Placeholder 4">
            <a:extLst>
              <a:ext uri="{FF2B5EF4-FFF2-40B4-BE49-F238E27FC236}">
                <a16:creationId xmlns:a16="http://schemas.microsoft.com/office/drawing/2014/main" id="{458EFF70-CFF1-D877-7025-46CF92DB11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7DD6A-DC91-853D-E5F4-17DA704DE5B2}"/>
              </a:ext>
            </a:extLst>
          </p:cNvPr>
          <p:cNvSpPr>
            <a:spLocks noGrp="1"/>
          </p:cNvSpPr>
          <p:nvPr>
            <p:ph type="sldNum" sz="quarter" idx="12"/>
          </p:nvPr>
        </p:nvSpPr>
        <p:spPr/>
        <p:txBody>
          <a:bodyPr/>
          <a:lstStyle/>
          <a:p>
            <a:fld id="{516AD91B-61A7-F544-AB96-CE2CCE080893}" type="slidenum">
              <a:rPr lang="en-US" smtClean="0"/>
              <a:t>‹#›</a:t>
            </a:fld>
            <a:endParaRPr lang="en-US"/>
          </a:p>
        </p:txBody>
      </p:sp>
    </p:spTree>
    <p:extLst>
      <p:ext uri="{BB962C8B-B14F-4D97-AF65-F5344CB8AC3E}">
        <p14:creationId xmlns:p14="http://schemas.microsoft.com/office/powerpoint/2010/main" val="3114509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D7C9F-6771-A031-3133-3BDF9D8AF3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75972F-B36B-2EBF-5A5A-4A4CBD8E84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C412C0-B595-B41B-0C62-CF3EA18EFF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2601517-2DA0-8DFD-6197-65568F5F8391}"/>
              </a:ext>
            </a:extLst>
          </p:cNvPr>
          <p:cNvSpPr>
            <a:spLocks noGrp="1"/>
          </p:cNvSpPr>
          <p:nvPr>
            <p:ph type="dt" sz="half" idx="10"/>
          </p:nvPr>
        </p:nvSpPr>
        <p:spPr/>
        <p:txBody>
          <a:bodyPr/>
          <a:lstStyle/>
          <a:p>
            <a:fld id="{FB122A29-4E7B-2C41-B1A1-9A7F1252260B}" type="datetimeFigureOut">
              <a:rPr lang="en-US" smtClean="0"/>
              <a:t>8/29/26</a:t>
            </a:fld>
            <a:endParaRPr lang="en-US"/>
          </a:p>
        </p:txBody>
      </p:sp>
      <p:sp>
        <p:nvSpPr>
          <p:cNvPr id="6" name="Footer Placeholder 5">
            <a:extLst>
              <a:ext uri="{FF2B5EF4-FFF2-40B4-BE49-F238E27FC236}">
                <a16:creationId xmlns:a16="http://schemas.microsoft.com/office/drawing/2014/main" id="{DF244102-D067-87DC-46D9-BE23A2DF31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4EB02A-69C6-68D7-EA42-32ECFB5FA32D}"/>
              </a:ext>
            </a:extLst>
          </p:cNvPr>
          <p:cNvSpPr>
            <a:spLocks noGrp="1"/>
          </p:cNvSpPr>
          <p:nvPr>
            <p:ph type="sldNum" sz="quarter" idx="12"/>
          </p:nvPr>
        </p:nvSpPr>
        <p:spPr/>
        <p:txBody>
          <a:bodyPr/>
          <a:lstStyle/>
          <a:p>
            <a:fld id="{516AD91B-61A7-F544-AB96-CE2CCE080893}" type="slidenum">
              <a:rPr lang="en-US" smtClean="0"/>
              <a:t>‹#›</a:t>
            </a:fld>
            <a:endParaRPr lang="en-US"/>
          </a:p>
        </p:txBody>
      </p:sp>
    </p:spTree>
    <p:extLst>
      <p:ext uri="{BB962C8B-B14F-4D97-AF65-F5344CB8AC3E}">
        <p14:creationId xmlns:p14="http://schemas.microsoft.com/office/powerpoint/2010/main" val="299551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F252F-8EA0-DB02-984A-DF10B3D02E6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847A2CC-A824-2CE8-0994-6C18049177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743AFF-739C-287D-ABA9-D638ED6713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40B659F-572C-FB4F-D410-5A42D9D78E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BE0216-C64A-FC25-B7F0-C0C512A002E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EFABB41-5577-9895-B674-C2D218F45CCE}"/>
              </a:ext>
            </a:extLst>
          </p:cNvPr>
          <p:cNvSpPr>
            <a:spLocks noGrp="1"/>
          </p:cNvSpPr>
          <p:nvPr>
            <p:ph type="dt" sz="half" idx="10"/>
          </p:nvPr>
        </p:nvSpPr>
        <p:spPr/>
        <p:txBody>
          <a:bodyPr/>
          <a:lstStyle/>
          <a:p>
            <a:fld id="{FB122A29-4E7B-2C41-B1A1-9A7F1252260B}" type="datetimeFigureOut">
              <a:rPr lang="en-US" smtClean="0"/>
              <a:t>8/29/26</a:t>
            </a:fld>
            <a:endParaRPr lang="en-US"/>
          </a:p>
        </p:txBody>
      </p:sp>
      <p:sp>
        <p:nvSpPr>
          <p:cNvPr id="8" name="Footer Placeholder 7">
            <a:extLst>
              <a:ext uri="{FF2B5EF4-FFF2-40B4-BE49-F238E27FC236}">
                <a16:creationId xmlns:a16="http://schemas.microsoft.com/office/drawing/2014/main" id="{7BDCA9FF-94C3-CFC1-0780-B9E4999AB5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3F47E25-7D91-2E49-3BB8-21183FDB8F51}"/>
              </a:ext>
            </a:extLst>
          </p:cNvPr>
          <p:cNvSpPr>
            <a:spLocks noGrp="1"/>
          </p:cNvSpPr>
          <p:nvPr>
            <p:ph type="sldNum" sz="quarter" idx="12"/>
          </p:nvPr>
        </p:nvSpPr>
        <p:spPr/>
        <p:txBody>
          <a:bodyPr/>
          <a:lstStyle/>
          <a:p>
            <a:fld id="{516AD91B-61A7-F544-AB96-CE2CCE080893}" type="slidenum">
              <a:rPr lang="en-US" smtClean="0"/>
              <a:t>‹#›</a:t>
            </a:fld>
            <a:endParaRPr lang="en-US"/>
          </a:p>
        </p:txBody>
      </p:sp>
    </p:spTree>
    <p:extLst>
      <p:ext uri="{BB962C8B-B14F-4D97-AF65-F5344CB8AC3E}">
        <p14:creationId xmlns:p14="http://schemas.microsoft.com/office/powerpoint/2010/main" val="1098369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1B647-0A36-B457-E4AA-B1A0B633A8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7F4CCFA-8BF5-E755-6F6F-23DFEB677EDE}"/>
              </a:ext>
            </a:extLst>
          </p:cNvPr>
          <p:cNvSpPr>
            <a:spLocks noGrp="1"/>
          </p:cNvSpPr>
          <p:nvPr>
            <p:ph type="dt" sz="half" idx="10"/>
          </p:nvPr>
        </p:nvSpPr>
        <p:spPr/>
        <p:txBody>
          <a:bodyPr/>
          <a:lstStyle/>
          <a:p>
            <a:fld id="{FB122A29-4E7B-2C41-B1A1-9A7F1252260B}" type="datetimeFigureOut">
              <a:rPr lang="en-US" smtClean="0"/>
              <a:t>8/29/26</a:t>
            </a:fld>
            <a:endParaRPr lang="en-US"/>
          </a:p>
        </p:txBody>
      </p:sp>
      <p:sp>
        <p:nvSpPr>
          <p:cNvPr id="4" name="Footer Placeholder 3">
            <a:extLst>
              <a:ext uri="{FF2B5EF4-FFF2-40B4-BE49-F238E27FC236}">
                <a16:creationId xmlns:a16="http://schemas.microsoft.com/office/drawing/2014/main" id="{C59E485D-20E2-1FE9-0AB3-4C62F89CF6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0189E-538E-0430-E9CA-771CAF3CA172}"/>
              </a:ext>
            </a:extLst>
          </p:cNvPr>
          <p:cNvSpPr>
            <a:spLocks noGrp="1"/>
          </p:cNvSpPr>
          <p:nvPr>
            <p:ph type="sldNum" sz="quarter" idx="12"/>
          </p:nvPr>
        </p:nvSpPr>
        <p:spPr/>
        <p:txBody>
          <a:bodyPr/>
          <a:lstStyle/>
          <a:p>
            <a:fld id="{516AD91B-61A7-F544-AB96-CE2CCE080893}" type="slidenum">
              <a:rPr lang="en-US" smtClean="0"/>
              <a:t>‹#›</a:t>
            </a:fld>
            <a:endParaRPr lang="en-US"/>
          </a:p>
        </p:txBody>
      </p:sp>
    </p:spTree>
    <p:extLst>
      <p:ext uri="{BB962C8B-B14F-4D97-AF65-F5344CB8AC3E}">
        <p14:creationId xmlns:p14="http://schemas.microsoft.com/office/powerpoint/2010/main" val="947977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744922-F25A-E745-727F-697DAE64A140}"/>
              </a:ext>
            </a:extLst>
          </p:cNvPr>
          <p:cNvSpPr>
            <a:spLocks noGrp="1"/>
          </p:cNvSpPr>
          <p:nvPr>
            <p:ph type="dt" sz="half" idx="10"/>
          </p:nvPr>
        </p:nvSpPr>
        <p:spPr/>
        <p:txBody>
          <a:bodyPr/>
          <a:lstStyle/>
          <a:p>
            <a:fld id="{FB122A29-4E7B-2C41-B1A1-9A7F1252260B}" type="datetimeFigureOut">
              <a:rPr lang="en-US" smtClean="0"/>
              <a:t>8/29/26</a:t>
            </a:fld>
            <a:endParaRPr lang="en-US"/>
          </a:p>
        </p:txBody>
      </p:sp>
      <p:sp>
        <p:nvSpPr>
          <p:cNvPr id="3" name="Footer Placeholder 2">
            <a:extLst>
              <a:ext uri="{FF2B5EF4-FFF2-40B4-BE49-F238E27FC236}">
                <a16:creationId xmlns:a16="http://schemas.microsoft.com/office/drawing/2014/main" id="{BF7DC4B9-2963-3CEE-421D-FBC2E244194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0C8F3A-E110-1EA2-3A2B-7644C500DDD0}"/>
              </a:ext>
            </a:extLst>
          </p:cNvPr>
          <p:cNvSpPr>
            <a:spLocks noGrp="1"/>
          </p:cNvSpPr>
          <p:nvPr>
            <p:ph type="sldNum" sz="quarter" idx="12"/>
          </p:nvPr>
        </p:nvSpPr>
        <p:spPr/>
        <p:txBody>
          <a:bodyPr/>
          <a:lstStyle/>
          <a:p>
            <a:fld id="{516AD91B-61A7-F544-AB96-CE2CCE080893}" type="slidenum">
              <a:rPr lang="en-US" smtClean="0"/>
              <a:t>‹#›</a:t>
            </a:fld>
            <a:endParaRPr lang="en-US"/>
          </a:p>
        </p:txBody>
      </p:sp>
    </p:spTree>
    <p:extLst>
      <p:ext uri="{BB962C8B-B14F-4D97-AF65-F5344CB8AC3E}">
        <p14:creationId xmlns:p14="http://schemas.microsoft.com/office/powerpoint/2010/main" val="3272594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F0154-ED77-45DB-D30B-3D73B3575F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3C9B2D-D01F-6F0A-4311-AB65E301B3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353A96-01C3-3B42-9E4C-4D85757D94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1B3AED-8769-9E3B-47F1-6AF6BA9C0390}"/>
              </a:ext>
            </a:extLst>
          </p:cNvPr>
          <p:cNvSpPr>
            <a:spLocks noGrp="1"/>
          </p:cNvSpPr>
          <p:nvPr>
            <p:ph type="dt" sz="half" idx="10"/>
          </p:nvPr>
        </p:nvSpPr>
        <p:spPr/>
        <p:txBody>
          <a:bodyPr/>
          <a:lstStyle/>
          <a:p>
            <a:fld id="{FB122A29-4E7B-2C41-B1A1-9A7F1252260B}" type="datetimeFigureOut">
              <a:rPr lang="en-US" smtClean="0"/>
              <a:t>8/29/26</a:t>
            </a:fld>
            <a:endParaRPr lang="en-US"/>
          </a:p>
        </p:txBody>
      </p:sp>
      <p:sp>
        <p:nvSpPr>
          <p:cNvPr id="6" name="Footer Placeholder 5">
            <a:extLst>
              <a:ext uri="{FF2B5EF4-FFF2-40B4-BE49-F238E27FC236}">
                <a16:creationId xmlns:a16="http://schemas.microsoft.com/office/drawing/2014/main" id="{080B0E22-3820-893D-BE4D-C466E9AF53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EC9384-339F-9F66-BA39-E8A7C9C295FE}"/>
              </a:ext>
            </a:extLst>
          </p:cNvPr>
          <p:cNvSpPr>
            <a:spLocks noGrp="1"/>
          </p:cNvSpPr>
          <p:nvPr>
            <p:ph type="sldNum" sz="quarter" idx="12"/>
          </p:nvPr>
        </p:nvSpPr>
        <p:spPr/>
        <p:txBody>
          <a:bodyPr/>
          <a:lstStyle/>
          <a:p>
            <a:fld id="{516AD91B-61A7-F544-AB96-CE2CCE080893}" type="slidenum">
              <a:rPr lang="en-US" smtClean="0"/>
              <a:t>‹#›</a:t>
            </a:fld>
            <a:endParaRPr lang="en-US"/>
          </a:p>
        </p:txBody>
      </p:sp>
    </p:spTree>
    <p:extLst>
      <p:ext uri="{BB962C8B-B14F-4D97-AF65-F5344CB8AC3E}">
        <p14:creationId xmlns:p14="http://schemas.microsoft.com/office/powerpoint/2010/main" val="4133346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346A0-C330-1F46-943A-A3C19A521D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0B23F32-ADD4-CF44-9166-49A4AC3AFE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EDA70A-FD78-D477-CD46-05A235528B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214859-39E4-100E-C18D-996581109EB6}"/>
              </a:ext>
            </a:extLst>
          </p:cNvPr>
          <p:cNvSpPr>
            <a:spLocks noGrp="1"/>
          </p:cNvSpPr>
          <p:nvPr>
            <p:ph type="dt" sz="half" idx="10"/>
          </p:nvPr>
        </p:nvSpPr>
        <p:spPr/>
        <p:txBody>
          <a:bodyPr/>
          <a:lstStyle/>
          <a:p>
            <a:fld id="{FB122A29-4E7B-2C41-B1A1-9A7F1252260B}" type="datetimeFigureOut">
              <a:rPr lang="en-US" smtClean="0"/>
              <a:t>8/29/26</a:t>
            </a:fld>
            <a:endParaRPr lang="en-US"/>
          </a:p>
        </p:txBody>
      </p:sp>
      <p:sp>
        <p:nvSpPr>
          <p:cNvPr id="6" name="Footer Placeholder 5">
            <a:extLst>
              <a:ext uri="{FF2B5EF4-FFF2-40B4-BE49-F238E27FC236}">
                <a16:creationId xmlns:a16="http://schemas.microsoft.com/office/drawing/2014/main" id="{7C4C1733-3420-6D94-B2F2-1EB4539810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EC7725-D049-83AB-D02D-AED043579084}"/>
              </a:ext>
            </a:extLst>
          </p:cNvPr>
          <p:cNvSpPr>
            <a:spLocks noGrp="1"/>
          </p:cNvSpPr>
          <p:nvPr>
            <p:ph type="sldNum" sz="quarter" idx="12"/>
          </p:nvPr>
        </p:nvSpPr>
        <p:spPr/>
        <p:txBody>
          <a:bodyPr/>
          <a:lstStyle/>
          <a:p>
            <a:fld id="{516AD91B-61A7-F544-AB96-CE2CCE080893}" type="slidenum">
              <a:rPr lang="en-US" smtClean="0"/>
              <a:t>‹#›</a:t>
            </a:fld>
            <a:endParaRPr lang="en-US"/>
          </a:p>
        </p:txBody>
      </p:sp>
    </p:spTree>
    <p:extLst>
      <p:ext uri="{BB962C8B-B14F-4D97-AF65-F5344CB8AC3E}">
        <p14:creationId xmlns:p14="http://schemas.microsoft.com/office/powerpoint/2010/main" val="4165712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DFE6-38F8-8F22-C3AE-C24EB49E48A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5C0FCB-35C1-7DF1-F960-4130D2FEC4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DFB729-8601-CD41-633D-0FC77D6E5765}"/>
              </a:ext>
            </a:extLst>
          </p:cNvPr>
          <p:cNvSpPr>
            <a:spLocks noGrp="1"/>
          </p:cNvSpPr>
          <p:nvPr>
            <p:ph type="dt" sz="half" idx="10"/>
          </p:nvPr>
        </p:nvSpPr>
        <p:spPr/>
        <p:txBody>
          <a:bodyPr/>
          <a:lstStyle/>
          <a:p>
            <a:fld id="{FB122A29-4E7B-2C41-B1A1-9A7F1252260B}" type="datetimeFigureOut">
              <a:rPr lang="en-US" smtClean="0"/>
              <a:t>8/29/26</a:t>
            </a:fld>
            <a:endParaRPr lang="en-US"/>
          </a:p>
        </p:txBody>
      </p:sp>
      <p:sp>
        <p:nvSpPr>
          <p:cNvPr id="5" name="Footer Placeholder 4">
            <a:extLst>
              <a:ext uri="{FF2B5EF4-FFF2-40B4-BE49-F238E27FC236}">
                <a16:creationId xmlns:a16="http://schemas.microsoft.com/office/drawing/2014/main" id="{181ABD19-0BD5-60AB-62F2-39599A2E52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C4CDF2-34F6-6876-8791-9A3B31689C70}"/>
              </a:ext>
            </a:extLst>
          </p:cNvPr>
          <p:cNvSpPr>
            <a:spLocks noGrp="1"/>
          </p:cNvSpPr>
          <p:nvPr>
            <p:ph type="sldNum" sz="quarter" idx="12"/>
          </p:nvPr>
        </p:nvSpPr>
        <p:spPr/>
        <p:txBody>
          <a:bodyPr/>
          <a:lstStyle/>
          <a:p>
            <a:fld id="{516AD91B-61A7-F544-AB96-CE2CCE080893}" type="slidenum">
              <a:rPr lang="en-US" smtClean="0"/>
              <a:t>‹#›</a:t>
            </a:fld>
            <a:endParaRPr lang="en-US"/>
          </a:p>
        </p:txBody>
      </p:sp>
    </p:spTree>
    <p:extLst>
      <p:ext uri="{BB962C8B-B14F-4D97-AF65-F5344CB8AC3E}">
        <p14:creationId xmlns:p14="http://schemas.microsoft.com/office/powerpoint/2010/main" val="3894150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5746E4-AA3F-826F-AC03-16CAC54726B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84686E-DBDC-36FF-4596-7953E5B8CC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EB610D-9467-D256-7715-BC3730EC8E7B}"/>
              </a:ext>
            </a:extLst>
          </p:cNvPr>
          <p:cNvSpPr>
            <a:spLocks noGrp="1"/>
          </p:cNvSpPr>
          <p:nvPr>
            <p:ph type="dt" sz="half" idx="10"/>
          </p:nvPr>
        </p:nvSpPr>
        <p:spPr/>
        <p:txBody>
          <a:bodyPr/>
          <a:lstStyle/>
          <a:p>
            <a:fld id="{FB122A29-4E7B-2C41-B1A1-9A7F1252260B}" type="datetimeFigureOut">
              <a:rPr lang="en-US" smtClean="0"/>
              <a:t>8/29/26</a:t>
            </a:fld>
            <a:endParaRPr lang="en-US"/>
          </a:p>
        </p:txBody>
      </p:sp>
      <p:sp>
        <p:nvSpPr>
          <p:cNvPr id="5" name="Footer Placeholder 4">
            <a:extLst>
              <a:ext uri="{FF2B5EF4-FFF2-40B4-BE49-F238E27FC236}">
                <a16:creationId xmlns:a16="http://schemas.microsoft.com/office/drawing/2014/main" id="{6DEBFA48-0023-2370-08AA-A353AB468E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E5DECC-BF40-F0A5-690D-BA7EAEEEC331}"/>
              </a:ext>
            </a:extLst>
          </p:cNvPr>
          <p:cNvSpPr>
            <a:spLocks noGrp="1"/>
          </p:cNvSpPr>
          <p:nvPr>
            <p:ph type="sldNum" sz="quarter" idx="12"/>
          </p:nvPr>
        </p:nvSpPr>
        <p:spPr/>
        <p:txBody>
          <a:bodyPr/>
          <a:lstStyle/>
          <a:p>
            <a:fld id="{516AD91B-61A7-F544-AB96-CE2CCE080893}" type="slidenum">
              <a:rPr lang="en-US" smtClean="0"/>
              <a:t>‹#›</a:t>
            </a:fld>
            <a:endParaRPr lang="en-US"/>
          </a:p>
        </p:txBody>
      </p:sp>
    </p:spTree>
    <p:extLst>
      <p:ext uri="{BB962C8B-B14F-4D97-AF65-F5344CB8AC3E}">
        <p14:creationId xmlns:p14="http://schemas.microsoft.com/office/powerpoint/2010/main" val="7534532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772AF4-6821-071A-05CD-68B02B3526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8DEA601-AD01-28BD-20CF-59FF56B96F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9DCC83-2FD5-C301-30A1-FE66678145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B122A29-4E7B-2C41-B1A1-9A7F1252260B}" type="datetimeFigureOut">
              <a:rPr lang="en-US" smtClean="0"/>
              <a:t>8/29/26</a:t>
            </a:fld>
            <a:endParaRPr lang="en-US"/>
          </a:p>
        </p:txBody>
      </p:sp>
      <p:sp>
        <p:nvSpPr>
          <p:cNvPr id="5" name="Footer Placeholder 4">
            <a:extLst>
              <a:ext uri="{FF2B5EF4-FFF2-40B4-BE49-F238E27FC236}">
                <a16:creationId xmlns:a16="http://schemas.microsoft.com/office/drawing/2014/main" id="{B96F9AAB-DD8F-DECC-BFCF-15705E3127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920D01-69DE-B101-3BA0-416BC5080C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6AD91B-61A7-F544-AB96-CE2CCE080893}" type="slidenum">
              <a:rPr lang="en-US" smtClean="0"/>
              <a:t>‹#›</a:t>
            </a:fld>
            <a:endParaRPr lang="en-US"/>
          </a:p>
        </p:txBody>
      </p:sp>
    </p:spTree>
    <p:extLst>
      <p:ext uri="{BB962C8B-B14F-4D97-AF65-F5344CB8AC3E}">
        <p14:creationId xmlns:p14="http://schemas.microsoft.com/office/powerpoint/2010/main" val="41411157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10.jpe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chitra-lab/ML-for-single-cell-and-spatial-genomics-fall-2026"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hyperlink" Target="https://www.tbmcore.cnrs.fr/onecell/?lang=en" TargetMode="External"/><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image" Target="../media/image22.emf"/><Relationship Id="rId7"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9.png"/><Relationship Id="rId10" Type="http://schemas.openxmlformats.org/officeDocument/2006/relationships/image" Target="../media/image20.png"/><Relationship Id="rId4" Type="http://schemas.openxmlformats.org/officeDocument/2006/relationships/image" Target="../media/image23.emf"/><Relationship Id="rId9"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8.emf"/></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94993-BF1F-5719-1CB6-CC5A270B8C64}"/>
              </a:ext>
            </a:extLst>
          </p:cNvPr>
          <p:cNvSpPr>
            <a:spLocks noGrp="1"/>
          </p:cNvSpPr>
          <p:nvPr>
            <p:ph type="ctrTitle"/>
          </p:nvPr>
        </p:nvSpPr>
        <p:spPr>
          <a:xfrm>
            <a:off x="845127" y="1041400"/>
            <a:ext cx="10501745" cy="2387600"/>
          </a:xfrm>
        </p:spPr>
        <p:txBody>
          <a:bodyPr/>
          <a:lstStyle/>
          <a:p>
            <a:r>
              <a:rPr lang="en-US" dirty="0"/>
              <a:t>Machine Learning for Single-Cell and Spatial Biology</a:t>
            </a:r>
          </a:p>
        </p:txBody>
      </p:sp>
      <p:sp>
        <p:nvSpPr>
          <p:cNvPr id="3" name="Subtitle 2">
            <a:extLst>
              <a:ext uri="{FF2B5EF4-FFF2-40B4-BE49-F238E27FC236}">
                <a16:creationId xmlns:a16="http://schemas.microsoft.com/office/drawing/2014/main" id="{1128FC49-C400-4529-9D90-39EE1A569FA0}"/>
              </a:ext>
            </a:extLst>
          </p:cNvPr>
          <p:cNvSpPr>
            <a:spLocks noGrp="1"/>
          </p:cNvSpPr>
          <p:nvPr>
            <p:ph type="subTitle" idx="1"/>
          </p:nvPr>
        </p:nvSpPr>
        <p:spPr/>
        <p:txBody>
          <a:bodyPr>
            <a:normAutofit/>
          </a:bodyPr>
          <a:lstStyle/>
          <a:p>
            <a:r>
              <a:rPr lang="en-US" dirty="0"/>
              <a:t>Uthsav Chitra</a:t>
            </a:r>
          </a:p>
          <a:p>
            <a:r>
              <a:rPr lang="en-US" dirty="0"/>
              <a:t>Johns Hopkins University</a:t>
            </a:r>
          </a:p>
          <a:p>
            <a:r>
              <a:rPr lang="en-US" dirty="0"/>
              <a:t>September 1, 2026</a:t>
            </a:r>
          </a:p>
        </p:txBody>
      </p:sp>
    </p:spTree>
    <p:extLst>
      <p:ext uri="{BB962C8B-B14F-4D97-AF65-F5344CB8AC3E}">
        <p14:creationId xmlns:p14="http://schemas.microsoft.com/office/powerpoint/2010/main" val="3726747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614C5-D9F2-545F-5FDF-0C3AB659E5F8}"/>
              </a:ext>
            </a:extLst>
          </p:cNvPr>
          <p:cNvSpPr>
            <a:spLocks noGrp="1"/>
          </p:cNvSpPr>
          <p:nvPr>
            <p:ph type="title"/>
          </p:nvPr>
        </p:nvSpPr>
        <p:spPr/>
        <p:txBody>
          <a:bodyPr/>
          <a:lstStyle/>
          <a:p>
            <a:r>
              <a:rPr lang="en-US" dirty="0"/>
              <a:t>Today</a:t>
            </a:r>
          </a:p>
        </p:txBody>
      </p:sp>
      <p:sp>
        <p:nvSpPr>
          <p:cNvPr id="3" name="Content Placeholder 2">
            <a:extLst>
              <a:ext uri="{FF2B5EF4-FFF2-40B4-BE49-F238E27FC236}">
                <a16:creationId xmlns:a16="http://schemas.microsoft.com/office/drawing/2014/main" id="{28512937-56BA-DD03-FE42-EDC5FD3B7EC6}"/>
              </a:ext>
            </a:extLst>
          </p:cNvPr>
          <p:cNvSpPr>
            <a:spLocks noGrp="1"/>
          </p:cNvSpPr>
          <p:nvPr>
            <p:ph idx="1"/>
          </p:nvPr>
        </p:nvSpPr>
        <p:spPr/>
        <p:txBody>
          <a:bodyPr/>
          <a:lstStyle/>
          <a:p>
            <a:r>
              <a:rPr lang="en-US" dirty="0"/>
              <a:t>Welcome!</a:t>
            </a:r>
          </a:p>
          <a:p>
            <a:r>
              <a:rPr lang="en-US" dirty="0"/>
              <a:t>Course logistics</a:t>
            </a:r>
          </a:p>
          <a:p>
            <a:r>
              <a:rPr lang="en-US" dirty="0"/>
              <a:t>Introduction to single-cell and spatial sequencing</a:t>
            </a:r>
          </a:p>
        </p:txBody>
      </p:sp>
    </p:spTree>
    <p:extLst>
      <p:ext uri="{BB962C8B-B14F-4D97-AF65-F5344CB8AC3E}">
        <p14:creationId xmlns:p14="http://schemas.microsoft.com/office/powerpoint/2010/main" val="3097481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E6514-F66B-C458-C4E4-C9ADC5B9159C}"/>
              </a:ext>
            </a:extLst>
          </p:cNvPr>
          <p:cNvSpPr>
            <a:spLocks noGrp="1"/>
          </p:cNvSpPr>
          <p:nvPr>
            <p:ph type="title"/>
          </p:nvPr>
        </p:nvSpPr>
        <p:spPr>
          <a:xfrm>
            <a:off x="474231" y="277276"/>
            <a:ext cx="10515600" cy="1325563"/>
          </a:xfrm>
        </p:spPr>
        <p:txBody>
          <a:bodyPr/>
          <a:lstStyle/>
          <a:p>
            <a:r>
              <a:rPr lang="en-US" dirty="0"/>
              <a:t>This class: ML methods to understanding cells/tissues in our body</a:t>
            </a:r>
          </a:p>
        </p:txBody>
      </p:sp>
      <p:pic>
        <p:nvPicPr>
          <p:cNvPr id="5" name="Content Placeholder 4">
            <a:extLst>
              <a:ext uri="{FF2B5EF4-FFF2-40B4-BE49-F238E27FC236}">
                <a16:creationId xmlns:a16="http://schemas.microsoft.com/office/drawing/2014/main" id="{A1A8E1B1-EC50-C408-4CA2-00EB0854D752}"/>
              </a:ext>
            </a:extLst>
          </p:cNvPr>
          <p:cNvPicPr>
            <a:picLocks noGrp="1" noChangeAspect="1"/>
          </p:cNvPicPr>
          <p:nvPr>
            <p:ph idx="1"/>
          </p:nvPr>
        </p:nvPicPr>
        <p:blipFill>
          <a:blip r:embed="rId2"/>
          <a:srcRect r="5278" b="41054"/>
          <a:stretch>
            <a:fillRect/>
          </a:stretch>
        </p:blipFill>
        <p:spPr>
          <a:xfrm>
            <a:off x="-6097678" y="1690688"/>
            <a:ext cx="4383513" cy="1613879"/>
          </a:xfrm>
          <a:prstGeom prst="rect">
            <a:avLst/>
          </a:prstGeom>
        </p:spPr>
      </p:pic>
      <p:sp>
        <p:nvSpPr>
          <p:cNvPr id="6" name="TextBox 5">
            <a:extLst>
              <a:ext uri="{FF2B5EF4-FFF2-40B4-BE49-F238E27FC236}">
                <a16:creationId xmlns:a16="http://schemas.microsoft.com/office/drawing/2014/main" id="{2AF49594-1A06-28BB-0B49-78C570F413E6}"/>
              </a:ext>
            </a:extLst>
          </p:cNvPr>
          <p:cNvSpPr txBox="1"/>
          <p:nvPr/>
        </p:nvSpPr>
        <p:spPr>
          <a:xfrm>
            <a:off x="-6097678" y="3429000"/>
            <a:ext cx="1170513" cy="369332"/>
          </a:xfrm>
          <a:prstGeom prst="rect">
            <a:avLst/>
          </a:prstGeom>
          <a:noFill/>
        </p:spPr>
        <p:txBody>
          <a:bodyPr wrap="none" rtlCol="0">
            <a:spAutoFit/>
          </a:bodyPr>
          <a:lstStyle/>
          <a:p>
            <a:r>
              <a:rPr lang="en-US" dirty="0">
                <a:solidFill>
                  <a:schemeClr val="bg1">
                    <a:lumMod val="50000"/>
                  </a:schemeClr>
                </a:solidFill>
              </a:rPr>
              <a:t>Wikipedia</a:t>
            </a:r>
          </a:p>
        </p:txBody>
      </p:sp>
      <p:sp>
        <p:nvSpPr>
          <p:cNvPr id="7" name="TextBox 6">
            <a:extLst>
              <a:ext uri="{FF2B5EF4-FFF2-40B4-BE49-F238E27FC236}">
                <a16:creationId xmlns:a16="http://schemas.microsoft.com/office/drawing/2014/main" id="{92835920-BAF7-69D8-2B67-15083E7470B1}"/>
              </a:ext>
            </a:extLst>
          </p:cNvPr>
          <p:cNvSpPr txBox="1"/>
          <p:nvPr/>
        </p:nvSpPr>
        <p:spPr>
          <a:xfrm>
            <a:off x="-2071004" y="2036442"/>
            <a:ext cx="1904689" cy="369332"/>
          </a:xfrm>
          <a:prstGeom prst="rect">
            <a:avLst/>
          </a:prstGeom>
          <a:noFill/>
        </p:spPr>
        <p:txBody>
          <a:bodyPr wrap="none" rtlCol="0">
            <a:spAutoFit/>
          </a:bodyPr>
          <a:lstStyle/>
          <a:p>
            <a:r>
              <a:rPr lang="en-US" dirty="0">
                <a:solidFill>
                  <a:srgbClr val="C00000"/>
                </a:solidFill>
              </a:rPr>
              <a:t>machine learning</a:t>
            </a:r>
          </a:p>
        </p:txBody>
      </p:sp>
      <p:pic>
        <p:nvPicPr>
          <p:cNvPr id="1030" name="Picture 6" descr="Types of cells in Human body | Human Anatomy and Physiology">
            <a:extLst>
              <a:ext uri="{FF2B5EF4-FFF2-40B4-BE49-F238E27FC236}">
                <a16:creationId xmlns:a16="http://schemas.microsoft.com/office/drawing/2014/main" id="{8C9E1AD2-B475-A646-2F66-ADD23C2F8E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6979" y="-3148563"/>
            <a:ext cx="6246557" cy="3513688"/>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29467B56-9F69-6A91-0512-192F583BD5E7}"/>
              </a:ext>
            </a:extLst>
          </p:cNvPr>
          <p:cNvGrpSpPr/>
          <p:nvPr/>
        </p:nvGrpSpPr>
        <p:grpSpPr>
          <a:xfrm>
            <a:off x="12192000" y="6858000"/>
            <a:ext cx="2936085" cy="1980809"/>
            <a:chOff x="174171" y="3995057"/>
            <a:chExt cx="3452590" cy="2253765"/>
          </a:xfrm>
        </p:grpSpPr>
        <p:pic>
          <p:nvPicPr>
            <p:cNvPr id="11" name="Picture 10">
              <a:extLst>
                <a:ext uri="{FF2B5EF4-FFF2-40B4-BE49-F238E27FC236}">
                  <a16:creationId xmlns:a16="http://schemas.microsoft.com/office/drawing/2014/main" id="{9F3402C0-0C79-045D-BB56-D27CE0986343}"/>
                </a:ext>
              </a:extLst>
            </p:cNvPr>
            <p:cNvPicPr>
              <a:picLocks noChangeAspect="1"/>
            </p:cNvPicPr>
            <p:nvPr/>
          </p:nvPicPr>
          <p:blipFill>
            <a:blip r:embed="rId4"/>
            <a:srcRect r="56214" b="66621"/>
            <a:stretch>
              <a:fillRect/>
            </a:stretch>
          </p:blipFill>
          <p:spPr>
            <a:xfrm>
              <a:off x="223502" y="4027714"/>
              <a:ext cx="3403259" cy="2221108"/>
            </a:xfrm>
            <a:prstGeom prst="rect">
              <a:avLst/>
            </a:prstGeom>
          </p:spPr>
        </p:pic>
        <p:sp>
          <p:nvSpPr>
            <p:cNvPr id="12" name="Rectangle 11">
              <a:extLst>
                <a:ext uri="{FF2B5EF4-FFF2-40B4-BE49-F238E27FC236}">
                  <a16:creationId xmlns:a16="http://schemas.microsoft.com/office/drawing/2014/main" id="{DC8179AB-0DA3-BDED-99F0-3BC6E894B43B}"/>
                </a:ext>
              </a:extLst>
            </p:cNvPr>
            <p:cNvSpPr/>
            <p:nvPr/>
          </p:nvSpPr>
          <p:spPr>
            <a:xfrm>
              <a:off x="174171" y="3995057"/>
              <a:ext cx="261258" cy="2939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8" name="Picture 27">
            <a:extLst>
              <a:ext uri="{FF2B5EF4-FFF2-40B4-BE49-F238E27FC236}">
                <a16:creationId xmlns:a16="http://schemas.microsoft.com/office/drawing/2014/main" id="{696BB265-36E3-813C-77FD-F3297B2F1579}"/>
              </a:ext>
            </a:extLst>
          </p:cNvPr>
          <p:cNvPicPr>
            <a:picLocks noChangeAspect="1"/>
          </p:cNvPicPr>
          <p:nvPr/>
        </p:nvPicPr>
        <p:blipFill>
          <a:blip r:embed="rId4"/>
          <a:srcRect l="44214" r="16385" b="66621"/>
          <a:stretch>
            <a:fillRect/>
          </a:stretch>
        </p:blipFill>
        <p:spPr>
          <a:xfrm>
            <a:off x="12771957" y="3341654"/>
            <a:ext cx="2604317" cy="1952107"/>
          </a:xfrm>
          <a:prstGeom prst="rect">
            <a:avLst/>
          </a:prstGeom>
        </p:spPr>
      </p:pic>
      <p:pic>
        <p:nvPicPr>
          <p:cNvPr id="1046" name="Picture 22" descr="DNA Sequencing">
            <a:extLst>
              <a:ext uri="{FF2B5EF4-FFF2-40B4-BE49-F238E27FC236}">
                <a16:creationId xmlns:a16="http://schemas.microsoft.com/office/drawing/2014/main" id="{3AEE62AA-280E-2127-2F19-E8D135E1E80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29935" r="44965"/>
          <a:stretch>
            <a:fillRect/>
          </a:stretch>
        </p:blipFill>
        <p:spPr bwMode="auto">
          <a:xfrm>
            <a:off x="4700768" y="3429000"/>
            <a:ext cx="2790464" cy="1860462"/>
          </a:xfrm>
          <a:prstGeom prst="rect">
            <a:avLst/>
          </a:prstGeom>
          <a:noFill/>
          <a:extLst>
            <a:ext uri="{909E8E84-426E-40DD-AFC4-6F175D3DCCD1}">
              <a14:hiddenFill xmlns:a14="http://schemas.microsoft.com/office/drawing/2010/main">
                <a:solidFill>
                  <a:srgbClr val="FFFFFF"/>
                </a:solidFill>
              </a14:hiddenFill>
            </a:ext>
          </a:extLst>
        </p:spPr>
      </p:pic>
      <p:grpSp>
        <p:nvGrpSpPr>
          <p:cNvPr id="56" name="Group 55">
            <a:extLst>
              <a:ext uri="{FF2B5EF4-FFF2-40B4-BE49-F238E27FC236}">
                <a16:creationId xmlns:a16="http://schemas.microsoft.com/office/drawing/2014/main" id="{1476F1F3-2A86-A4C8-1508-658499C1736C}"/>
              </a:ext>
            </a:extLst>
          </p:cNvPr>
          <p:cNvGrpSpPr/>
          <p:nvPr/>
        </p:nvGrpSpPr>
        <p:grpSpPr>
          <a:xfrm>
            <a:off x="-11957" y="1700940"/>
            <a:ext cx="4007330" cy="4197470"/>
            <a:chOff x="69152" y="1711665"/>
            <a:chExt cx="4227806" cy="4439715"/>
          </a:xfrm>
        </p:grpSpPr>
        <p:pic>
          <p:nvPicPr>
            <p:cNvPr id="1044" name="Picture 20" descr="Tissue types: MedlinePlus Medical Encyclopedia Image">
              <a:extLst>
                <a:ext uri="{FF2B5EF4-FFF2-40B4-BE49-F238E27FC236}">
                  <a16:creationId xmlns:a16="http://schemas.microsoft.com/office/drawing/2014/main" id="{7E4FCC37-4158-B44C-9934-B60AAED4E53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8821" t="10527" r="6504" b="13541"/>
            <a:stretch>
              <a:fillRect/>
            </a:stretch>
          </p:blipFill>
          <p:spPr bwMode="auto">
            <a:xfrm>
              <a:off x="2004803" y="2566644"/>
              <a:ext cx="2269509" cy="308588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0870034-27B6-4D82-FBCB-6B4911BD64C6}"/>
                </a:ext>
              </a:extLst>
            </p:cNvPr>
            <p:cNvSpPr txBox="1"/>
            <p:nvPr/>
          </p:nvSpPr>
          <p:spPr>
            <a:xfrm>
              <a:off x="1732116" y="1711665"/>
              <a:ext cx="2564842" cy="878956"/>
            </a:xfrm>
            <a:prstGeom prst="rect">
              <a:avLst/>
            </a:prstGeom>
            <a:noFill/>
          </p:spPr>
          <p:txBody>
            <a:bodyPr wrap="square" rtlCol="0">
              <a:spAutoFit/>
            </a:bodyPr>
            <a:lstStyle/>
            <a:p>
              <a:pPr algn="ctr"/>
              <a:r>
                <a:rPr lang="en-US" sz="2400" b="1" dirty="0"/>
                <a:t>Different types of tissues</a:t>
              </a:r>
            </a:p>
          </p:txBody>
        </p:sp>
        <p:pic>
          <p:nvPicPr>
            <p:cNvPr id="1040" name="Picture 16" descr="What is a cell? | Twinkl Teaching Wiki - Twinkl">
              <a:extLst>
                <a:ext uri="{FF2B5EF4-FFF2-40B4-BE49-F238E27FC236}">
                  <a16:creationId xmlns:a16="http://schemas.microsoft.com/office/drawing/2014/main" id="{839FE836-7330-624E-07E8-22F51655C6FA}"/>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2753" r="25102"/>
            <a:stretch>
              <a:fillRect/>
            </a:stretch>
          </p:blipFill>
          <p:spPr bwMode="auto">
            <a:xfrm>
              <a:off x="69152" y="3550958"/>
              <a:ext cx="1651648" cy="1679128"/>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a:extLst>
                <a:ext uri="{FF2B5EF4-FFF2-40B4-BE49-F238E27FC236}">
                  <a16:creationId xmlns:a16="http://schemas.microsoft.com/office/drawing/2014/main" id="{6C181E30-0F50-B452-ABA4-DE974D298C58}"/>
                </a:ext>
              </a:extLst>
            </p:cNvPr>
            <p:cNvCxnSpPr>
              <a:cxnSpLocks/>
            </p:cNvCxnSpPr>
            <p:nvPr/>
          </p:nvCxnSpPr>
          <p:spPr>
            <a:xfrm flipH="1">
              <a:off x="1415862" y="2819904"/>
              <a:ext cx="1071789" cy="914875"/>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3DF91807-14BD-1D6A-ECD7-93BF2D33E2BC}"/>
                </a:ext>
              </a:extLst>
            </p:cNvPr>
            <p:cNvCxnSpPr>
              <a:cxnSpLocks/>
            </p:cNvCxnSpPr>
            <p:nvPr/>
          </p:nvCxnSpPr>
          <p:spPr>
            <a:xfrm flipV="1">
              <a:off x="1054705" y="3148527"/>
              <a:ext cx="1473683" cy="2047566"/>
            </a:xfrm>
            <a:prstGeom prst="line">
              <a:avLst/>
            </a:prstGeom>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0E4D4BED-D045-F8A0-C567-5ACD0BA1B62D}"/>
                </a:ext>
              </a:extLst>
            </p:cNvPr>
            <p:cNvSpPr txBox="1"/>
            <p:nvPr/>
          </p:nvSpPr>
          <p:spPr>
            <a:xfrm>
              <a:off x="226025" y="2611414"/>
              <a:ext cx="1411977" cy="830997"/>
            </a:xfrm>
            <a:prstGeom prst="rect">
              <a:avLst/>
            </a:prstGeom>
            <a:noFill/>
          </p:spPr>
          <p:txBody>
            <a:bodyPr wrap="square" rtlCol="0">
              <a:spAutoFit/>
            </a:bodyPr>
            <a:lstStyle/>
            <a:p>
              <a:r>
                <a:rPr lang="en-US" sz="2400" b="1" dirty="0"/>
                <a:t>Cells in body</a:t>
              </a:r>
            </a:p>
          </p:txBody>
        </p:sp>
        <p:sp>
          <p:nvSpPr>
            <p:cNvPr id="30" name="TextBox 29">
              <a:extLst>
                <a:ext uri="{FF2B5EF4-FFF2-40B4-BE49-F238E27FC236}">
                  <a16:creationId xmlns:a16="http://schemas.microsoft.com/office/drawing/2014/main" id="{5C2658A9-046C-2DCD-8C0C-D022649DDF22}"/>
                </a:ext>
              </a:extLst>
            </p:cNvPr>
            <p:cNvSpPr txBox="1"/>
            <p:nvPr/>
          </p:nvSpPr>
          <p:spPr>
            <a:xfrm rot="5400000">
              <a:off x="3097573" y="5624954"/>
              <a:ext cx="498855" cy="553998"/>
            </a:xfrm>
            <a:prstGeom prst="rect">
              <a:avLst/>
            </a:prstGeom>
            <a:noFill/>
          </p:spPr>
          <p:txBody>
            <a:bodyPr wrap="none" rtlCol="0">
              <a:spAutoFit/>
            </a:bodyPr>
            <a:lstStyle/>
            <a:p>
              <a:r>
                <a:rPr lang="en-US" sz="3000" dirty="0"/>
                <a:t>…</a:t>
              </a:r>
            </a:p>
          </p:txBody>
        </p:sp>
      </p:grpSp>
      <p:pic>
        <p:nvPicPr>
          <p:cNvPr id="10" name="Picture 9">
            <a:extLst>
              <a:ext uri="{FF2B5EF4-FFF2-40B4-BE49-F238E27FC236}">
                <a16:creationId xmlns:a16="http://schemas.microsoft.com/office/drawing/2014/main" id="{FFF3741E-8B6E-76ED-11F3-A0088E307096}"/>
              </a:ext>
            </a:extLst>
          </p:cNvPr>
          <p:cNvPicPr>
            <a:picLocks noChangeAspect="1"/>
          </p:cNvPicPr>
          <p:nvPr/>
        </p:nvPicPr>
        <p:blipFill>
          <a:blip r:embed="rId8"/>
          <a:srcRect r="61449"/>
          <a:stretch>
            <a:fillRect/>
          </a:stretch>
        </p:blipFill>
        <p:spPr>
          <a:xfrm>
            <a:off x="-4691848" y="5167312"/>
            <a:ext cx="2996293" cy="2708079"/>
          </a:xfrm>
          <a:prstGeom prst="rect">
            <a:avLst/>
          </a:prstGeom>
        </p:spPr>
      </p:pic>
      <p:sp>
        <p:nvSpPr>
          <p:cNvPr id="40" name="Right Arrow 39">
            <a:extLst>
              <a:ext uri="{FF2B5EF4-FFF2-40B4-BE49-F238E27FC236}">
                <a16:creationId xmlns:a16="http://schemas.microsoft.com/office/drawing/2014/main" id="{CDD81C83-BB74-0481-D108-027A91A2E16B}"/>
              </a:ext>
            </a:extLst>
          </p:cNvPr>
          <p:cNvSpPr/>
          <p:nvPr/>
        </p:nvSpPr>
        <p:spPr>
          <a:xfrm>
            <a:off x="4056368" y="3589249"/>
            <a:ext cx="921145" cy="12268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94E8B9BE-E6E5-83FF-C640-857AD9CA79CB}"/>
              </a:ext>
            </a:extLst>
          </p:cNvPr>
          <p:cNvSpPr txBox="1"/>
          <p:nvPr/>
        </p:nvSpPr>
        <p:spPr>
          <a:xfrm>
            <a:off x="7869673" y="1620194"/>
            <a:ext cx="4498689" cy="861774"/>
          </a:xfrm>
          <a:prstGeom prst="rect">
            <a:avLst/>
          </a:prstGeom>
          <a:noFill/>
        </p:spPr>
        <p:txBody>
          <a:bodyPr wrap="square" rtlCol="0">
            <a:spAutoFit/>
          </a:bodyPr>
          <a:lstStyle/>
          <a:p>
            <a:r>
              <a:rPr lang="en-US" sz="2500" b="1" dirty="0"/>
              <a:t>Multi-modal, single-cell / spatial data</a:t>
            </a:r>
          </a:p>
        </p:txBody>
      </p:sp>
      <p:sp>
        <p:nvSpPr>
          <p:cNvPr id="42" name="TextBox 41">
            <a:extLst>
              <a:ext uri="{FF2B5EF4-FFF2-40B4-BE49-F238E27FC236}">
                <a16:creationId xmlns:a16="http://schemas.microsoft.com/office/drawing/2014/main" id="{DF61FAA4-B6BD-DF42-E27D-5FF1A404C4E1}"/>
              </a:ext>
            </a:extLst>
          </p:cNvPr>
          <p:cNvSpPr txBox="1"/>
          <p:nvPr/>
        </p:nvSpPr>
        <p:spPr>
          <a:xfrm>
            <a:off x="4609402" y="2460826"/>
            <a:ext cx="2927921" cy="830997"/>
          </a:xfrm>
          <a:prstGeom prst="rect">
            <a:avLst/>
          </a:prstGeom>
          <a:noFill/>
        </p:spPr>
        <p:txBody>
          <a:bodyPr wrap="square" rtlCol="0">
            <a:spAutoFit/>
          </a:bodyPr>
          <a:lstStyle/>
          <a:p>
            <a:r>
              <a:rPr lang="en-US" sz="2400" b="1" dirty="0"/>
              <a:t>Sequencing / imaging machine</a:t>
            </a:r>
          </a:p>
        </p:txBody>
      </p:sp>
      <p:pic>
        <p:nvPicPr>
          <p:cNvPr id="43" name="Picture 42" descr="A diagram of a diagram of a barcode&#10;&#10;AI-generated content may be incorrect.">
            <a:extLst>
              <a:ext uri="{FF2B5EF4-FFF2-40B4-BE49-F238E27FC236}">
                <a16:creationId xmlns:a16="http://schemas.microsoft.com/office/drawing/2014/main" id="{4CD06965-2141-E3B2-CF91-6137FBFD7665}"/>
              </a:ext>
            </a:extLst>
          </p:cNvPr>
          <p:cNvPicPr>
            <a:picLocks noChangeAspect="1"/>
          </p:cNvPicPr>
          <p:nvPr/>
        </p:nvPicPr>
        <p:blipFill>
          <a:blip r:embed="rId9"/>
          <a:stretch>
            <a:fillRect/>
          </a:stretch>
        </p:blipFill>
        <p:spPr>
          <a:xfrm>
            <a:off x="7389887" y="8838809"/>
            <a:ext cx="2927921" cy="1966962"/>
          </a:xfrm>
          <a:prstGeom prst="rect">
            <a:avLst/>
          </a:prstGeom>
        </p:spPr>
      </p:pic>
      <p:sp>
        <p:nvSpPr>
          <p:cNvPr id="44" name="Right Arrow 43">
            <a:extLst>
              <a:ext uri="{FF2B5EF4-FFF2-40B4-BE49-F238E27FC236}">
                <a16:creationId xmlns:a16="http://schemas.microsoft.com/office/drawing/2014/main" id="{AF3CE0CA-F25D-C2D3-6F3A-F7A69FC9FCD2}"/>
              </a:ext>
            </a:extLst>
          </p:cNvPr>
          <p:cNvSpPr/>
          <p:nvPr/>
        </p:nvSpPr>
        <p:spPr>
          <a:xfrm>
            <a:off x="8002010" y="3632740"/>
            <a:ext cx="921145" cy="12268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641BAED7-A553-D696-54C8-FEEF6F1F464F}"/>
              </a:ext>
            </a:extLst>
          </p:cNvPr>
          <p:cNvSpPr txBox="1"/>
          <p:nvPr/>
        </p:nvSpPr>
        <p:spPr>
          <a:xfrm rot="16200000">
            <a:off x="8841129" y="4284322"/>
            <a:ext cx="931665" cy="461665"/>
          </a:xfrm>
          <a:prstGeom prst="rect">
            <a:avLst/>
          </a:prstGeom>
          <a:noFill/>
        </p:spPr>
        <p:txBody>
          <a:bodyPr wrap="none" rtlCol="0">
            <a:spAutoFit/>
          </a:bodyPr>
          <a:lstStyle/>
          <a:p>
            <a:pPr algn="ctr"/>
            <a:r>
              <a:rPr lang="en-US" sz="2400" dirty="0"/>
              <a:t>Cells </a:t>
            </a:r>
          </a:p>
        </p:txBody>
      </p:sp>
      <p:sp>
        <p:nvSpPr>
          <p:cNvPr id="47" name="TextBox 46">
            <a:extLst>
              <a:ext uri="{FF2B5EF4-FFF2-40B4-BE49-F238E27FC236}">
                <a16:creationId xmlns:a16="http://schemas.microsoft.com/office/drawing/2014/main" id="{B8851CBF-EED5-43CC-5D64-A7F4B9446336}"/>
              </a:ext>
            </a:extLst>
          </p:cNvPr>
          <p:cNvSpPr txBox="1"/>
          <p:nvPr/>
        </p:nvSpPr>
        <p:spPr>
          <a:xfrm>
            <a:off x="8860689" y="2394767"/>
            <a:ext cx="3353374" cy="707886"/>
          </a:xfrm>
          <a:prstGeom prst="rect">
            <a:avLst/>
          </a:prstGeom>
          <a:noFill/>
        </p:spPr>
        <p:txBody>
          <a:bodyPr wrap="square" rtlCol="0">
            <a:spAutoFit/>
          </a:bodyPr>
          <a:lstStyle/>
          <a:p>
            <a:r>
              <a:rPr lang="en-US" sz="2200" dirty="0"/>
              <a:t>Genomic features </a:t>
            </a:r>
            <a:r>
              <a:rPr lang="en-US" dirty="0"/>
              <a:t>(RNA, DNA, protein, …)</a:t>
            </a:r>
          </a:p>
        </p:txBody>
      </p:sp>
      <p:grpSp>
        <p:nvGrpSpPr>
          <p:cNvPr id="48" name="Group 47">
            <a:extLst>
              <a:ext uri="{FF2B5EF4-FFF2-40B4-BE49-F238E27FC236}">
                <a16:creationId xmlns:a16="http://schemas.microsoft.com/office/drawing/2014/main" id="{D75557FD-F6CD-3F34-0CC4-E8845050EAE2}"/>
              </a:ext>
            </a:extLst>
          </p:cNvPr>
          <p:cNvGrpSpPr/>
          <p:nvPr/>
        </p:nvGrpSpPr>
        <p:grpSpPr>
          <a:xfrm>
            <a:off x="7885465" y="7271038"/>
            <a:ext cx="1282343" cy="1456341"/>
            <a:chOff x="509901" y="1888175"/>
            <a:chExt cx="2660824" cy="3099025"/>
          </a:xfrm>
        </p:grpSpPr>
        <p:pic>
          <p:nvPicPr>
            <p:cNvPr id="49" name="Picture 48">
              <a:extLst>
                <a:ext uri="{FF2B5EF4-FFF2-40B4-BE49-F238E27FC236}">
                  <a16:creationId xmlns:a16="http://schemas.microsoft.com/office/drawing/2014/main" id="{021DBE8C-C54C-8218-819F-3132367D130B}"/>
                </a:ext>
              </a:extLst>
            </p:cNvPr>
            <p:cNvPicPr>
              <a:picLocks noChangeAspect="1"/>
            </p:cNvPicPr>
            <p:nvPr/>
          </p:nvPicPr>
          <p:blipFill rotWithShape="1">
            <a:blip r:embed="rId10">
              <a:extLst>
                <a:ext uri="{28A0092B-C50C-407E-A947-70E740481C1C}">
                  <a14:useLocalDpi xmlns:a14="http://schemas.microsoft.com/office/drawing/2010/main" val="0"/>
                </a:ext>
              </a:extLst>
            </a:blip>
            <a:srcRect l="29315" t="31466" r="10632" b="36444"/>
            <a:stretch>
              <a:fillRect/>
            </a:stretch>
          </p:blipFill>
          <p:spPr>
            <a:xfrm rot="5400000" flipH="1">
              <a:off x="348970" y="2049106"/>
              <a:ext cx="2244437" cy="1922575"/>
            </a:xfrm>
            <a:prstGeom prst="rect">
              <a:avLst/>
            </a:prstGeom>
            <a:ln w="28575">
              <a:solidFill>
                <a:schemeClr val="tx1"/>
              </a:solidFill>
            </a:ln>
          </p:spPr>
        </p:pic>
        <p:pic>
          <p:nvPicPr>
            <p:cNvPr id="50" name="Picture 49">
              <a:extLst>
                <a:ext uri="{FF2B5EF4-FFF2-40B4-BE49-F238E27FC236}">
                  <a16:creationId xmlns:a16="http://schemas.microsoft.com/office/drawing/2014/main" id="{9F9D1124-EFBD-25D3-C615-DB87C14EC8B7}"/>
                </a:ext>
              </a:extLst>
            </p:cNvPr>
            <p:cNvPicPr>
              <a:picLocks noChangeAspect="1"/>
            </p:cNvPicPr>
            <p:nvPr/>
          </p:nvPicPr>
          <p:blipFill rotWithShape="1">
            <a:blip r:embed="rId10">
              <a:extLst>
                <a:ext uri="{28A0092B-C50C-407E-A947-70E740481C1C}">
                  <a14:useLocalDpi xmlns:a14="http://schemas.microsoft.com/office/drawing/2010/main" val="0"/>
                </a:ext>
              </a:extLst>
            </a:blip>
            <a:srcRect l="29315" t="31466" r="10632" b="36444"/>
            <a:stretch>
              <a:fillRect/>
            </a:stretch>
          </p:blipFill>
          <p:spPr>
            <a:xfrm rot="5400000" flipH="1">
              <a:off x="477619" y="2294094"/>
              <a:ext cx="2244437" cy="1922575"/>
            </a:xfrm>
            <a:prstGeom prst="rect">
              <a:avLst/>
            </a:prstGeom>
            <a:ln w="28575">
              <a:solidFill>
                <a:schemeClr val="tx1"/>
              </a:solidFill>
            </a:ln>
          </p:spPr>
        </p:pic>
        <p:pic>
          <p:nvPicPr>
            <p:cNvPr id="51" name="Picture 50">
              <a:extLst>
                <a:ext uri="{FF2B5EF4-FFF2-40B4-BE49-F238E27FC236}">
                  <a16:creationId xmlns:a16="http://schemas.microsoft.com/office/drawing/2014/main" id="{7350F1F3-024A-FCDD-FC9D-39FA74676167}"/>
                </a:ext>
              </a:extLst>
            </p:cNvPr>
            <p:cNvPicPr>
              <a:picLocks noChangeAspect="1"/>
            </p:cNvPicPr>
            <p:nvPr/>
          </p:nvPicPr>
          <p:blipFill rotWithShape="1">
            <a:blip r:embed="rId10">
              <a:extLst>
                <a:ext uri="{28A0092B-C50C-407E-A947-70E740481C1C}">
                  <a14:useLocalDpi xmlns:a14="http://schemas.microsoft.com/office/drawing/2010/main" val="0"/>
                </a:ext>
              </a:extLst>
            </a:blip>
            <a:srcRect l="29315" t="31466" r="10632" b="36444"/>
            <a:stretch>
              <a:fillRect/>
            </a:stretch>
          </p:blipFill>
          <p:spPr>
            <a:xfrm rot="5400000" flipH="1">
              <a:off x="630019" y="2446494"/>
              <a:ext cx="2244437" cy="1922575"/>
            </a:xfrm>
            <a:prstGeom prst="rect">
              <a:avLst/>
            </a:prstGeom>
            <a:ln w="28575">
              <a:solidFill>
                <a:schemeClr val="tx1"/>
              </a:solidFill>
            </a:ln>
          </p:spPr>
        </p:pic>
        <p:pic>
          <p:nvPicPr>
            <p:cNvPr id="52" name="Picture 51">
              <a:extLst>
                <a:ext uri="{FF2B5EF4-FFF2-40B4-BE49-F238E27FC236}">
                  <a16:creationId xmlns:a16="http://schemas.microsoft.com/office/drawing/2014/main" id="{1B5B518A-3C62-E6AF-218A-63D396BC7297}"/>
                </a:ext>
              </a:extLst>
            </p:cNvPr>
            <p:cNvPicPr>
              <a:picLocks noChangeAspect="1"/>
            </p:cNvPicPr>
            <p:nvPr/>
          </p:nvPicPr>
          <p:blipFill rotWithShape="1">
            <a:blip r:embed="rId10">
              <a:extLst>
                <a:ext uri="{28A0092B-C50C-407E-A947-70E740481C1C}">
                  <a14:useLocalDpi xmlns:a14="http://schemas.microsoft.com/office/drawing/2010/main" val="0"/>
                </a:ext>
              </a:extLst>
            </a:blip>
            <a:srcRect l="29315" t="31466" r="10632" b="36444"/>
            <a:stretch>
              <a:fillRect/>
            </a:stretch>
          </p:blipFill>
          <p:spPr>
            <a:xfrm rot="5400000" flipH="1">
              <a:off x="782419" y="2598894"/>
              <a:ext cx="2244437" cy="1922575"/>
            </a:xfrm>
            <a:prstGeom prst="rect">
              <a:avLst/>
            </a:prstGeom>
            <a:ln w="28575">
              <a:solidFill>
                <a:schemeClr val="tx1"/>
              </a:solidFill>
            </a:ln>
          </p:spPr>
        </p:pic>
        <p:pic>
          <p:nvPicPr>
            <p:cNvPr id="53" name="Picture 52">
              <a:extLst>
                <a:ext uri="{FF2B5EF4-FFF2-40B4-BE49-F238E27FC236}">
                  <a16:creationId xmlns:a16="http://schemas.microsoft.com/office/drawing/2014/main" id="{F11BFBF5-E940-39CD-A195-FEA81D6E1C67}"/>
                </a:ext>
              </a:extLst>
            </p:cNvPr>
            <p:cNvPicPr>
              <a:picLocks noChangeAspect="1"/>
            </p:cNvPicPr>
            <p:nvPr/>
          </p:nvPicPr>
          <p:blipFill rotWithShape="1">
            <a:blip r:embed="rId10">
              <a:extLst>
                <a:ext uri="{28A0092B-C50C-407E-A947-70E740481C1C}">
                  <a14:useLocalDpi xmlns:a14="http://schemas.microsoft.com/office/drawing/2010/main" val="0"/>
                </a:ext>
              </a:extLst>
            </a:blip>
            <a:srcRect l="29315" t="31466" r="10632" b="36444"/>
            <a:stretch>
              <a:fillRect/>
            </a:stretch>
          </p:blipFill>
          <p:spPr>
            <a:xfrm rot="5400000" flipH="1">
              <a:off x="934819" y="2751294"/>
              <a:ext cx="2244437" cy="1922575"/>
            </a:xfrm>
            <a:prstGeom prst="rect">
              <a:avLst/>
            </a:prstGeom>
            <a:ln w="28575">
              <a:solidFill>
                <a:schemeClr val="tx1"/>
              </a:solidFill>
            </a:ln>
          </p:spPr>
        </p:pic>
        <p:pic>
          <p:nvPicPr>
            <p:cNvPr id="54" name="Picture 53">
              <a:extLst>
                <a:ext uri="{FF2B5EF4-FFF2-40B4-BE49-F238E27FC236}">
                  <a16:creationId xmlns:a16="http://schemas.microsoft.com/office/drawing/2014/main" id="{4083BC9A-CA7C-B368-136B-E6180F9B9393}"/>
                </a:ext>
              </a:extLst>
            </p:cNvPr>
            <p:cNvPicPr>
              <a:picLocks noChangeAspect="1"/>
            </p:cNvPicPr>
            <p:nvPr/>
          </p:nvPicPr>
          <p:blipFill rotWithShape="1">
            <a:blip r:embed="rId10">
              <a:extLst>
                <a:ext uri="{28A0092B-C50C-407E-A947-70E740481C1C}">
                  <a14:useLocalDpi xmlns:a14="http://schemas.microsoft.com/office/drawing/2010/main" val="0"/>
                </a:ext>
              </a:extLst>
            </a:blip>
            <a:srcRect l="29315" t="31466" r="10632" b="36444"/>
            <a:stretch>
              <a:fillRect/>
            </a:stretch>
          </p:blipFill>
          <p:spPr>
            <a:xfrm rot="5400000" flipH="1">
              <a:off x="1087219" y="2903694"/>
              <a:ext cx="2244437" cy="1922575"/>
            </a:xfrm>
            <a:prstGeom prst="rect">
              <a:avLst/>
            </a:prstGeom>
            <a:ln w="28575">
              <a:solidFill>
                <a:schemeClr val="tx1"/>
              </a:solidFill>
            </a:ln>
          </p:spPr>
        </p:pic>
      </p:grpSp>
      <p:sp>
        <p:nvSpPr>
          <p:cNvPr id="55" name="TextBox 54">
            <a:extLst>
              <a:ext uri="{FF2B5EF4-FFF2-40B4-BE49-F238E27FC236}">
                <a16:creationId xmlns:a16="http://schemas.microsoft.com/office/drawing/2014/main" id="{6D4FDA05-E12A-EFCD-BB06-D80E2E64F5B0}"/>
              </a:ext>
            </a:extLst>
          </p:cNvPr>
          <p:cNvSpPr txBox="1"/>
          <p:nvPr/>
        </p:nvSpPr>
        <p:spPr>
          <a:xfrm>
            <a:off x="6165552" y="7928363"/>
            <a:ext cx="1704121" cy="369332"/>
          </a:xfrm>
          <a:prstGeom prst="rect">
            <a:avLst/>
          </a:prstGeom>
          <a:noFill/>
        </p:spPr>
        <p:txBody>
          <a:bodyPr wrap="none" rtlCol="0">
            <a:spAutoFit/>
          </a:bodyPr>
          <a:lstStyle/>
          <a:p>
            <a:r>
              <a:rPr lang="en-US" dirty="0"/>
              <a:t>Many datasets!</a:t>
            </a:r>
          </a:p>
        </p:txBody>
      </p:sp>
      <p:pic>
        <p:nvPicPr>
          <p:cNvPr id="57" name="Picture 56">
            <a:extLst>
              <a:ext uri="{FF2B5EF4-FFF2-40B4-BE49-F238E27FC236}">
                <a16:creationId xmlns:a16="http://schemas.microsoft.com/office/drawing/2014/main" id="{0B3708B3-5959-3195-2E71-4065BD6371BA}"/>
              </a:ext>
            </a:extLst>
          </p:cNvPr>
          <p:cNvPicPr>
            <a:picLocks noChangeAspect="1"/>
          </p:cNvPicPr>
          <p:nvPr/>
        </p:nvPicPr>
        <p:blipFill rotWithShape="1">
          <a:blip r:embed="rId10">
            <a:extLst>
              <a:ext uri="{28A0092B-C50C-407E-A947-70E740481C1C}">
                <a14:useLocalDpi xmlns:a14="http://schemas.microsoft.com/office/drawing/2010/main" val="0"/>
              </a:ext>
            </a:extLst>
          </a:blip>
          <a:srcRect l="25315" t="31466" r="7379" b="36444"/>
          <a:stretch/>
        </p:blipFill>
        <p:spPr>
          <a:xfrm rot="5400000" flipH="1">
            <a:off x="9176578" y="3510482"/>
            <a:ext cx="2721597" cy="1697496"/>
          </a:xfrm>
          <a:prstGeom prst="rect">
            <a:avLst/>
          </a:prstGeom>
        </p:spPr>
      </p:pic>
      <p:sp>
        <p:nvSpPr>
          <p:cNvPr id="60" name="TextBox 59">
            <a:extLst>
              <a:ext uri="{FF2B5EF4-FFF2-40B4-BE49-F238E27FC236}">
                <a16:creationId xmlns:a16="http://schemas.microsoft.com/office/drawing/2014/main" id="{B582D001-D0AD-B7C7-4332-9B1D494EBA71}"/>
              </a:ext>
            </a:extLst>
          </p:cNvPr>
          <p:cNvSpPr txBox="1"/>
          <p:nvPr/>
        </p:nvSpPr>
        <p:spPr>
          <a:xfrm>
            <a:off x="474231" y="5879886"/>
            <a:ext cx="8546684" cy="923330"/>
          </a:xfrm>
          <a:prstGeom prst="rect">
            <a:avLst/>
          </a:prstGeom>
          <a:noFill/>
        </p:spPr>
        <p:txBody>
          <a:bodyPr wrap="square" rtlCol="0">
            <a:spAutoFit/>
          </a:bodyPr>
          <a:lstStyle/>
          <a:p>
            <a:r>
              <a:rPr lang="en-US" sz="2700" b="1" u="sng" dirty="0"/>
              <a:t>Large data – need sophisticated ML methods to analyze and understand it!</a:t>
            </a:r>
          </a:p>
        </p:txBody>
      </p:sp>
      <p:pic>
        <p:nvPicPr>
          <p:cNvPr id="1048" name="Picture 24" descr="Casting a Wider Net: How Spatial Omics Leads to New Discoveries">
            <a:extLst>
              <a:ext uri="{FF2B5EF4-FFF2-40B4-BE49-F238E27FC236}">
                <a16:creationId xmlns:a16="http://schemas.microsoft.com/office/drawing/2014/main" id="{EA2EDB3F-F333-DCE4-9E7D-53F6E37CA4B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566613" y="5237806"/>
            <a:ext cx="2151156" cy="11902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1727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7BFA670-798E-697D-636C-85F02E2B0A49}"/>
              </a:ext>
            </a:extLst>
          </p:cNvPr>
          <p:cNvPicPr>
            <a:picLocks noChangeAspect="1"/>
          </p:cNvPicPr>
          <p:nvPr/>
        </p:nvPicPr>
        <p:blipFill>
          <a:blip r:embed="rId2"/>
          <a:stretch>
            <a:fillRect/>
          </a:stretch>
        </p:blipFill>
        <p:spPr>
          <a:xfrm>
            <a:off x="231043" y="1067733"/>
            <a:ext cx="7733679" cy="1666462"/>
          </a:xfrm>
          <a:prstGeom prst="rect">
            <a:avLst/>
          </a:prstGeom>
          <a:ln>
            <a:solidFill>
              <a:schemeClr val="tx1"/>
            </a:solidFill>
          </a:ln>
        </p:spPr>
      </p:pic>
      <p:pic>
        <p:nvPicPr>
          <p:cNvPr id="2052" name="Picture 4">
            <a:extLst>
              <a:ext uri="{FF2B5EF4-FFF2-40B4-BE49-F238E27FC236}">
                <a16:creationId xmlns:a16="http://schemas.microsoft.com/office/drawing/2014/main" id="{6D2CEE0D-5BA5-BF57-8FA2-17AF0C9DD49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5041"/>
          <a:stretch>
            <a:fillRect/>
          </a:stretch>
        </p:blipFill>
        <p:spPr bwMode="auto">
          <a:xfrm>
            <a:off x="2155089" y="4286948"/>
            <a:ext cx="7881821" cy="2158772"/>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id="{5C496EAD-6A6F-28F7-B169-EB8464287F52}"/>
              </a:ext>
            </a:extLst>
          </p:cNvPr>
          <p:cNvSpPr>
            <a:spLocks noGrp="1"/>
          </p:cNvSpPr>
          <p:nvPr>
            <p:ph type="title"/>
          </p:nvPr>
        </p:nvSpPr>
        <p:spPr>
          <a:xfrm>
            <a:off x="79917" y="-108723"/>
            <a:ext cx="10515600" cy="1325563"/>
          </a:xfrm>
        </p:spPr>
        <p:txBody>
          <a:bodyPr/>
          <a:lstStyle/>
          <a:p>
            <a:r>
              <a:rPr lang="en-US" dirty="0"/>
              <a:t>Recent news: AI/ML-powered “virtual cells”</a:t>
            </a:r>
          </a:p>
        </p:txBody>
      </p:sp>
      <p:pic>
        <p:nvPicPr>
          <p:cNvPr id="10" name="Picture 9">
            <a:extLst>
              <a:ext uri="{FF2B5EF4-FFF2-40B4-BE49-F238E27FC236}">
                <a16:creationId xmlns:a16="http://schemas.microsoft.com/office/drawing/2014/main" id="{FE548417-EF7E-9A9A-F738-8943337627B7}"/>
              </a:ext>
            </a:extLst>
          </p:cNvPr>
          <p:cNvPicPr>
            <a:picLocks noChangeAspect="1"/>
          </p:cNvPicPr>
          <p:nvPr/>
        </p:nvPicPr>
        <p:blipFill>
          <a:blip r:embed="rId4"/>
          <a:stretch>
            <a:fillRect/>
          </a:stretch>
        </p:blipFill>
        <p:spPr>
          <a:xfrm>
            <a:off x="5490214" y="1676711"/>
            <a:ext cx="6527800" cy="1930400"/>
          </a:xfrm>
          <a:prstGeom prst="rect">
            <a:avLst/>
          </a:prstGeom>
          <a:ln>
            <a:solidFill>
              <a:schemeClr val="tx1"/>
            </a:solidFill>
          </a:ln>
        </p:spPr>
      </p:pic>
      <p:sp>
        <p:nvSpPr>
          <p:cNvPr id="12" name="TextBox 11">
            <a:extLst>
              <a:ext uri="{FF2B5EF4-FFF2-40B4-BE49-F238E27FC236}">
                <a16:creationId xmlns:a16="http://schemas.microsoft.com/office/drawing/2014/main" id="{3FB2F9E0-D5F6-D68F-A488-9AC8052B2759}"/>
              </a:ext>
            </a:extLst>
          </p:cNvPr>
          <p:cNvSpPr txBox="1"/>
          <p:nvPr/>
        </p:nvSpPr>
        <p:spPr>
          <a:xfrm>
            <a:off x="3429372" y="6304002"/>
            <a:ext cx="4850174" cy="553998"/>
          </a:xfrm>
          <a:prstGeom prst="rect">
            <a:avLst/>
          </a:prstGeom>
          <a:noFill/>
        </p:spPr>
        <p:txBody>
          <a:bodyPr wrap="none" rtlCol="0">
            <a:spAutoFit/>
          </a:bodyPr>
          <a:lstStyle/>
          <a:p>
            <a:r>
              <a:rPr lang="en-US" sz="3000" b="1" dirty="0"/>
              <a:t>But… what is a virtual cell?</a:t>
            </a:r>
          </a:p>
        </p:txBody>
      </p:sp>
      <p:pic>
        <p:nvPicPr>
          <p:cNvPr id="14" name="Picture 13">
            <a:extLst>
              <a:ext uri="{FF2B5EF4-FFF2-40B4-BE49-F238E27FC236}">
                <a16:creationId xmlns:a16="http://schemas.microsoft.com/office/drawing/2014/main" id="{BE07CBF0-F51C-82FD-7F7C-73621A6C26A4}"/>
              </a:ext>
            </a:extLst>
          </p:cNvPr>
          <p:cNvPicPr>
            <a:picLocks noChangeAspect="1"/>
          </p:cNvPicPr>
          <p:nvPr/>
        </p:nvPicPr>
        <p:blipFill>
          <a:blip r:embed="rId5"/>
          <a:stretch>
            <a:fillRect/>
          </a:stretch>
        </p:blipFill>
        <p:spPr>
          <a:xfrm>
            <a:off x="79917" y="3296348"/>
            <a:ext cx="7391400" cy="990600"/>
          </a:xfrm>
          <a:prstGeom prst="rect">
            <a:avLst/>
          </a:prstGeom>
          <a:ln>
            <a:solidFill>
              <a:schemeClr val="tx1"/>
            </a:solidFill>
          </a:ln>
        </p:spPr>
      </p:pic>
    </p:spTree>
    <p:extLst>
      <p:ext uri="{BB962C8B-B14F-4D97-AF65-F5344CB8AC3E}">
        <p14:creationId xmlns:p14="http://schemas.microsoft.com/office/powerpoint/2010/main" val="3748791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3A177-31F6-4158-92C4-5D7AAC5E3805}"/>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4DB3AB18-EEA5-B43D-89D0-2C542E20B7C2}"/>
              </a:ext>
            </a:extLst>
          </p:cNvPr>
          <p:cNvSpPr>
            <a:spLocks noGrp="1"/>
          </p:cNvSpPr>
          <p:nvPr>
            <p:ph idx="1"/>
          </p:nvPr>
        </p:nvSpPr>
        <p:spPr/>
        <p:txBody>
          <a:bodyPr>
            <a:normAutofit/>
          </a:bodyPr>
          <a:lstStyle/>
          <a:p>
            <a:pPr marL="514350" indent="-514350">
              <a:buAutoNum type="arabicPeriod"/>
            </a:pPr>
            <a:r>
              <a:rPr lang="en-US" dirty="0"/>
              <a:t>Learn fundamental methodology (ML/stats) for single-cell/spatial analysis</a:t>
            </a:r>
          </a:p>
          <a:p>
            <a:pPr marL="514350" indent="-514350">
              <a:buAutoNum type="arabicPeriod"/>
            </a:pPr>
            <a:r>
              <a:rPr lang="en-US" dirty="0"/>
              <a:t>Understand state-of-the-art single cell and spatial analysis algorithms</a:t>
            </a:r>
          </a:p>
          <a:p>
            <a:pPr marL="514350" indent="-514350">
              <a:buAutoNum type="arabicPeriod"/>
            </a:pPr>
            <a:r>
              <a:rPr lang="en-US" dirty="0"/>
              <a:t>Develop scientific communication and presentation skills </a:t>
            </a:r>
          </a:p>
          <a:p>
            <a:pPr marL="514350" indent="-514350">
              <a:buAutoNum type="arabicPeriod"/>
            </a:pPr>
            <a:r>
              <a:rPr lang="en-US" dirty="0"/>
              <a:t>Gain hands-on experience analyzing genomic data</a:t>
            </a:r>
          </a:p>
          <a:p>
            <a:pPr marL="0" indent="0">
              <a:buNone/>
            </a:pPr>
            <a:endParaRPr lang="en-US" dirty="0"/>
          </a:p>
          <a:p>
            <a:pPr marL="0" indent="0">
              <a:buNone/>
            </a:pPr>
            <a:r>
              <a:rPr lang="en-US" dirty="0"/>
              <a:t>Our goal is for you to leave this course empowered to improve and expedite your own single cell/spatial research</a:t>
            </a:r>
          </a:p>
        </p:txBody>
      </p:sp>
    </p:spTree>
    <p:extLst>
      <p:ext uri="{BB962C8B-B14F-4D97-AF65-F5344CB8AC3E}">
        <p14:creationId xmlns:p14="http://schemas.microsoft.com/office/powerpoint/2010/main" val="935543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1C39C-76BF-2AC8-D5BC-A853A24EE991}"/>
              </a:ext>
            </a:extLst>
          </p:cNvPr>
          <p:cNvSpPr>
            <a:spLocks noGrp="1"/>
          </p:cNvSpPr>
          <p:nvPr>
            <p:ph type="title"/>
          </p:nvPr>
        </p:nvSpPr>
        <p:spPr/>
        <p:txBody>
          <a:bodyPr/>
          <a:lstStyle/>
          <a:p>
            <a:r>
              <a:rPr lang="en-US" dirty="0"/>
              <a:t>Instructors</a:t>
            </a:r>
          </a:p>
        </p:txBody>
      </p:sp>
      <p:pic>
        <p:nvPicPr>
          <p:cNvPr id="8" name="Content Placeholder 7">
            <a:extLst>
              <a:ext uri="{FF2B5EF4-FFF2-40B4-BE49-F238E27FC236}">
                <a16:creationId xmlns:a16="http://schemas.microsoft.com/office/drawing/2014/main" id="{AFF10C3B-E33C-4289-950C-F3FABC388E02}"/>
              </a:ext>
            </a:extLst>
          </p:cNvPr>
          <p:cNvPicPr>
            <a:picLocks noGrp="1" noChangeAspect="1"/>
          </p:cNvPicPr>
          <p:nvPr>
            <p:ph idx="1"/>
          </p:nvPr>
        </p:nvPicPr>
        <p:blipFill>
          <a:blip r:embed="rId2"/>
          <a:stretch>
            <a:fillRect/>
          </a:stretch>
        </p:blipFill>
        <p:spPr>
          <a:xfrm>
            <a:off x="1092189" y="1690688"/>
            <a:ext cx="2322902" cy="2429756"/>
          </a:xfrm>
          <a:prstGeom prst="rect">
            <a:avLst/>
          </a:prstGeom>
        </p:spPr>
      </p:pic>
      <p:sp>
        <p:nvSpPr>
          <p:cNvPr id="9" name="TextBox 8">
            <a:extLst>
              <a:ext uri="{FF2B5EF4-FFF2-40B4-BE49-F238E27FC236}">
                <a16:creationId xmlns:a16="http://schemas.microsoft.com/office/drawing/2014/main" id="{0DC78664-7BEF-A6E3-AE1B-1C0A30E2F127}"/>
              </a:ext>
            </a:extLst>
          </p:cNvPr>
          <p:cNvSpPr txBox="1"/>
          <p:nvPr/>
        </p:nvSpPr>
        <p:spPr>
          <a:xfrm>
            <a:off x="3669080" y="2018065"/>
            <a:ext cx="8093942" cy="861774"/>
          </a:xfrm>
          <a:prstGeom prst="rect">
            <a:avLst/>
          </a:prstGeom>
          <a:noFill/>
        </p:spPr>
        <p:txBody>
          <a:bodyPr wrap="square" rtlCol="0">
            <a:spAutoFit/>
          </a:bodyPr>
          <a:lstStyle/>
          <a:p>
            <a:r>
              <a:rPr lang="en-US" sz="2500" dirty="0"/>
              <a:t>Instructor: Uthsav Chitra</a:t>
            </a:r>
          </a:p>
          <a:p>
            <a:r>
              <a:rPr lang="en-US" sz="2500" dirty="0"/>
              <a:t>Assistant Professor in Department of Computer Science</a:t>
            </a:r>
          </a:p>
        </p:txBody>
      </p:sp>
      <p:pic>
        <p:nvPicPr>
          <p:cNvPr id="10" name="Picture 9" descr="Sayuni (Sai) Dharmasena">
            <a:extLst>
              <a:ext uri="{FF2B5EF4-FFF2-40B4-BE49-F238E27FC236}">
                <a16:creationId xmlns:a16="http://schemas.microsoft.com/office/drawing/2014/main" id="{C286CD90-9D31-EB15-C582-CB399062B02C}"/>
              </a:ext>
            </a:extLst>
          </p:cNvPr>
          <p:cNvPicPr>
            <a:picLocks noChangeAspect="1"/>
          </p:cNvPicPr>
          <p:nvPr/>
        </p:nvPicPr>
        <p:blipFill>
          <a:blip r:embed="rId3"/>
          <a:stretch>
            <a:fillRect/>
          </a:stretch>
        </p:blipFill>
        <p:spPr>
          <a:xfrm>
            <a:off x="1092189" y="4391379"/>
            <a:ext cx="2298233" cy="2298233"/>
          </a:xfrm>
          <a:prstGeom prst="rect">
            <a:avLst/>
          </a:prstGeom>
        </p:spPr>
      </p:pic>
      <p:sp>
        <p:nvSpPr>
          <p:cNvPr id="11" name="TextBox 10">
            <a:extLst>
              <a:ext uri="{FF2B5EF4-FFF2-40B4-BE49-F238E27FC236}">
                <a16:creationId xmlns:a16="http://schemas.microsoft.com/office/drawing/2014/main" id="{8B19513B-5B79-FFF4-602E-F12E4238C735}"/>
              </a:ext>
            </a:extLst>
          </p:cNvPr>
          <p:cNvSpPr txBox="1"/>
          <p:nvPr/>
        </p:nvSpPr>
        <p:spPr>
          <a:xfrm>
            <a:off x="3753747" y="4917247"/>
            <a:ext cx="5666831" cy="1246495"/>
          </a:xfrm>
          <a:prstGeom prst="rect">
            <a:avLst/>
          </a:prstGeom>
          <a:noFill/>
        </p:spPr>
        <p:txBody>
          <a:bodyPr wrap="square" rtlCol="0">
            <a:spAutoFit/>
          </a:bodyPr>
          <a:lstStyle/>
          <a:p>
            <a:r>
              <a:rPr lang="en-US" sz="2500" dirty="0"/>
              <a:t>TA: </a:t>
            </a:r>
            <a:r>
              <a:rPr lang="en-US" sz="2500" dirty="0" err="1"/>
              <a:t>Sayuni</a:t>
            </a:r>
            <a:r>
              <a:rPr lang="en-US" sz="2500" dirty="0"/>
              <a:t> (Sai) Dharmasena</a:t>
            </a:r>
          </a:p>
          <a:p>
            <a:r>
              <a:rPr lang="en-US" sz="2500" dirty="0"/>
              <a:t>PhD student in Computer Science</a:t>
            </a:r>
          </a:p>
          <a:p>
            <a:r>
              <a:rPr lang="en-US" sz="2500" dirty="0"/>
              <a:t>(previously undergrad in JHU BME)</a:t>
            </a:r>
          </a:p>
        </p:txBody>
      </p:sp>
    </p:spTree>
    <p:extLst>
      <p:ext uri="{BB962C8B-B14F-4D97-AF65-F5344CB8AC3E}">
        <p14:creationId xmlns:p14="http://schemas.microsoft.com/office/powerpoint/2010/main" val="3412734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2EA9F-4DD3-4009-0230-79CFE62575EE}"/>
              </a:ext>
            </a:extLst>
          </p:cNvPr>
          <p:cNvSpPr>
            <a:spLocks noGrp="1"/>
          </p:cNvSpPr>
          <p:nvPr>
            <p:ph type="title"/>
          </p:nvPr>
        </p:nvSpPr>
        <p:spPr/>
        <p:txBody>
          <a:bodyPr/>
          <a:lstStyle/>
          <a:p>
            <a:r>
              <a:rPr lang="en-US" dirty="0"/>
              <a:t>Logistics</a:t>
            </a:r>
          </a:p>
        </p:txBody>
      </p:sp>
      <p:sp>
        <p:nvSpPr>
          <p:cNvPr id="3" name="Content Placeholder 2">
            <a:extLst>
              <a:ext uri="{FF2B5EF4-FFF2-40B4-BE49-F238E27FC236}">
                <a16:creationId xmlns:a16="http://schemas.microsoft.com/office/drawing/2014/main" id="{BEAC4746-5921-5A6B-FD90-170291267BC6}"/>
              </a:ext>
            </a:extLst>
          </p:cNvPr>
          <p:cNvSpPr>
            <a:spLocks noGrp="1"/>
          </p:cNvSpPr>
          <p:nvPr>
            <p:ph idx="1"/>
          </p:nvPr>
        </p:nvSpPr>
        <p:spPr/>
        <p:txBody>
          <a:bodyPr/>
          <a:lstStyle/>
          <a:p>
            <a:pPr marL="0" indent="0">
              <a:buNone/>
            </a:pPr>
            <a:r>
              <a:rPr lang="en-US" dirty="0"/>
              <a:t>Course material will primarily be on </a:t>
            </a:r>
            <a:r>
              <a:rPr lang="en-US" b="1" dirty="0" err="1"/>
              <a:t>Github</a:t>
            </a:r>
            <a:r>
              <a:rPr lang="en-US" dirty="0"/>
              <a:t> (</a:t>
            </a:r>
            <a:r>
              <a:rPr lang="en-US" dirty="0">
                <a:hlinkClick r:id="rId2"/>
              </a:rPr>
              <a:t>https://github.com/chitra-lab/ML-for-single-cell-and-spatial-genomics-fall-2026</a:t>
            </a:r>
            <a:r>
              <a:rPr lang="en-US" dirty="0"/>
              <a:t>) </a:t>
            </a:r>
          </a:p>
          <a:p>
            <a:pPr marL="0" indent="0">
              <a:buNone/>
            </a:pPr>
            <a:endParaRPr lang="en-US" dirty="0"/>
          </a:p>
          <a:p>
            <a:pPr marL="0" indent="0">
              <a:buNone/>
            </a:pPr>
            <a:r>
              <a:rPr lang="en-US" dirty="0"/>
              <a:t>Will use Canvas for grading</a:t>
            </a:r>
          </a:p>
          <a:p>
            <a:pPr marL="0" indent="0">
              <a:buNone/>
            </a:pPr>
            <a:endParaRPr lang="en-US" dirty="0"/>
          </a:p>
          <a:p>
            <a:pPr marL="0" indent="0">
              <a:buNone/>
            </a:pPr>
            <a:r>
              <a:rPr lang="en-US" b="1" dirty="0"/>
              <a:t>Office hours:</a:t>
            </a:r>
            <a:r>
              <a:rPr lang="en-US" dirty="0"/>
              <a:t> right after class 5:45-6:45 </a:t>
            </a:r>
          </a:p>
          <a:p>
            <a:pPr marL="0" indent="0">
              <a:buNone/>
            </a:pPr>
            <a:r>
              <a:rPr lang="en-US" dirty="0"/>
              <a:t>T (Sai, Malone 216) + Th (Uthsav, Malone 319)</a:t>
            </a:r>
          </a:p>
        </p:txBody>
      </p:sp>
    </p:spTree>
    <p:extLst>
      <p:ext uri="{BB962C8B-B14F-4D97-AF65-F5344CB8AC3E}">
        <p14:creationId xmlns:p14="http://schemas.microsoft.com/office/powerpoint/2010/main" val="3705437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C7301-27C2-6E73-5DD0-4018A46248DE}"/>
              </a:ext>
            </a:extLst>
          </p:cNvPr>
          <p:cNvSpPr>
            <a:spLocks noGrp="1"/>
          </p:cNvSpPr>
          <p:nvPr>
            <p:ph type="title"/>
          </p:nvPr>
        </p:nvSpPr>
        <p:spPr>
          <a:xfrm>
            <a:off x="219075" y="500062"/>
            <a:ext cx="3615208" cy="1325563"/>
          </a:xfrm>
        </p:spPr>
        <p:txBody>
          <a:bodyPr>
            <a:normAutofit fontScale="90000"/>
          </a:bodyPr>
          <a:lstStyle/>
          <a:p>
            <a:r>
              <a:rPr lang="en-US" dirty="0"/>
              <a:t>Calendar (subject to change)</a:t>
            </a:r>
          </a:p>
        </p:txBody>
      </p:sp>
      <p:pic>
        <p:nvPicPr>
          <p:cNvPr id="4" name="Content Placeholder 3" descr="Course schedule">
            <a:extLst>
              <a:ext uri="{FF2B5EF4-FFF2-40B4-BE49-F238E27FC236}">
                <a16:creationId xmlns:a16="http://schemas.microsoft.com/office/drawing/2014/main" id="{8930F9F0-9436-93AA-582C-E82FF76EF30A}"/>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6863233" y="13730"/>
            <a:ext cx="5109692" cy="6767962"/>
          </a:xfrm>
          <a:prstGeom prst="rect">
            <a:avLst/>
          </a:prstGeom>
        </p:spPr>
      </p:pic>
      <p:sp>
        <p:nvSpPr>
          <p:cNvPr id="5" name="Left Brace 4">
            <a:extLst>
              <a:ext uri="{FF2B5EF4-FFF2-40B4-BE49-F238E27FC236}">
                <a16:creationId xmlns:a16="http://schemas.microsoft.com/office/drawing/2014/main" id="{FF558CB9-A20D-1507-3042-498A827AB170}"/>
              </a:ext>
            </a:extLst>
          </p:cNvPr>
          <p:cNvSpPr/>
          <p:nvPr/>
        </p:nvSpPr>
        <p:spPr>
          <a:xfrm>
            <a:off x="6663208" y="647700"/>
            <a:ext cx="200025" cy="657225"/>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9B1DF3DE-8A87-6E82-6DE2-A41F601A64AF}"/>
              </a:ext>
            </a:extLst>
          </p:cNvPr>
          <p:cNvSpPr txBox="1"/>
          <p:nvPr/>
        </p:nvSpPr>
        <p:spPr>
          <a:xfrm>
            <a:off x="3682655" y="585787"/>
            <a:ext cx="2932157" cy="646331"/>
          </a:xfrm>
          <a:prstGeom prst="rect">
            <a:avLst/>
          </a:prstGeom>
          <a:noFill/>
        </p:spPr>
        <p:txBody>
          <a:bodyPr wrap="square" rtlCol="0">
            <a:spAutoFit/>
          </a:bodyPr>
          <a:lstStyle/>
          <a:p>
            <a:r>
              <a:rPr lang="en-US" dirty="0"/>
              <a:t>Unit 1: linear dimensionality reduction</a:t>
            </a:r>
          </a:p>
        </p:txBody>
      </p:sp>
      <p:sp>
        <p:nvSpPr>
          <p:cNvPr id="7" name="Left Brace 6">
            <a:extLst>
              <a:ext uri="{FF2B5EF4-FFF2-40B4-BE49-F238E27FC236}">
                <a16:creationId xmlns:a16="http://schemas.microsoft.com/office/drawing/2014/main" id="{EE33CB98-F1EE-6C52-2663-21D1A91BEEF9}"/>
              </a:ext>
            </a:extLst>
          </p:cNvPr>
          <p:cNvSpPr/>
          <p:nvPr/>
        </p:nvSpPr>
        <p:spPr>
          <a:xfrm>
            <a:off x="6651272" y="1414463"/>
            <a:ext cx="223897" cy="657225"/>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44E492A6-F3A3-0036-3E8E-BBEC01FE50AC}"/>
              </a:ext>
            </a:extLst>
          </p:cNvPr>
          <p:cNvSpPr txBox="1"/>
          <p:nvPr/>
        </p:nvSpPr>
        <p:spPr>
          <a:xfrm>
            <a:off x="3597701" y="1414463"/>
            <a:ext cx="3053571" cy="646331"/>
          </a:xfrm>
          <a:prstGeom prst="rect">
            <a:avLst/>
          </a:prstGeom>
          <a:noFill/>
        </p:spPr>
        <p:txBody>
          <a:bodyPr wrap="square" rtlCol="0">
            <a:spAutoFit/>
          </a:bodyPr>
          <a:lstStyle/>
          <a:p>
            <a:r>
              <a:rPr lang="en-US" dirty="0"/>
              <a:t>Unit 2: deep learning / dimensionality reduction</a:t>
            </a:r>
          </a:p>
        </p:txBody>
      </p:sp>
      <p:sp>
        <p:nvSpPr>
          <p:cNvPr id="9" name="Left Brace 8">
            <a:extLst>
              <a:ext uri="{FF2B5EF4-FFF2-40B4-BE49-F238E27FC236}">
                <a16:creationId xmlns:a16="http://schemas.microsoft.com/office/drawing/2014/main" id="{AC3D62DF-7CE2-FAC5-B3CD-6C07F05017E1}"/>
              </a:ext>
            </a:extLst>
          </p:cNvPr>
          <p:cNvSpPr/>
          <p:nvPr/>
        </p:nvSpPr>
        <p:spPr>
          <a:xfrm>
            <a:off x="6663208" y="2095719"/>
            <a:ext cx="211961" cy="78083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1C9C7CD0-95F1-A737-3A6E-9CE05520D39E}"/>
              </a:ext>
            </a:extLst>
          </p:cNvPr>
          <p:cNvSpPr txBox="1"/>
          <p:nvPr/>
        </p:nvSpPr>
        <p:spPr>
          <a:xfrm>
            <a:off x="3621947" y="2336326"/>
            <a:ext cx="3053571" cy="646331"/>
          </a:xfrm>
          <a:prstGeom prst="rect">
            <a:avLst/>
          </a:prstGeom>
          <a:noFill/>
        </p:spPr>
        <p:txBody>
          <a:bodyPr wrap="square" rtlCol="0">
            <a:spAutoFit/>
          </a:bodyPr>
          <a:lstStyle/>
          <a:p>
            <a:r>
              <a:rPr lang="en-US" dirty="0"/>
              <a:t>Unit 3: manifold learning / graphs</a:t>
            </a:r>
          </a:p>
        </p:txBody>
      </p:sp>
      <p:sp>
        <p:nvSpPr>
          <p:cNvPr id="11" name="Left Brace 10">
            <a:extLst>
              <a:ext uri="{FF2B5EF4-FFF2-40B4-BE49-F238E27FC236}">
                <a16:creationId xmlns:a16="http://schemas.microsoft.com/office/drawing/2014/main" id="{72374872-4AD1-8438-8CD5-FBB74BDC7952}"/>
              </a:ext>
            </a:extLst>
          </p:cNvPr>
          <p:cNvSpPr/>
          <p:nvPr/>
        </p:nvSpPr>
        <p:spPr>
          <a:xfrm>
            <a:off x="6651272" y="2946265"/>
            <a:ext cx="211961" cy="120607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B3779887-AB53-A0B8-A5C0-11B6BE7D1C13}"/>
              </a:ext>
            </a:extLst>
          </p:cNvPr>
          <p:cNvSpPr txBox="1"/>
          <p:nvPr/>
        </p:nvSpPr>
        <p:spPr>
          <a:xfrm>
            <a:off x="3597701" y="3269430"/>
            <a:ext cx="3053571" cy="646331"/>
          </a:xfrm>
          <a:prstGeom prst="rect">
            <a:avLst/>
          </a:prstGeom>
          <a:noFill/>
        </p:spPr>
        <p:txBody>
          <a:bodyPr wrap="square" rtlCol="0">
            <a:spAutoFit/>
          </a:bodyPr>
          <a:lstStyle/>
          <a:p>
            <a:r>
              <a:rPr lang="en-US" dirty="0"/>
              <a:t>Unit 4: graphs (cont’d) + spatial</a:t>
            </a:r>
          </a:p>
        </p:txBody>
      </p:sp>
      <p:sp>
        <p:nvSpPr>
          <p:cNvPr id="13" name="Left Brace 12">
            <a:extLst>
              <a:ext uri="{FF2B5EF4-FFF2-40B4-BE49-F238E27FC236}">
                <a16:creationId xmlns:a16="http://schemas.microsoft.com/office/drawing/2014/main" id="{6032B3B2-950A-488F-0C9A-764986F6010E}"/>
              </a:ext>
            </a:extLst>
          </p:cNvPr>
          <p:cNvSpPr/>
          <p:nvPr/>
        </p:nvSpPr>
        <p:spPr>
          <a:xfrm>
            <a:off x="6663208" y="4222058"/>
            <a:ext cx="200026" cy="1007167"/>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6279906E-0993-75DB-6FC8-05D9FD5E8D95}"/>
              </a:ext>
            </a:extLst>
          </p:cNvPr>
          <p:cNvSpPr txBox="1"/>
          <p:nvPr/>
        </p:nvSpPr>
        <p:spPr>
          <a:xfrm>
            <a:off x="3597700" y="4427875"/>
            <a:ext cx="3053571" cy="369332"/>
          </a:xfrm>
          <a:prstGeom prst="rect">
            <a:avLst/>
          </a:prstGeom>
          <a:noFill/>
        </p:spPr>
        <p:txBody>
          <a:bodyPr wrap="square" rtlCol="0">
            <a:spAutoFit/>
          </a:bodyPr>
          <a:lstStyle/>
          <a:p>
            <a:r>
              <a:rPr lang="en-US" dirty="0"/>
              <a:t>Unit 5: Optimal transport</a:t>
            </a:r>
          </a:p>
        </p:txBody>
      </p:sp>
      <p:sp>
        <p:nvSpPr>
          <p:cNvPr id="15" name="Left Brace 14">
            <a:extLst>
              <a:ext uri="{FF2B5EF4-FFF2-40B4-BE49-F238E27FC236}">
                <a16:creationId xmlns:a16="http://schemas.microsoft.com/office/drawing/2014/main" id="{5BBBADD9-D949-DE5B-3976-22FA31ACED82}"/>
              </a:ext>
            </a:extLst>
          </p:cNvPr>
          <p:cNvSpPr/>
          <p:nvPr/>
        </p:nvSpPr>
        <p:spPr>
          <a:xfrm>
            <a:off x="6654212" y="5325711"/>
            <a:ext cx="200026" cy="1249022"/>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A2542CF9-DD7B-445E-B502-57E93F9EA53F}"/>
              </a:ext>
            </a:extLst>
          </p:cNvPr>
          <p:cNvSpPr txBox="1"/>
          <p:nvPr/>
        </p:nvSpPr>
        <p:spPr>
          <a:xfrm>
            <a:off x="3591646" y="5625882"/>
            <a:ext cx="3053571" cy="646331"/>
          </a:xfrm>
          <a:prstGeom prst="rect">
            <a:avLst/>
          </a:prstGeom>
          <a:noFill/>
        </p:spPr>
        <p:txBody>
          <a:bodyPr wrap="square" rtlCol="0">
            <a:spAutoFit/>
          </a:bodyPr>
          <a:lstStyle/>
          <a:p>
            <a:r>
              <a:rPr lang="en-US" dirty="0"/>
              <a:t>Rest of class: guest lectures, lab presentations</a:t>
            </a:r>
          </a:p>
        </p:txBody>
      </p:sp>
    </p:spTree>
    <p:extLst>
      <p:ext uri="{BB962C8B-B14F-4D97-AF65-F5344CB8AC3E}">
        <p14:creationId xmlns:p14="http://schemas.microsoft.com/office/powerpoint/2010/main" val="1867617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1A516-9E1E-37C2-8B32-F4657C17002F}"/>
              </a:ext>
            </a:extLst>
          </p:cNvPr>
          <p:cNvSpPr>
            <a:spLocks noGrp="1"/>
          </p:cNvSpPr>
          <p:nvPr>
            <p:ph type="title"/>
          </p:nvPr>
        </p:nvSpPr>
        <p:spPr/>
        <p:txBody>
          <a:bodyPr/>
          <a:lstStyle/>
          <a:p>
            <a:r>
              <a:rPr lang="en-US" dirty="0"/>
              <a:t>Assessments</a:t>
            </a:r>
          </a:p>
        </p:txBody>
      </p:sp>
      <p:sp>
        <p:nvSpPr>
          <p:cNvPr id="3" name="Content Placeholder 2">
            <a:extLst>
              <a:ext uri="{FF2B5EF4-FFF2-40B4-BE49-F238E27FC236}">
                <a16:creationId xmlns:a16="http://schemas.microsoft.com/office/drawing/2014/main" id="{193A64FA-3B2E-2E65-8F06-969F130F8A50}"/>
              </a:ext>
            </a:extLst>
          </p:cNvPr>
          <p:cNvSpPr>
            <a:spLocks noGrp="1"/>
          </p:cNvSpPr>
          <p:nvPr>
            <p:ph idx="1"/>
          </p:nvPr>
        </p:nvSpPr>
        <p:spPr/>
        <p:txBody>
          <a:bodyPr/>
          <a:lstStyle/>
          <a:p>
            <a:pPr marL="0" indent="0">
              <a:buNone/>
            </a:pPr>
            <a:r>
              <a:rPr lang="en-US" b="1" dirty="0"/>
              <a:t>Homework:</a:t>
            </a:r>
            <a:r>
              <a:rPr lang="en-US" dirty="0"/>
              <a:t> 5 problem sets, one for each unit</a:t>
            </a:r>
          </a:p>
          <a:p>
            <a:pPr marL="0" indent="0">
              <a:buNone/>
            </a:pPr>
            <a:endParaRPr lang="en-US" b="1" dirty="0"/>
          </a:p>
          <a:p>
            <a:pPr marL="0" indent="0">
              <a:buNone/>
            </a:pPr>
            <a:r>
              <a:rPr lang="en-US" b="1" dirty="0"/>
              <a:t>In-class labs:</a:t>
            </a:r>
            <a:r>
              <a:rPr lang="en-US" dirty="0"/>
              <a:t> one for each unit</a:t>
            </a:r>
          </a:p>
          <a:p>
            <a:pPr marL="0" indent="0">
              <a:buNone/>
            </a:pPr>
            <a:r>
              <a:rPr lang="en-US" b="1" dirty="0"/>
              <a:t>In-class quizzes:</a:t>
            </a:r>
            <a:r>
              <a:rPr lang="en-US" dirty="0"/>
              <a:t> ~20 minutes, after each unit</a:t>
            </a:r>
          </a:p>
          <a:p>
            <a:pPr marL="0" indent="0">
              <a:buNone/>
            </a:pPr>
            <a:endParaRPr lang="en-US" dirty="0"/>
          </a:p>
          <a:p>
            <a:pPr marL="0" indent="0">
              <a:buNone/>
            </a:pPr>
            <a:r>
              <a:rPr lang="en-US" b="1" dirty="0"/>
              <a:t>Mid-term oral exam:</a:t>
            </a:r>
            <a:r>
              <a:rPr lang="en-US" dirty="0"/>
              <a:t> w/ either me or Sai</a:t>
            </a:r>
          </a:p>
          <a:p>
            <a:pPr marL="0" indent="0">
              <a:buNone/>
            </a:pPr>
            <a:r>
              <a:rPr lang="en-US" b="1" dirty="0"/>
              <a:t>Final project + oral exam on project</a:t>
            </a:r>
            <a:endParaRPr lang="en-US" dirty="0"/>
          </a:p>
        </p:txBody>
      </p:sp>
    </p:spTree>
    <p:extLst>
      <p:ext uri="{BB962C8B-B14F-4D97-AF65-F5344CB8AC3E}">
        <p14:creationId xmlns:p14="http://schemas.microsoft.com/office/powerpoint/2010/main" val="2005225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AAA59-0483-3821-2BFD-21E2B673B95A}"/>
              </a:ext>
            </a:extLst>
          </p:cNvPr>
          <p:cNvSpPr>
            <a:spLocks noGrp="1"/>
          </p:cNvSpPr>
          <p:nvPr>
            <p:ph type="title"/>
          </p:nvPr>
        </p:nvSpPr>
        <p:spPr/>
        <p:txBody>
          <a:bodyPr/>
          <a:lstStyle/>
          <a:p>
            <a:r>
              <a:rPr lang="en-US" dirty="0" err="1"/>
              <a:t>Homeworks</a:t>
            </a:r>
            <a:r>
              <a:rPr lang="en-US" dirty="0"/>
              <a:t> (10% of grade)</a:t>
            </a:r>
          </a:p>
        </p:txBody>
      </p:sp>
      <p:sp>
        <p:nvSpPr>
          <p:cNvPr id="3" name="Content Placeholder 2">
            <a:extLst>
              <a:ext uri="{FF2B5EF4-FFF2-40B4-BE49-F238E27FC236}">
                <a16:creationId xmlns:a16="http://schemas.microsoft.com/office/drawing/2014/main" id="{0DC20D44-132A-9BDC-EF64-20FA1BCC7879}"/>
              </a:ext>
            </a:extLst>
          </p:cNvPr>
          <p:cNvSpPr>
            <a:spLocks noGrp="1"/>
          </p:cNvSpPr>
          <p:nvPr>
            <p:ph idx="1"/>
          </p:nvPr>
        </p:nvSpPr>
        <p:spPr/>
        <p:txBody>
          <a:bodyPr/>
          <a:lstStyle/>
          <a:p>
            <a:pPr marL="0" indent="0">
              <a:buNone/>
            </a:pPr>
            <a:r>
              <a:rPr lang="en-US" dirty="0"/>
              <a:t>Problem sets to </a:t>
            </a:r>
          </a:p>
          <a:p>
            <a:pPr marL="514350" indent="-514350">
              <a:buAutoNum type="arabicParenBoth"/>
            </a:pPr>
            <a:r>
              <a:rPr lang="en-US" dirty="0"/>
              <a:t>reinforce core computational concepts and </a:t>
            </a:r>
          </a:p>
          <a:p>
            <a:pPr marL="514350" indent="-514350">
              <a:buAutoNum type="arabicParenBoth"/>
            </a:pPr>
            <a:r>
              <a:rPr lang="en-US" dirty="0"/>
              <a:t>teach how to apply concepts to realistic biological settings</a:t>
            </a:r>
          </a:p>
          <a:p>
            <a:pPr marL="0" indent="0">
              <a:buNone/>
            </a:pPr>
            <a:endParaRPr lang="en-US" dirty="0"/>
          </a:p>
          <a:p>
            <a:pPr marL="0" indent="0">
              <a:buNone/>
            </a:pPr>
            <a:r>
              <a:rPr lang="en-US" dirty="0"/>
              <a:t>AI use is not allowed to directly answer homework problems.</a:t>
            </a:r>
          </a:p>
          <a:p>
            <a:r>
              <a:rPr lang="en-US" dirty="0"/>
              <a:t>Since it’s impossible to monitor AI usage, HW make up a small % of grade</a:t>
            </a:r>
          </a:p>
          <a:p>
            <a:r>
              <a:rPr lang="en-US" b="1" dirty="0"/>
              <a:t>Homework problems might appear on exams!</a:t>
            </a:r>
            <a:r>
              <a:rPr lang="en-US" dirty="0"/>
              <a:t> So encouraged to understand solutions</a:t>
            </a:r>
            <a:endParaRPr lang="en-US" b="1" dirty="0"/>
          </a:p>
        </p:txBody>
      </p:sp>
    </p:spTree>
    <p:extLst>
      <p:ext uri="{BB962C8B-B14F-4D97-AF65-F5344CB8AC3E}">
        <p14:creationId xmlns:p14="http://schemas.microsoft.com/office/powerpoint/2010/main" val="3850795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5AF3F-C042-E116-1D01-3571232084C2}"/>
              </a:ext>
            </a:extLst>
          </p:cNvPr>
          <p:cNvSpPr>
            <a:spLocks noGrp="1"/>
          </p:cNvSpPr>
          <p:nvPr>
            <p:ph type="title"/>
          </p:nvPr>
        </p:nvSpPr>
        <p:spPr/>
        <p:txBody>
          <a:bodyPr/>
          <a:lstStyle/>
          <a:p>
            <a:r>
              <a:rPr lang="en-US" dirty="0"/>
              <a:t>In-class labs (10% of grade)</a:t>
            </a:r>
          </a:p>
        </p:txBody>
      </p:sp>
      <p:sp>
        <p:nvSpPr>
          <p:cNvPr id="3" name="Content Placeholder 2">
            <a:extLst>
              <a:ext uri="{FF2B5EF4-FFF2-40B4-BE49-F238E27FC236}">
                <a16:creationId xmlns:a16="http://schemas.microsoft.com/office/drawing/2014/main" id="{ED1F0330-5D82-64C2-D070-F6E1464A19FF}"/>
              </a:ext>
            </a:extLst>
          </p:cNvPr>
          <p:cNvSpPr>
            <a:spLocks noGrp="1"/>
          </p:cNvSpPr>
          <p:nvPr>
            <p:ph idx="1"/>
          </p:nvPr>
        </p:nvSpPr>
        <p:spPr/>
        <p:txBody>
          <a:bodyPr/>
          <a:lstStyle/>
          <a:p>
            <a:pPr marL="0" indent="0">
              <a:buNone/>
            </a:pPr>
            <a:r>
              <a:rPr lang="en-US" dirty="0"/>
              <a:t>Application of ML methods learned in class to real data</a:t>
            </a:r>
          </a:p>
          <a:p>
            <a:pPr marL="0" indent="0">
              <a:buNone/>
            </a:pPr>
            <a:endParaRPr lang="en-US" dirty="0"/>
          </a:p>
          <a:p>
            <a:pPr marL="0" indent="0">
              <a:buNone/>
            </a:pPr>
            <a:r>
              <a:rPr lang="en-US" b="1" dirty="0"/>
              <a:t>AI usage explicitly encouraged.</a:t>
            </a:r>
            <a:r>
              <a:rPr lang="en-US" dirty="0"/>
              <a:t> </a:t>
            </a:r>
          </a:p>
          <a:p>
            <a:r>
              <a:rPr lang="en-US" dirty="0"/>
              <a:t>We will set up AI agents in pre-lab on the next class</a:t>
            </a:r>
          </a:p>
        </p:txBody>
      </p:sp>
    </p:spTree>
    <p:extLst>
      <p:ext uri="{BB962C8B-B14F-4D97-AF65-F5344CB8AC3E}">
        <p14:creationId xmlns:p14="http://schemas.microsoft.com/office/powerpoint/2010/main" val="2397753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B10E8-82FB-B6B9-9810-C42DE9186313}"/>
              </a:ext>
            </a:extLst>
          </p:cNvPr>
          <p:cNvSpPr>
            <a:spLocks noGrp="1"/>
          </p:cNvSpPr>
          <p:nvPr>
            <p:ph type="title"/>
          </p:nvPr>
        </p:nvSpPr>
        <p:spPr/>
        <p:txBody>
          <a:bodyPr/>
          <a:lstStyle/>
          <a:p>
            <a:r>
              <a:rPr lang="en-US" dirty="0"/>
              <a:t>In-class exams (25% of grade)</a:t>
            </a:r>
          </a:p>
        </p:txBody>
      </p:sp>
      <p:sp>
        <p:nvSpPr>
          <p:cNvPr id="3" name="Content Placeholder 2">
            <a:extLst>
              <a:ext uri="{FF2B5EF4-FFF2-40B4-BE49-F238E27FC236}">
                <a16:creationId xmlns:a16="http://schemas.microsoft.com/office/drawing/2014/main" id="{ADB571C4-1405-BF97-872E-5A7AF164ECAA}"/>
              </a:ext>
            </a:extLst>
          </p:cNvPr>
          <p:cNvSpPr>
            <a:spLocks noGrp="1"/>
          </p:cNvSpPr>
          <p:nvPr>
            <p:ph idx="1"/>
          </p:nvPr>
        </p:nvSpPr>
        <p:spPr>
          <a:xfrm>
            <a:off x="838200" y="1825625"/>
            <a:ext cx="10515600" cy="4812242"/>
          </a:xfrm>
        </p:spPr>
        <p:txBody>
          <a:bodyPr/>
          <a:lstStyle/>
          <a:p>
            <a:pPr marL="0" indent="0">
              <a:buNone/>
            </a:pPr>
            <a:r>
              <a:rPr lang="en-US" b="1" dirty="0"/>
              <a:t>Multiple, short in-class exams</a:t>
            </a:r>
            <a:r>
              <a:rPr lang="en-US" dirty="0"/>
              <a:t> </a:t>
            </a:r>
          </a:p>
          <a:p>
            <a:r>
              <a:rPr lang="en-US" dirty="0"/>
              <a:t>About ~20-30 minutes</a:t>
            </a:r>
          </a:p>
          <a:p>
            <a:r>
              <a:rPr lang="en-US" dirty="0"/>
              <a:t>Handwritten, no computer or notes allowed</a:t>
            </a:r>
          </a:p>
          <a:p>
            <a:r>
              <a:rPr lang="en-US" dirty="0"/>
              <a:t>Designed to test understanding of fundamental concepts taught in class – nothing tricky</a:t>
            </a:r>
          </a:p>
          <a:p>
            <a:r>
              <a:rPr lang="en-US" dirty="0"/>
              <a:t>Might include homework problem(s) to incentivize you to understand the homework</a:t>
            </a:r>
          </a:p>
          <a:p>
            <a:endParaRPr lang="en-US" dirty="0"/>
          </a:p>
          <a:p>
            <a:pPr marL="0" indent="0">
              <a:buNone/>
            </a:pPr>
            <a:r>
              <a:rPr lang="en-US" dirty="0"/>
              <a:t>Lowest quiz grade will be dropped</a:t>
            </a:r>
          </a:p>
          <a:p>
            <a:pPr marL="0" indent="0">
              <a:buNone/>
            </a:pPr>
            <a:endParaRPr lang="en-US" dirty="0"/>
          </a:p>
          <a:p>
            <a:endParaRPr lang="en-US" b="1" dirty="0"/>
          </a:p>
        </p:txBody>
      </p:sp>
    </p:spTree>
    <p:extLst>
      <p:ext uri="{BB962C8B-B14F-4D97-AF65-F5344CB8AC3E}">
        <p14:creationId xmlns:p14="http://schemas.microsoft.com/office/powerpoint/2010/main" val="500764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51EA-7D08-F156-6CA7-4BA63C39B0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B9AAD5-25B0-5143-5504-3B8C083C9510}"/>
              </a:ext>
            </a:extLst>
          </p:cNvPr>
          <p:cNvSpPr>
            <a:spLocks noGrp="1"/>
          </p:cNvSpPr>
          <p:nvPr>
            <p:ph type="title"/>
          </p:nvPr>
        </p:nvSpPr>
        <p:spPr/>
        <p:txBody>
          <a:bodyPr/>
          <a:lstStyle/>
          <a:p>
            <a:r>
              <a:rPr lang="en-US" dirty="0"/>
              <a:t>Oral exam (25% of grade)</a:t>
            </a:r>
          </a:p>
        </p:txBody>
      </p:sp>
      <p:sp>
        <p:nvSpPr>
          <p:cNvPr id="3" name="Content Placeholder 2">
            <a:extLst>
              <a:ext uri="{FF2B5EF4-FFF2-40B4-BE49-F238E27FC236}">
                <a16:creationId xmlns:a16="http://schemas.microsoft.com/office/drawing/2014/main" id="{BA36C185-CEDB-5012-DAA8-0F3BA22E8ECF}"/>
              </a:ext>
            </a:extLst>
          </p:cNvPr>
          <p:cNvSpPr>
            <a:spLocks noGrp="1"/>
          </p:cNvSpPr>
          <p:nvPr>
            <p:ph idx="1"/>
          </p:nvPr>
        </p:nvSpPr>
        <p:spPr>
          <a:xfrm>
            <a:off x="838200" y="1825625"/>
            <a:ext cx="10515600" cy="4236508"/>
          </a:xfrm>
        </p:spPr>
        <p:txBody>
          <a:bodyPr>
            <a:normAutofit/>
          </a:bodyPr>
          <a:lstStyle/>
          <a:p>
            <a:pPr marL="0" indent="0">
              <a:buNone/>
            </a:pPr>
            <a:r>
              <a:rPr lang="en-US" b="1" dirty="0"/>
              <a:t>Oral exam </a:t>
            </a:r>
          </a:p>
          <a:p>
            <a:r>
              <a:rPr lang="en-US" dirty="0"/>
              <a:t>~middle of semester, anything covered beforehand is fair game</a:t>
            </a:r>
          </a:p>
          <a:p>
            <a:pPr lvl="1"/>
            <a:r>
              <a:rPr lang="en-US" dirty="0"/>
              <a:t>Dates TBD, will send out way to schedule with either me or Sai</a:t>
            </a:r>
          </a:p>
          <a:p>
            <a:r>
              <a:rPr lang="en-US" dirty="0"/>
              <a:t>~10-15 minutes. Will involve us giving one question and you working out the details.</a:t>
            </a:r>
          </a:p>
          <a:p>
            <a:pPr lvl="1"/>
            <a:r>
              <a:rPr lang="en-US" dirty="0"/>
              <a:t>Might be a homework problem to incentivize you to understand the homework</a:t>
            </a:r>
          </a:p>
          <a:p>
            <a:r>
              <a:rPr lang="en-US" dirty="0"/>
              <a:t>Designed to test understanding of fundamental concepts taught in class – nothing tricky</a:t>
            </a:r>
          </a:p>
          <a:p>
            <a:endParaRPr lang="en-US" dirty="0"/>
          </a:p>
        </p:txBody>
      </p:sp>
    </p:spTree>
    <p:extLst>
      <p:ext uri="{BB962C8B-B14F-4D97-AF65-F5344CB8AC3E}">
        <p14:creationId xmlns:p14="http://schemas.microsoft.com/office/powerpoint/2010/main" val="3510170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07C0C-71C2-FC26-627A-876F1CE6CCD9}"/>
              </a:ext>
            </a:extLst>
          </p:cNvPr>
          <p:cNvSpPr>
            <a:spLocks noGrp="1"/>
          </p:cNvSpPr>
          <p:nvPr>
            <p:ph type="title"/>
          </p:nvPr>
        </p:nvSpPr>
        <p:spPr/>
        <p:txBody>
          <a:bodyPr/>
          <a:lstStyle/>
          <a:p>
            <a:r>
              <a:rPr lang="en-US" dirty="0"/>
              <a:t>Final project (25% of grade)</a:t>
            </a:r>
          </a:p>
        </p:txBody>
      </p:sp>
      <p:sp>
        <p:nvSpPr>
          <p:cNvPr id="3" name="Content Placeholder 2">
            <a:extLst>
              <a:ext uri="{FF2B5EF4-FFF2-40B4-BE49-F238E27FC236}">
                <a16:creationId xmlns:a16="http://schemas.microsoft.com/office/drawing/2014/main" id="{03A63C6A-75C2-D323-C1A7-BE9909F20010}"/>
              </a:ext>
            </a:extLst>
          </p:cNvPr>
          <p:cNvSpPr>
            <a:spLocks noGrp="1"/>
          </p:cNvSpPr>
          <p:nvPr>
            <p:ph idx="1"/>
          </p:nvPr>
        </p:nvSpPr>
        <p:spPr>
          <a:xfrm>
            <a:off x="838200" y="1476375"/>
            <a:ext cx="10515600" cy="4814888"/>
          </a:xfrm>
        </p:spPr>
        <p:txBody>
          <a:bodyPr/>
          <a:lstStyle/>
          <a:p>
            <a:pPr marL="0" indent="0">
              <a:buNone/>
            </a:pPr>
            <a:r>
              <a:rPr lang="en-US" dirty="0"/>
              <a:t>Application of computational methods learned in class towards solving a real biological problem.</a:t>
            </a:r>
          </a:p>
          <a:p>
            <a:pPr marL="0" indent="0">
              <a:buNone/>
            </a:pPr>
            <a:r>
              <a:rPr lang="en-US" dirty="0"/>
              <a:t>Examples:</a:t>
            </a:r>
          </a:p>
          <a:p>
            <a:r>
              <a:rPr lang="en-US" u="sng" dirty="0"/>
              <a:t>novel</a:t>
            </a:r>
            <a:r>
              <a:rPr lang="en-US" dirty="0"/>
              <a:t> application of ML method to a biological dataset </a:t>
            </a:r>
          </a:p>
          <a:p>
            <a:pPr lvl="1"/>
            <a:r>
              <a:rPr lang="en-US" dirty="0"/>
              <a:t>Must have some novelty, e.g. existing ML method applied to new datasets, or a new ML method on existing datasets</a:t>
            </a:r>
          </a:p>
          <a:p>
            <a:r>
              <a:rPr lang="en-US" dirty="0"/>
              <a:t>replicating analyses from a published paper with publicly available data</a:t>
            </a:r>
          </a:p>
          <a:p>
            <a:r>
              <a:rPr lang="en-US" dirty="0"/>
              <a:t>Theoretical analysis of existing/novel ML method</a:t>
            </a:r>
          </a:p>
        </p:txBody>
      </p:sp>
    </p:spTree>
    <p:extLst>
      <p:ext uri="{BB962C8B-B14F-4D97-AF65-F5344CB8AC3E}">
        <p14:creationId xmlns:p14="http://schemas.microsoft.com/office/powerpoint/2010/main" val="17482277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7E154-2653-0198-48CB-13E45EEE4D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97B934-06CB-7F4E-8825-3883375431FD}"/>
              </a:ext>
            </a:extLst>
          </p:cNvPr>
          <p:cNvSpPr>
            <a:spLocks noGrp="1"/>
          </p:cNvSpPr>
          <p:nvPr>
            <p:ph type="title"/>
          </p:nvPr>
        </p:nvSpPr>
        <p:spPr/>
        <p:txBody>
          <a:bodyPr/>
          <a:lstStyle/>
          <a:p>
            <a:r>
              <a:rPr lang="en-US" dirty="0"/>
              <a:t>Final project (25% of grade)</a:t>
            </a:r>
          </a:p>
        </p:txBody>
      </p:sp>
      <p:sp>
        <p:nvSpPr>
          <p:cNvPr id="3" name="Content Placeholder 2">
            <a:extLst>
              <a:ext uri="{FF2B5EF4-FFF2-40B4-BE49-F238E27FC236}">
                <a16:creationId xmlns:a16="http://schemas.microsoft.com/office/drawing/2014/main" id="{909EDF78-4D89-262C-CA1C-D8EF77DE33E5}"/>
              </a:ext>
            </a:extLst>
          </p:cNvPr>
          <p:cNvSpPr>
            <a:spLocks noGrp="1"/>
          </p:cNvSpPr>
          <p:nvPr>
            <p:ph idx="1"/>
          </p:nvPr>
        </p:nvSpPr>
        <p:spPr>
          <a:xfrm>
            <a:off x="838200" y="1476375"/>
            <a:ext cx="10515600" cy="4814888"/>
          </a:xfrm>
        </p:spPr>
        <p:txBody>
          <a:bodyPr/>
          <a:lstStyle/>
          <a:p>
            <a:pPr marL="0" indent="0">
              <a:buNone/>
            </a:pPr>
            <a:r>
              <a:rPr lang="en-US" dirty="0"/>
              <a:t>Application of computational methods learned in class towards solving a real biological problem.</a:t>
            </a:r>
          </a:p>
          <a:p>
            <a:pPr marL="0" indent="0">
              <a:buNone/>
            </a:pPr>
            <a:endParaRPr lang="en-US" dirty="0"/>
          </a:p>
          <a:p>
            <a:pPr marL="0" indent="0">
              <a:buNone/>
            </a:pPr>
            <a:r>
              <a:rPr lang="en-US" dirty="0"/>
              <a:t>Work in groups of 1-4</a:t>
            </a:r>
          </a:p>
          <a:p>
            <a:pPr marL="0" indent="0">
              <a:buNone/>
            </a:pPr>
            <a:endParaRPr lang="en-US" dirty="0"/>
          </a:p>
          <a:p>
            <a:pPr marL="0" indent="0">
              <a:buNone/>
            </a:pPr>
            <a:r>
              <a:rPr lang="en-US" dirty="0"/>
              <a:t>Two evaluations</a:t>
            </a:r>
          </a:p>
          <a:p>
            <a:r>
              <a:rPr lang="en-US" dirty="0"/>
              <a:t>Final presentation to class</a:t>
            </a:r>
          </a:p>
          <a:p>
            <a:r>
              <a:rPr lang="en-US" dirty="0"/>
              <a:t>“Oral exam” where you explain final project to me or Sai</a:t>
            </a:r>
          </a:p>
        </p:txBody>
      </p:sp>
    </p:spTree>
    <p:extLst>
      <p:ext uri="{BB962C8B-B14F-4D97-AF65-F5344CB8AC3E}">
        <p14:creationId xmlns:p14="http://schemas.microsoft.com/office/powerpoint/2010/main" val="2441209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59603-D73B-6E0C-5FDD-A21DF119A6AE}"/>
              </a:ext>
            </a:extLst>
          </p:cNvPr>
          <p:cNvSpPr>
            <a:spLocks noGrp="1"/>
          </p:cNvSpPr>
          <p:nvPr>
            <p:ph type="title"/>
          </p:nvPr>
        </p:nvSpPr>
        <p:spPr/>
        <p:txBody>
          <a:bodyPr/>
          <a:lstStyle/>
          <a:p>
            <a:r>
              <a:rPr lang="en-US" dirty="0"/>
              <a:t>Grading</a:t>
            </a:r>
          </a:p>
        </p:txBody>
      </p:sp>
      <p:sp>
        <p:nvSpPr>
          <p:cNvPr id="3" name="Content Placeholder 2">
            <a:extLst>
              <a:ext uri="{FF2B5EF4-FFF2-40B4-BE49-F238E27FC236}">
                <a16:creationId xmlns:a16="http://schemas.microsoft.com/office/drawing/2014/main" id="{CBCD7A0C-908B-25C1-69F5-C29B49EFF067}"/>
              </a:ext>
            </a:extLst>
          </p:cNvPr>
          <p:cNvSpPr>
            <a:spLocks noGrp="1"/>
          </p:cNvSpPr>
          <p:nvPr>
            <p:ph idx="1"/>
          </p:nvPr>
        </p:nvSpPr>
        <p:spPr>
          <a:xfrm>
            <a:off x="838200" y="1446483"/>
            <a:ext cx="10515600" cy="4848307"/>
          </a:xfrm>
        </p:spPr>
        <p:txBody>
          <a:bodyPr>
            <a:normAutofit/>
          </a:bodyPr>
          <a:lstStyle/>
          <a:p>
            <a:pPr marL="0" indent="0">
              <a:buNone/>
            </a:pPr>
            <a:r>
              <a:rPr lang="en-US" b="1" dirty="0"/>
              <a:t>In-class assessments:</a:t>
            </a:r>
            <a:r>
              <a:rPr lang="en-US" dirty="0"/>
              <a:t> 25% (5% each)</a:t>
            </a:r>
          </a:p>
          <a:p>
            <a:pPr marL="0" indent="0">
              <a:buNone/>
            </a:pPr>
            <a:r>
              <a:rPr lang="en-US" b="1" dirty="0"/>
              <a:t>Oral exam:</a:t>
            </a:r>
            <a:r>
              <a:rPr lang="en-US" dirty="0"/>
              <a:t> 25%</a:t>
            </a:r>
          </a:p>
          <a:p>
            <a:pPr marL="0" indent="0">
              <a:buNone/>
            </a:pPr>
            <a:r>
              <a:rPr lang="en-US" b="1" dirty="0"/>
              <a:t>Final project and/or exam:</a:t>
            </a:r>
            <a:r>
              <a:rPr lang="en-US" dirty="0"/>
              <a:t> 25%</a:t>
            </a:r>
          </a:p>
          <a:p>
            <a:pPr marL="0" indent="0">
              <a:buNone/>
            </a:pPr>
            <a:r>
              <a:rPr lang="en-US" b="1" dirty="0"/>
              <a:t>Homework:</a:t>
            </a:r>
            <a:r>
              <a:rPr lang="en-US" dirty="0"/>
              <a:t> 10%</a:t>
            </a:r>
          </a:p>
          <a:p>
            <a:pPr marL="0" indent="0">
              <a:buNone/>
            </a:pPr>
            <a:r>
              <a:rPr lang="en-US" b="1" dirty="0"/>
              <a:t>Labs:</a:t>
            </a:r>
            <a:r>
              <a:rPr lang="en-US" dirty="0"/>
              <a:t> 10%</a:t>
            </a:r>
          </a:p>
          <a:p>
            <a:pPr marL="0" indent="0">
              <a:buNone/>
            </a:pPr>
            <a:r>
              <a:rPr lang="en-US" b="1" dirty="0"/>
              <a:t>Attendance and participation:</a:t>
            </a:r>
            <a:r>
              <a:rPr lang="en-US" dirty="0"/>
              <a:t> 5%</a:t>
            </a:r>
          </a:p>
        </p:txBody>
      </p:sp>
    </p:spTree>
    <p:extLst>
      <p:ext uri="{BB962C8B-B14F-4D97-AF65-F5344CB8AC3E}">
        <p14:creationId xmlns:p14="http://schemas.microsoft.com/office/powerpoint/2010/main" val="1906197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E94F6-AE00-592A-4348-669A76DB5449}"/>
              </a:ext>
            </a:extLst>
          </p:cNvPr>
          <p:cNvSpPr>
            <a:spLocks noGrp="1"/>
          </p:cNvSpPr>
          <p:nvPr>
            <p:ph type="title"/>
          </p:nvPr>
        </p:nvSpPr>
        <p:spPr/>
        <p:txBody>
          <a:bodyPr/>
          <a:lstStyle/>
          <a:p>
            <a:r>
              <a:rPr lang="en-US" dirty="0"/>
              <a:t>Prerequisites</a:t>
            </a:r>
          </a:p>
        </p:txBody>
      </p:sp>
      <p:sp>
        <p:nvSpPr>
          <p:cNvPr id="3" name="Content Placeholder 2">
            <a:extLst>
              <a:ext uri="{FF2B5EF4-FFF2-40B4-BE49-F238E27FC236}">
                <a16:creationId xmlns:a16="http://schemas.microsoft.com/office/drawing/2014/main" id="{660F5286-B1AC-DC08-E981-EB40D8DE85B4}"/>
              </a:ext>
            </a:extLst>
          </p:cNvPr>
          <p:cNvSpPr>
            <a:spLocks noGrp="1"/>
          </p:cNvSpPr>
          <p:nvPr>
            <p:ph idx="1"/>
          </p:nvPr>
        </p:nvSpPr>
        <p:spPr/>
        <p:txBody>
          <a:bodyPr/>
          <a:lstStyle/>
          <a:p>
            <a:r>
              <a:rPr lang="en-US" dirty="0"/>
              <a:t>Linear algebra</a:t>
            </a:r>
          </a:p>
          <a:p>
            <a:r>
              <a:rPr lang="en-US" dirty="0"/>
              <a:t>Probability</a:t>
            </a:r>
          </a:p>
          <a:p>
            <a:pPr marL="0" indent="0">
              <a:buNone/>
            </a:pPr>
            <a:r>
              <a:rPr lang="en-US" dirty="0"/>
              <a:t>(Will cover some basics next class)</a:t>
            </a:r>
          </a:p>
          <a:p>
            <a:pPr marL="0" indent="0">
              <a:buNone/>
            </a:pPr>
            <a:endParaRPr lang="en-US" dirty="0"/>
          </a:p>
          <a:p>
            <a:pPr marL="0" indent="0">
              <a:buNone/>
            </a:pPr>
            <a:r>
              <a:rPr lang="en-US" dirty="0"/>
              <a:t>Ideally: students have seen some machine learning already</a:t>
            </a:r>
          </a:p>
          <a:p>
            <a:pPr marL="0" indent="0">
              <a:buNone/>
            </a:pPr>
            <a:endParaRPr lang="en-US" dirty="0"/>
          </a:p>
          <a:p>
            <a:pPr marL="0" indent="0">
              <a:buNone/>
            </a:pPr>
            <a:r>
              <a:rPr lang="en-US" dirty="0"/>
              <a:t>Note: </a:t>
            </a:r>
            <a:r>
              <a:rPr lang="en-US" b="1" dirty="0"/>
              <a:t>no</a:t>
            </a:r>
            <a:r>
              <a:rPr lang="en-US" dirty="0"/>
              <a:t> prior biology knowledge is required</a:t>
            </a:r>
          </a:p>
        </p:txBody>
      </p:sp>
    </p:spTree>
    <p:extLst>
      <p:ext uri="{BB962C8B-B14F-4D97-AF65-F5344CB8AC3E}">
        <p14:creationId xmlns:p14="http://schemas.microsoft.com/office/powerpoint/2010/main" val="42488491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E27D1-02E7-5CB6-2FDC-0B87A06C5964}"/>
              </a:ext>
            </a:extLst>
          </p:cNvPr>
          <p:cNvSpPr>
            <a:spLocks noGrp="1"/>
          </p:cNvSpPr>
          <p:nvPr>
            <p:ph type="title"/>
          </p:nvPr>
        </p:nvSpPr>
        <p:spPr>
          <a:xfrm>
            <a:off x="315686" y="341374"/>
            <a:ext cx="10515600" cy="1325563"/>
          </a:xfrm>
        </p:spPr>
        <p:txBody>
          <a:bodyPr/>
          <a:lstStyle/>
          <a:p>
            <a:r>
              <a:rPr lang="en-US" dirty="0"/>
              <a:t>Class focus</a:t>
            </a:r>
          </a:p>
        </p:txBody>
      </p:sp>
      <p:sp>
        <p:nvSpPr>
          <p:cNvPr id="3" name="Content Placeholder 2">
            <a:extLst>
              <a:ext uri="{FF2B5EF4-FFF2-40B4-BE49-F238E27FC236}">
                <a16:creationId xmlns:a16="http://schemas.microsoft.com/office/drawing/2014/main" id="{47F4539B-7718-7272-61CB-9EB54D03F052}"/>
              </a:ext>
            </a:extLst>
          </p:cNvPr>
          <p:cNvSpPr>
            <a:spLocks noGrp="1"/>
          </p:cNvSpPr>
          <p:nvPr>
            <p:ph idx="1"/>
          </p:nvPr>
        </p:nvSpPr>
        <p:spPr>
          <a:xfrm>
            <a:off x="838200" y="1567543"/>
            <a:ext cx="10515600" cy="4949083"/>
          </a:xfrm>
        </p:spPr>
        <p:txBody>
          <a:bodyPr>
            <a:normAutofit fontScale="92500" lnSpcReduction="20000"/>
          </a:bodyPr>
          <a:lstStyle/>
          <a:p>
            <a:pPr marL="0" indent="0">
              <a:buNone/>
            </a:pPr>
            <a:r>
              <a:rPr lang="en-US" dirty="0"/>
              <a:t>This class </a:t>
            </a:r>
            <a:r>
              <a:rPr lang="en-US" b="1" dirty="0"/>
              <a:t>will</a:t>
            </a:r>
            <a:endParaRPr lang="en-US" sz="4800" dirty="0"/>
          </a:p>
          <a:p>
            <a:pPr fontAlgn="base"/>
            <a:r>
              <a:rPr lang="en-US" dirty="0"/>
              <a:t>Teach applications of ML and stats to genomics</a:t>
            </a:r>
          </a:p>
          <a:p>
            <a:pPr fontAlgn="base"/>
            <a:r>
              <a:rPr lang="en-US" dirty="0"/>
              <a:t>Cover designing and selecting good approaches for current major problems in genomics</a:t>
            </a:r>
          </a:p>
          <a:p>
            <a:pPr fontAlgn="base"/>
            <a:r>
              <a:rPr lang="en-US" dirty="0"/>
              <a:t>Teach you to think critically about assumptions, caveats, and confounders in biological data analysis </a:t>
            </a:r>
          </a:p>
          <a:p>
            <a:pPr marL="0" indent="0">
              <a:buNone/>
            </a:pPr>
            <a:br>
              <a:rPr lang="en-US" sz="4800" dirty="0"/>
            </a:br>
            <a:endParaRPr lang="en-US" sz="4800" dirty="0"/>
          </a:p>
          <a:p>
            <a:pPr marL="0" indent="0">
              <a:buNone/>
            </a:pPr>
            <a:r>
              <a:rPr lang="en-US" dirty="0"/>
              <a:t>This class </a:t>
            </a:r>
            <a:r>
              <a:rPr lang="en-US" b="1" dirty="0"/>
              <a:t>will not</a:t>
            </a:r>
            <a:endParaRPr lang="en-US" sz="4800" dirty="0"/>
          </a:p>
          <a:p>
            <a:pPr fontAlgn="base"/>
            <a:r>
              <a:rPr lang="en-US" dirty="0"/>
              <a:t>Provide theoretical background on specific ML methods, or substitute for an Intro ML course</a:t>
            </a:r>
          </a:p>
          <a:p>
            <a:pPr fontAlgn="base"/>
            <a:r>
              <a:rPr lang="en-US" dirty="0"/>
              <a:t>Substitute for a genomics class</a:t>
            </a:r>
          </a:p>
          <a:p>
            <a:pPr marL="0" indent="0">
              <a:buNone/>
            </a:pPr>
            <a:endParaRPr lang="en-US" sz="4500" b="1" dirty="0"/>
          </a:p>
        </p:txBody>
      </p:sp>
    </p:spTree>
    <p:extLst>
      <p:ext uri="{BB962C8B-B14F-4D97-AF65-F5344CB8AC3E}">
        <p14:creationId xmlns:p14="http://schemas.microsoft.com/office/powerpoint/2010/main" val="28618607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9712E-EA92-F715-1147-9B161BBEA4D5}"/>
              </a:ext>
            </a:extLst>
          </p:cNvPr>
          <p:cNvSpPr>
            <a:spLocks noGrp="1"/>
          </p:cNvSpPr>
          <p:nvPr>
            <p:ph type="title"/>
          </p:nvPr>
        </p:nvSpPr>
        <p:spPr>
          <a:xfrm>
            <a:off x="1188720" y="2766218"/>
            <a:ext cx="10515600" cy="1325563"/>
          </a:xfrm>
        </p:spPr>
        <p:txBody>
          <a:bodyPr/>
          <a:lstStyle/>
          <a:p>
            <a:r>
              <a:rPr lang="en-US" dirty="0"/>
              <a:t>Introduction to single cell/spatial data</a:t>
            </a:r>
          </a:p>
        </p:txBody>
      </p:sp>
    </p:spTree>
    <p:extLst>
      <p:ext uri="{BB962C8B-B14F-4D97-AF65-F5344CB8AC3E}">
        <p14:creationId xmlns:p14="http://schemas.microsoft.com/office/powerpoint/2010/main" val="13058763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reeform 44"/>
          <p:cNvSpPr/>
          <p:nvPr/>
        </p:nvSpPr>
        <p:spPr>
          <a:xfrm>
            <a:off x="1122397" y="1029839"/>
            <a:ext cx="5417758" cy="3033730"/>
          </a:xfrm>
          <a:custGeom>
            <a:avLst/>
            <a:gdLst>
              <a:gd name="connsiteX0" fmla="*/ 2118514 w 5417758"/>
              <a:gd name="connsiteY0" fmla="*/ 544318 h 3033730"/>
              <a:gd name="connsiteX1" fmla="*/ 1759699 w 5417758"/>
              <a:gd name="connsiteY1" fmla="*/ 308 h 3033730"/>
              <a:gd name="connsiteX2" fmla="*/ 1736549 w 5417758"/>
              <a:gd name="connsiteY2" fmla="*/ 625341 h 3033730"/>
              <a:gd name="connsiteX3" fmla="*/ 775850 w 5417758"/>
              <a:gd name="connsiteY3" fmla="*/ 995731 h 3033730"/>
              <a:gd name="connsiteX4" fmla="*/ 347 w 5417758"/>
              <a:gd name="connsiteY4" fmla="*/ 1076753 h 3033730"/>
              <a:gd name="connsiteX5" fmla="*/ 868448 w 5417758"/>
              <a:gd name="connsiteY5" fmla="*/ 1238799 h 3033730"/>
              <a:gd name="connsiteX6" fmla="*/ 926321 w 5417758"/>
              <a:gd name="connsiteY6" fmla="*/ 2025878 h 3033730"/>
              <a:gd name="connsiteX7" fmla="*/ 417035 w 5417758"/>
              <a:gd name="connsiteY7" fmla="*/ 2685634 h 3033730"/>
              <a:gd name="connsiteX8" fmla="*/ 1204114 w 5417758"/>
              <a:gd name="connsiteY8" fmla="*/ 2211072 h 3033730"/>
              <a:gd name="connsiteX9" fmla="*/ 1829147 w 5417758"/>
              <a:gd name="connsiteY9" fmla="*/ 2465715 h 3033730"/>
              <a:gd name="connsiteX10" fmla="*/ 2176387 w 5417758"/>
              <a:gd name="connsiteY10" fmla="*/ 3032875 h 3033730"/>
              <a:gd name="connsiteX11" fmla="*/ 2153238 w 5417758"/>
              <a:gd name="connsiteY11" fmla="*/ 2326819 h 3033730"/>
              <a:gd name="connsiteX12" fmla="*/ 2662524 w 5417758"/>
              <a:gd name="connsiteY12" fmla="*/ 2060602 h 3033730"/>
              <a:gd name="connsiteX13" fmla="*/ 3438028 w 5417758"/>
              <a:gd name="connsiteY13" fmla="*/ 2338394 h 3033730"/>
              <a:gd name="connsiteX14" fmla="*/ 2674099 w 5417758"/>
              <a:gd name="connsiteY14" fmla="*/ 1678637 h 3033730"/>
              <a:gd name="connsiteX15" fmla="*/ 4688094 w 5417758"/>
              <a:gd name="connsiteY15" fmla="*/ 1562890 h 3033730"/>
              <a:gd name="connsiteX16" fmla="*/ 5289977 w 5417758"/>
              <a:gd name="connsiteY16" fmla="*/ 1771234 h 3033730"/>
              <a:gd name="connsiteX17" fmla="*/ 4560772 w 5417758"/>
              <a:gd name="connsiteY17" fmla="*/ 1180926 h 3033730"/>
              <a:gd name="connsiteX18" fmla="*/ 5417299 w 5417758"/>
              <a:gd name="connsiteY18" fmla="*/ 995731 h 3033730"/>
              <a:gd name="connsiteX19" fmla="*/ 4421876 w 5417758"/>
              <a:gd name="connsiteY19" fmla="*/ 961007 h 3033730"/>
              <a:gd name="connsiteX20" fmla="*/ 4282980 w 5417758"/>
              <a:gd name="connsiteY20" fmla="*/ 486445 h 3033730"/>
              <a:gd name="connsiteX21" fmla="*/ 4039911 w 5417758"/>
              <a:gd name="connsiteY21" fmla="*/ 1134627 h 3033730"/>
              <a:gd name="connsiteX22" fmla="*/ 2650949 w 5417758"/>
              <a:gd name="connsiteY22" fmla="*/ 1308247 h 3033730"/>
              <a:gd name="connsiteX23" fmla="*/ 3229683 w 5417758"/>
              <a:gd name="connsiteY23" fmla="*/ 498019 h 3033730"/>
              <a:gd name="connsiteX24" fmla="*/ 2431030 w 5417758"/>
              <a:gd name="connsiteY24" fmla="*/ 741088 h 3033730"/>
              <a:gd name="connsiteX25" fmla="*/ 2118514 w 5417758"/>
              <a:gd name="connsiteY25" fmla="*/ 544318 h 303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417758" h="3033730">
                <a:moveTo>
                  <a:pt x="2118514" y="544318"/>
                </a:moveTo>
                <a:cubicBezTo>
                  <a:pt x="2006625" y="420855"/>
                  <a:pt x="1823360" y="-13196"/>
                  <a:pt x="1759699" y="308"/>
                </a:cubicBezTo>
                <a:cubicBezTo>
                  <a:pt x="1696038" y="13812"/>
                  <a:pt x="1900524" y="459437"/>
                  <a:pt x="1736549" y="625341"/>
                </a:cubicBezTo>
                <a:cubicBezTo>
                  <a:pt x="1572574" y="791245"/>
                  <a:pt x="1065217" y="920496"/>
                  <a:pt x="775850" y="995731"/>
                </a:cubicBezTo>
                <a:cubicBezTo>
                  <a:pt x="486483" y="1070966"/>
                  <a:pt x="-15086" y="1036242"/>
                  <a:pt x="347" y="1076753"/>
                </a:cubicBezTo>
                <a:cubicBezTo>
                  <a:pt x="15780" y="1117264"/>
                  <a:pt x="714119" y="1080612"/>
                  <a:pt x="868448" y="1238799"/>
                </a:cubicBezTo>
                <a:cubicBezTo>
                  <a:pt x="1022777" y="1396987"/>
                  <a:pt x="1001556" y="1784739"/>
                  <a:pt x="926321" y="2025878"/>
                </a:cubicBezTo>
                <a:cubicBezTo>
                  <a:pt x="851085" y="2267017"/>
                  <a:pt x="370736" y="2654768"/>
                  <a:pt x="417035" y="2685634"/>
                </a:cubicBezTo>
                <a:cubicBezTo>
                  <a:pt x="463334" y="2716500"/>
                  <a:pt x="968762" y="2247725"/>
                  <a:pt x="1204114" y="2211072"/>
                </a:cubicBezTo>
                <a:cubicBezTo>
                  <a:pt x="1439466" y="2174419"/>
                  <a:pt x="1667102" y="2328748"/>
                  <a:pt x="1829147" y="2465715"/>
                </a:cubicBezTo>
                <a:cubicBezTo>
                  <a:pt x="1991192" y="2602682"/>
                  <a:pt x="2122372" y="3056024"/>
                  <a:pt x="2176387" y="3032875"/>
                </a:cubicBezTo>
                <a:cubicBezTo>
                  <a:pt x="2230402" y="3009726"/>
                  <a:pt x="2072215" y="2488865"/>
                  <a:pt x="2153238" y="2326819"/>
                </a:cubicBezTo>
                <a:cubicBezTo>
                  <a:pt x="2234261" y="2164774"/>
                  <a:pt x="2448392" y="2058673"/>
                  <a:pt x="2662524" y="2060602"/>
                </a:cubicBezTo>
                <a:cubicBezTo>
                  <a:pt x="2876656" y="2062531"/>
                  <a:pt x="3436099" y="2402055"/>
                  <a:pt x="3438028" y="2338394"/>
                </a:cubicBezTo>
                <a:cubicBezTo>
                  <a:pt x="3439957" y="2274733"/>
                  <a:pt x="2465755" y="1807888"/>
                  <a:pt x="2674099" y="1678637"/>
                </a:cubicBezTo>
                <a:cubicBezTo>
                  <a:pt x="2882443" y="1549386"/>
                  <a:pt x="4252114" y="1547457"/>
                  <a:pt x="4688094" y="1562890"/>
                </a:cubicBezTo>
                <a:cubicBezTo>
                  <a:pt x="5124074" y="1578323"/>
                  <a:pt x="5311197" y="1834895"/>
                  <a:pt x="5289977" y="1771234"/>
                </a:cubicBezTo>
                <a:cubicBezTo>
                  <a:pt x="5268757" y="1707573"/>
                  <a:pt x="4539552" y="1310177"/>
                  <a:pt x="4560772" y="1180926"/>
                </a:cubicBezTo>
                <a:cubicBezTo>
                  <a:pt x="4581992" y="1051675"/>
                  <a:pt x="5440448" y="1032384"/>
                  <a:pt x="5417299" y="995731"/>
                </a:cubicBezTo>
                <a:cubicBezTo>
                  <a:pt x="5394150" y="959078"/>
                  <a:pt x="4610929" y="1045888"/>
                  <a:pt x="4421876" y="961007"/>
                </a:cubicBezTo>
                <a:cubicBezTo>
                  <a:pt x="4232823" y="876126"/>
                  <a:pt x="4346641" y="457508"/>
                  <a:pt x="4282980" y="486445"/>
                </a:cubicBezTo>
                <a:cubicBezTo>
                  <a:pt x="4219319" y="515382"/>
                  <a:pt x="4311916" y="997660"/>
                  <a:pt x="4039911" y="1134627"/>
                </a:cubicBezTo>
                <a:cubicBezTo>
                  <a:pt x="3767906" y="1271594"/>
                  <a:pt x="2785987" y="1414348"/>
                  <a:pt x="2650949" y="1308247"/>
                </a:cubicBezTo>
                <a:cubicBezTo>
                  <a:pt x="2515911" y="1202146"/>
                  <a:pt x="3266336" y="592545"/>
                  <a:pt x="3229683" y="498019"/>
                </a:cubicBezTo>
                <a:cubicBezTo>
                  <a:pt x="3193030" y="403493"/>
                  <a:pt x="2614296" y="733371"/>
                  <a:pt x="2431030" y="741088"/>
                </a:cubicBezTo>
                <a:cubicBezTo>
                  <a:pt x="2247764" y="748805"/>
                  <a:pt x="2230403" y="667781"/>
                  <a:pt x="2118514" y="544318"/>
                </a:cubicBezTo>
                <a:close/>
              </a:path>
            </a:pathLst>
          </a:custGeom>
          <a:solidFill>
            <a:srgbClr val="C55A11">
              <a:alpha val="23137"/>
            </a:srgbClr>
          </a:solidFill>
          <a:ln w="571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37"/>
          <p:cNvSpPr/>
          <p:nvPr/>
        </p:nvSpPr>
        <p:spPr>
          <a:xfrm>
            <a:off x="1347474" y="4276073"/>
            <a:ext cx="3000018" cy="2451110"/>
          </a:xfrm>
          <a:custGeom>
            <a:avLst/>
            <a:gdLst>
              <a:gd name="connsiteX0" fmla="*/ 2056291 w 5883299"/>
              <a:gd name="connsiteY0" fmla="*/ 67320 h 4093556"/>
              <a:gd name="connsiteX1" fmla="*/ 5112007 w 5883299"/>
              <a:gd name="connsiteY1" fmla="*/ 21022 h 4093556"/>
              <a:gd name="connsiteX2" fmla="*/ 4973111 w 5883299"/>
              <a:gd name="connsiteY2" fmla="*/ 449285 h 4093556"/>
              <a:gd name="connsiteX3" fmla="*/ 3977688 w 5883299"/>
              <a:gd name="connsiteY3" fmla="*/ 460860 h 4093556"/>
              <a:gd name="connsiteX4" fmla="*/ 3954539 w 5883299"/>
              <a:gd name="connsiteY4" fmla="*/ 958571 h 4093556"/>
              <a:gd name="connsiteX5" fmla="*/ 5181455 w 5883299"/>
              <a:gd name="connsiteY5" fmla="*/ 1791948 h 4093556"/>
              <a:gd name="connsiteX6" fmla="*/ 4892088 w 5883299"/>
              <a:gd name="connsiteY6" fmla="*/ 3076738 h 4093556"/>
              <a:gd name="connsiteX7" fmla="*/ 3885091 w 5883299"/>
              <a:gd name="connsiteY7" fmla="*/ 3169336 h 4093556"/>
              <a:gd name="connsiteX8" fmla="*/ 3873516 w 5883299"/>
              <a:gd name="connsiteY8" fmla="*/ 3458703 h 4093556"/>
              <a:gd name="connsiteX9" fmla="*/ 5355075 w 5883299"/>
              <a:gd name="connsiteY9" fmla="*/ 3493427 h 4093556"/>
              <a:gd name="connsiteX10" fmla="*/ 5505546 w 5883299"/>
              <a:gd name="connsiteY10" fmla="*/ 4037437 h 4093556"/>
              <a:gd name="connsiteX11" fmla="*/ 551582 w 5883299"/>
              <a:gd name="connsiteY11" fmla="*/ 3991138 h 4093556"/>
              <a:gd name="connsiteX12" fmla="*/ 354812 w 5883299"/>
              <a:gd name="connsiteY12" fmla="*/ 3285082 h 4093556"/>
              <a:gd name="connsiteX13" fmla="*/ 2635025 w 5883299"/>
              <a:gd name="connsiteY13" fmla="*/ 3308232 h 4093556"/>
              <a:gd name="connsiteX14" fmla="*/ 2704473 w 5883299"/>
              <a:gd name="connsiteY14" fmla="*/ 3088313 h 4093556"/>
              <a:gd name="connsiteX15" fmla="*/ 1234488 w 5883299"/>
              <a:gd name="connsiteY15" fmla="*/ 2856819 h 4093556"/>
              <a:gd name="connsiteX16" fmla="*/ 1095592 w 5883299"/>
              <a:gd name="connsiteY16" fmla="*/ 1363685 h 4093556"/>
              <a:gd name="connsiteX17" fmla="*/ 2172037 w 5883299"/>
              <a:gd name="connsiteY17" fmla="*/ 900698 h 4093556"/>
              <a:gd name="connsiteX18" fmla="*/ 3317931 w 5883299"/>
              <a:gd name="connsiteY18" fmla="*/ 854399 h 4093556"/>
              <a:gd name="connsiteX19" fmla="*/ 3213759 w 5883299"/>
              <a:gd name="connsiteY19" fmla="*/ 426136 h 4093556"/>
              <a:gd name="connsiteX20" fmla="*/ 1257637 w 5883299"/>
              <a:gd name="connsiteY20" fmla="*/ 472434 h 4093556"/>
              <a:gd name="connsiteX21" fmla="*/ 1246063 w 5883299"/>
              <a:gd name="connsiteY21" fmla="*/ 78895 h 4093556"/>
              <a:gd name="connsiteX22" fmla="*/ 2056291 w 5883299"/>
              <a:gd name="connsiteY22" fmla="*/ 67320 h 409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883299" h="4093556">
                <a:moveTo>
                  <a:pt x="2056291" y="67320"/>
                </a:moveTo>
                <a:cubicBezTo>
                  <a:pt x="2700615" y="57675"/>
                  <a:pt x="4625870" y="-42639"/>
                  <a:pt x="5112007" y="21022"/>
                </a:cubicBezTo>
                <a:cubicBezTo>
                  <a:pt x="5598144" y="84683"/>
                  <a:pt x="5162164" y="375979"/>
                  <a:pt x="4973111" y="449285"/>
                </a:cubicBezTo>
                <a:cubicBezTo>
                  <a:pt x="4784058" y="522591"/>
                  <a:pt x="4147450" y="375979"/>
                  <a:pt x="3977688" y="460860"/>
                </a:cubicBezTo>
                <a:cubicBezTo>
                  <a:pt x="3807926" y="545741"/>
                  <a:pt x="3753911" y="736723"/>
                  <a:pt x="3954539" y="958571"/>
                </a:cubicBezTo>
                <a:cubicBezTo>
                  <a:pt x="4155167" y="1180419"/>
                  <a:pt x="5025197" y="1438920"/>
                  <a:pt x="5181455" y="1791948"/>
                </a:cubicBezTo>
                <a:cubicBezTo>
                  <a:pt x="5337713" y="2144976"/>
                  <a:pt x="5108149" y="2847173"/>
                  <a:pt x="4892088" y="3076738"/>
                </a:cubicBezTo>
                <a:cubicBezTo>
                  <a:pt x="4676027" y="3306303"/>
                  <a:pt x="4054853" y="3105675"/>
                  <a:pt x="3885091" y="3169336"/>
                </a:cubicBezTo>
                <a:cubicBezTo>
                  <a:pt x="3715329" y="3232997"/>
                  <a:pt x="3628519" y="3404688"/>
                  <a:pt x="3873516" y="3458703"/>
                </a:cubicBezTo>
                <a:cubicBezTo>
                  <a:pt x="4118513" y="3512718"/>
                  <a:pt x="5083070" y="3396971"/>
                  <a:pt x="5355075" y="3493427"/>
                </a:cubicBezTo>
                <a:cubicBezTo>
                  <a:pt x="5627080" y="3589883"/>
                  <a:pt x="6306128" y="3954485"/>
                  <a:pt x="5505546" y="4037437"/>
                </a:cubicBezTo>
                <a:cubicBezTo>
                  <a:pt x="4704964" y="4120389"/>
                  <a:pt x="1410038" y="4116530"/>
                  <a:pt x="551582" y="3991138"/>
                </a:cubicBezTo>
                <a:cubicBezTo>
                  <a:pt x="-306874" y="3865746"/>
                  <a:pt x="7571" y="3398900"/>
                  <a:pt x="354812" y="3285082"/>
                </a:cubicBezTo>
                <a:cubicBezTo>
                  <a:pt x="702053" y="3171264"/>
                  <a:pt x="2243415" y="3341027"/>
                  <a:pt x="2635025" y="3308232"/>
                </a:cubicBezTo>
                <a:cubicBezTo>
                  <a:pt x="3026635" y="3275437"/>
                  <a:pt x="2937896" y="3163549"/>
                  <a:pt x="2704473" y="3088313"/>
                </a:cubicBezTo>
                <a:cubicBezTo>
                  <a:pt x="2471050" y="3013077"/>
                  <a:pt x="1502635" y="3144257"/>
                  <a:pt x="1234488" y="2856819"/>
                </a:cubicBezTo>
                <a:cubicBezTo>
                  <a:pt x="966341" y="2569381"/>
                  <a:pt x="939334" y="1689705"/>
                  <a:pt x="1095592" y="1363685"/>
                </a:cubicBezTo>
                <a:cubicBezTo>
                  <a:pt x="1251850" y="1037665"/>
                  <a:pt x="1801647" y="985579"/>
                  <a:pt x="2172037" y="900698"/>
                </a:cubicBezTo>
                <a:cubicBezTo>
                  <a:pt x="2542427" y="815817"/>
                  <a:pt x="3144311" y="933493"/>
                  <a:pt x="3317931" y="854399"/>
                </a:cubicBezTo>
                <a:cubicBezTo>
                  <a:pt x="3491551" y="775305"/>
                  <a:pt x="3557141" y="489797"/>
                  <a:pt x="3213759" y="426136"/>
                </a:cubicBezTo>
                <a:cubicBezTo>
                  <a:pt x="2870377" y="362475"/>
                  <a:pt x="1585586" y="530307"/>
                  <a:pt x="1257637" y="472434"/>
                </a:cubicBezTo>
                <a:cubicBezTo>
                  <a:pt x="929688" y="414561"/>
                  <a:pt x="1109096" y="146414"/>
                  <a:pt x="1246063" y="78895"/>
                </a:cubicBezTo>
                <a:cubicBezTo>
                  <a:pt x="1383030" y="11376"/>
                  <a:pt x="1411967" y="76965"/>
                  <a:pt x="2056291" y="67320"/>
                </a:cubicBezTo>
                <a:close/>
              </a:path>
            </a:pathLst>
          </a:custGeom>
          <a:solidFill>
            <a:schemeClr val="accent6">
              <a:lumMod val="20000"/>
              <a:lumOff val="80000"/>
            </a:schemeClr>
          </a:solidFill>
          <a:ln w="571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800621" y="1067665"/>
            <a:ext cx="2051139" cy="400110"/>
          </a:xfrm>
          <a:prstGeom prst="rect">
            <a:avLst/>
          </a:prstGeom>
          <a:noFill/>
        </p:spPr>
        <p:txBody>
          <a:bodyPr wrap="none" rtlCol="0">
            <a:spAutoFit/>
          </a:bodyPr>
          <a:lstStyle/>
          <a:p>
            <a:r>
              <a:rPr lang="en-US" sz="2000" dirty="0">
                <a:latin typeface="Helvetica" charset="0"/>
                <a:ea typeface="Helvetica" charset="0"/>
                <a:cs typeface="Helvetica" charset="0"/>
              </a:rPr>
              <a:t>mRNA transcript</a:t>
            </a:r>
          </a:p>
        </p:txBody>
      </p:sp>
      <p:sp>
        <p:nvSpPr>
          <p:cNvPr id="6" name="Rectangle 5"/>
          <p:cNvSpPr/>
          <p:nvPr/>
        </p:nvSpPr>
        <p:spPr>
          <a:xfrm>
            <a:off x="2220461" y="2212465"/>
            <a:ext cx="595493" cy="10993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2997229" y="2646005"/>
            <a:ext cx="595493" cy="1099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2745532" y="2454044"/>
            <a:ext cx="595493" cy="1099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2697754" y="2040754"/>
            <a:ext cx="595493" cy="109937"/>
          </a:xfrm>
          <a:prstGeom prst="rect">
            <a:avLst/>
          </a:prstGeom>
          <a:solidFill>
            <a:srgbClr val="B178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2946870" y="1869113"/>
            <a:ext cx="595493" cy="109937"/>
          </a:xfrm>
          <a:prstGeom prst="rect">
            <a:avLst/>
          </a:prstGeom>
          <a:solidFill>
            <a:srgbClr val="B178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2184095" y="2666575"/>
            <a:ext cx="595493" cy="1099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2834480" y="2844209"/>
            <a:ext cx="595493" cy="1099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2764404" y="3056171"/>
            <a:ext cx="595493" cy="1099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2995500" y="2256687"/>
            <a:ext cx="595493" cy="109937"/>
          </a:xfrm>
          <a:prstGeom prst="rect">
            <a:avLst/>
          </a:prstGeom>
          <a:solidFill>
            <a:srgbClr val="B178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2496849" y="5277791"/>
            <a:ext cx="595493" cy="10993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2496849" y="5582976"/>
            <a:ext cx="595493" cy="10993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3293246" y="5497667"/>
            <a:ext cx="595493" cy="10993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2123038" y="5012742"/>
            <a:ext cx="595493" cy="109937"/>
          </a:xfrm>
          <a:prstGeom prst="rect">
            <a:avLst/>
          </a:prstGeom>
          <a:solidFill>
            <a:srgbClr val="B178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2787553" y="4934509"/>
            <a:ext cx="595493" cy="109937"/>
          </a:xfrm>
          <a:prstGeom prst="rect">
            <a:avLst/>
          </a:prstGeom>
          <a:solidFill>
            <a:srgbClr val="B178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2148907" y="5827480"/>
            <a:ext cx="595493" cy="10993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2856298" y="5827480"/>
            <a:ext cx="595493" cy="10993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3097600" y="5125839"/>
            <a:ext cx="595493" cy="109937"/>
          </a:xfrm>
          <a:prstGeom prst="rect">
            <a:avLst/>
          </a:prstGeom>
          <a:solidFill>
            <a:srgbClr val="B178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p:nvPr/>
        </p:nvCxnSpPr>
        <p:spPr>
          <a:xfrm>
            <a:off x="1933970" y="1504340"/>
            <a:ext cx="881984" cy="501658"/>
          </a:xfrm>
          <a:prstGeom prst="straightConnector1">
            <a:avLst/>
          </a:prstGeom>
          <a:ln w="57150">
            <a:solidFill>
              <a:srgbClr val="233616"/>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3031573" y="4991280"/>
            <a:ext cx="806631" cy="323165"/>
          </a:xfrm>
          <a:prstGeom prst="rect">
            <a:avLst/>
          </a:prstGeom>
          <a:noFill/>
        </p:spPr>
        <p:txBody>
          <a:bodyPr wrap="none" rtlCol="0">
            <a:spAutoFit/>
          </a:bodyPr>
          <a:lstStyle/>
          <a:p>
            <a:r>
              <a:rPr lang="en-US" sz="1500">
                <a:latin typeface="Helvetica" charset="0"/>
                <a:ea typeface="Helvetica" charset="0"/>
                <a:cs typeface="Helvetica" charset="0"/>
              </a:rPr>
              <a:t>gene C</a:t>
            </a:r>
          </a:p>
        </p:txBody>
      </p:sp>
      <p:sp>
        <p:nvSpPr>
          <p:cNvPr id="51" name="TextBox 50"/>
          <p:cNvSpPr txBox="1"/>
          <p:nvPr/>
        </p:nvSpPr>
        <p:spPr>
          <a:xfrm>
            <a:off x="2109405" y="2100865"/>
            <a:ext cx="785023" cy="323165"/>
          </a:xfrm>
          <a:prstGeom prst="rect">
            <a:avLst/>
          </a:prstGeom>
          <a:noFill/>
        </p:spPr>
        <p:txBody>
          <a:bodyPr wrap="none" rtlCol="0">
            <a:spAutoFit/>
          </a:bodyPr>
          <a:lstStyle/>
          <a:p>
            <a:r>
              <a:rPr lang="en-US" sz="1500">
                <a:latin typeface="Helvetica" charset="0"/>
                <a:ea typeface="Helvetica" charset="0"/>
                <a:cs typeface="Helvetica" charset="0"/>
              </a:rPr>
              <a:t>gene A</a:t>
            </a:r>
          </a:p>
        </p:txBody>
      </p:sp>
      <p:sp>
        <p:nvSpPr>
          <p:cNvPr id="52" name="TextBox 51"/>
          <p:cNvSpPr txBox="1"/>
          <p:nvPr/>
        </p:nvSpPr>
        <p:spPr>
          <a:xfrm>
            <a:off x="2887714" y="2518537"/>
            <a:ext cx="795411" cy="323165"/>
          </a:xfrm>
          <a:prstGeom prst="rect">
            <a:avLst/>
          </a:prstGeom>
          <a:noFill/>
        </p:spPr>
        <p:txBody>
          <a:bodyPr wrap="none" rtlCol="0">
            <a:spAutoFit/>
          </a:bodyPr>
          <a:lstStyle/>
          <a:p>
            <a:r>
              <a:rPr lang="en-US" sz="1500" dirty="0">
                <a:latin typeface="Helvetica" charset="0"/>
                <a:ea typeface="Helvetica" charset="0"/>
                <a:cs typeface="Helvetica" charset="0"/>
              </a:rPr>
              <a:t>gene B</a:t>
            </a:r>
          </a:p>
        </p:txBody>
      </p:sp>
      <p:sp>
        <p:nvSpPr>
          <p:cNvPr id="53" name="TextBox 52"/>
          <p:cNvSpPr txBox="1"/>
          <p:nvPr/>
        </p:nvSpPr>
        <p:spPr>
          <a:xfrm>
            <a:off x="2612137" y="1909835"/>
            <a:ext cx="806631" cy="323165"/>
          </a:xfrm>
          <a:prstGeom prst="rect">
            <a:avLst/>
          </a:prstGeom>
          <a:noFill/>
        </p:spPr>
        <p:txBody>
          <a:bodyPr wrap="none" rtlCol="0">
            <a:spAutoFit/>
          </a:bodyPr>
          <a:lstStyle/>
          <a:p>
            <a:r>
              <a:rPr lang="en-US" sz="1500">
                <a:latin typeface="Helvetica" charset="0"/>
                <a:ea typeface="Helvetica" charset="0"/>
                <a:cs typeface="Helvetica" charset="0"/>
              </a:rPr>
              <a:t>gene C</a:t>
            </a:r>
          </a:p>
        </p:txBody>
      </p:sp>
      <p:sp>
        <p:nvSpPr>
          <p:cNvPr id="37" name="Rectangle 36"/>
          <p:cNvSpPr/>
          <p:nvPr/>
        </p:nvSpPr>
        <p:spPr>
          <a:xfrm>
            <a:off x="1923344" y="5446105"/>
            <a:ext cx="595493" cy="1099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a:off x="1828578" y="5328774"/>
            <a:ext cx="795411" cy="323165"/>
          </a:xfrm>
          <a:prstGeom prst="rect">
            <a:avLst/>
          </a:prstGeom>
          <a:noFill/>
        </p:spPr>
        <p:txBody>
          <a:bodyPr wrap="none" rtlCol="0">
            <a:spAutoFit/>
          </a:bodyPr>
          <a:lstStyle/>
          <a:p>
            <a:r>
              <a:rPr lang="en-US" sz="1500" dirty="0">
                <a:latin typeface="Helvetica" charset="0"/>
                <a:ea typeface="Helvetica" charset="0"/>
                <a:cs typeface="Helvetica" charset="0"/>
              </a:rPr>
              <a:t>gene B</a:t>
            </a:r>
          </a:p>
        </p:txBody>
      </p:sp>
      <p:sp>
        <p:nvSpPr>
          <p:cNvPr id="40" name="TextBox 39"/>
          <p:cNvSpPr txBox="1"/>
          <p:nvPr/>
        </p:nvSpPr>
        <p:spPr>
          <a:xfrm>
            <a:off x="3198480" y="5372738"/>
            <a:ext cx="785023" cy="323165"/>
          </a:xfrm>
          <a:prstGeom prst="rect">
            <a:avLst/>
          </a:prstGeom>
          <a:noFill/>
        </p:spPr>
        <p:txBody>
          <a:bodyPr wrap="none" rtlCol="0">
            <a:spAutoFit/>
          </a:bodyPr>
          <a:lstStyle/>
          <a:p>
            <a:r>
              <a:rPr lang="en-US" sz="1500">
                <a:latin typeface="Helvetica" charset="0"/>
                <a:ea typeface="Helvetica" charset="0"/>
                <a:cs typeface="Helvetica" charset="0"/>
              </a:rPr>
              <a:t>gene A</a:t>
            </a:r>
          </a:p>
        </p:txBody>
      </p:sp>
      <p:sp>
        <p:nvSpPr>
          <p:cNvPr id="42" name="TextBox 41"/>
          <p:cNvSpPr txBox="1"/>
          <p:nvPr/>
        </p:nvSpPr>
        <p:spPr>
          <a:xfrm>
            <a:off x="254356" y="305057"/>
            <a:ext cx="8810425" cy="553998"/>
          </a:xfrm>
          <a:prstGeom prst="rect">
            <a:avLst/>
          </a:prstGeom>
          <a:noFill/>
        </p:spPr>
        <p:txBody>
          <a:bodyPr wrap="none" rtlCol="0">
            <a:spAutoFit/>
          </a:bodyPr>
          <a:lstStyle/>
          <a:p>
            <a:r>
              <a:rPr lang="en-US" sz="3000" dirty="0">
                <a:latin typeface="Helvetica" charset="0"/>
                <a:ea typeface="Helvetica" charset="0"/>
                <a:cs typeface="Helvetica" charset="0"/>
              </a:rPr>
              <a:t>Gene expression determines cell type and function</a:t>
            </a:r>
          </a:p>
        </p:txBody>
      </p:sp>
      <p:pic>
        <p:nvPicPr>
          <p:cNvPr id="3" name="Picture 2"/>
          <p:cNvPicPr>
            <a:picLocks noChangeAspect="1"/>
          </p:cNvPicPr>
          <p:nvPr/>
        </p:nvPicPr>
        <p:blipFill>
          <a:blip r:embed="rId3"/>
          <a:stretch>
            <a:fillRect/>
          </a:stretch>
        </p:blipFill>
        <p:spPr>
          <a:xfrm>
            <a:off x="8182162" y="2071417"/>
            <a:ext cx="3953145" cy="3530600"/>
          </a:xfrm>
          <a:prstGeom prst="rect">
            <a:avLst/>
          </a:prstGeom>
        </p:spPr>
      </p:pic>
      <p:sp>
        <p:nvSpPr>
          <p:cNvPr id="10" name="Left Arrow 9"/>
          <p:cNvSpPr/>
          <p:nvPr/>
        </p:nvSpPr>
        <p:spPr>
          <a:xfrm rot="891091">
            <a:off x="6561114" y="2576678"/>
            <a:ext cx="1407057" cy="530047"/>
          </a:xfrm>
          <a:prstGeom prst="leftArrow">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Left Arrow 48"/>
          <p:cNvSpPr/>
          <p:nvPr/>
        </p:nvSpPr>
        <p:spPr>
          <a:xfrm rot="20609817">
            <a:off x="6728803" y="4558813"/>
            <a:ext cx="1407057" cy="530047"/>
          </a:xfrm>
          <a:prstGeom prst="leftArrow">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CFED9037-B9B3-B142-AA88-5DB836B4881D}" type="slidenum">
              <a:rPr lang="en-US" smtClean="0"/>
              <a:t>20</a:t>
            </a:fld>
            <a:endParaRPr lang="en-US"/>
          </a:p>
        </p:txBody>
      </p:sp>
      <p:sp>
        <p:nvSpPr>
          <p:cNvPr id="9" name="TextBox 8">
            <a:extLst>
              <a:ext uri="{FF2B5EF4-FFF2-40B4-BE49-F238E27FC236}">
                <a16:creationId xmlns:a16="http://schemas.microsoft.com/office/drawing/2014/main" id="{1D282569-555B-7AAB-C289-32731F754A02}"/>
              </a:ext>
            </a:extLst>
          </p:cNvPr>
          <p:cNvSpPr txBox="1"/>
          <p:nvPr/>
        </p:nvSpPr>
        <p:spPr>
          <a:xfrm>
            <a:off x="4806241" y="6080840"/>
            <a:ext cx="6722481" cy="477054"/>
          </a:xfrm>
          <a:prstGeom prst="rect">
            <a:avLst/>
          </a:prstGeom>
          <a:noFill/>
        </p:spPr>
        <p:txBody>
          <a:bodyPr wrap="none" rtlCol="0">
            <a:spAutoFit/>
          </a:bodyPr>
          <a:lstStyle/>
          <a:p>
            <a:r>
              <a:rPr lang="en-US" sz="2500" dirty="0"/>
              <a:t>Gene expression = number of mRNA transcripts</a:t>
            </a:r>
          </a:p>
        </p:txBody>
      </p:sp>
    </p:spTree>
    <p:extLst>
      <p:ext uri="{BB962C8B-B14F-4D97-AF65-F5344CB8AC3E}">
        <p14:creationId xmlns:p14="http://schemas.microsoft.com/office/powerpoint/2010/main" val="8912487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Freeform 83"/>
          <p:cNvSpPr/>
          <p:nvPr/>
        </p:nvSpPr>
        <p:spPr>
          <a:xfrm>
            <a:off x="1347474" y="4276073"/>
            <a:ext cx="3000018" cy="2451110"/>
          </a:xfrm>
          <a:custGeom>
            <a:avLst/>
            <a:gdLst>
              <a:gd name="connsiteX0" fmla="*/ 2056291 w 5883299"/>
              <a:gd name="connsiteY0" fmla="*/ 67320 h 4093556"/>
              <a:gd name="connsiteX1" fmla="*/ 5112007 w 5883299"/>
              <a:gd name="connsiteY1" fmla="*/ 21022 h 4093556"/>
              <a:gd name="connsiteX2" fmla="*/ 4973111 w 5883299"/>
              <a:gd name="connsiteY2" fmla="*/ 449285 h 4093556"/>
              <a:gd name="connsiteX3" fmla="*/ 3977688 w 5883299"/>
              <a:gd name="connsiteY3" fmla="*/ 460860 h 4093556"/>
              <a:gd name="connsiteX4" fmla="*/ 3954539 w 5883299"/>
              <a:gd name="connsiteY4" fmla="*/ 958571 h 4093556"/>
              <a:gd name="connsiteX5" fmla="*/ 5181455 w 5883299"/>
              <a:gd name="connsiteY5" fmla="*/ 1791948 h 4093556"/>
              <a:gd name="connsiteX6" fmla="*/ 4892088 w 5883299"/>
              <a:gd name="connsiteY6" fmla="*/ 3076738 h 4093556"/>
              <a:gd name="connsiteX7" fmla="*/ 3885091 w 5883299"/>
              <a:gd name="connsiteY7" fmla="*/ 3169336 h 4093556"/>
              <a:gd name="connsiteX8" fmla="*/ 3873516 w 5883299"/>
              <a:gd name="connsiteY8" fmla="*/ 3458703 h 4093556"/>
              <a:gd name="connsiteX9" fmla="*/ 5355075 w 5883299"/>
              <a:gd name="connsiteY9" fmla="*/ 3493427 h 4093556"/>
              <a:gd name="connsiteX10" fmla="*/ 5505546 w 5883299"/>
              <a:gd name="connsiteY10" fmla="*/ 4037437 h 4093556"/>
              <a:gd name="connsiteX11" fmla="*/ 551582 w 5883299"/>
              <a:gd name="connsiteY11" fmla="*/ 3991138 h 4093556"/>
              <a:gd name="connsiteX12" fmla="*/ 354812 w 5883299"/>
              <a:gd name="connsiteY12" fmla="*/ 3285082 h 4093556"/>
              <a:gd name="connsiteX13" fmla="*/ 2635025 w 5883299"/>
              <a:gd name="connsiteY13" fmla="*/ 3308232 h 4093556"/>
              <a:gd name="connsiteX14" fmla="*/ 2704473 w 5883299"/>
              <a:gd name="connsiteY14" fmla="*/ 3088313 h 4093556"/>
              <a:gd name="connsiteX15" fmla="*/ 1234488 w 5883299"/>
              <a:gd name="connsiteY15" fmla="*/ 2856819 h 4093556"/>
              <a:gd name="connsiteX16" fmla="*/ 1095592 w 5883299"/>
              <a:gd name="connsiteY16" fmla="*/ 1363685 h 4093556"/>
              <a:gd name="connsiteX17" fmla="*/ 2172037 w 5883299"/>
              <a:gd name="connsiteY17" fmla="*/ 900698 h 4093556"/>
              <a:gd name="connsiteX18" fmla="*/ 3317931 w 5883299"/>
              <a:gd name="connsiteY18" fmla="*/ 854399 h 4093556"/>
              <a:gd name="connsiteX19" fmla="*/ 3213759 w 5883299"/>
              <a:gd name="connsiteY19" fmla="*/ 426136 h 4093556"/>
              <a:gd name="connsiteX20" fmla="*/ 1257637 w 5883299"/>
              <a:gd name="connsiteY20" fmla="*/ 472434 h 4093556"/>
              <a:gd name="connsiteX21" fmla="*/ 1246063 w 5883299"/>
              <a:gd name="connsiteY21" fmla="*/ 78895 h 4093556"/>
              <a:gd name="connsiteX22" fmla="*/ 2056291 w 5883299"/>
              <a:gd name="connsiteY22" fmla="*/ 67320 h 409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883299" h="4093556">
                <a:moveTo>
                  <a:pt x="2056291" y="67320"/>
                </a:moveTo>
                <a:cubicBezTo>
                  <a:pt x="2700615" y="57675"/>
                  <a:pt x="4625870" y="-42639"/>
                  <a:pt x="5112007" y="21022"/>
                </a:cubicBezTo>
                <a:cubicBezTo>
                  <a:pt x="5598144" y="84683"/>
                  <a:pt x="5162164" y="375979"/>
                  <a:pt x="4973111" y="449285"/>
                </a:cubicBezTo>
                <a:cubicBezTo>
                  <a:pt x="4784058" y="522591"/>
                  <a:pt x="4147450" y="375979"/>
                  <a:pt x="3977688" y="460860"/>
                </a:cubicBezTo>
                <a:cubicBezTo>
                  <a:pt x="3807926" y="545741"/>
                  <a:pt x="3753911" y="736723"/>
                  <a:pt x="3954539" y="958571"/>
                </a:cubicBezTo>
                <a:cubicBezTo>
                  <a:pt x="4155167" y="1180419"/>
                  <a:pt x="5025197" y="1438920"/>
                  <a:pt x="5181455" y="1791948"/>
                </a:cubicBezTo>
                <a:cubicBezTo>
                  <a:pt x="5337713" y="2144976"/>
                  <a:pt x="5108149" y="2847173"/>
                  <a:pt x="4892088" y="3076738"/>
                </a:cubicBezTo>
                <a:cubicBezTo>
                  <a:pt x="4676027" y="3306303"/>
                  <a:pt x="4054853" y="3105675"/>
                  <a:pt x="3885091" y="3169336"/>
                </a:cubicBezTo>
                <a:cubicBezTo>
                  <a:pt x="3715329" y="3232997"/>
                  <a:pt x="3628519" y="3404688"/>
                  <a:pt x="3873516" y="3458703"/>
                </a:cubicBezTo>
                <a:cubicBezTo>
                  <a:pt x="4118513" y="3512718"/>
                  <a:pt x="5083070" y="3396971"/>
                  <a:pt x="5355075" y="3493427"/>
                </a:cubicBezTo>
                <a:cubicBezTo>
                  <a:pt x="5627080" y="3589883"/>
                  <a:pt x="6306128" y="3954485"/>
                  <a:pt x="5505546" y="4037437"/>
                </a:cubicBezTo>
                <a:cubicBezTo>
                  <a:pt x="4704964" y="4120389"/>
                  <a:pt x="1410038" y="4116530"/>
                  <a:pt x="551582" y="3991138"/>
                </a:cubicBezTo>
                <a:cubicBezTo>
                  <a:pt x="-306874" y="3865746"/>
                  <a:pt x="7571" y="3398900"/>
                  <a:pt x="354812" y="3285082"/>
                </a:cubicBezTo>
                <a:cubicBezTo>
                  <a:pt x="702053" y="3171264"/>
                  <a:pt x="2243415" y="3341027"/>
                  <a:pt x="2635025" y="3308232"/>
                </a:cubicBezTo>
                <a:cubicBezTo>
                  <a:pt x="3026635" y="3275437"/>
                  <a:pt x="2937896" y="3163549"/>
                  <a:pt x="2704473" y="3088313"/>
                </a:cubicBezTo>
                <a:cubicBezTo>
                  <a:pt x="2471050" y="3013077"/>
                  <a:pt x="1502635" y="3144257"/>
                  <a:pt x="1234488" y="2856819"/>
                </a:cubicBezTo>
                <a:cubicBezTo>
                  <a:pt x="966341" y="2569381"/>
                  <a:pt x="939334" y="1689705"/>
                  <a:pt x="1095592" y="1363685"/>
                </a:cubicBezTo>
                <a:cubicBezTo>
                  <a:pt x="1251850" y="1037665"/>
                  <a:pt x="1801647" y="985579"/>
                  <a:pt x="2172037" y="900698"/>
                </a:cubicBezTo>
                <a:cubicBezTo>
                  <a:pt x="2542427" y="815817"/>
                  <a:pt x="3144311" y="933493"/>
                  <a:pt x="3317931" y="854399"/>
                </a:cubicBezTo>
                <a:cubicBezTo>
                  <a:pt x="3491551" y="775305"/>
                  <a:pt x="3557141" y="489797"/>
                  <a:pt x="3213759" y="426136"/>
                </a:cubicBezTo>
                <a:cubicBezTo>
                  <a:pt x="2870377" y="362475"/>
                  <a:pt x="1585586" y="530307"/>
                  <a:pt x="1257637" y="472434"/>
                </a:cubicBezTo>
                <a:cubicBezTo>
                  <a:pt x="929688" y="414561"/>
                  <a:pt x="1109096" y="146414"/>
                  <a:pt x="1246063" y="78895"/>
                </a:cubicBezTo>
                <a:cubicBezTo>
                  <a:pt x="1383030" y="11376"/>
                  <a:pt x="1411967" y="76965"/>
                  <a:pt x="2056291" y="67320"/>
                </a:cubicBezTo>
                <a:close/>
              </a:path>
            </a:pathLst>
          </a:custGeom>
          <a:solidFill>
            <a:schemeClr val="accent6">
              <a:lumMod val="20000"/>
              <a:lumOff val="80000"/>
            </a:schemeClr>
          </a:solidFill>
          <a:ln w="571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193255" y="280593"/>
            <a:ext cx="8810425" cy="553998"/>
          </a:xfrm>
          <a:prstGeom prst="rect">
            <a:avLst/>
          </a:prstGeom>
          <a:noFill/>
        </p:spPr>
        <p:txBody>
          <a:bodyPr wrap="none" rtlCol="0">
            <a:spAutoFit/>
          </a:bodyPr>
          <a:lstStyle/>
          <a:p>
            <a:r>
              <a:rPr lang="en-US" sz="3000" dirty="0">
                <a:latin typeface="Helvetica" charset="0"/>
                <a:ea typeface="Helvetica" charset="0"/>
                <a:cs typeface="Helvetica" charset="0"/>
              </a:rPr>
              <a:t>Gene expression determines cell type and function</a:t>
            </a:r>
          </a:p>
        </p:txBody>
      </p:sp>
      <p:sp>
        <p:nvSpPr>
          <p:cNvPr id="6" name="Rectangle 5"/>
          <p:cNvSpPr/>
          <p:nvPr/>
        </p:nvSpPr>
        <p:spPr>
          <a:xfrm>
            <a:off x="2220461" y="2212465"/>
            <a:ext cx="595493" cy="10993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2997229" y="2646005"/>
            <a:ext cx="595493" cy="1099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2745532" y="2454044"/>
            <a:ext cx="595493" cy="1099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2697754" y="2040754"/>
            <a:ext cx="595493" cy="109937"/>
          </a:xfrm>
          <a:prstGeom prst="rect">
            <a:avLst/>
          </a:prstGeom>
          <a:solidFill>
            <a:srgbClr val="B178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2946870" y="1869113"/>
            <a:ext cx="595493" cy="109937"/>
          </a:xfrm>
          <a:prstGeom prst="rect">
            <a:avLst/>
          </a:prstGeom>
          <a:solidFill>
            <a:srgbClr val="B178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2184095" y="2666575"/>
            <a:ext cx="595493" cy="1099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2834480" y="2844209"/>
            <a:ext cx="595493" cy="1099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2764404" y="3056171"/>
            <a:ext cx="595493" cy="1099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2995500" y="2256687"/>
            <a:ext cx="595493" cy="109937"/>
          </a:xfrm>
          <a:prstGeom prst="rect">
            <a:avLst/>
          </a:prstGeom>
          <a:solidFill>
            <a:srgbClr val="B178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2496849" y="5277791"/>
            <a:ext cx="595493" cy="10993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2496849" y="5582976"/>
            <a:ext cx="595493" cy="10993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3293246" y="5497667"/>
            <a:ext cx="595493" cy="10993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2123038" y="5012742"/>
            <a:ext cx="595493" cy="109937"/>
          </a:xfrm>
          <a:prstGeom prst="rect">
            <a:avLst/>
          </a:prstGeom>
          <a:solidFill>
            <a:srgbClr val="B178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2787553" y="4934509"/>
            <a:ext cx="595493" cy="109937"/>
          </a:xfrm>
          <a:prstGeom prst="rect">
            <a:avLst/>
          </a:prstGeom>
          <a:solidFill>
            <a:srgbClr val="B178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2148907" y="5827480"/>
            <a:ext cx="595493" cy="10993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2856298" y="5827480"/>
            <a:ext cx="595493" cy="10993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3097600" y="5125839"/>
            <a:ext cx="595493" cy="109937"/>
          </a:xfrm>
          <a:prstGeom prst="rect">
            <a:avLst/>
          </a:prstGeom>
          <a:solidFill>
            <a:srgbClr val="B178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p:nvPr/>
        </p:nvCxnSpPr>
        <p:spPr>
          <a:xfrm>
            <a:off x="1933970" y="1504340"/>
            <a:ext cx="881984" cy="501658"/>
          </a:xfrm>
          <a:prstGeom prst="straightConnector1">
            <a:avLst/>
          </a:prstGeom>
          <a:ln w="57150">
            <a:solidFill>
              <a:srgbClr val="233616"/>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3031573" y="4991280"/>
            <a:ext cx="806631" cy="323165"/>
          </a:xfrm>
          <a:prstGeom prst="rect">
            <a:avLst/>
          </a:prstGeom>
          <a:noFill/>
        </p:spPr>
        <p:txBody>
          <a:bodyPr wrap="none" rtlCol="0">
            <a:spAutoFit/>
          </a:bodyPr>
          <a:lstStyle/>
          <a:p>
            <a:r>
              <a:rPr lang="en-US" sz="1500">
                <a:latin typeface="Helvetica" charset="0"/>
                <a:ea typeface="Helvetica" charset="0"/>
                <a:cs typeface="Helvetica" charset="0"/>
              </a:rPr>
              <a:t>gene C</a:t>
            </a:r>
          </a:p>
        </p:txBody>
      </p:sp>
      <p:sp>
        <p:nvSpPr>
          <p:cNvPr id="51" name="TextBox 50"/>
          <p:cNvSpPr txBox="1"/>
          <p:nvPr/>
        </p:nvSpPr>
        <p:spPr>
          <a:xfrm>
            <a:off x="2109405" y="2100865"/>
            <a:ext cx="785023" cy="323165"/>
          </a:xfrm>
          <a:prstGeom prst="rect">
            <a:avLst/>
          </a:prstGeom>
          <a:noFill/>
        </p:spPr>
        <p:txBody>
          <a:bodyPr wrap="none" rtlCol="0">
            <a:spAutoFit/>
          </a:bodyPr>
          <a:lstStyle/>
          <a:p>
            <a:r>
              <a:rPr lang="en-US" sz="1500">
                <a:latin typeface="Helvetica" charset="0"/>
                <a:ea typeface="Helvetica" charset="0"/>
                <a:cs typeface="Helvetica" charset="0"/>
              </a:rPr>
              <a:t>gene A</a:t>
            </a:r>
          </a:p>
        </p:txBody>
      </p:sp>
      <p:sp>
        <p:nvSpPr>
          <p:cNvPr id="52" name="TextBox 51"/>
          <p:cNvSpPr txBox="1"/>
          <p:nvPr/>
        </p:nvSpPr>
        <p:spPr>
          <a:xfrm>
            <a:off x="2887714" y="2518537"/>
            <a:ext cx="795411" cy="323165"/>
          </a:xfrm>
          <a:prstGeom prst="rect">
            <a:avLst/>
          </a:prstGeom>
          <a:noFill/>
        </p:spPr>
        <p:txBody>
          <a:bodyPr wrap="none" rtlCol="0">
            <a:spAutoFit/>
          </a:bodyPr>
          <a:lstStyle/>
          <a:p>
            <a:r>
              <a:rPr lang="en-US" sz="1500" dirty="0">
                <a:latin typeface="Helvetica" charset="0"/>
                <a:ea typeface="Helvetica" charset="0"/>
                <a:cs typeface="Helvetica" charset="0"/>
              </a:rPr>
              <a:t>gene B</a:t>
            </a:r>
          </a:p>
        </p:txBody>
      </p:sp>
      <p:sp>
        <p:nvSpPr>
          <p:cNvPr id="53" name="TextBox 52"/>
          <p:cNvSpPr txBox="1"/>
          <p:nvPr/>
        </p:nvSpPr>
        <p:spPr>
          <a:xfrm>
            <a:off x="2612137" y="1909835"/>
            <a:ext cx="806631" cy="323165"/>
          </a:xfrm>
          <a:prstGeom prst="rect">
            <a:avLst/>
          </a:prstGeom>
          <a:noFill/>
        </p:spPr>
        <p:txBody>
          <a:bodyPr wrap="none" rtlCol="0">
            <a:spAutoFit/>
          </a:bodyPr>
          <a:lstStyle/>
          <a:p>
            <a:r>
              <a:rPr lang="en-US" sz="1500">
                <a:latin typeface="Helvetica" charset="0"/>
                <a:ea typeface="Helvetica" charset="0"/>
                <a:cs typeface="Helvetica" charset="0"/>
              </a:rPr>
              <a:t>gene C</a:t>
            </a:r>
          </a:p>
        </p:txBody>
      </p:sp>
      <p:sp>
        <p:nvSpPr>
          <p:cNvPr id="35" name="TextBox 34"/>
          <p:cNvSpPr txBox="1"/>
          <p:nvPr/>
        </p:nvSpPr>
        <p:spPr>
          <a:xfrm>
            <a:off x="4846776" y="3003579"/>
            <a:ext cx="1261884" cy="461665"/>
          </a:xfrm>
          <a:prstGeom prst="rect">
            <a:avLst/>
          </a:prstGeom>
          <a:noFill/>
        </p:spPr>
        <p:txBody>
          <a:bodyPr wrap="none" rtlCol="0">
            <a:spAutoFit/>
          </a:bodyPr>
          <a:lstStyle/>
          <a:p>
            <a:r>
              <a:rPr lang="en-US" sz="2400" b="1" dirty="0">
                <a:latin typeface="Helvetica" charset="0"/>
                <a:ea typeface="Helvetica" charset="0"/>
                <a:cs typeface="Helvetica" charset="0"/>
              </a:rPr>
              <a:t>Neuron</a:t>
            </a:r>
          </a:p>
        </p:txBody>
      </p:sp>
      <p:sp>
        <p:nvSpPr>
          <p:cNvPr id="36" name="TextBox 35"/>
          <p:cNvSpPr txBox="1"/>
          <p:nvPr/>
        </p:nvSpPr>
        <p:spPr>
          <a:xfrm>
            <a:off x="4151246" y="4834182"/>
            <a:ext cx="2627642" cy="461665"/>
          </a:xfrm>
          <a:prstGeom prst="rect">
            <a:avLst/>
          </a:prstGeom>
          <a:noFill/>
        </p:spPr>
        <p:txBody>
          <a:bodyPr wrap="none" rtlCol="0">
            <a:spAutoFit/>
          </a:bodyPr>
          <a:lstStyle/>
          <a:p>
            <a:r>
              <a:rPr lang="en-US" sz="2400" b="1" dirty="0">
                <a:latin typeface="Helvetica" charset="0"/>
                <a:ea typeface="Helvetica" charset="0"/>
                <a:cs typeface="Helvetica" charset="0"/>
              </a:rPr>
              <a:t>Oligodendrocyte</a:t>
            </a:r>
          </a:p>
        </p:txBody>
      </p:sp>
      <p:sp>
        <p:nvSpPr>
          <p:cNvPr id="37" name="Rectangle 36"/>
          <p:cNvSpPr/>
          <p:nvPr/>
        </p:nvSpPr>
        <p:spPr>
          <a:xfrm>
            <a:off x="1923344" y="5446105"/>
            <a:ext cx="595493" cy="1099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a:off x="1828578" y="5328774"/>
            <a:ext cx="795411" cy="323165"/>
          </a:xfrm>
          <a:prstGeom prst="rect">
            <a:avLst/>
          </a:prstGeom>
          <a:noFill/>
        </p:spPr>
        <p:txBody>
          <a:bodyPr wrap="none" rtlCol="0">
            <a:spAutoFit/>
          </a:bodyPr>
          <a:lstStyle/>
          <a:p>
            <a:r>
              <a:rPr lang="en-US" sz="1500" dirty="0">
                <a:latin typeface="Helvetica" charset="0"/>
                <a:ea typeface="Helvetica" charset="0"/>
                <a:cs typeface="Helvetica" charset="0"/>
              </a:rPr>
              <a:t>gene B</a:t>
            </a:r>
          </a:p>
        </p:txBody>
      </p:sp>
      <p:sp>
        <p:nvSpPr>
          <p:cNvPr id="40" name="TextBox 39"/>
          <p:cNvSpPr txBox="1"/>
          <p:nvPr/>
        </p:nvSpPr>
        <p:spPr>
          <a:xfrm>
            <a:off x="3198480" y="5372738"/>
            <a:ext cx="785023" cy="323165"/>
          </a:xfrm>
          <a:prstGeom prst="rect">
            <a:avLst/>
          </a:prstGeom>
          <a:noFill/>
        </p:spPr>
        <p:txBody>
          <a:bodyPr wrap="none" rtlCol="0">
            <a:spAutoFit/>
          </a:bodyPr>
          <a:lstStyle/>
          <a:p>
            <a:r>
              <a:rPr lang="en-US" sz="1500">
                <a:latin typeface="Helvetica" charset="0"/>
                <a:ea typeface="Helvetica" charset="0"/>
                <a:cs typeface="Helvetica" charset="0"/>
              </a:rPr>
              <a:t>gene A</a:t>
            </a:r>
          </a:p>
        </p:txBody>
      </p:sp>
      <p:sp>
        <p:nvSpPr>
          <p:cNvPr id="7" name="TextBox 6"/>
          <p:cNvSpPr txBox="1"/>
          <p:nvPr/>
        </p:nvSpPr>
        <p:spPr>
          <a:xfrm>
            <a:off x="4408923" y="5243950"/>
            <a:ext cx="2071868" cy="646331"/>
          </a:xfrm>
          <a:prstGeom prst="rect">
            <a:avLst/>
          </a:prstGeom>
          <a:noFill/>
        </p:spPr>
        <p:txBody>
          <a:bodyPr wrap="square" rtlCol="0">
            <a:spAutoFit/>
          </a:bodyPr>
          <a:lstStyle/>
          <a:p>
            <a:pPr algn="ctr"/>
            <a:r>
              <a:rPr lang="en-US" dirty="0">
                <a:latin typeface="Helvetica" charset="0"/>
                <a:ea typeface="Helvetica" charset="0"/>
                <a:cs typeface="Helvetica" charset="0"/>
              </a:rPr>
              <a:t>High expression of gene A</a:t>
            </a:r>
          </a:p>
        </p:txBody>
      </p:sp>
      <p:sp>
        <p:nvSpPr>
          <p:cNvPr id="8" name="Freeform 7"/>
          <p:cNvSpPr/>
          <p:nvPr/>
        </p:nvSpPr>
        <p:spPr>
          <a:xfrm>
            <a:off x="2036351" y="5192287"/>
            <a:ext cx="2562117" cy="868291"/>
          </a:xfrm>
          <a:custGeom>
            <a:avLst/>
            <a:gdLst>
              <a:gd name="connsiteX0" fmla="*/ 2547224 w 2562117"/>
              <a:gd name="connsiteY0" fmla="*/ 189941 h 868291"/>
              <a:gd name="connsiteX1" fmla="*/ 1551801 w 2562117"/>
              <a:gd name="connsiteY1" fmla="*/ 213090 h 868291"/>
              <a:gd name="connsiteX2" fmla="*/ 915193 w 2562117"/>
              <a:gd name="connsiteY2" fmla="*/ 4746 h 868291"/>
              <a:gd name="connsiteX3" fmla="*/ 324884 w 2562117"/>
              <a:gd name="connsiteY3" fmla="*/ 85769 h 868291"/>
              <a:gd name="connsiteX4" fmla="*/ 602677 w 2562117"/>
              <a:gd name="connsiteY4" fmla="*/ 294113 h 868291"/>
              <a:gd name="connsiteX5" fmla="*/ 336459 w 2562117"/>
              <a:gd name="connsiteY5" fmla="*/ 421435 h 868291"/>
              <a:gd name="connsiteX6" fmla="*/ 12368 w 2562117"/>
              <a:gd name="connsiteY6" fmla="*/ 606629 h 868291"/>
              <a:gd name="connsiteX7" fmla="*/ 220712 w 2562117"/>
              <a:gd name="connsiteY7" fmla="*/ 849698 h 868291"/>
              <a:gd name="connsiteX8" fmla="*/ 1563376 w 2562117"/>
              <a:gd name="connsiteY8" fmla="*/ 803399 h 868291"/>
              <a:gd name="connsiteX9" fmla="*/ 2107386 w 2562117"/>
              <a:gd name="connsiteY9" fmla="*/ 421435 h 868291"/>
              <a:gd name="connsiteX10" fmla="*/ 2547224 w 2562117"/>
              <a:gd name="connsiteY10" fmla="*/ 189941 h 868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62117" h="868291">
                <a:moveTo>
                  <a:pt x="2547224" y="189941"/>
                </a:moveTo>
                <a:cubicBezTo>
                  <a:pt x="2454627" y="155217"/>
                  <a:pt x="1823806" y="243956"/>
                  <a:pt x="1551801" y="213090"/>
                </a:cubicBezTo>
                <a:cubicBezTo>
                  <a:pt x="1279796" y="182224"/>
                  <a:pt x="1119679" y="25966"/>
                  <a:pt x="915193" y="4746"/>
                </a:cubicBezTo>
                <a:cubicBezTo>
                  <a:pt x="710707" y="-16474"/>
                  <a:pt x="376970" y="37541"/>
                  <a:pt x="324884" y="85769"/>
                </a:cubicBezTo>
                <a:cubicBezTo>
                  <a:pt x="272798" y="133997"/>
                  <a:pt x="600748" y="238169"/>
                  <a:pt x="602677" y="294113"/>
                </a:cubicBezTo>
                <a:cubicBezTo>
                  <a:pt x="604606" y="350057"/>
                  <a:pt x="434844" y="369349"/>
                  <a:pt x="336459" y="421435"/>
                </a:cubicBezTo>
                <a:cubicBezTo>
                  <a:pt x="238074" y="473521"/>
                  <a:pt x="31659" y="535252"/>
                  <a:pt x="12368" y="606629"/>
                </a:cubicBezTo>
                <a:cubicBezTo>
                  <a:pt x="-6923" y="678006"/>
                  <a:pt x="-37789" y="816903"/>
                  <a:pt x="220712" y="849698"/>
                </a:cubicBezTo>
                <a:cubicBezTo>
                  <a:pt x="479213" y="882493"/>
                  <a:pt x="1248930" y="874776"/>
                  <a:pt x="1563376" y="803399"/>
                </a:cubicBezTo>
                <a:cubicBezTo>
                  <a:pt x="1877822" y="732022"/>
                  <a:pt x="1937624" y="521749"/>
                  <a:pt x="2107386" y="421435"/>
                </a:cubicBezTo>
                <a:cubicBezTo>
                  <a:pt x="2277148" y="321121"/>
                  <a:pt x="2639821" y="224665"/>
                  <a:pt x="2547224" y="189941"/>
                </a:cubicBezTo>
                <a:close/>
              </a:path>
            </a:pathLst>
          </a:custGeom>
          <a:solidFill>
            <a:srgbClr val="FFFF00">
              <a:alpha val="9804"/>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p:cNvSpPr txBox="1"/>
          <p:nvPr/>
        </p:nvSpPr>
        <p:spPr>
          <a:xfrm>
            <a:off x="4383857" y="3429000"/>
            <a:ext cx="2071868" cy="646331"/>
          </a:xfrm>
          <a:prstGeom prst="rect">
            <a:avLst/>
          </a:prstGeom>
          <a:noFill/>
        </p:spPr>
        <p:txBody>
          <a:bodyPr wrap="square" rtlCol="0">
            <a:spAutoFit/>
          </a:bodyPr>
          <a:lstStyle/>
          <a:p>
            <a:pPr algn="ctr"/>
            <a:r>
              <a:rPr lang="en-US" dirty="0">
                <a:latin typeface="Helvetica" charset="0"/>
                <a:ea typeface="Helvetica" charset="0"/>
                <a:cs typeface="Helvetica" charset="0"/>
              </a:rPr>
              <a:t>High expression of gene B</a:t>
            </a:r>
          </a:p>
        </p:txBody>
      </p:sp>
      <p:sp>
        <p:nvSpPr>
          <p:cNvPr id="9" name="Freeform 8"/>
          <p:cNvSpPr/>
          <p:nvPr/>
        </p:nvSpPr>
        <p:spPr>
          <a:xfrm>
            <a:off x="2121905" y="2407016"/>
            <a:ext cx="2410742" cy="1193127"/>
          </a:xfrm>
          <a:custGeom>
            <a:avLst/>
            <a:gdLst>
              <a:gd name="connsiteX0" fmla="*/ 2403796 w 2410742"/>
              <a:gd name="connsiteY0" fmla="*/ 1169561 h 1193127"/>
              <a:gd name="connsiteX1" fmla="*/ 1593568 w 2410742"/>
              <a:gd name="connsiteY1" fmla="*/ 174138 h 1193127"/>
              <a:gd name="connsiteX2" fmla="*/ 956961 w 2410742"/>
              <a:gd name="connsiteY2" fmla="*/ 518 h 1193127"/>
              <a:gd name="connsiteX3" fmla="*/ 65710 w 2410742"/>
              <a:gd name="connsiteY3" fmla="*/ 139414 h 1193127"/>
              <a:gd name="connsiteX4" fmla="*/ 169882 w 2410742"/>
              <a:gd name="connsiteY4" fmla="*/ 613976 h 1193127"/>
              <a:gd name="connsiteX5" fmla="*/ 991685 w 2410742"/>
              <a:gd name="connsiteY5" fmla="*/ 914918 h 1193127"/>
              <a:gd name="connsiteX6" fmla="*/ 1929234 w 2410742"/>
              <a:gd name="connsiteY6" fmla="*/ 880194 h 1193127"/>
              <a:gd name="connsiteX7" fmla="*/ 2403796 w 2410742"/>
              <a:gd name="connsiteY7" fmla="*/ 1169561 h 1193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10742" h="1193127">
                <a:moveTo>
                  <a:pt x="2403796" y="1169561"/>
                </a:moveTo>
                <a:cubicBezTo>
                  <a:pt x="2347852" y="1051885"/>
                  <a:pt x="1834707" y="368978"/>
                  <a:pt x="1593568" y="174138"/>
                </a:cubicBezTo>
                <a:cubicBezTo>
                  <a:pt x="1352429" y="-20702"/>
                  <a:pt x="1211604" y="6305"/>
                  <a:pt x="956961" y="518"/>
                </a:cubicBezTo>
                <a:cubicBezTo>
                  <a:pt x="702318" y="-5269"/>
                  <a:pt x="196890" y="37171"/>
                  <a:pt x="65710" y="139414"/>
                </a:cubicBezTo>
                <a:cubicBezTo>
                  <a:pt x="-65470" y="241657"/>
                  <a:pt x="15553" y="484725"/>
                  <a:pt x="169882" y="613976"/>
                </a:cubicBezTo>
                <a:cubicBezTo>
                  <a:pt x="324211" y="743227"/>
                  <a:pt x="698460" y="870548"/>
                  <a:pt x="991685" y="914918"/>
                </a:cubicBezTo>
                <a:cubicBezTo>
                  <a:pt x="1284910" y="959288"/>
                  <a:pt x="1691953" y="831966"/>
                  <a:pt x="1929234" y="880194"/>
                </a:cubicBezTo>
                <a:cubicBezTo>
                  <a:pt x="2166515" y="928422"/>
                  <a:pt x="2459740" y="1287237"/>
                  <a:pt x="2403796" y="1169561"/>
                </a:cubicBezTo>
                <a:close/>
              </a:path>
            </a:pathLst>
          </a:custGeom>
          <a:solidFill>
            <a:srgbClr val="FFFF00">
              <a:alpha val="9804"/>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p:cNvSpPr txBox="1"/>
          <p:nvPr/>
        </p:nvSpPr>
        <p:spPr>
          <a:xfrm>
            <a:off x="-11189662" y="1880250"/>
            <a:ext cx="2975495" cy="461665"/>
          </a:xfrm>
          <a:prstGeom prst="rect">
            <a:avLst/>
          </a:prstGeom>
          <a:noFill/>
        </p:spPr>
        <p:txBody>
          <a:bodyPr wrap="none" rtlCol="0">
            <a:spAutoFit/>
          </a:bodyPr>
          <a:lstStyle/>
          <a:p>
            <a:r>
              <a:rPr lang="en-US" sz="2400" dirty="0">
                <a:latin typeface="Helvetica" charset="0"/>
                <a:ea typeface="Helvetica" charset="0"/>
                <a:cs typeface="Helvetica" charset="0"/>
              </a:rPr>
              <a:t>Microarray/RNA-</a:t>
            </a:r>
            <a:r>
              <a:rPr lang="en-US" sz="2400" dirty="0" err="1">
                <a:latin typeface="Helvetica" charset="0"/>
                <a:ea typeface="Helvetica" charset="0"/>
                <a:cs typeface="Helvetica" charset="0"/>
              </a:rPr>
              <a:t>seq</a:t>
            </a:r>
            <a:endParaRPr lang="en-US" sz="2400" dirty="0">
              <a:latin typeface="Helvetica" charset="0"/>
              <a:ea typeface="Helvetica" charset="0"/>
              <a:cs typeface="Helvetica" charset="0"/>
            </a:endParaRPr>
          </a:p>
        </p:txBody>
      </p:sp>
      <p:sp>
        <p:nvSpPr>
          <p:cNvPr id="83" name="Freeform 82"/>
          <p:cNvSpPr/>
          <p:nvPr/>
        </p:nvSpPr>
        <p:spPr>
          <a:xfrm>
            <a:off x="1122397" y="1029839"/>
            <a:ext cx="5417758" cy="3033730"/>
          </a:xfrm>
          <a:custGeom>
            <a:avLst/>
            <a:gdLst>
              <a:gd name="connsiteX0" fmla="*/ 2118514 w 5417758"/>
              <a:gd name="connsiteY0" fmla="*/ 544318 h 3033730"/>
              <a:gd name="connsiteX1" fmla="*/ 1759699 w 5417758"/>
              <a:gd name="connsiteY1" fmla="*/ 308 h 3033730"/>
              <a:gd name="connsiteX2" fmla="*/ 1736549 w 5417758"/>
              <a:gd name="connsiteY2" fmla="*/ 625341 h 3033730"/>
              <a:gd name="connsiteX3" fmla="*/ 775850 w 5417758"/>
              <a:gd name="connsiteY3" fmla="*/ 995731 h 3033730"/>
              <a:gd name="connsiteX4" fmla="*/ 347 w 5417758"/>
              <a:gd name="connsiteY4" fmla="*/ 1076753 h 3033730"/>
              <a:gd name="connsiteX5" fmla="*/ 868448 w 5417758"/>
              <a:gd name="connsiteY5" fmla="*/ 1238799 h 3033730"/>
              <a:gd name="connsiteX6" fmla="*/ 926321 w 5417758"/>
              <a:gd name="connsiteY6" fmla="*/ 2025878 h 3033730"/>
              <a:gd name="connsiteX7" fmla="*/ 417035 w 5417758"/>
              <a:gd name="connsiteY7" fmla="*/ 2685634 h 3033730"/>
              <a:gd name="connsiteX8" fmla="*/ 1204114 w 5417758"/>
              <a:gd name="connsiteY8" fmla="*/ 2211072 h 3033730"/>
              <a:gd name="connsiteX9" fmla="*/ 1829147 w 5417758"/>
              <a:gd name="connsiteY9" fmla="*/ 2465715 h 3033730"/>
              <a:gd name="connsiteX10" fmla="*/ 2176387 w 5417758"/>
              <a:gd name="connsiteY10" fmla="*/ 3032875 h 3033730"/>
              <a:gd name="connsiteX11" fmla="*/ 2153238 w 5417758"/>
              <a:gd name="connsiteY11" fmla="*/ 2326819 h 3033730"/>
              <a:gd name="connsiteX12" fmla="*/ 2662524 w 5417758"/>
              <a:gd name="connsiteY12" fmla="*/ 2060602 h 3033730"/>
              <a:gd name="connsiteX13" fmla="*/ 3438028 w 5417758"/>
              <a:gd name="connsiteY13" fmla="*/ 2338394 h 3033730"/>
              <a:gd name="connsiteX14" fmla="*/ 2674099 w 5417758"/>
              <a:gd name="connsiteY14" fmla="*/ 1678637 h 3033730"/>
              <a:gd name="connsiteX15" fmla="*/ 4688094 w 5417758"/>
              <a:gd name="connsiteY15" fmla="*/ 1562890 h 3033730"/>
              <a:gd name="connsiteX16" fmla="*/ 5289977 w 5417758"/>
              <a:gd name="connsiteY16" fmla="*/ 1771234 h 3033730"/>
              <a:gd name="connsiteX17" fmla="*/ 4560772 w 5417758"/>
              <a:gd name="connsiteY17" fmla="*/ 1180926 h 3033730"/>
              <a:gd name="connsiteX18" fmla="*/ 5417299 w 5417758"/>
              <a:gd name="connsiteY18" fmla="*/ 995731 h 3033730"/>
              <a:gd name="connsiteX19" fmla="*/ 4421876 w 5417758"/>
              <a:gd name="connsiteY19" fmla="*/ 961007 h 3033730"/>
              <a:gd name="connsiteX20" fmla="*/ 4282980 w 5417758"/>
              <a:gd name="connsiteY20" fmla="*/ 486445 h 3033730"/>
              <a:gd name="connsiteX21" fmla="*/ 4039911 w 5417758"/>
              <a:gd name="connsiteY21" fmla="*/ 1134627 h 3033730"/>
              <a:gd name="connsiteX22" fmla="*/ 2650949 w 5417758"/>
              <a:gd name="connsiteY22" fmla="*/ 1308247 h 3033730"/>
              <a:gd name="connsiteX23" fmla="*/ 3229683 w 5417758"/>
              <a:gd name="connsiteY23" fmla="*/ 498019 h 3033730"/>
              <a:gd name="connsiteX24" fmla="*/ 2431030 w 5417758"/>
              <a:gd name="connsiteY24" fmla="*/ 741088 h 3033730"/>
              <a:gd name="connsiteX25" fmla="*/ 2118514 w 5417758"/>
              <a:gd name="connsiteY25" fmla="*/ 544318 h 303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417758" h="3033730">
                <a:moveTo>
                  <a:pt x="2118514" y="544318"/>
                </a:moveTo>
                <a:cubicBezTo>
                  <a:pt x="2006625" y="420855"/>
                  <a:pt x="1823360" y="-13196"/>
                  <a:pt x="1759699" y="308"/>
                </a:cubicBezTo>
                <a:cubicBezTo>
                  <a:pt x="1696038" y="13812"/>
                  <a:pt x="1900524" y="459437"/>
                  <a:pt x="1736549" y="625341"/>
                </a:cubicBezTo>
                <a:cubicBezTo>
                  <a:pt x="1572574" y="791245"/>
                  <a:pt x="1065217" y="920496"/>
                  <a:pt x="775850" y="995731"/>
                </a:cubicBezTo>
                <a:cubicBezTo>
                  <a:pt x="486483" y="1070966"/>
                  <a:pt x="-15086" y="1036242"/>
                  <a:pt x="347" y="1076753"/>
                </a:cubicBezTo>
                <a:cubicBezTo>
                  <a:pt x="15780" y="1117264"/>
                  <a:pt x="714119" y="1080612"/>
                  <a:pt x="868448" y="1238799"/>
                </a:cubicBezTo>
                <a:cubicBezTo>
                  <a:pt x="1022777" y="1396987"/>
                  <a:pt x="1001556" y="1784739"/>
                  <a:pt x="926321" y="2025878"/>
                </a:cubicBezTo>
                <a:cubicBezTo>
                  <a:pt x="851085" y="2267017"/>
                  <a:pt x="370736" y="2654768"/>
                  <a:pt x="417035" y="2685634"/>
                </a:cubicBezTo>
                <a:cubicBezTo>
                  <a:pt x="463334" y="2716500"/>
                  <a:pt x="968762" y="2247725"/>
                  <a:pt x="1204114" y="2211072"/>
                </a:cubicBezTo>
                <a:cubicBezTo>
                  <a:pt x="1439466" y="2174419"/>
                  <a:pt x="1667102" y="2328748"/>
                  <a:pt x="1829147" y="2465715"/>
                </a:cubicBezTo>
                <a:cubicBezTo>
                  <a:pt x="1991192" y="2602682"/>
                  <a:pt x="2122372" y="3056024"/>
                  <a:pt x="2176387" y="3032875"/>
                </a:cubicBezTo>
                <a:cubicBezTo>
                  <a:pt x="2230402" y="3009726"/>
                  <a:pt x="2072215" y="2488865"/>
                  <a:pt x="2153238" y="2326819"/>
                </a:cubicBezTo>
                <a:cubicBezTo>
                  <a:pt x="2234261" y="2164774"/>
                  <a:pt x="2448392" y="2058673"/>
                  <a:pt x="2662524" y="2060602"/>
                </a:cubicBezTo>
                <a:cubicBezTo>
                  <a:pt x="2876656" y="2062531"/>
                  <a:pt x="3436099" y="2402055"/>
                  <a:pt x="3438028" y="2338394"/>
                </a:cubicBezTo>
                <a:cubicBezTo>
                  <a:pt x="3439957" y="2274733"/>
                  <a:pt x="2465755" y="1807888"/>
                  <a:pt x="2674099" y="1678637"/>
                </a:cubicBezTo>
                <a:cubicBezTo>
                  <a:pt x="2882443" y="1549386"/>
                  <a:pt x="4252114" y="1547457"/>
                  <a:pt x="4688094" y="1562890"/>
                </a:cubicBezTo>
                <a:cubicBezTo>
                  <a:pt x="5124074" y="1578323"/>
                  <a:pt x="5311197" y="1834895"/>
                  <a:pt x="5289977" y="1771234"/>
                </a:cubicBezTo>
                <a:cubicBezTo>
                  <a:pt x="5268757" y="1707573"/>
                  <a:pt x="4539552" y="1310177"/>
                  <a:pt x="4560772" y="1180926"/>
                </a:cubicBezTo>
                <a:cubicBezTo>
                  <a:pt x="4581992" y="1051675"/>
                  <a:pt x="5440448" y="1032384"/>
                  <a:pt x="5417299" y="995731"/>
                </a:cubicBezTo>
                <a:cubicBezTo>
                  <a:pt x="5394150" y="959078"/>
                  <a:pt x="4610929" y="1045888"/>
                  <a:pt x="4421876" y="961007"/>
                </a:cubicBezTo>
                <a:cubicBezTo>
                  <a:pt x="4232823" y="876126"/>
                  <a:pt x="4346641" y="457508"/>
                  <a:pt x="4282980" y="486445"/>
                </a:cubicBezTo>
                <a:cubicBezTo>
                  <a:pt x="4219319" y="515382"/>
                  <a:pt x="4311916" y="997660"/>
                  <a:pt x="4039911" y="1134627"/>
                </a:cubicBezTo>
                <a:cubicBezTo>
                  <a:pt x="3767906" y="1271594"/>
                  <a:pt x="2785987" y="1414348"/>
                  <a:pt x="2650949" y="1308247"/>
                </a:cubicBezTo>
                <a:cubicBezTo>
                  <a:pt x="2515911" y="1202146"/>
                  <a:pt x="3266336" y="592545"/>
                  <a:pt x="3229683" y="498019"/>
                </a:cubicBezTo>
                <a:cubicBezTo>
                  <a:pt x="3193030" y="403493"/>
                  <a:pt x="2614296" y="733371"/>
                  <a:pt x="2431030" y="741088"/>
                </a:cubicBezTo>
                <a:cubicBezTo>
                  <a:pt x="2247764" y="748805"/>
                  <a:pt x="2230403" y="667781"/>
                  <a:pt x="2118514" y="544318"/>
                </a:cubicBezTo>
                <a:close/>
              </a:path>
            </a:pathLst>
          </a:custGeom>
          <a:solidFill>
            <a:srgbClr val="C55A11">
              <a:alpha val="23137"/>
            </a:srgbClr>
          </a:solidFill>
          <a:ln w="571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CFED9037-B9B3-B142-AA88-5DB836B4881D}" type="slidenum">
              <a:rPr lang="en-US" smtClean="0"/>
              <a:t>21</a:t>
            </a:fld>
            <a:endParaRPr lang="en-US"/>
          </a:p>
        </p:txBody>
      </p:sp>
      <p:sp>
        <p:nvSpPr>
          <p:cNvPr id="42" name="TextBox 41"/>
          <p:cNvSpPr txBox="1"/>
          <p:nvPr/>
        </p:nvSpPr>
        <p:spPr>
          <a:xfrm>
            <a:off x="800621" y="1067665"/>
            <a:ext cx="2051139" cy="400110"/>
          </a:xfrm>
          <a:prstGeom prst="rect">
            <a:avLst/>
          </a:prstGeom>
          <a:noFill/>
        </p:spPr>
        <p:txBody>
          <a:bodyPr wrap="none" rtlCol="0">
            <a:spAutoFit/>
          </a:bodyPr>
          <a:lstStyle/>
          <a:p>
            <a:r>
              <a:rPr lang="en-US" sz="2000" dirty="0">
                <a:latin typeface="Helvetica" charset="0"/>
                <a:ea typeface="Helvetica" charset="0"/>
                <a:cs typeface="Helvetica" charset="0"/>
              </a:rPr>
              <a:t>mRNA transcript</a:t>
            </a:r>
          </a:p>
        </p:txBody>
      </p:sp>
      <p:pic>
        <p:nvPicPr>
          <p:cNvPr id="43" name="Picture 42"/>
          <p:cNvPicPr>
            <a:picLocks noChangeAspect="1"/>
          </p:cNvPicPr>
          <p:nvPr/>
        </p:nvPicPr>
        <p:blipFill>
          <a:blip r:embed="rId3"/>
          <a:stretch>
            <a:fillRect/>
          </a:stretch>
        </p:blipFill>
        <p:spPr>
          <a:xfrm>
            <a:off x="8182162" y="2071417"/>
            <a:ext cx="3953145" cy="3530600"/>
          </a:xfrm>
          <a:prstGeom prst="rect">
            <a:avLst/>
          </a:prstGeom>
        </p:spPr>
      </p:pic>
      <p:sp>
        <p:nvSpPr>
          <p:cNvPr id="45" name="Left Arrow 44"/>
          <p:cNvSpPr/>
          <p:nvPr/>
        </p:nvSpPr>
        <p:spPr>
          <a:xfrm rot="891091">
            <a:off x="6561114" y="2576678"/>
            <a:ext cx="1407057" cy="530047"/>
          </a:xfrm>
          <a:prstGeom prst="leftArrow">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Left Arrow 45"/>
          <p:cNvSpPr/>
          <p:nvPr/>
        </p:nvSpPr>
        <p:spPr>
          <a:xfrm rot="20609817">
            <a:off x="6728803" y="4558813"/>
            <a:ext cx="1407057" cy="530047"/>
          </a:xfrm>
          <a:prstGeom prst="leftArrow">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C782FEF3-A8B4-A585-12AB-6409EFABA0A2}"/>
              </a:ext>
            </a:extLst>
          </p:cNvPr>
          <p:cNvSpPr txBox="1"/>
          <p:nvPr/>
        </p:nvSpPr>
        <p:spPr>
          <a:xfrm>
            <a:off x="4806241" y="6080840"/>
            <a:ext cx="6722481" cy="477054"/>
          </a:xfrm>
          <a:prstGeom prst="rect">
            <a:avLst/>
          </a:prstGeom>
          <a:noFill/>
        </p:spPr>
        <p:txBody>
          <a:bodyPr wrap="none" rtlCol="0">
            <a:spAutoFit/>
          </a:bodyPr>
          <a:lstStyle/>
          <a:p>
            <a:r>
              <a:rPr lang="en-US" sz="2500" dirty="0"/>
              <a:t>Gene expression = number of mRNA transcripts</a:t>
            </a:r>
          </a:p>
        </p:txBody>
      </p:sp>
    </p:spTree>
    <p:extLst>
      <p:ext uri="{BB962C8B-B14F-4D97-AF65-F5344CB8AC3E}">
        <p14:creationId xmlns:p14="http://schemas.microsoft.com/office/powerpoint/2010/main" val="8449565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TextBox 83"/>
          <p:cNvSpPr txBox="1"/>
          <p:nvPr/>
        </p:nvSpPr>
        <p:spPr>
          <a:xfrm>
            <a:off x="290002" y="134155"/>
            <a:ext cx="11144452" cy="1015663"/>
          </a:xfrm>
          <a:prstGeom prst="rect">
            <a:avLst/>
          </a:prstGeom>
          <a:noFill/>
        </p:spPr>
        <p:txBody>
          <a:bodyPr wrap="square" rtlCol="0">
            <a:spAutoFit/>
          </a:bodyPr>
          <a:lstStyle/>
          <a:p>
            <a:r>
              <a:rPr lang="en-US" sz="3000" b="1" dirty="0">
                <a:latin typeface="Helvetica" charset="0"/>
                <a:ea typeface="Helvetica" charset="0"/>
                <a:cs typeface="Helvetica" charset="0"/>
              </a:rPr>
              <a:t>Single cell </a:t>
            </a:r>
            <a:r>
              <a:rPr lang="en-US" sz="3000" dirty="0">
                <a:latin typeface="Helvetica" charset="0"/>
                <a:ea typeface="Helvetica" charset="0"/>
                <a:cs typeface="Helvetica" charset="0"/>
              </a:rPr>
              <a:t>RNA-sequencing (scRNA-seq) measures gene expression in individual cells</a:t>
            </a:r>
          </a:p>
        </p:txBody>
      </p:sp>
      <p:pic>
        <p:nvPicPr>
          <p:cNvPr id="3" name="Picture 2"/>
          <p:cNvPicPr>
            <a:picLocks noChangeAspect="1"/>
          </p:cNvPicPr>
          <p:nvPr/>
        </p:nvPicPr>
        <p:blipFill>
          <a:blip r:embed="rId3"/>
          <a:stretch>
            <a:fillRect/>
          </a:stretch>
        </p:blipFill>
        <p:spPr>
          <a:xfrm>
            <a:off x="176039" y="1947033"/>
            <a:ext cx="3909876" cy="3792914"/>
          </a:xfrm>
          <a:prstGeom prst="rect">
            <a:avLst/>
          </a:prstGeom>
        </p:spPr>
      </p:pic>
      <p:sp>
        <p:nvSpPr>
          <p:cNvPr id="143" name="TextBox 142"/>
          <p:cNvSpPr txBox="1"/>
          <p:nvPr/>
        </p:nvSpPr>
        <p:spPr>
          <a:xfrm>
            <a:off x="4955518" y="2427749"/>
            <a:ext cx="2581156" cy="400110"/>
          </a:xfrm>
          <a:prstGeom prst="rect">
            <a:avLst/>
          </a:prstGeom>
          <a:noFill/>
        </p:spPr>
        <p:txBody>
          <a:bodyPr wrap="none" rtlCol="0">
            <a:spAutoFit/>
          </a:bodyPr>
          <a:lstStyle/>
          <a:p>
            <a:r>
              <a:rPr lang="en-US" sz="2000" dirty="0">
                <a:latin typeface="Helvetica" charset="0"/>
                <a:ea typeface="Helvetica" charset="0"/>
                <a:cs typeface="Helvetica" charset="0"/>
              </a:rPr>
              <a:t>Sequencing machine</a:t>
            </a:r>
          </a:p>
        </p:txBody>
      </p:sp>
      <p:cxnSp>
        <p:nvCxnSpPr>
          <p:cNvPr id="144" name="Straight Arrow Connector 143"/>
          <p:cNvCxnSpPr>
            <a:cxnSpLocks/>
          </p:cNvCxnSpPr>
          <p:nvPr/>
        </p:nvCxnSpPr>
        <p:spPr>
          <a:xfrm flipV="1">
            <a:off x="4085915" y="3708684"/>
            <a:ext cx="1010808" cy="20716"/>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Straight Arrow Connector 146"/>
          <p:cNvCxnSpPr>
            <a:cxnSpLocks/>
          </p:cNvCxnSpPr>
          <p:nvPr/>
        </p:nvCxnSpPr>
        <p:spPr>
          <a:xfrm flipV="1">
            <a:off x="7476764" y="3682504"/>
            <a:ext cx="929513" cy="2004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921166" y="5775589"/>
            <a:ext cx="1165704" cy="553998"/>
          </a:xfrm>
          <a:prstGeom prst="rect">
            <a:avLst/>
          </a:prstGeom>
          <a:noFill/>
        </p:spPr>
        <p:txBody>
          <a:bodyPr wrap="none" rtlCol="0">
            <a:spAutoFit/>
          </a:bodyPr>
          <a:lstStyle/>
          <a:p>
            <a:r>
              <a:rPr lang="en-US" sz="3000" dirty="0">
                <a:latin typeface="Helvetica" charset="0"/>
                <a:ea typeface="Helvetica" charset="0"/>
                <a:cs typeface="Helvetica" charset="0"/>
              </a:rPr>
              <a:t>Cell 2</a:t>
            </a:r>
          </a:p>
        </p:txBody>
      </p:sp>
      <p:sp>
        <p:nvSpPr>
          <p:cNvPr id="148" name="TextBox 147"/>
          <p:cNvSpPr txBox="1"/>
          <p:nvPr/>
        </p:nvSpPr>
        <p:spPr>
          <a:xfrm>
            <a:off x="866144" y="1375214"/>
            <a:ext cx="1165704" cy="553998"/>
          </a:xfrm>
          <a:prstGeom prst="rect">
            <a:avLst/>
          </a:prstGeom>
          <a:noFill/>
        </p:spPr>
        <p:txBody>
          <a:bodyPr wrap="none" rtlCol="0">
            <a:spAutoFit/>
          </a:bodyPr>
          <a:lstStyle/>
          <a:p>
            <a:r>
              <a:rPr lang="en-US" sz="3000" dirty="0">
                <a:latin typeface="Helvetica" charset="0"/>
                <a:ea typeface="Helvetica" charset="0"/>
                <a:cs typeface="Helvetica" charset="0"/>
              </a:rPr>
              <a:t>Cell 1</a:t>
            </a:r>
          </a:p>
        </p:txBody>
      </p:sp>
      <p:sp>
        <p:nvSpPr>
          <p:cNvPr id="2" name="Slide Number Placeholder 1"/>
          <p:cNvSpPr>
            <a:spLocks noGrp="1"/>
          </p:cNvSpPr>
          <p:nvPr>
            <p:ph type="sldNum" sz="quarter" idx="12"/>
          </p:nvPr>
        </p:nvSpPr>
        <p:spPr/>
        <p:txBody>
          <a:bodyPr/>
          <a:lstStyle/>
          <a:p>
            <a:fld id="{CFED9037-B9B3-B142-AA88-5DB836B4881D}" type="slidenum">
              <a:rPr lang="en-US" smtClean="0"/>
              <a:t>22</a:t>
            </a:fld>
            <a:endParaRPr lang="en-US"/>
          </a:p>
        </p:txBody>
      </p:sp>
      <p:pic>
        <p:nvPicPr>
          <p:cNvPr id="8" name="Picture 7">
            <a:extLst>
              <a:ext uri="{FF2B5EF4-FFF2-40B4-BE49-F238E27FC236}">
                <a16:creationId xmlns:a16="http://schemas.microsoft.com/office/drawing/2014/main" id="{FC37BA5A-E879-BB5C-82DC-052536B66C80}"/>
              </a:ext>
            </a:extLst>
          </p:cNvPr>
          <p:cNvPicPr>
            <a:picLocks noChangeAspect="1"/>
          </p:cNvPicPr>
          <p:nvPr/>
        </p:nvPicPr>
        <p:blipFill>
          <a:blip r:embed="rId4"/>
          <a:stretch>
            <a:fillRect/>
          </a:stretch>
        </p:blipFill>
        <p:spPr>
          <a:xfrm>
            <a:off x="5248403" y="3004292"/>
            <a:ext cx="1995386" cy="1587660"/>
          </a:xfrm>
          <a:prstGeom prst="rect">
            <a:avLst/>
          </a:prstGeom>
        </p:spPr>
      </p:pic>
      <p:grpSp>
        <p:nvGrpSpPr>
          <p:cNvPr id="35" name="Group 34">
            <a:extLst>
              <a:ext uri="{FF2B5EF4-FFF2-40B4-BE49-F238E27FC236}">
                <a16:creationId xmlns:a16="http://schemas.microsoft.com/office/drawing/2014/main" id="{C9828166-5CCB-7A88-B150-FAF4899D6BDE}"/>
              </a:ext>
            </a:extLst>
          </p:cNvPr>
          <p:cNvGrpSpPr/>
          <p:nvPr/>
        </p:nvGrpSpPr>
        <p:grpSpPr>
          <a:xfrm>
            <a:off x="8604398" y="1574311"/>
            <a:ext cx="3720836" cy="3588636"/>
            <a:chOff x="5797052" y="1771713"/>
            <a:chExt cx="4242633" cy="3932284"/>
          </a:xfrm>
        </p:grpSpPr>
        <p:pic>
          <p:nvPicPr>
            <p:cNvPr id="14" name="Picture 13">
              <a:extLst>
                <a:ext uri="{FF2B5EF4-FFF2-40B4-BE49-F238E27FC236}">
                  <a16:creationId xmlns:a16="http://schemas.microsoft.com/office/drawing/2014/main" id="{9B5586FF-6F94-B0AE-7CE2-53F0B059CDD5}"/>
                </a:ext>
              </a:extLst>
            </p:cNvPr>
            <p:cNvPicPr>
              <a:picLocks noChangeAspect="1"/>
            </p:cNvPicPr>
            <p:nvPr/>
          </p:nvPicPr>
          <p:blipFill rotWithShape="1">
            <a:blip r:embed="rId5">
              <a:extLst>
                <a:ext uri="{28A0092B-C50C-407E-A947-70E740481C1C}">
                  <a14:useLocalDpi xmlns:a14="http://schemas.microsoft.com/office/drawing/2010/main" val="0"/>
                </a:ext>
              </a:extLst>
            </a:blip>
            <a:srcRect l="25315" t="31466" r="7379" b="36444"/>
            <a:stretch/>
          </p:blipFill>
          <p:spPr>
            <a:xfrm rot="5400000" flipH="1">
              <a:off x="5354738" y="3080514"/>
              <a:ext cx="3553019" cy="1693947"/>
            </a:xfrm>
            <a:prstGeom prst="rect">
              <a:avLst/>
            </a:prstGeom>
          </p:spPr>
        </p:pic>
        <p:sp>
          <p:nvSpPr>
            <p:cNvPr id="25" name="Rectangle 24">
              <a:extLst>
                <a:ext uri="{FF2B5EF4-FFF2-40B4-BE49-F238E27FC236}">
                  <a16:creationId xmlns:a16="http://schemas.microsoft.com/office/drawing/2014/main" id="{4D7376E2-05D0-3B93-4C54-E62AB22D3150}"/>
                </a:ext>
              </a:extLst>
            </p:cNvPr>
            <p:cNvSpPr/>
            <p:nvPr/>
          </p:nvSpPr>
          <p:spPr>
            <a:xfrm flipV="1">
              <a:off x="8400352" y="2881848"/>
              <a:ext cx="292968" cy="1927250"/>
            </a:xfrm>
            <a:prstGeom prst="rect">
              <a:avLst/>
            </a:prstGeom>
            <a:gradFill>
              <a:gsLst>
                <a:gs pos="0">
                  <a:schemeClr val="accent1">
                    <a:lumMod val="5000"/>
                    <a:lumOff val="95000"/>
                  </a:schemeClr>
                </a:gs>
                <a:gs pos="33000">
                  <a:srgbClr val="FDC794"/>
                </a:gs>
                <a:gs pos="53000">
                  <a:srgbClr val="FBC28A"/>
                </a:gs>
                <a:gs pos="100000">
                  <a:srgbClr val="C00000"/>
                </a:gs>
              </a:gsLst>
              <a:lin ang="5400000" scaled="1"/>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6BC15F21-29B1-2A91-F705-DE1E8C6EC1DA}"/>
                </a:ext>
              </a:extLst>
            </p:cNvPr>
            <p:cNvSpPr txBox="1"/>
            <p:nvPr/>
          </p:nvSpPr>
          <p:spPr>
            <a:xfrm>
              <a:off x="8626396" y="4606749"/>
              <a:ext cx="1413289" cy="404699"/>
            </a:xfrm>
            <a:prstGeom prst="rect">
              <a:avLst/>
            </a:prstGeom>
            <a:noFill/>
          </p:spPr>
          <p:txBody>
            <a:bodyPr wrap="square" rtlCol="0">
              <a:spAutoFit/>
            </a:bodyPr>
            <a:lstStyle/>
            <a:p>
              <a:r>
                <a:rPr lang="en-US" dirty="0">
                  <a:latin typeface="Helvetica" charset="0"/>
                  <a:ea typeface="Helvetica" charset="0"/>
                  <a:cs typeface="Helvetica" charset="0"/>
                </a:rPr>
                <a:t>count = 0</a:t>
              </a:r>
            </a:p>
          </p:txBody>
        </p:sp>
        <p:sp>
          <p:nvSpPr>
            <p:cNvPr id="32" name="TextBox 31">
              <a:extLst>
                <a:ext uri="{FF2B5EF4-FFF2-40B4-BE49-F238E27FC236}">
                  <a16:creationId xmlns:a16="http://schemas.microsoft.com/office/drawing/2014/main" id="{074CC456-9702-8074-0CE9-F05DD3120C9C}"/>
                </a:ext>
              </a:extLst>
            </p:cNvPr>
            <p:cNvSpPr txBox="1"/>
            <p:nvPr/>
          </p:nvSpPr>
          <p:spPr>
            <a:xfrm>
              <a:off x="6191360" y="3238425"/>
              <a:ext cx="1943252" cy="1214098"/>
            </a:xfrm>
            <a:prstGeom prst="rect">
              <a:avLst/>
            </a:prstGeom>
            <a:noFill/>
          </p:spPr>
          <p:txBody>
            <a:bodyPr wrap="square" rtlCol="0">
              <a:spAutoFit/>
            </a:bodyPr>
            <a:lstStyle/>
            <a:p>
              <a:pPr algn="ctr"/>
              <a:r>
                <a:rPr lang="en-US" sz="2200" b="1" dirty="0">
                  <a:latin typeface="Helvetica" charset="0"/>
                  <a:ea typeface="Helvetica" charset="0"/>
                  <a:cs typeface="Helvetica" charset="0"/>
                </a:rPr>
                <a:t>Transcript count matrix</a:t>
              </a:r>
            </a:p>
          </p:txBody>
        </p:sp>
        <p:sp>
          <p:nvSpPr>
            <p:cNvPr id="33" name="TextBox 32">
              <a:extLst>
                <a:ext uri="{FF2B5EF4-FFF2-40B4-BE49-F238E27FC236}">
                  <a16:creationId xmlns:a16="http://schemas.microsoft.com/office/drawing/2014/main" id="{71D403D5-4542-619E-2987-8D8E1BC4BD20}"/>
                </a:ext>
              </a:extLst>
            </p:cNvPr>
            <p:cNvSpPr txBox="1"/>
            <p:nvPr/>
          </p:nvSpPr>
          <p:spPr>
            <a:xfrm rot="16200000">
              <a:off x="5471161" y="3582257"/>
              <a:ext cx="1128835" cy="477054"/>
            </a:xfrm>
            <a:prstGeom prst="rect">
              <a:avLst/>
            </a:prstGeom>
            <a:noFill/>
          </p:spPr>
          <p:txBody>
            <a:bodyPr wrap="none" rtlCol="0">
              <a:spAutoFit/>
            </a:bodyPr>
            <a:lstStyle/>
            <a:p>
              <a:r>
                <a:rPr lang="en-US" sz="2500" dirty="0">
                  <a:latin typeface="Helvetica" charset="0"/>
                  <a:ea typeface="Helvetica" charset="0"/>
                  <a:cs typeface="Helvetica" charset="0"/>
                </a:rPr>
                <a:t>Genes</a:t>
              </a:r>
            </a:p>
          </p:txBody>
        </p:sp>
        <p:sp>
          <p:nvSpPr>
            <p:cNvPr id="34" name="TextBox 33">
              <a:extLst>
                <a:ext uri="{FF2B5EF4-FFF2-40B4-BE49-F238E27FC236}">
                  <a16:creationId xmlns:a16="http://schemas.microsoft.com/office/drawing/2014/main" id="{FDC725F5-ACBC-3C4F-AF3E-24D6EAE56DF2}"/>
                </a:ext>
              </a:extLst>
            </p:cNvPr>
            <p:cNvSpPr txBox="1"/>
            <p:nvPr/>
          </p:nvSpPr>
          <p:spPr>
            <a:xfrm>
              <a:off x="6660663" y="1771713"/>
              <a:ext cx="894797" cy="477054"/>
            </a:xfrm>
            <a:prstGeom prst="rect">
              <a:avLst/>
            </a:prstGeom>
            <a:noFill/>
          </p:spPr>
          <p:txBody>
            <a:bodyPr wrap="none" rtlCol="0">
              <a:spAutoFit/>
            </a:bodyPr>
            <a:lstStyle/>
            <a:p>
              <a:r>
                <a:rPr lang="en-US" sz="2500">
                  <a:latin typeface="Helvetica" charset="0"/>
                  <a:ea typeface="Helvetica" charset="0"/>
                  <a:cs typeface="Helvetica" charset="0"/>
                </a:rPr>
                <a:t>Cells</a:t>
              </a:r>
              <a:endParaRPr lang="en-US" sz="2500" dirty="0">
                <a:latin typeface="Helvetica" charset="0"/>
                <a:ea typeface="Helvetica" charset="0"/>
                <a:cs typeface="Helvetica" charset="0"/>
              </a:endParaRPr>
            </a:p>
          </p:txBody>
        </p:sp>
      </p:grpSp>
    </p:spTree>
    <p:extLst>
      <p:ext uri="{BB962C8B-B14F-4D97-AF65-F5344CB8AC3E}">
        <p14:creationId xmlns:p14="http://schemas.microsoft.com/office/powerpoint/2010/main" val="15203249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57DF6-F7F1-2D32-6586-FC15D63B7532}"/>
            </a:ext>
          </a:extLst>
        </p:cNvPr>
        <p:cNvGrpSpPr/>
        <p:nvPr/>
      </p:nvGrpSpPr>
      <p:grpSpPr>
        <a:xfrm>
          <a:off x="0" y="0"/>
          <a:ext cx="0" cy="0"/>
          <a:chOff x="0" y="0"/>
          <a:chExt cx="0" cy="0"/>
        </a:xfrm>
      </p:grpSpPr>
      <p:sp>
        <p:nvSpPr>
          <p:cNvPr id="84" name="TextBox 83">
            <a:extLst>
              <a:ext uri="{FF2B5EF4-FFF2-40B4-BE49-F238E27FC236}">
                <a16:creationId xmlns:a16="http://schemas.microsoft.com/office/drawing/2014/main" id="{ECBC1ED4-9CA8-5837-9217-F621A490EC50}"/>
              </a:ext>
            </a:extLst>
          </p:cNvPr>
          <p:cNvSpPr txBox="1"/>
          <p:nvPr/>
        </p:nvSpPr>
        <p:spPr>
          <a:xfrm>
            <a:off x="290002" y="134155"/>
            <a:ext cx="11144452" cy="1015663"/>
          </a:xfrm>
          <a:prstGeom prst="rect">
            <a:avLst/>
          </a:prstGeom>
          <a:noFill/>
        </p:spPr>
        <p:txBody>
          <a:bodyPr wrap="square" rtlCol="0">
            <a:spAutoFit/>
          </a:bodyPr>
          <a:lstStyle/>
          <a:p>
            <a:r>
              <a:rPr lang="en-US" sz="3000" b="1" dirty="0">
                <a:latin typeface="Helvetica" charset="0"/>
                <a:ea typeface="Helvetica" charset="0"/>
                <a:cs typeface="Helvetica" charset="0"/>
              </a:rPr>
              <a:t>Single cell </a:t>
            </a:r>
            <a:r>
              <a:rPr lang="en-US" sz="3000" dirty="0">
                <a:latin typeface="Helvetica" charset="0"/>
                <a:ea typeface="Helvetica" charset="0"/>
                <a:cs typeface="Helvetica" charset="0"/>
              </a:rPr>
              <a:t>RNA-sequencing (scRNA-seq) measures gene expression in individual cells</a:t>
            </a:r>
          </a:p>
        </p:txBody>
      </p:sp>
      <p:pic>
        <p:nvPicPr>
          <p:cNvPr id="3" name="Picture 2">
            <a:extLst>
              <a:ext uri="{FF2B5EF4-FFF2-40B4-BE49-F238E27FC236}">
                <a16:creationId xmlns:a16="http://schemas.microsoft.com/office/drawing/2014/main" id="{1DFA8713-2385-4262-5265-3D0DFBF7FCC2}"/>
              </a:ext>
            </a:extLst>
          </p:cNvPr>
          <p:cNvPicPr>
            <a:picLocks noChangeAspect="1"/>
          </p:cNvPicPr>
          <p:nvPr/>
        </p:nvPicPr>
        <p:blipFill>
          <a:blip r:embed="rId3"/>
          <a:stretch>
            <a:fillRect/>
          </a:stretch>
        </p:blipFill>
        <p:spPr>
          <a:xfrm>
            <a:off x="176039" y="1947033"/>
            <a:ext cx="3909876" cy="3792914"/>
          </a:xfrm>
          <a:prstGeom prst="rect">
            <a:avLst/>
          </a:prstGeom>
        </p:spPr>
      </p:pic>
      <p:sp>
        <p:nvSpPr>
          <p:cNvPr id="143" name="TextBox 142">
            <a:extLst>
              <a:ext uri="{FF2B5EF4-FFF2-40B4-BE49-F238E27FC236}">
                <a16:creationId xmlns:a16="http://schemas.microsoft.com/office/drawing/2014/main" id="{493E93B8-E7AA-D361-8910-20947433EFB1}"/>
              </a:ext>
            </a:extLst>
          </p:cNvPr>
          <p:cNvSpPr txBox="1"/>
          <p:nvPr/>
        </p:nvSpPr>
        <p:spPr>
          <a:xfrm>
            <a:off x="4955518" y="2427749"/>
            <a:ext cx="2581156" cy="400110"/>
          </a:xfrm>
          <a:prstGeom prst="rect">
            <a:avLst/>
          </a:prstGeom>
          <a:noFill/>
        </p:spPr>
        <p:txBody>
          <a:bodyPr wrap="none" rtlCol="0">
            <a:spAutoFit/>
          </a:bodyPr>
          <a:lstStyle/>
          <a:p>
            <a:r>
              <a:rPr lang="en-US" sz="2000" dirty="0">
                <a:latin typeface="Helvetica" charset="0"/>
                <a:ea typeface="Helvetica" charset="0"/>
                <a:cs typeface="Helvetica" charset="0"/>
              </a:rPr>
              <a:t>Sequencing machine</a:t>
            </a:r>
          </a:p>
        </p:txBody>
      </p:sp>
      <p:cxnSp>
        <p:nvCxnSpPr>
          <p:cNvPr id="144" name="Straight Arrow Connector 143">
            <a:extLst>
              <a:ext uri="{FF2B5EF4-FFF2-40B4-BE49-F238E27FC236}">
                <a16:creationId xmlns:a16="http://schemas.microsoft.com/office/drawing/2014/main" id="{EC8C2655-CACD-DC57-335D-F81B58F597C8}"/>
              </a:ext>
            </a:extLst>
          </p:cNvPr>
          <p:cNvCxnSpPr>
            <a:cxnSpLocks/>
          </p:cNvCxnSpPr>
          <p:nvPr/>
        </p:nvCxnSpPr>
        <p:spPr>
          <a:xfrm flipV="1">
            <a:off x="4085915" y="3708684"/>
            <a:ext cx="1010808" cy="20716"/>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AF9CD24F-A3EF-1C9F-CCC6-9C1626CCB09C}"/>
              </a:ext>
            </a:extLst>
          </p:cNvPr>
          <p:cNvCxnSpPr>
            <a:cxnSpLocks/>
          </p:cNvCxnSpPr>
          <p:nvPr/>
        </p:nvCxnSpPr>
        <p:spPr>
          <a:xfrm flipV="1">
            <a:off x="7476764" y="3682504"/>
            <a:ext cx="929513" cy="2004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FF7585E-BCB3-1936-F595-2183DC573A52}"/>
              </a:ext>
            </a:extLst>
          </p:cNvPr>
          <p:cNvSpPr txBox="1"/>
          <p:nvPr/>
        </p:nvSpPr>
        <p:spPr>
          <a:xfrm>
            <a:off x="921166" y="5775589"/>
            <a:ext cx="1165704" cy="553998"/>
          </a:xfrm>
          <a:prstGeom prst="rect">
            <a:avLst/>
          </a:prstGeom>
          <a:noFill/>
        </p:spPr>
        <p:txBody>
          <a:bodyPr wrap="none" rtlCol="0">
            <a:spAutoFit/>
          </a:bodyPr>
          <a:lstStyle/>
          <a:p>
            <a:r>
              <a:rPr lang="en-US" sz="3000" dirty="0">
                <a:latin typeface="Helvetica" charset="0"/>
                <a:ea typeface="Helvetica" charset="0"/>
                <a:cs typeface="Helvetica" charset="0"/>
              </a:rPr>
              <a:t>Cell 2</a:t>
            </a:r>
          </a:p>
        </p:txBody>
      </p:sp>
      <p:sp>
        <p:nvSpPr>
          <p:cNvPr id="148" name="TextBox 147">
            <a:extLst>
              <a:ext uri="{FF2B5EF4-FFF2-40B4-BE49-F238E27FC236}">
                <a16:creationId xmlns:a16="http://schemas.microsoft.com/office/drawing/2014/main" id="{1AB9EDCA-FB16-15D2-92FA-12BA8571175F}"/>
              </a:ext>
            </a:extLst>
          </p:cNvPr>
          <p:cNvSpPr txBox="1"/>
          <p:nvPr/>
        </p:nvSpPr>
        <p:spPr>
          <a:xfrm>
            <a:off x="866144" y="1375214"/>
            <a:ext cx="1165704" cy="553998"/>
          </a:xfrm>
          <a:prstGeom prst="rect">
            <a:avLst/>
          </a:prstGeom>
          <a:noFill/>
        </p:spPr>
        <p:txBody>
          <a:bodyPr wrap="none" rtlCol="0">
            <a:spAutoFit/>
          </a:bodyPr>
          <a:lstStyle/>
          <a:p>
            <a:r>
              <a:rPr lang="en-US" sz="3000" dirty="0">
                <a:latin typeface="Helvetica" charset="0"/>
                <a:ea typeface="Helvetica" charset="0"/>
                <a:cs typeface="Helvetica" charset="0"/>
              </a:rPr>
              <a:t>Cell 1</a:t>
            </a:r>
          </a:p>
        </p:txBody>
      </p:sp>
      <p:sp>
        <p:nvSpPr>
          <p:cNvPr id="2" name="Slide Number Placeholder 1">
            <a:extLst>
              <a:ext uri="{FF2B5EF4-FFF2-40B4-BE49-F238E27FC236}">
                <a16:creationId xmlns:a16="http://schemas.microsoft.com/office/drawing/2014/main" id="{60BA5291-2CC5-1F1F-6A11-74893A52C9B0}"/>
              </a:ext>
            </a:extLst>
          </p:cNvPr>
          <p:cNvSpPr>
            <a:spLocks noGrp="1"/>
          </p:cNvSpPr>
          <p:nvPr>
            <p:ph type="sldNum" sz="quarter" idx="12"/>
          </p:nvPr>
        </p:nvSpPr>
        <p:spPr/>
        <p:txBody>
          <a:bodyPr/>
          <a:lstStyle/>
          <a:p>
            <a:fld id="{CFED9037-B9B3-B142-AA88-5DB836B4881D}" type="slidenum">
              <a:rPr lang="en-US" smtClean="0"/>
              <a:t>23</a:t>
            </a:fld>
            <a:endParaRPr lang="en-US"/>
          </a:p>
        </p:txBody>
      </p:sp>
      <p:pic>
        <p:nvPicPr>
          <p:cNvPr id="8" name="Picture 7">
            <a:extLst>
              <a:ext uri="{FF2B5EF4-FFF2-40B4-BE49-F238E27FC236}">
                <a16:creationId xmlns:a16="http://schemas.microsoft.com/office/drawing/2014/main" id="{98117A39-1E18-CB86-8E6A-1900818D1A64}"/>
              </a:ext>
            </a:extLst>
          </p:cNvPr>
          <p:cNvPicPr>
            <a:picLocks noChangeAspect="1"/>
          </p:cNvPicPr>
          <p:nvPr/>
        </p:nvPicPr>
        <p:blipFill>
          <a:blip r:embed="rId4"/>
          <a:stretch>
            <a:fillRect/>
          </a:stretch>
        </p:blipFill>
        <p:spPr>
          <a:xfrm>
            <a:off x="5248403" y="3004292"/>
            <a:ext cx="1995386" cy="1587660"/>
          </a:xfrm>
          <a:prstGeom prst="rect">
            <a:avLst/>
          </a:prstGeom>
        </p:spPr>
      </p:pic>
      <p:grpSp>
        <p:nvGrpSpPr>
          <p:cNvPr id="35" name="Group 34">
            <a:extLst>
              <a:ext uri="{FF2B5EF4-FFF2-40B4-BE49-F238E27FC236}">
                <a16:creationId xmlns:a16="http://schemas.microsoft.com/office/drawing/2014/main" id="{0155813E-6195-0E64-B400-697FEAEDA753}"/>
              </a:ext>
            </a:extLst>
          </p:cNvPr>
          <p:cNvGrpSpPr/>
          <p:nvPr/>
        </p:nvGrpSpPr>
        <p:grpSpPr>
          <a:xfrm>
            <a:off x="7882649" y="1574311"/>
            <a:ext cx="4728009" cy="4478277"/>
            <a:chOff x="4974089" y="1771713"/>
            <a:chExt cx="5391050" cy="4907117"/>
          </a:xfrm>
        </p:grpSpPr>
        <p:pic>
          <p:nvPicPr>
            <p:cNvPr id="14" name="Picture 13">
              <a:extLst>
                <a:ext uri="{FF2B5EF4-FFF2-40B4-BE49-F238E27FC236}">
                  <a16:creationId xmlns:a16="http://schemas.microsoft.com/office/drawing/2014/main" id="{1A131E13-BC98-758F-3D09-544A4B1C53C5}"/>
                </a:ext>
              </a:extLst>
            </p:cNvPr>
            <p:cNvPicPr>
              <a:picLocks noChangeAspect="1"/>
            </p:cNvPicPr>
            <p:nvPr/>
          </p:nvPicPr>
          <p:blipFill rotWithShape="1">
            <a:blip r:embed="rId5">
              <a:extLst>
                <a:ext uri="{28A0092B-C50C-407E-A947-70E740481C1C}">
                  <a14:useLocalDpi xmlns:a14="http://schemas.microsoft.com/office/drawing/2010/main" val="0"/>
                </a:ext>
              </a:extLst>
            </a:blip>
            <a:srcRect l="25315" t="31466" r="7379" b="36444"/>
            <a:stretch/>
          </p:blipFill>
          <p:spPr>
            <a:xfrm rot="5400000" flipH="1">
              <a:off x="5354738" y="3080514"/>
              <a:ext cx="3553019" cy="1693947"/>
            </a:xfrm>
            <a:prstGeom prst="rect">
              <a:avLst/>
            </a:prstGeom>
          </p:spPr>
        </p:pic>
        <p:sp>
          <p:nvSpPr>
            <p:cNvPr id="15" name="Freeform 14">
              <a:extLst>
                <a:ext uri="{FF2B5EF4-FFF2-40B4-BE49-F238E27FC236}">
                  <a16:creationId xmlns:a16="http://schemas.microsoft.com/office/drawing/2014/main" id="{4816FFF8-3FF1-401C-4C7C-684B967E12C9}"/>
                </a:ext>
              </a:extLst>
            </p:cNvPr>
            <p:cNvSpPr/>
            <p:nvPr/>
          </p:nvSpPr>
          <p:spPr>
            <a:xfrm>
              <a:off x="5904270" y="5935037"/>
              <a:ext cx="1198199" cy="735946"/>
            </a:xfrm>
            <a:custGeom>
              <a:avLst/>
              <a:gdLst>
                <a:gd name="connsiteX0" fmla="*/ 2118514 w 5417758"/>
                <a:gd name="connsiteY0" fmla="*/ 544318 h 3033730"/>
                <a:gd name="connsiteX1" fmla="*/ 1759699 w 5417758"/>
                <a:gd name="connsiteY1" fmla="*/ 308 h 3033730"/>
                <a:gd name="connsiteX2" fmla="*/ 1736549 w 5417758"/>
                <a:gd name="connsiteY2" fmla="*/ 625341 h 3033730"/>
                <a:gd name="connsiteX3" fmla="*/ 775850 w 5417758"/>
                <a:gd name="connsiteY3" fmla="*/ 995731 h 3033730"/>
                <a:gd name="connsiteX4" fmla="*/ 347 w 5417758"/>
                <a:gd name="connsiteY4" fmla="*/ 1076753 h 3033730"/>
                <a:gd name="connsiteX5" fmla="*/ 868448 w 5417758"/>
                <a:gd name="connsiteY5" fmla="*/ 1238799 h 3033730"/>
                <a:gd name="connsiteX6" fmla="*/ 926321 w 5417758"/>
                <a:gd name="connsiteY6" fmla="*/ 2025878 h 3033730"/>
                <a:gd name="connsiteX7" fmla="*/ 417035 w 5417758"/>
                <a:gd name="connsiteY7" fmla="*/ 2685634 h 3033730"/>
                <a:gd name="connsiteX8" fmla="*/ 1204114 w 5417758"/>
                <a:gd name="connsiteY8" fmla="*/ 2211072 h 3033730"/>
                <a:gd name="connsiteX9" fmla="*/ 1829147 w 5417758"/>
                <a:gd name="connsiteY9" fmla="*/ 2465715 h 3033730"/>
                <a:gd name="connsiteX10" fmla="*/ 2176387 w 5417758"/>
                <a:gd name="connsiteY10" fmla="*/ 3032875 h 3033730"/>
                <a:gd name="connsiteX11" fmla="*/ 2153238 w 5417758"/>
                <a:gd name="connsiteY11" fmla="*/ 2326819 h 3033730"/>
                <a:gd name="connsiteX12" fmla="*/ 2662524 w 5417758"/>
                <a:gd name="connsiteY12" fmla="*/ 2060602 h 3033730"/>
                <a:gd name="connsiteX13" fmla="*/ 3438028 w 5417758"/>
                <a:gd name="connsiteY13" fmla="*/ 2338394 h 3033730"/>
                <a:gd name="connsiteX14" fmla="*/ 2674099 w 5417758"/>
                <a:gd name="connsiteY14" fmla="*/ 1678637 h 3033730"/>
                <a:gd name="connsiteX15" fmla="*/ 4688094 w 5417758"/>
                <a:gd name="connsiteY15" fmla="*/ 1562890 h 3033730"/>
                <a:gd name="connsiteX16" fmla="*/ 5289977 w 5417758"/>
                <a:gd name="connsiteY16" fmla="*/ 1771234 h 3033730"/>
                <a:gd name="connsiteX17" fmla="*/ 4560772 w 5417758"/>
                <a:gd name="connsiteY17" fmla="*/ 1180926 h 3033730"/>
                <a:gd name="connsiteX18" fmla="*/ 5417299 w 5417758"/>
                <a:gd name="connsiteY18" fmla="*/ 995731 h 3033730"/>
                <a:gd name="connsiteX19" fmla="*/ 4421876 w 5417758"/>
                <a:gd name="connsiteY19" fmla="*/ 961007 h 3033730"/>
                <a:gd name="connsiteX20" fmla="*/ 4282980 w 5417758"/>
                <a:gd name="connsiteY20" fmla="*/ 486445 h 3033730"/>
                <a:gd name="connsiteX21" fmla="*/ 4039911 w 5417758"/>
                <a:gd name="connsiteY21" fmla="*/ 1134627 h 3033730"/>
                <a:gd name="connsiteX22" fmla="*/ 2650949 w 5417758"/>
                <a:gd name="connsiteY22" fmla="*/ 1308247 h 3033730"/>
                <a:gd name="connsiteX23" fmla="*/ 3229683 w 5417758"/>
                <a:gd name="connsiteY23" fmla="*/ 498019 h 3033730"/>
                <a:gd name="connsiteX24" fmla="*/ 2431030 w 5417758"/>
                <a:gd name="connsiteY24" fmla="*/ 741088 h 3033730"/>
                <a:gd name="connsiteX25" fmla="*/ 2118514 w 5417758"/>
                <a:gd name="connsiteY25" fmla="*/ 544318 h 303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417758" h="3033730">
                  <a:moveTo>
                    <a:pt x="2118514" y="544318"/>
                  </a:moveTo>
                  <a:cubicBezTo>
                    <a:pt x="2006625" y="420855"/>
                    <a:pt x="1823360" y="-13196"/>
                    <a:pt x="1759699" y="308"/>
                  </a:cubicBezTo>
                  <a:cubicBezTo>
                    <a:pt x="1696038" y="13812"/>
                    <a:pt x="1900524" y="459437"/>
                    <a:pt x="1736549" y="625341"/>
                  </a:cubicBezTo>
                  <a:cubicBezTo>
                    <a:pt x="1572574" y="791245"/>
                    <a:pt x="1065217" y="920496"/>
                    <a:pt x="775850" y="995731"/>
                  </a:cubicBezTo>
                  <a:cubicBezTo>
                    <a:pt x="486483" y="1070966"/>
                    <a:pt x="-15086" y="1036242"/>
                    <a:pt x="347" y="1076753"/>
                  </a:cubicBezTo>
                  <a:cubicBezTo>
                    <a:pt x="15780" y="1117264"/>
                    <a:pt x="714119" y="1080612"/>
                    <a:pt x="868448" y="1238799"/>
                  </a:cubicBezTo>
                  <a:cubicBezTo>
                    <a:pt x="1022777" y="1396987"/>
                    <a:pt x="1001556" y="1784739"/>
                    <a:pt x="926321" y="2025878"/>
                  </a:cubicBezTo>
                  <a:cubicBezTo>
                    <a:pt x="851085" y="2267017"/>
                    <a:pt x="370736" y="2654768"/>
                    <a:pt x="417035" y="2685634"/>
                  </a:cubicBezTo>
                  <a:cubicBezTo>
                    <a:pt x="463334" y="2716500"/>
                    <a:pt x="968762" y="2247725"/>
                    <a:pt x="1204114" y="2211072"/>
                  </a:cubicBezTo>
                  <a:cubicBezTo>
                    <a:pt x="1439466" y="2174419"/>
                    <a:pt x="1667102" y="2328748"/>
                    <a:pt x="1829147" y="2465715"/>
                  </a:cubicBezTo>
                  <a:cubicBezTo>
                    <a:pt x="1991192" y="2602682"/>
                    <a:pt x="2122372" y="3056024"/>
                    <a:pt x="2176387" y="3032875"/>
                  </a:cubicBezTo>
                  <a:cubicBezTo>
                    <a:pt x="2230402" y="3009726"/>
                    <a:pt x="2072215" y="2488865"/>
                    <a:pt x="2153238" y="2326819"/>
                  </a:cubicBezTo>
                  <a:cubicBezTo>
                    <a:pt x="2234261" y="2164774"/>
                    <a:pt x="2448392" y="2058673"/>
                    <a:pt x="2662524" y="2060602"/>
                  </a:cubicBezTo>
                  <a:cubicBezTo>
                    <a:pt x="2876656" y="2062531"/>
                    <a:pt x="3436099" y="2402055"/>
                    <a:pt x="3438028" y="2338394"/>
                  </a:cubicBezTo>
                  <a:cubicBezTo>
                    <a:pt x="3439957" y="2274733"/>
                    <a:pt x="2465755" y="1807888"/>
                    <a:pt x="2674099" y="1678637"/>
                  </a:cubicBezTo>
                  <a:cubicBezTo>
                    <a:pt x="2882443" y="1549386"/>
                    <a:pt x="4252114" y="1547457"/>
                    <a:pt x="4688094" y="1562890"/>
                  </a:cubicBezTo>
                  <a:cubicBezTo>
                    <a:pt x="5124074" y="1578323"/>
                    <a:pt x="5311197" y="1834895"/>
                    <a:pt x="5289977" y="1771234"/>
                  </a:cubicBezTo>
                  <a:cubicBezTo>
                    <a:pt x="5268757" y="1707573"/>
                    <a:pt x="4539552" y="1310177"/>
                    <a:pt x="4560772" y="1180926"/>
                  </a:cubicBezTo>
                  <a:cubicBezTo>
                    <a:pt x="4581992" y="1051675"/>
                    <a:pt x="5440448" y="1032384"/>
                    <a:pt x="5417299" y="995731"/>
                  </a:cubicBezTo>
                  <a:cubicBezTo>
                    <a:pt x="5394150" y="959078"/>
                    <a:pt x="4610929" y="1045888"/>
                    <a:pt x="4421876" y="961007"/>
                  </a:cubicBezTo>
                  <a:cubicBezTo>
                    <a:pt x="4232823" y="876126"/>
                    <a:pt x="4346641" y="457508"/>
                    <a:pt x="4282980" y="486445"/>
                  </a:cubicBezTo>
                  <a:cubicBezTo>
                    <a:pt x="4219319" y="515382"/>
                    <a:pt x="4311916" y="997660"/>
                    <a:pt x="4039911" y="1134627"/>
                  </a:cubicBezTo>
                  <a:cubicBezTo>
                    <a:pt x="3767906" y="1271594"/>
                    <a:pt x="2785987" y="1414348"/>
                    <a:pt x="2650949" y="1308247"/>
                  </a:cubicBezTo>
                  <a:cubicBezTo>
                    <a:pt x="2515911" y="1202146"/>
                    <a:pt x="3266336" y="592545"/>
                    <a:pt x="3229683" y="498019"/>
                  </a:cubicBezTo>
                  <a:cubicBezTo>
                    <a:pt x="3193030" y="403493"/>
                    <a:pt x="2614296" y="733371"/>
                    <a:pt x="2431030" y="741088"/>
                  </a:cubicBezTo>
                  <a:cubicBezTo>
                    <a:pt x="2247764" y="748805"/>
                    <a:pt x="2230403" y="667781"/>
                    <a:pt x="2118514" y="544318"/>
                  </a:cubicBezTo>
                  <a:close/>
                </a:path>
              </a:pathLst>
            </a:custGeom>
            <a:solidFill>
              <a:srgbClr val="C55A11">
                <a:alpha val="23137"/>
              </a:srgbClr>
            </a:solidFill>
            <a:ln w="28575">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a:extLst>
                <a:ext uri="{FF2B5EF4-FFF2-40B4-BE49-F238E27FC236}">
                  <a16:creationId xmlns:a16="http://schemas.microsoft.com/office/drawing/2014/main" id="{C3F416F7-3B52-4069-9F56-F5590B78BE23}"/>
                </a:ext>
              </a:extLst>
            </p:cNvPr>
            <p:cNvSpPr/>
            <p:nvPr/>
          </p:nvSpPr>
          <p:spPr>
            <a:xfrm>
              <a:off x="7162987" y="6015971"/>
              <a:ext cx="739644" cy="662859"/>
            </a:xfrm>
            <a:custGeom>
              <a:avLst/>
              <a:gdLst>
                <a:gd name="connsiteX0" fmla="*/ 2056291 w 5883299"/>
                <a:gd name="connsiteY0" fmla="*/ 67320 h 4093556"/>
                <a:gd name="connsiteX1" fmla="*/ 5112007 w 5883299"/>
                <a:gd name="connsiteY1" fmla="*/ 21022 h 4093556"/>
                <a:gd name="connsiteX2" fmla="*/ 4973111 w 5883299"/>
                <a:gd name="connsiteY2" fmla="*/ 449285 h 4093556"/>
                <a:gd name="connsiteX3" fmla="*/ 3977688 w 5883299"/>
                <a:gd name="connsiteY3" fmla="*/ 460860 h 4093556"/>
                <a:gd name="connsiteX4" fmla="*/ 3954539 w 5883299"/>
                <a:gd name="connsiteY4" fmla="*/ 958571 h 4093556"/>
                <a:gd name="connsiteX5" fmla="*/ 5181455 w 5883299"/>
                <a:gd name="connsiteY5" fmla="*/ 1791948 h 4093556"/>
                <a:gd name="connsiteX6" fmla="*/ 4892088 w 5883299"/>
                <a:gd name="connsiteY6" fmla="*/ 3076738 h 4093556"/>
                <a:gd name="connsiteX7" fmla="*/ 3885091 w 5883299"/>
                <a:gd name="connsiteY7" fmla="*/ 3169336 h 4093556"/>
                <a:gd name="connsiteX8" fmla="*/ 3873516 w 5883299"/>
                <a:gd name="connsiteY8" fmla="*/ 3458703 h 4093556"/>
                <a:gd name="connsiteX9" fmla="*/ 5355075 w 5883299"/>
                <a:gd name="connsiteY9" fmla="*/ 3493427 h 4093556"/>
                <a:gd name="connsiteX10" fmla="*/ 5505546 w 5883299"/>
                <a:gd name="connsiteY10" fmla="*/ 4037437 h 4093556"/>
                <a:gd name="connsiteX11" fmla="*/ 551582 w 5883299"/>
                <a:gd name="connsiteY11" fmla="*/ 3991138 h 4093556"/>
                <a:gd name="connsiteX12" fmla="*/ 354812 w 5883299"/>
                <a:gd name="connsiteY12" fmla="*/ 3285082 h 4093556"/>
                <a:gd name="connsiteX13" fmla="*/ 2635025 w 5883299"/>
                <a:gd name="connsiteY13" fmla="*/ 3308232 h 4093556"/>
                <a:gd name="connsiteX14" fmla="*/ 2704473 w 5883299"/>
                <a:gd name="connsiteY14" fmla="*/ 3088313 h 4093556"/>
                <a:gd name="connsiteX15" fmla="*/ 1234488 w 5883299"/>
                <a:gd name="connsiteY15" fmla="*/ 2856819 h 4093556"/>
                <a:gd name="connsiteX16" fmla="*/ 1095592 w 5883299"/>
                <a:gd name="connsiteY16" fmla="*/ 1363685 h 4093556"/>
                <a:gd name="connsiteX17" fmla="*/ 2172037 w 5883299"/>
                <a:gd name="connsiteY17" fmla="*/ 900698 h 4093556"/>
                <a:gd name="connsiteX18" fmla="*/ 3317931 w 5883299"/>
                <a:gd name="connsiteY18" fmla="*/ 854399 h 4093556"/>
                <a:gd name="connsiteX19" fmla="*/ 3213759 w 5883299"/>
                <a:gd name="connsiteY19" fmla="*/ 426136 h 4093556"/>
                <a:gd name="connsiteX20" fmla="*/ 1257637 w 5883299"/>
                <a:gd name="connsiteY20" fmla="*/ 472434 h 4093556"/>
                <a:gd name="connsiteX21" fmla="*/ 1246063 w 5883299"/>
                <a:gd name="connsiteY21" fmla="*/ 78895 h 4093556"/>
                <a:gd name="connsiteX22" fmla="*/ 2056291 w 5883299"/>
                <a:gd name="connsiteY22" fmla="*/ 67320 h 409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883299" h="4093556">
                  <a:moveTo>
                    <a:pt x="2056291" y="67320"/>
                  </a:moveTo>
                  <a:cubicBezTo>
                    <a:pt x="2700615" y="57675"/>
                    <a:pt x="4625870" y="-42639"/>
                    <a:pt x="5112007" y="21022"/>
                  </a:cubicBezTo>
                  <a:cubicBezTo>
                    <a:pt x="5598144" y="84683"/>
                    <a:pt x="5162164" y="375979"/>
                    <a:pt x="4973111" y="449285"/>
                  </a:cubicBezTo>
                  <a:cubicBezTo>
                    <a:pt x="4784058" y="522591"/>
                    <a:pt x="4147450" y="375979"/>
                    <a:pt x="3977688" y="460860"/>
                  </a:cubicBezTo>
                  <a:cubicBezTo>
                    <a:pt x="3807926" y="545741"/>
                    <a:pt x="3753911" y="736723"/>
                    <a:pt x="3954539" y="958571"/>
                  </a:cubicBezTo>
                  <a:cubicBezTo>
                    <a:pt x="4155167" y="1180419"/>
                    <a:pt x="5025197" y="1438920"/>
                    <a:pt x="5181455" y="1791948"/>
                  </a:cubicBezTo>
                  <a:cubicBezTo>
                    <a:pt x="5337713" y="2144976"/>
                    <a:pt x="5108149" y="2847173"/>
                    <a:pt x="4892088" y="3076738"/>
                  </a:cubicBezTo>
                  <a:cubicBezTo>
                    <a:pt x="4676027" y="3306303"/>
                    <a:pt x="4054853" y="3105675"/>
                    <a:pt x="3885091" y="3169336"/>
                  </a:cubicBezTo>
                  <a:cubicBezTo>
                    <a:pt x="3715329" y="3232997"/>
                    <a:pt x="3628519" y="3404688"/>
                    <a:pt x="3873516" y="3458703"/>
                  </a:cubicBezTo>
                  <a:cubicBezTo>
                    <a:pt x="4118513" y="3512718"/>
                    <a:pt x="5083070" y="3396971"/>
                    <a:pt x="5355075" y="3493427"/>
                  </a:cubicBezTo>
                  <a:cubicBezTo>
                    <a:pt x="5627080" y="3589883"/>
                    <a:pt x="6306128" y="3954485"/>
                    <a:pt x="5505546" y="4037437"/>
                  </a:cubicBezTo>
                  <a:cubicBezTo>
                    <a:pt x="4704964" y="4120389"/>
                    <a:pt x="1410038" y="4116530"/>
                    <a:pt x="551582" y="3991138"/>
                  </a:cubicBezTo>
                  <a:cubicBezTo>
                    <a:pt x="-306874" y="3865746"/>
                    <a:pt x="7571" y="3398900"/>
                    <a:pt x="354812" y="3285082"/>
                  </a:cubicBezTo>
                  <a:cubicBezTo>
                    <a:pt x="702053" y="3171264"/>
                    <a:pt x="2243415" y="3341027"/>
                    <a:pt x="2635025" y="3308232"/>
                  </a:cubicBezTo>
                  <a:cubicBezTo>
                    <a:pt x="3026635" y="3275437"/>
                    <a:pt x="2937896" y="3163549"/>
                    <a:pt x="2704473" y="3088313"/>
                  </a:cubicBezTo>
                  <a:cubicBezTo>
                    <a:pt x="2471050" y="3013077"/>
                    <a:pt x="1502635" y="3144257"/>
                    <a:pt x="1234488" y="2856819"/>
                  </a:cubicBezTo>
                  <a:cubicBezTo>
                    <a:pt x="966341" y="2569381"/>
                    <a:pt x="939334" y="1689705"/>
                    <a:pt x="1095592" y="1363685"/>
                  </a:cubicBezTo>
                  <a:cubicBezTo>
                    <a:pt x="1251850" y="1037665"/>
                    <a:pt x="1801647" y="985579"/>
                    <a:pt x="2172037" y="900698"/>
                  </a:cubicBezTo>
                  <a:cubicBezTo>
                    <a:pt x="2542427" y="815817"/>
                    <a:pt x="3144311" y="933493"/>
                    <a:pt x="3317931" y="854399"/>
                  </a:cubicBezTo>
                  <a:cubicBezTo>
                    <a:pt x="3491551" y="775305"/>
                    <a:pt x="3557141" y="489797"/>
                    <a:pt x="3213759" y="426136"/>
                  </a:cubicBezTo>
                  <a:cubicBezTo>
                    <a:pt x="2870377" y="362475"/>
                    <a:pt x="1585586" y="530307"/>
                    <a:pt x="1257637" y="472434"/>
                  </a:cubicBezTo>
                  <a:cubicBezTo>
                    <a:pt x="929688" y="414561"/>
                    <a:pt x="1109096" y="146414"/>
                    <a:pt x="1246063" y="78895"/>
                  </a:cubicBezTo>
                  <a:cubicBezTo>
                    <a:pt x="1383030" y="11376"/>
                    <a:pt x="1411967" y="76965"/>
                    <a:pt x="2056291" y="67320"/>
                  </a:cubicBezTo>
                  <a:close/>
                </a:path>
              </a:pathLst>
            </a:custGeom>
            <a:solidFill>
              <a:schemeClr val="accent6">
                <a:lumMod val="20000"/>
                <a:lumOff val="80000"/>
              </a:schemeClr>
            </a:solidFill>
            <a:ln w="2857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0CA4990-0D34-9DE2-0295-1103CEDA8E18}"/>
                </a:ext>
              </a:extLst>
            </p:cNvPr>
            <p:cNvSpPr txBox="1"/>
            <p:nvPr/>
          </p:nvSpPr>
          <p:spPr>
            <a:xfrm>
              <a:off x="8113002" y="6015971"/>
              <a:ext cx="1872629" cy="492443"/>
            </a:xfrm>
            <a:prstGeom prst="rect">
              <a:avLst/>
            </a:prstGeom>
            <a:noFill/>
          </p:spPr>
          <p:txBody>
            <a:bodyPr wrap="none" rtlCol="0">
              <a:spAutoFit/>
            </a:bodyPr>
            <a:lstStyle/>
            <a:p>
              <a:r>
                <a:rPr lang="en-US" sz="2600" b="1" dirty="0">
                  <a:latin typeface="Helvetica" charset="0"/>
                  <a:ea typeface="Helvetica" charset="0"/>
                  <a:cs typeface="Helvetica" charset="0"/>
                </a:rPr>
                <a:t>Cell types!</a:t>
              </a:r>
            </a:p>
          </p:txBody>
        </p:sp>
        <p:sp>
          <p:nvSpPr>
            <p:cNvPr id="18" name="Left Brace 17">
              <a:extLst>
                <a:ext uri="{FF2B5EF4-FFF2-40B4-BE49-F238E27FC236}">
                  <a16:creationId xmlns:a16="http://schemas.microsoft.com/office/drawing/2014/main" id="{489A56C3-2F61-53FB-6EF4-9DEB0B370B7A}"/>
                </a:ext>
              </a:extLst>
            </p:cNvPr>
            <p:cNvSpPr/>
            <p:nvPr/>
          </p:nvSpPr>
          <p:spPr>
            <a:xfrm rot="16200000">
              <a:off x="6530386" y="5332651"/>
              <a:ext cx="266149" cy="901709"/>
            </a:xfrm>
            <a:prstGeom prst="leftBrace">
              <a:avLst>
                <a:gd name="adj1" fmla="val 21910"/>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Left Brace 19">
              <a:extLst>
                <a:ext uri="{FF2B5EF4-FFF2-40B4-BE49-F238E27FC236}">
                  <a16:creationId xmlns:a16="http://schemas.microsoft.com/office/drawing/2014/main" id="{A2A9C4E2-1B43-67DA-5F88-442A5E9E7AA0}"/>
                </a:ext>
              </a:extLst>
            </p:cNvPr>
            <p:cNvSpPr/>
            <p:nvPr/>
          </p:nvSpPr>
          <p:spPr>
            <a:xfrm rot="16200000">
              <a:off x="7455149" y="5367868"/>
              <a:ext cx="269396" cy="828028"/>
            </a:xfrm>
            <a:prstGeom prst="leftBrace">
              <a:avLst>
                <a:gd name="adj1" fmla="val 21910"/>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Rectangle 24">
              <a:extLst>
                <a:ext uri="{FF2B5EF4-FFF2-40B4-BE49-F238E27FC236}">
                  <a16:creationId xmlns:a16="http://schemas.microsoft.com/office/drawing/2014/main" id="{5237548D-4C90-D95A-F977-B1ACA3EE8250}"/>
                </a:ext>
              </a:extLst>
            </p:cNvPr>
            <p:cNvSpPr/>
            <p:nvPr/>
          </p:nvSpPr>
          <p:spPr>
            <a:xfrm flipV="1">
              <a:off x="8536929" y="2881849"/>
              <a:ext cx="292968" cy="1927250"/>
            </a:xfrm>
            <a:prstGeom prst="rect">
              <a:avLst/>
            </a:prstGeom>
            <a:gradFill>
              <a:gsLst>
                <a:gs pos="0">
                  <a:schemeClr val="accent1">
                    <a:lumMod val="5000"/>
                    <a:lumOff val="95000"/>
                  </a:schemeClr>
                </a:gs>
                <a:gs pos="33000">
                  <a:srgbClr val="FDC794"/>
                </a:gs>
                <a:gs pos="53000">
                  <a:srgbClr val="FBC28A"/>
                </a:gs>
                <a:gs pos="100000">
                  <a:srgbClr val="C00000"/>
                </a:gs>
              </a:gsLst>
              <a:lin ang="5400000" scaled="1"/>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5EF965D9-E983-39FC-CFED-EB10F19F137B}"/>
                </a:ext>
              </a:extLst>
            </p:cNvPr>
            <p:cNvSpPr txBox="1"/>
            <p:nvPr/>
          </p:nvSpPr>
          <p:spPr>
            <a:xfrm>
              <a:off x="8825320" y="4312248"/>
              <a:ext cx="1281288" cy="708224"/>
            </a:xfrm>
            <a:prstGeom prst="rect">
              <a:avLst/>
            </a:prstGeom>
            <a:noFill/>
          </p:spPr>
          <p:txBody>
            <a:bodyPr wrap="square" rtlCol="0">
              <a:spAutoFit/>
            </a:bodyPr>
            <a:lstStyle/>
            <a:p>
              <a:r>
                <a:rPr lang="en-US" dirty="0">
                  <a:latin typeface="Helvetica" charset="0"/>
                  <a:ea typeface="Helvetica" charset="0"/>
                  <a:cs typeface="Helvetica" charset="0"/>
                </a:rPr>
                <a:t>count = 0</a:t>
              </a:r>
            </a:p>
          </p:txBody>
        </p:sp>
        <p:sp>
          <p:nvSpPr>
            <p:cNvPr id="27" name="TextBox 26">
              <a:extLst>
                <a:ext uri="{FF2B5EF4-FFF2-40B4-BE49-F238E27FC236}">
                  <a16:creationId xmlns:a16="http://schemas.microsoft.com/office/drawing/2014/main" id="{1EF0DAC9-E799-B391-8CB8-751143B8FA52}"/>
                </a:ext>
              </a:extLst>
            </p:cNvPr>
            <p:cNvSpPr txBox="1"/>
            <p:nvPr/>
          </p:nvSpPr>
          <p:spPr>
            <a:xfrm>
              <a:off x="8859228" y="2806440"/>
              <a:ext cx="1505911" cy="708224"/>
            </a:xfrm>
            <a:prstGeom prst="rect">
              <a:avLst/>
            </a:prstGeom>
            <a:noFill/>
          </p:spPr>
          <p:txBody>
            <a:bodyPr wrap="square" rtlCol="0">
              <a:spAutoFit/>
            </a:bodyPr>
            <a:lstStyle/>
            <a:p>
              <a:r>
                <a:rPr lang="en-US" dirty="0">
                  <a:latin typeface="Helvetica" charset="0"/>
                  <a:ea typeface="Helvetica" charset="0"/>
                  <a:cs typeface="Helvetica" charset="0"/>
                </a:rPr>
                <a:t>count = high</a:t>
              </a:r>
            </a:p>
          </p:txBody>
        </p:sp>
        <p:sp>
          <p:nvSpPr>
            <p:cNvPr id="28" name="Rectangle 27">
              <a:extLst>
                <a:ext uri="{FF2B5EF4-FFF2-40B4-BE49-F238E27FC236}">
                  <a16:creationId xmlns:a16="http://schemas.microsoft.com/office/drawing/2014/main" id="{2C0432FD-0002-F0B0-5975-7B26C24FA549}"/>
                </a:ext>
              </a:extLst>
            </p:cNvPr>
            <p:cNvSpPr/>
            <p:nvPr/>
          </p:nvSpPr>
          <p:spPr>
            <a:xfrm>
              <a:off x="6241608" y="2543297"/>
              <a:ext cx="1790486" cy="135467"/>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B27CDE6-46B3-5729-7D4E-87A388C486E2}"/>
                </a:ext>
              </a:extLst>
            </p:cNvPr>
            <p:cNvSpPr/>
            <p:nvPr/>
          </p:nvSpPr>
          <p:spPr>
            <a:xfrm>
              <a:off x="6241608" y="4981906"/>
              <a:ext cx="1790486" cy="135467"/>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E14788A5-E273-AF92-EEA4-28C1A06D4492}"/>
                </a:ext>
              </a:extLst>
            </p:cNvPr>
            <p:cNvSpPr txBox="1"/>
            <p:nvPr/>
          </p:nvSpPr>
          <p:spPr>
            <a:xfrm>
              <a:off x="4974089" y="2398086"/>
              <a:ext cx="1079142" cy="430887"/>
            </a:xfrm>
            <a:prstGeom prst="rect">
              <a:avLst/>
            </a:prstGeom>
            <a:noFill/>
          </p:spPr>
          <p:txBody>
            <a:bodyPr wrap="none" rtlCol="0">
              <a:spAutoFit/>
            </a:bodyPr>
            <a:lstStyle/>
            <a:p>
              <a:r>
                <a:rPr lang="en-US" sz="2200" dirty="0">
                  <a:latin typeface="Helvetica" charset="0"/>
                  <a:ea typeface="Helvetica" charset="0"/>
                  <a:cs typeface="Helvetica" charset="0"/>
                </a:rPr>
                <a:t>gene B</a:t>
              </a:r>
            </a:p>
          </p:txBody>
        </p:sp>
        <p:sp>
          <p:nvSpPr>
            <p:cNvPr id="31" name="TextBox 30">
              <a:extLst>
                <a:ext uri="{FF2B5EF4-FFF2-40B4-BE49-F238E27FC236}">
                  <a16:creationId xmlns:a16="http://schemas.microsoft.com/office/drawing/2014/main" id="{78407B8D-8BB4-2EE1-8A83-574DF07BE2A9}"/>
                </a:ext>
              </a:extLst>
            </p:cNvPr>
            <p:cNvSpPr txBox="1"/>
            <p:nvPr/>
          </p:nvSpPr>
          <p:spPr>
            <a:xfrm>
              <a:off x="4974089" y="4809099"/>
              <a:ext cx="1063881" cy="430887"/>
            </a:xfrm>
            <a:prstGeom prst="rect">
              <a:avLst/>
            </a:prstGeom>
            <a:noFill/>
          </p:spPr>
          <p:txBody>
            <a:bodyPr wrap="none" rtlCol="0">
              <a:spAutoFit/>
            </a:bodyPr>
            <a:lstStyle/>
            <a:p>
              <a:r>
                <a:rPr lang="en-US" sz="2200" dirty="0">
                  <a:latin typeface="Helvetica" charset="0"/>
                  <a:ea typeface="Helvetica" charset="0"/>
                  <a:cs typeface="Helvetica" charset="0"/>
                </a:rPr>
                <a:t>gene A</a:t>
              </a:r>
            </a:p>
          </p:txBody>
        </p:sp>
        <p:sp>
          <p:nvSpPr>
            <p:cNvPr id="32" name="TextBox 31">
              <a:extLst>
                <a:ext uri="{FF2B5EF4-FFF2-40B4-BE49-F238E27FC236}">
                  <a16:creationId xmlns:a16="http://schemas.microsoft.com/office/drawing/2014/main" id="{C49B81AC-04D4-4572-75D3-02EAB24F35F6}"/>
                </a:ext>
              </a:extLst>
            </p:cNvPr>
            <p:cNvSpPr txBox="1"/>
            <p:nvPr/>
          </p:nvSpPr>
          <p:spPr>
            <a:xfrm>
              <a:off x="6191360" y="3238425"/>
              <a:ext cx="1943252" cy="1214098"/>
            </a:xfrm>
            <a:prstGeom prst="rect">
              <a:avLst/>
            </a:prstGeom>
            <a:noFill/>
          </p:spPr>
          <p:txBody>
            <a:bodyPr wrap="square" rtlCol="0">
              <a:spAutoFit/>
            </a:bodyPr>
            <a:lstStyle/>
            <a:p>
              <a:pPr algn="ctr"/>
              <a:r>
                <a:rPr lang="en-US" sz="2200" b="1" dirty="0">
                  <a:latin typeface="Helvetica" charset="0"/>
                  <a:ea typeface="Helvetica" charset="0"/>
                  <a:cs typeface="Helvetica" charset="0"/>
                </a:rPr>
                <a:t>Transcript count matrix</a:t>
              </a:r>
            </a:p>
          </p:txBody>
        </p:sp>
        <p:sp>
          <p:nvSpPr>
            <p:cNvPr id="33" name="TextBox 32">
              <a:extLst>
                <a:ext uri="{FF2B5EF4-FFF2-40B4-BE49-F238E27FC236}">
                  <a16:creationId xmlns:a16="http://schemas.microsoft.com/office/drawing/2014/main" id="{5DECC5C5-5028-8AE6-2E6A-422316ED50AC}"/>
                </a:ext>
              </a:extLst>
            </p:cNvPr>
            <p:cNvSpPr txBox="1"/>
            <p:nvPr/>
          </p:nvSpPr>
          <p:spPr>
            <a:xfrm rot="16200000">
              <a:off x="5471161" y="3582257"/>
              <a:ext cx="1128835" cy="477054"/>
            </a:xfrm>
            <a:prstGeom prst="rect">
              <a:avLst/>
            </a:prstGeom>
            <a:noFill/>
          </p:spPr>
          <p:txBody>
            <a:bodyPr wrap="none" rtlCol="0">
              <a:spAutoFit/>
            </a:bodyPr>
            <a:lstStyle/>
            <a:p>
              <a:r>
                <a:rPr lang="en-US" sz="2500" dirty="0">
                  <a:latin typeface="Helvetica" charset="0"/>
                  <a:ea typeface="Helvetica" charset="0"/>
                  <a:cs typeface="Helvetica" charset="0"/>
                </a:rPr>
                <a:t>Genes</a:t>
              </a:r>
            </a:p>
          </p:txBody>
        </p:sp>
        <p:sp>
          <p:nvSpPr>
            <p:cNvPr id="34" name="TextBox 33">
              <a:extLst>
                <a:ext uri="{FF2B5EF4-FFF2-40B4-BE49-F238E27FC236}">
                  <a16:creationId xmlns:a16="http://schemas.microsoft.com/office/drawing/2014/main" id="{4BA92663-4A09-F9F1-D081-502487057726}"/>
                </a:ext>
              </a:extLst>
            </p:cNvPr>
            <p:cNvSpPr txBox="1"/>
            <p:nvPr/>
          </p:nvSpPr>
          <p:spPr>
            <a:xfrm>
              <a:off x="6660663" y="1771713"/>
              <a:ext cx="894797" cy="477054"/>
            </a:xfrm>
            <a:prstGeom prst="rect">
              <a:avLst/>
            </a:prstGeom>
            <a:noFill/>
          </p:spPr>
          <p:txBody>
            <a:bodyPr wrap="none" rtlCol="0">
              <a:spAutoFit/>
            </a:bodyPr>
            <a:lstStyle/>
            <a:p>
              <a:r>
                <a:rPr lang="en-US" sz="2500">
                  <a:latin typeface="Helvetica" charset="0"/>
                  <a:ea typeface="Helvetica" charset="0"/>
                  <a:cs typeface="Helvetica" charset="0"/>
                </a:rPr>
                <a:t>Cells</a:t>
              </a:r>
              <a:endParaRPr lang="en-US" sz="2500" dirty="0">
                <a:latin typeface="Helvetica" charset="0"/>
                <a:ea typeface="Helvetica" charset="0"/>
                <a:cs typeface="Helvetica" charset="0"/>
              </a:endParaRPr>
            </a:p>
          </p:txBody>
        </p:sp>
      </p:grpSp>
    </p:spTree>
    <p:extLst>
      <p:ext uri="{BB962C8B-B14F-4D97-AF65-F5344CB8AC3E}">
        <p14:creationId xmlns:p14="http://schemas.microsoft.com/office/powerpoint/2010/main" val="3667519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656A8-E951-A09E-2A21-80B8895C6D31}"/>
            </a:ext>
          </a:extLst>
        </p:cNvPr>
        <p:cNvGrpSpPr/>
        <p:nvPr/>
      </p:nvGrpSpPr>
      <p:grpSpPr>
        <a:xfrm>
          <a:off x="0" y="0"/>
          <a:ext cx="0" cy="0"/>
          <a:chOff x="0" y="0"/>
          <a:chExt cx="0" cy="0"/>
        </a:xfrm>
      </p:grpSpPr>
      <p:sp>
        <p:nvSpPr>
          <p:cNvPr id="84" name="TextBox 83">
            <a:extLst>
              <a:ext uri="{FF2B5EF4-FFF2-40B4-BE49-F238E27FC236}">
                <a16:creationId xmlns:a16="http://schemas.microsoft.com/office/drawing/2014/main" id="{CA994C32-5ACC-195B-4E07-4FBAB302998C}"/>
              </a:ext>
            </a:extLst>
          </p:cNvPr>
          <p:cNvSpPr txBox="1"/>
          <p:nvPr/>
        </p:nvSpPr>
        <p:spPr>
          <a:xfrm>
            <a:off x="290002" y="134155"/>
            <a:ext cx="11144452" cy="1015663"/>
          </a:xfrm>
          <a:prstGeom prst="rect">
            <a:avLst/>
          </a:prstGeom>
          <a:noFill/>
        </p:spPr>
        <p:txBody>
          <a:bodyPr wrap="square" rtlCol="0">
            <a:spAutoFit/>
          </a:bodyPr>
          <a:lstStyle/>
          <a:p>
            <a:r>
              <a:rPr lang="en-US" sz="3000" b="1" dirty="0">
                <a:latin typeface="Helvetica" charset="0"/>
                <a:ea typeface="Helvetica" charset="0"/>
                <a:cs typeface="Helvetica" charset="0"/>
              </a:rPr>
              <a:t>Single cell </a:t>
            </a:r>
            <a:r>
              <a:rPr lang="en-US" sz="3000" dirty="0">
                <a:latin typeface="Helvetica" charset="0"/>
                <a:ea typeface="Helvetica" charset="0"/>
                <a:cs typeface="Helvetica" charset="0"/>
              </a:rPr>
              <a:t>RNA-sequencing (scRNA-seq) measures gene expression in individual cells</a:t>
            </a:r>
          </a:p>
        </p:txBody>
      </p:sp>
      <p:pic>
        <p:nvPicPr>
          <p:cNvPr id="3" name="Picture 2">
            <a:extLst>
              <a:ext uri="{FF2B5EF4-FFF2-40B4-BE49-F238E27FC236}">
                <a16:creationId xmlns:a16="http://schemas.microsoft.com/office/drawing/2014/main" id="{85E98FF7-2CB6-CE22-40C4-CC79F2452426}"/>
              </a:ext>
            </a:extLst>
          </p:cNvPr>
          <p:cNvPicPr>
            <a:picLocks noChangeAspect="1"/>
          </p:cNvPicPr>
          <p:nvPr/>
        </p:nvPicPr>
        <p:blipFill>
          <a:blip r:embed="rId3"/>
          <a:stretch>
            <a:fillRect/>
          </a:stretch>
        </p:blipFill>
        <p:spPr>
          <a:xfrm>
            <a:off x="176039" y="1947033"/>
            <a:ext cx="3909876" cy="3792914"/>
          </a:xfrm>
          <a:prstGeom prst="rect">
            <a:avLst/>
          </a:prstGeom>
        </p:spPr>
      </p:pic>
      <p:sp>
        <p:nvSpPr>
          <p:cNvPr id="143" name="TextBox 142">
            <a:extLst>
              <a:ext uri="{FF2B5EF4-FFF2-40B4-BE49-F238E27FC236}">
                <a16:creationId xmlns:a16="http://schemas.microsoft.com/office/drawing/2014/main" id="{D6C70222-3382-3884-7640-A7C6055A8F45}"/>
              </a:ext>
            </a:extLst>
          </p:cNvPr>
          <p:cNvSpPr txBox="1"/>
          <p:nvPr/>
        </p:nvSpPr>
        <p:spPr>
          <a:xfrm>
            <a:off x="4955518" y="2427749"/>
            <a:ext cx="2581156" cy="400110"/>
          </a:xfrm>
          <a:prstGeom prst="rect">
            <a:avLst/>
          </a:prstGeom>
          <a:noFill/>
        </p:spPr>
        <p:txBody>
          <a:bodyPr wrap="none" rtlCol="0">
            <a:spAutoFit/>
          </a:bodyPr>
          <a:lstStyle/>
          <a:p>
            <a:r>
              <a:rPr lang="en-US" sz="2000" dirty="0">
                <a:latin typeface="Helvetica" charset="0"/>
                <a:ea typeface="Helvetica" charset="0"/>
                <a:cs typeface="Helvetica" charset="0"/>
              </a:rPr>
              <a:t>Sequencing machine</a:t>
            </a:r>
          </a:p>
        </p:txBody>
      </p:sp>
      <p:cxnSp>
        <p:nvCxnSpPr>
          <p:cNvPr id="144" name="Straight Arrow Connector 143">
            <a:extLst>
              <a:ext uri="{FF2B5EF4-FFF2-40B4-BE49-F238E27FC236}">
                <a16:creationId xmlns:a16="http://schemas.microsoft.com/office/drawing/2014/main" id="{B7726E76-51DC-33C2-4A32-A88370409216}"/>
              </a:ext>
            </a:extLst>
          </p:cNvPr>
          <p:cNvCxnSpPr>
            <a:cxnSpLocks/>
          </p:cNvCxnSpPr>
          <p:nvPr/>
        </p:nvCxnSpPr>
        <p:spPr>
          <a:xfrm flipV="1">
            <a:off x="4085915" y="3708684"/>
            <a:ext cx="1010808" cy="20716"/>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BCE392C3-0581-0BC4-6482-325C580023B3}"/>
              </a:ext>
            </a:extLst>
          </p:cNvPr>
          <p:cNvCxnSpPr>
            <a:cxnSpLocks/>
          </p:cNvCxnSpPr>
          <p:nvPr/>
        </p:nvCxnSpPr>
        <p:spPr>
          <a:xfrm flipV="1">
            <a:off x="7476764" y="3682504"/>
            <a:ext cx="929513" cy="2004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D108079-862E-2C80-793E-97AF3951AE51}"/>
              </a:ext>
            </a:extLst>
          </p:cNvPr>
          <p:cNvSpPr txBox="1"/>
          <p:nvPr/>
        </p:nvSpPr>
        <p:spPr>
          <a:xfrm>
            <a:off x="921166" y="5775589"/>
            <a:ext cx="1165704" cy="553998"/>
          </a:xfrm>
          <a:prstGeom prst="rect">
            <a:avLst/>
          </a:prstGeom>
          <a:noFill/>
        </p:spPr>
        <p:txBody>
          <a:bodyPr wrap="none" rtlCol="0">
            <a:spAutoFit/>
          </a:bodyPr>
          <a:lstStyle/>
          <a:p>
            <a:r>
              <a:rPr lang="en-US" sz="3000" dirty="0">
                <a:latin typeface="Helvetica" charset="0"/>
                <a:ea typeface="Helvetica" charset="0"/>
                <a:cs typeface="Helvetica" charset="0"/>
              </a:rPr>
              <a:t>Cell 2</a:t>
            </a:r>
          </a:p>
        </p:txBody>
      </p:sp>
      <p:sp>
        <p:nvSpPr>
          <p:cNvPr id="148" name="TextBox 147">
            <a:extLst>
              <a:ext uri="{FF2B5EF4-FFF2-40B4-BE49-F238E27FC236}">
                <a16:creationId xmlns:a16="http://schemas.microsoft.com/office/drawing/2014/main" id="{0505F04F-1207-8F49-8B81-5F56B83819E1}"/>
              </a:ext>
            </a:extLst>
          </p:cNvPr>
          <p:cNvSpPr txBox="1"/>
          <p:nvPr/>
        </p:nvSpPr>
        <p:spPr>
          <a:xfrm>
            <a:off x="866144" y="1375214"/>
            <a:ext cx="1165704" cy="553998"/>
          </a:xfrm>
          <a:prstGeom prst="rect">
            <a:avLst/>
          </a:prstGeom>
          <a:noFill/>
        </p:spPr>
        <p:txBody>
          <a:bodyPr wrap="none" rtlCol="0">
            <a:spAutoFit/>
          </a:bodyPr>
          <a:lstStyle/>
          <a:p>
            <a:r>
              <a:rPr lang="en-US" sz="3000" dirty="0">
                <a:latin typeface="Helvetica" charset="0"/>
                <a:ea typeface="Helvetica" charset="0"/>
                <a:cs typeface="Helvetica" charset="0"/>
              </a:rPr>
              <a:t>Cell 1</a:t>
            </a:r>
          </a:p>
        </p:txBody>
      </p:sp>
      <p:sp>
        <p:nvSpPr>
          <p:cNvPr id="2" name="Slide Number Placeholder 1">
            <a:extLst>
              <a:ext uri="{FF2B5EF4-FFF2-40B4-BE49-F238E27FC236}">
                <a16:creationId xmlns:a16="http://schemas.microsoft.com/office/drawing/2014/main" id="{4F944A98-D077-4FE6-F18A-E92C9CD83E23}"/>
              </a:ext>
            </a:extLst>
          </p:cNvPr>
          <p:cNvSpPr>
            <a:spLocks noGrp="1"/>
          </p:cNvSpPr>
          <p:nvPr>
            <p:ph type="sldNum" sz="quarter" idx="12"/>
          </p:nvPr>
        </p:nvSpPr>
        <p:spPr/>
        <p:txBody>
          <a:bodyPr/>
          <a:lstStyle/>
          <a:p>
            <a:fld id="{CFED9037-B9B3-B142-AA88-5DB836B4881D}" type="slidenum">
              <a:rPr lang="en-US" smtClean="0"/>
              <a:t>24</a:t>
            </a:fld>
            <a:endParaRPr lang="en-US"/>
          </a:p>
        </p:txBody>
      </p:sp>
      <p:pic>
        <p:nvPicPr>
          <p:cNvPr id="8" name="Picture 7">
            <a:extLst>
              <a:ext uri="{FF2B5EF4-FFF2-40B4-BE49-F238E27FC236}">
                <a16:creationId xmlns:a16="http://schemas.microsoft.com/office/drawing/2014/main" id="{E33410C8-5AB6-5795-9C2C-88E7B63E4E22}"/>
              </a:ext>
            </a:extLst>
          </p:cNvPr>
          <p:cNvPicPr>
            <a:picLocks noChangeAspect="1"/>
          </p:cNvPicPr>
          <p:nvPr/>
        </p:nvPicPr>
        <p:blipFill>
          <a:blip r:embed="rId4"/>
          <a:stretch>
            <a:fillRect/>
          </a:stretch>
        </p:blipFill>
        <p:spPr>
          <a:xfrm>
            <a:off x="5248403" y="3004292"/>
            <a:ext cx="1995386" cy="1587660"/>
          </a:xfrm>
          <a:prstGeom prst="rect">
            <a:avLst/>
          </a:prstGeom>
        </p:spPr>
      </p:pic>
      <p:grpSp>
        <p:nvGrpSpPr>
          <p:cNvPr id="35" name="Group 34">
            <a:extLst>
              <a:ext uri="{FF2B5EF4-FFF2-40B4-BE49-F238E27FC236}">
                <a16:creationId xmlns:a16="http://schemas.microsoft.com/office/drawing/2014/main" id="{E117A55B-D4D2-C962-20B2-F8071D891D34}"/>
              </a:ext>
            </a:extLst>
          </p:cNvPr>
          <p:cNvGrpSpPr/>
          <p:nvPr/>
        </p:nvGrpSpPr>
        <p:grpSpPr>
          <a:xfrm>
            <a:off x="5862228" y="1574311"/>
            <a:ext cx="6748431" cy="4949609"/>
            <a:chOff x="2670330" y="1771713"/>
            <a:chExt cx="7694809" cy="5423584"/>
          </a:xfrm>
        </p:grpSpPr>
        <p:pic>
          <p:nvPicPr>
            <p:cNvPr id="14" name="Picture 13">
              <a:extLst>
                <a:ext uri="{FF2B5EF4-FFF2-40B4-BE49-F238E27FC236}">
                  <a16:creationId xmlns:a16="http://schemas.microsoft.com/office/drawing/2014/main" id="{CB3AD1B3-B1C0-D4E5-A29D-464FB7E7B757}"/>
                </a:ext>
              </a:extLst>
            </p:cNvPr>
            <p:cNvPicPr>
              <a:picLocks noChangeAspect="1"/>
            </p:cNvPicPr>
            <p:nvPr/>
          </p:nvPicPr>
          <p:blipFill rotWithShape="1">
            <a:blip r:embed="rId5">
              <a:extLst>
                <a:ext uri="{28A0092B-C50C-407E-A947-70E740481C1C}">
                  <a14:useLocalDpi xmlns:a14="http://schemas.microsoft.com/office/drawing/2010/main" val="0"/>
                </a:ext>
              </a:extLst>
            </a:blip>
            <a:srcRect l="25315" t="31466" r="7379" b="36444"/>
            <a:stretch/>
          </p:blipFill>
          <p:spPr>
            <a:xfrm rot="5400000" flipH="1">
              <a:off x="5354738" y="3080514"/>
              <a:ext cx="3553019" cy="1693947"/>
            </a:xfrm>
            <a:prstGeom prst="rect">
              <a:avLst/>
            </a:prstGeom>
          </p:spPr>
        </p:pic>
        <p:sp>
          <p:nvSpPr>
            <p:cNvPr id="15" name="Freeform 14">
              <a:extLst>
                <a:ext uri="{FF2B5EF4-FFF2-40B4-BE49-F238E27FC236}">
                  <a16:creationId xmlns:a16="http://schemas.microsoft.com/office/drawing/2014/main" id="{6963540F-9D47-2052-6360-CDFCBCF5A20A}"/>
                </a:ext>
              </a:extLst>
            </p:cNvPr>
            <p:cNvSpPr/>
            <p:nvPr/>
          </p:nvSpPr>
          <p:spPr>
            <a:xfrm>
              <a:off x="5904270" y="5935037"/>
              <a:ext cx="1198199" cy="735946"/>
            </a:xfrm>
            <a:custGeom>
              <a:avLst/>
              <a:gdLst>
                <a:gd name="connsiteX0" fmla="*/ 2118514 w 5417758"/>
                <a:gd name="connsiteY0" fmla="*/ 544318 h 3033730"/>
                <a:gd name="connsiteX1" fmla="*/ 1759699 w 5417758"/>
                <a:gd name="connsiteY1" fmla="*/ 308 h 3033730"/>
                <a:gd name="connsiteX2" fmla="*/ 1736549 w 5417758"/>
                <a:gd name="connsiteY2" fmla="*/ 625341 h 3033730"/>
                <a:gd name="connsiteX3" fmla="*/ 775850 w 5417758"/>
                <a:gd name="connsiteY3" fmla="*/ 995731 h 3033730"/>
                <a:gd name="connsiteX4" fmla="*/ 347 w 5417758"/>
                <a:gd name="connsiteY4" fmla="*/ 1076753 h 3033730"/>
                <a:gd name="connsiteX5" fmla="*/ 868448 w 5417758"/>
                <a:gd name="connsiteY5" fmla="*/ 1238799 h 3033730"/>
                <a:gd name="connsiteX6" fmla="*/ 926321 w 5417758"/>
                <a:gd name="connsiteY6" fmla="*/ 2025878 h 3033730"/>
                <a:gd name="connsiteX7" fmla="*/ 417035 w 5417758"/>
                <a:gd name="connsiteY7" fmla="*/ 2685634 h 3033730"/>
                <a:gd name="connsiteX8" fmla="*/ 1204114 w 5417758"/>
                <a:gd name="connsiteY8" fmla="*/ 2211072 h 3033730"/>
                <a:gd name="connsiteX9" fmla="*/ 1829147 w 5417758"/>
                <a:gd name="connsiteY9" fmla="*/ 2465715 h 3033730"/>
                <a:gd name="connsiteX10" fmla="*/ 2176387 w 5417758"/>
                <a:gd name="connsiteY10" fmla="*/ 3032875 h 3033730"/>
                <a:gd name="connsiteX11" fmla="*/ 2153238 w 5417758"/>
                <a:gd name="connsiteY11" fmla="*/ 2326819 h 3033730"/>
                <a:gd name="connsiteX12" fmla="*/ 2662524 w 5417758"/>
                <a:gd name="connsiteY12" fmla="*/ 2060602 h 3033730"/>
                <a:gd name="connsiteX13" fmla="*/ 3438028 w 5417758"/>
                <a:gd name="connsiteY13" fmla="*/ 2338394 h 3033730"/>
                <a:gd name="connsiteX14" fmla="*/ 2674099 w 5417758"/>
                <a:gd name="connsiteY14" fmla="*/ 1678637 h 3033730"/>
                <a:gd name="connsiteX15" fmla="*/ 4688094 w 5417758"/>
                <a:gd name="connsiteY15" fmla="*/ 1562890 h 3033730"/>
                <a:gd name="connsiteX16" fmla="*/ 5289977 w 5417758"/>
                <a:gd name="connsiteY16" fmla="*/ 1771234 h 3033730"/>
                <a:gd name="connsiteX17" fmla="*/ 4560772 w 5417758"/>
                <a:gd name="connsiteY17" fmla="*/ 1180926 h 3033730"/>
                <a:gd name="connsiteX18" fmla="*/ 5417299 w 5417758"/>
                <a:gd name="connsiteY18" fmla="*/ 995731 h 3033730"/>
                <a:gd name="connsiteX19" fmla="*/ 4421876 w 5417758"/>
                <a:gd name="connsiteY19" fmla="*/ 961007 h 3033730"/>
                <a:gd name="connsiteX20" fmla="*/ 4282980 w 5417758"/>
                <a:gd name="connsiteY20" fmla="*/ 486445 h 3033730"/>
                <a:gd name="connsiteX21" fmla="*/ 4039911 w 5417758"/>
                <a:gd name="connsiteY21" fmla="*/ 1134627 h 3033730"/>
                <a:gd name="connsiteX22" fmla="*/ 2650949 w 5417758"/>
                <a:gd name="connsiteY22" fmla="*/ 1308247 h 3033730"/>
                <a:gd name="connsiteX23" fmla="*/ 3229683 w 5417758"/>
                <a:gd name="connsiteY23" fmla="*/ 498019 h 3033730"/>
                <a:gd name="connsiteX24" fmla="*/ 2431030 w 5417758"/>
                <a:gd name="connsiteY24" fmla="*/ 741088 h 3033730"/>
                <a:gd name="connsiteX25" fmla="*/ 2118514 w 5417758"/>
                <a:gd name="connsiteY25" fmla="*/ 544318 h 303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417758" h="3033730">
                  <a:moveTo>
                    <a:pt x="2118514" y="544318"/>
                  </a:moveTo>
                  <a:cubicBezTo>
                    <a:pt x="2006625" y="420855"/>
                    <a:pt x="1823360" y="-13196"/>
                    <a:pt x="1759699" y="308"/>
                  </a:cubicBezTo>
                  <a:cubicBezTo>
                    <a:pt x="1696038" y="13812"/>
                    <a:pt x="1900524" y="459437"/>
                    <a:pt x="1736549" y="625341"/>
                  </a:cubicBezTo>
                  <a:cubicBezTo>
                    <a:pt x="1572574" y="791245"/>
                    <a:pt x="1065217" y="920496"/>
                    <a:pt x="775850" y="995731"/>
                  </a:cubicBezTo>
                  <a:cubicBezTo>
                    <a:pt x="486483" y="1070966"/>
                    <a:pt x="-15086" y="1036242"/>
                    <a:pt x="347" y="1076753"/>
                  </a:cubicBezTo>
                  <a:cubicBezTo>
                    <a:pt x="15780" y="1117264"/>
                    <a:pt x="714119" y="1080612"/>
                    <a:pt x="868448" y="1238799"/>
                  </a:cubicBezTo>
                  <a:cubicBezTo>
                    <a:pt x="1022777" y="1396987"/>
                    <a:pt x="1001556" y="1784739"/>
                    <a:pt x="926321" y="2025878"/>
                  </a:cubicBezTo>
                  <a:cubicBezTo>
                    <a:pt x="851085" y="2267017"/>
                    <a:pt x="370736" y="2654768"/>
                    <a:pt x="417035" y="2685634"/>
                  </a:cubicBezTo>
                  <a:cubicBezTo>
                    <a:pt x="463334" y="2716500"/>
                    <a:pt x="968762" y="2247725"/>
                    <a:pt x="1204114" y="2211072"/>
                  </a:cubicBezTo>
                  <a:cubicBezTo>
                    <a:pt x="1439466" y="2174419"/>
                    <a:pt x="1667102" y="2328748"/>
                    <a:pt x="1829147" y="2465715"/>
                  </a:cubicBezTo>
                  <a:cubicBezTo>
                    <a:pt x="1991192" y="2602682"/>
                    <a:pt x="2122372" y="3056024"/>
                    <a:pt x="2176387" y="3032875"/>
                  </a:cubicBezTo>
                  <a:cubicBezTo>
                    <a:pt x="2230402" y="3009726"/>
                    <a:pt x="2072215" y="2488865"/>
                    <a:pt x="2153238" y="2326819"/>
                  </a:cubicBezTo>
                  <a:cubicBezTo>
                    <a:pt x="2234261" y="2164774"/>
                    <a:pt x="2448392" y="2058673"/>
                    <a:pt x="2662524" y="2060602"/>
                  </a:cubicBezTo>
                  <a:cubicBezTo>
                    <a:pt x="2876656" y="2062531"/>
                    <a:pt x="3436099" y="2402055"/>
                    <a:pt x="3438028" y="2338394"/>
                  </a:cubicBezTo>
                  <a:cubicBezTo>
                    <a:pt x="3439957" y="2274733"/>
                    <a:pt x="2465755" y="1807888"/>
                    <a:pt x="2674099" y="1678637"/>
                  </a:cubicBezTo>
                  <a:cubicBezTo>
                    <a:pt x="2882443" y="1549386"/>
                    <a:pt x="4252114" y="1547457"/>
                    <a:pt x="4688094" y="1562890"/>
                  </a:cubicBezTo>
                  <a:cubicBezTo>
                    <a:pt x="5124074" y="1578323"/>
                    <a:pt x="5311197" y="1834895"/>
                    <a:pt x="5289977" y="1771234"/>
                  </a:cubicBezTo>
                  <a:cubicBezTo>
                    <a:pt x="5268757" y="1707573"/>
                    <a:pt x="4539552" y="1310177"/>
                    <a:pt x="4560772" y="1180926"/>
                  </a:cubicBezTo>
                  <a:cubicBezTo>
                    <a:pt x="4581992" y="1051675"/>
                    <a:pt x="5440448" y="1032384"/>
                    <a:pt x="5417299" y="995731"/>
                  </a:cubicBezTo>
                  <a:cubicBezTo>
                    <a:pt x="5394150" y="959078"/>
                    <a:pt x="4610929" y="1045888"/>
                    <a:pt x="4421876" y="961007"/>
                  </a:cubicBezTo>
                  <a:cubicBezTo>
                    <a:pt x="4232823" y="876126"/>
                    <a:pt x="4346641" y="457508"/>
                    <a:pt x="4282980" y="486445"/>
                  </a:cubicBezTo>
                  <a:cubicBezTo>
                    <a:pt x="4219319" y="515382"/>
                    <a:pt x="4311916" y="997660"/>
                    <a:pt x="4039911" y="1134627"/>
                  </a:cubicBezTo>
                  <a:cubicBezTo>
                    <a:pt x="3767906" y="1271594"/>
                    <a:pt x="2785987" y="1414348"/>
                    <a:pt x="2650949" y="1308247"/>
                  </a:cubicBezTo>
                  <a:cubicBezTo>
                    <a:pt x="2515911" y="1202146"/>
                    <a:pt x="3266336" y="592545"/>
                    <a:pt x="3229683" y="498019"/>
                  </a:cubicBezTo>
                  <a:cubicBezTo>
                    <a:pt x="3193030" y="403493"/>
                    <a:pt x="2614296" y="733371"/>
                    <a:pt x="2431030" y="741088"/>
                  </a:cubicBezTo>
                  <a:cubicBezTo>
                    <a:pt x="2247764" y="748805"/>
                    <a:pt x="2230403" y="667781"/>
                    <a:pt x="2118514" y="544318"/>
                  </a:cubicBezTo>
                  <a:close/>
                </a:path>
              </a:pathLst>
            </a:custGeom>
            <a:solidFill>
              <a:srgbClr val="C55A11">
                <a:alpha val="23137"/>
              </a:srgbClr>
            </a:solidFill>
            <a:ln w="28575">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a:extLst>
                <a:ext uri="{FF2B5EF4-FFF2-40B4-BE49-F238E27FC236}">
                  <a16:creationId xmlns:a16="http://schemas.microsoft.com/office/drawing/2014/main" id="{7308C430-195A-1182-D06C-988F8657FE2C}"/>
                </a:ext>
              </a:extLst>
            </p:cNvPr>
            <p:cNvSpPr/>
            <p:nvPr/>
          </p:nvSpPr>
          <p:spPr>
            <a:xfrm>
              <a:off x="7162987" y="6015971"/>
              <a:ext cx="739644" cy="662859"/>
            </a:xfrm>
            <a:custGeom>
              <a:avLst/>
              <a:gdLst>
                <a:gd name="connsiteX0" fmla="*/ 2056291 w 5883299"/>
                <a:gd name="connsiteY0" fmla="*/ 67320 h 4093556"/>
                <a:gd name="connsiteX1" fmla="*/ 5112007 w 5883299"/>
                <a:gd name="connsiteY1" fmla="*/ 21022 h 4093556"/>
                <a:gd name="connsiteX2" fmla="*/ 4973111 w 5883299"/>
                <a:gd name="connsiteY2" fmla="*/ 449285 h 4093556"/>
                <a:gd name="connsiteX3" fmla="*/ 3977688 w 5883299"/>
                <a:gd name="connsiteY3" fmla="*/ 460860 h 4093556"/>
                <a:gd name="connsiteX4" fmla="*/ 3954539 w 5883299"/>
                <a:gd name="connsiteY4" fmla="*/ 958571 h 4093556"/>
                <a:gd name="connsiteX5" fmla="*/ 5181455 w 5883299"/>
                <a:gd name="connsiteY5" fmla="*/ 1791948 h 4093556"/>
                <a:gd name="connsiteX6" fmla="*/ 4892088 w 5883299"/>
                <a:gd name="connsiteY6" fmla="*/ 3076738 h 4093556"/>
                <a:gd name="connsiteX7" fmla="*/ 3885091 w 5883299"/>
                <a:gd name="connsiteY7" fmla="*/ 3169336 h 4093556"/>
                <a:gd name="connsiteX8" fmla="*/ 3873516 w 5883299"/>
                <a:gd name="connsiteY8" fmla="*/ 3458703 h 4093556"/>
                <a:gd name="connsiteX9" fmla="*/ 5355075 w 5883299"/>
                <a:gd name="connsiteY9" fmla="*/ 3493427 h 4093556"/>
                <a:gd name="connsiteX10" fmla="*/ 5505546 w 5883299"/>
                <a:gd name="connsiteY10" fmla="*/ 4037437 h 4093556"/>
                <a:gd name="connsiteX11" fmla="*/ 551582 w 5883299"/>
                <a:gd name="connsiteY11" fmla="*/ 3991138 h 4093556"/>
                <a:gd name="connsiteX12" fmla="*/ 354812 w 5883299"/>
                <a:gd name="connsiteY12" fmla="*/ 3285082 h 4093556"/>
                <a:gd name="connsiteX13" fmla="*/ 2635025 w 5883299"/>
                <a:gd name="connsiteY13" fmla="*/ 3308232 h 4093556"/>
                <a:gd name="connsiteX14" fmla="*/ 2704473 w 5883299"/>
                <a:gd name="connsiteY14" fmla="*/ 3088313 h 4093556"/>
                <a:gd name="connsiteX15" fmla="*/ 1234488 w 5883299"/>
                <a:gd name="connsiteY15" fmla="*/ 2856819 h 4093556"/>
                <a:gd name="connsiteX16" fmla="*/ 1095592 w 5883299"/>
                <a:gd name="connsiteY16" fmla="*/ 1363685 h 4093556"/>
                <a:gd name="connsiteX17" fmla="*/ 2172037 w 5883299"/>
                <a:gd name="connsiteY17" fmla="*/ 900698 h 4093556"/>
                <a:gd name="connsiteX18" fmla="*/ 3317931 w 5883299"/>
                <a:gd name="connsiteY18" fmla="*/ 854399 h 4093556"/>
                <a:gd name="connsiteX19" fmla="*/ 3213759 w 5883299"/>
                <a:gd name="connsiteY19" fmla="*/ 426136 h 4093556"/>
                <a:gd name="connsiteX20" fmla="*/ 1257637 w 5883299"/>
                <a:gd name="connsiteY20" fmla="*/ 472434 h 4093556"/>
                <a:gd name="connsiteX21" fmla="*/ 1246063 w 5883299"/>
                <a:gd name="connsiteY21" fmla="*/ 78895 h 4093556"/>
                <a:gd name="connsiteX22" fmla="*/ 2056291 w 5883299"/>
                <a:gd name="connsiteY22" fmla="*/ 67320 h 409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883299" h="4093556">
                  <a:moveTo>
                    <a:pt x="2056291" y="67320"/>
                  </a:moveTo>
                  <a:cubicBezTo>
                    <a:pt x="2700615" y="57675"/>
                    <a:pt x="4625870" y="-42639"/>
                    <a:pt x="5112007" y="21022"/>
                  </a:cubicBezTo>
                  <a:cubicBezTo>
                    <a:pt x="5598144" y="84683"/>
                    <a:pt x="5162164" y="375979"/>
                    <a:pt x="4973111" y="449285"/>
                  </a:cubicBezTo>
                  <a:cubicBezTo>
                    <a:pt x="4784058" y="522591"/>
                    <a:pt x="4147450" y="375979"/>
                    <a:pt x="3977688" y="460860"/>
                  </a:cubicBezTo>
                  <a:cubicBezTo>
                    <a:pt x="3807926" y="545741"/>
                    <a:pt x="3753911" y="736723"/>
                    <a:pt x="3954539" y="958571"/>
                  </a:cubicBezTo>
                  <a:cubicBezTo>
                    <a:pt x="4155167" y="1180419"/>
                    <a:pt x="5025197" y="1438920"/>
                    <a:pt x="5181455" y="1791948"/>
                  </a:cubicBezTo>
                  <a:cubicBezTo>
                    <a:pt x="5337713" y="2144976"/>
                    <a:pt x="5108149" y="2847173"/>
                    <a:pt x="4892088" y="3076738"/>
                  </a:cubicBezTo>
                  <a:cubicBezTo>
                    <a:pt x="4676027" y="3306303"/>
                    <a:pt x="4054853" y="3105675"/>
                    <a:pt x="3885091" y="3169336"/>
                  </a:cubicBezTo>
                  <a:cubicBezTo>
                    <a:pt x="3715329" y="3232997"/>
                    <a:pt x="3628519" y="3404688"/>
                    <a:pt x="3873516" y="3458703"/>
                  </a:cubicBezTo>
                  <a:cubicBezTo>
                    <a:pt x="4118513" y="3512718"/>
                    <a:pt x="5083070" y="3396971"/>
                    <a:pt x="5355075" y="3493427"/>
                  </a:cubicBezTo>
                  <a:cubicBezTo>
                    <a:pt x="5627080" y="3589883"/>
                    <a:pt x="6306128" y="3954485"/>
                    <a:pt x="5505546" y="4037437"/>
                  </a:cubicBezTo>
                  <a:cubicBezTo>
                    <a:pt x="4704964" y="4120389"/>
                    <a:pt x="1410038" y="4116530"/>
                    <a:pt x="551582" y="3991138"/>
                  </a:cubicBezTo>
                  <a:cubicBezTo>
                    <a:pt x="-306874" y="3865746"/>
                    <a:pt x="7571" y="3398900"/>
                    <a:pt x="354812" y="3285082"/>
                  </a:cubicBezTo>
                  <a:cubicBezTo>
                    <a:pt x="702053" y="3171264"/>
                    <a:pt x="2243415" y="3341027"/>
                    <a:pt x="2635025" y="3308232"/>
                  </a:cubicBezTo>
                  <a:cubicBezTo>
                    <a:pt x="3026635" y="3275437"/>
                    <a:pt x="2937896" y="3163549"/>
                    <a:pt x="2704473" y="3088313"/>
                  </a:cubicBezTo>
                  <a:cubicBezTo>
                    <a:pt x="2471050" y="3013077"/>
                    <a:pt x="1502635" y="3144257"/>
                    <a:pt x="1234488" y="2856819"/>
                  </a:cubicBezTo>
                  <a:cubicBezTo>
                    <a:pt x="966341" y="2569381"/>
                    <a:pt x="939334" y="1689705"/>
                    <a:pt x="1095592" y="1363685"/>
                  </a:cubicBezTo>
                  <a:cubicBezTo>
                    <a:pt x="1251850" y="1037665"/>
                    <a:pt x="1801647" y="985579"/>
                    <a:pt x="2172037" y="900698"/>
                  </a:cubicBezTo>
                  <a:cubicBezTo>
                    <a:pt x="2542427" y="815817"/>
                    <a:pt x="3144311" y="933493"/>
                    <a:pt x="3317931" y="854399"/>
                  </a:cubicBezTo>
                  <a:cubicBezTo>
                    <a:pt x="3491551" y="775305"/>
                    <a:pt x="3557141" y="489797"/>
                    <a:pt x="3213759" y="426136"/>
                  </a:cubicBezTo>
                  <a:cubicBezTo>
                    <a:pt x="2870377" y="362475"/>
                    <a:pt x="1585586" y="530307"/>
                    <a:pt x="1257637" y="472434"/>
                  </a:cubicBezTo>
                  <a:cubicBezTo>
                    <a:pt x="929688" y="414561"/>
                    <a:pt x="1109096" y="146414"/>
                    <a:pt x="1246063" y="78895"/>
                  </a:cubicBezTo>
                  <a:cubicBezTo>
                    <a:pt x="1383030" y="11376"/>
                    <a:pt x="1411967" y="76965"/>
                    <a:pt x="2056291" y="67320"/>
                  </a:cubicBezTo>
                  <a:close/>
                </a:path>
              </a:pathLst>
            </a:custGeom>
            <a:solidFill>
              <a:schemeClr val="accent6">
                <a:lumMod val="20000"/>
                <a:lumOff val="80000"/>
              </a:schemeClr>
            </a:solidFill>
            <a:ln w="2857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0F52A82F-03F0-5C0C-4C87-C6AD64584B06}"/>
                </a:ext>
              </a:extLst>
            </p:cNvPr>
            <p:cNvSpPr txBox="1"/>
            <p:nvPr/>
          </p:nvSpPr>
          <p:spPr>
            <a:xfrm>
              <a:off x="8113002" y="6015971"/>
              <a:ext cx="1872629" cy="492443"/>
            </a:xfrm>
            <a:prstGeom prst="rect">
              <a:avLst/>
            </a:prstGeom>
            <a:noFill/>
          </p:spPr>
          <p:txBody>
            <a:bodyPr wrap="none" rtlCol="0">
              <a:spAutoFit/>
            </a:bodyPr>
            <a:lstStyle/>
            <a:p>
              <a:r>
                <a:rPr lang="en-US" sz="2600" b="1" dirty="0">
                  <a:latin typeface="Helvetica" charset="0"/>
                  <a:ea typeface="Helvetica" charset="0"/>
                  <a:cs typeface="Helvetica" charset="0"/>
                </a:rPr>
                <a:t>Cell types!</a:t>
              </a:r>
            </a:p>
          </p:txBody>
        </p:sp>
        <p:sp>
          <p:nvSpPr>
            <p:cNvPr id="18" name="Left Brace 17">
              <a:extLst>
                <a:ext uri="{FF2B5EF4-FFF2-40B4-BE49-F238E27FC236}">
                  <a16:creationId xmlns:a16="http://schemas.microsoft.com/office/drawing/2014/main" id="{60474B4F-5FF8-4BF6-AD50-0FCFF38543A3}"/>
                </a:ext>
              </a:extLst>
            </p:cNvPr>
            <p:cNvSpPr/>
            <p:nvPr/>
          </p:nvSpPr>
          <p:spPr>
            <a:xfrm rot="16200000">
              <a:off x="6530386" y="5332651"/>
              <a:ext cx="266149" cy="901709"/>
            </a:xfrm>
            <a:prstGeom prst="leftBrace">
              <a:avLst>
                <a:gd name="adj1" fmla="val 21910"/>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Left Brace 19">
              <a:extLst>
                <a:ext uri="{FF2B5EF4-FFF2-40B4-BE49-F238E27FC236}">
                  <a16:creationId xmlns:a16="http://schemas.microsoft.com/office/drawing/2014/main" id="{DD6EBD53-D7B8-9C07-1FA8-C98E171DA534}"/>
                </a:ext>
              </a:extLst>
            </p:cNvPr>
            <p:cNvSpPr/>
            <p:nvPr/>
          </p:nvSpPr>
          <p:spPr>
            <a:xfrm rot="16200000">
              <a:off x="7455149" y="5367868"/>
              <a:ext cx="269396" cy="828028"/>
            </a:xfrm>
            <a:prstGeom prst="leftBrace">
              <a:avLst>
                <a:gd name="adj1" fmla="val 21910"/>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76C4C28E-8468-8D07-D13C-0CFA4101058E}"/>
                </a:ext>
              </a:extLst>
            </p:cNvPr>
            <p:cNvSpPr txBox="1"/>
            <p:nvPr/>
          </p:nvSpPr>
          <p:spPr>
            <a:xfrm>
              <a:off x="2670330" y="6082374"/>
              <a:ext cx="2300713" cy="1112923"/>
            </a:xfrm>
            <a:prstGeom prst="rect">
              <a:avLst/>
            </a:prstGeom>
            <a:noFill/>
          </p:spPr>
          <p:txBody>
            <a:bodyPr wrap="square" rtlCol="0">
              <a:spAutoFit/>
            </a:bodyPr>
            <a:lstStyle/>
            <a:p>
              <a:pPr algn="ctr"/>
              <a:r>
                <a:rPr lang="en-US" sz="2000" dirty="0" err="1">
                  <a:latin typeface="Helvetica" charset="0"/>
                  <a:ea typeface="Helvetica" charset="0"/>
                  <a:cs typeface="Helvetica" charset="0"/>
                </a:rPr>
                <a:t>i-th</a:t>
              </a:r>
              <a:r>
                <a:rPr lang="en-US" sz="2000" dirty="0">
                  <a:latin typeface="Helvetica" charset="0"/>
                  <a:ea typeface="Helvetica" charset="0"/>
                  <a:cs typeface="Helvetica" charset="0"/>
                </a:rPr>
                <a:t> column = transcript counts for cell </a:t>
              </a:r>
              <a:r>
                <a:rPr lang="en-US" sz="2000" dirty="0" err="1">
                  <a:latin typeface="Helvetica" charset="0"/>
                  <a:ea typeface="Helvetica" charset="0"/>
                  <a:cs typeface="Helvetica" charset="0"/>
                </a:rPr>
                <a:t>i</a:t>
              </a:r>
              <a:endParaRPr lang="en-US" sz="2000" dirty="0">
                <a:latin typeface="Helvetica" charset="0"/>
                <a:ea typeface="Helvetica" charset="0"/>
                <a:cs typeface="Helvetica" charset="0"/>
              </a:endParaRPr>
            </a:p>
          </p:txBody>
        </p:sp>
        <p:sp>
          <p:nvSpPr>
            <p:cNvPr id="25" name="Rectangle 24">
              <a:extLst>
                <a:ext uri="{FF2B5EF4-FFF2-40B4-BE49-F238E27FC236}">
                  <a16:creationId xmlns:a16="http://schemas.microsoft.com/office/drawing/2014/main" id="{2FF96F27-BC8D-ACEF-D26E-314F6C075E5C}"/>
                </a:ext>
              </a:extLst>
            </p:cNvPr>
            <p:cNvSpPr/>
            <p:nvPr/>
          </p:nvSpPr>
          <p:spPr>
            <a:xfrm flipV="1">
              <a:off x="8536929" y="2881849"/>
              <a:ext cx="292968" cy="1927250"/>
            </a:xfrm>
            <a:prstGeom prst="rect">
              <a:avLst/>
            </a:prstGeom>
            <a:gradFill>
              <a:gsLst>
                <a:gs pos="0">
                  <a:schemeClr val="accent1">
                    <a:lumMod val="5000"/>
                    <a:lumOff val="95000"/>
                  </a:schemeClr>
                </a:gs>
                <a:gs pos="33000">
                  <a:srgbClr val="FDC794"/>
                </a:gs>
                <a:gs pos="53000">
                  <a:srgbClr val="FBC28A"/>
                </a:gs>
                <a:gs pos="100000">
                  <a:srgbClr val="C00000"/>
                </a:gs>
              </a:gsLst>
              <a:lin ang="5400000" scaled="1"/>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A364434C-30A4-8F69-6570-335C625F5B87}"/>
                </a:ext>
              </a:extLst>
            </p:cNvPr>
            <p:cNvSpPr txBox="1"/>
            <p:nvPr/>
          </p:nvSpPr>
          <p:spPr>
            <a:xfrm>
              <a:off x="8825320" y="4312248"/>
              <a:ext cx="1281288" cy="708224"/>
            </a:xfrm>
            <a:prstGeom prst="rect">
              <a:avLst/>
            </a:prstGeom>
            <a:noFill/>
          </p:spPr>
          <p:txBody>
            <a:bodyPr wrap="square" rtlCol="0">
              <a:spAutoFit/>
            </a:bodyPr>
            <a:lstStyle/>
            <a:p>
              <a:r>
                <a:rPr lang="en-US" dirty="0">
                  <a:latin typeface="Helvetica" charset="0"/>
                  <a:ea typeface="Helvetica" charset="0"/>
                  <a:cs typeface="Helvetica" charset="0"/>
                </a:rPr>
                <a:t>count = 0</a:t>
              </a:r>
            </a:p>
          </p:txBody>
        </p:sp>
        <p:sp>
          <p:nvSpPr>
            <p:cNvPr id="27" name="TextBox 26">
              <a:extLst>
                <a:ext uri="{FF2B5EF4-FFF2-40B4-BE49-F238E27FC236}">
                  <a16:creationId xmlns:a16="http://schemas.microsoft.com/office/drawing/2014/main" id="{D6B04B6C-332B-FC38-8F42-8FA0F119298E}"/>
                </a:ext>
              </a:extLst>
            </p:cNvPr>
            <p:cNvSpPr txBox="1"/>
            <p:nvPr/>
          </p:nvSpPr>
          <p:spPr>
            <a:xfrm>
              <a:off x="8859228" y="2806440"/>
              <a:ext cx="1505911" cy="708224"/>
            </a:xfrm>
            <a:prstGeom prst="rect">
              <a:avLst/>
            </a:prstGeom>
            <a:noFill/>
          </p:spPr>
          <p:txBody>
            <a:bodyPr wrap="square" rtlCol="0">
              <a:spAutoFit/>
            </a:bodyPr>
            <a:lstStyle/>
            <a:p>
              <a:r>
                <a:rPr lang="en-US" dirty="0">
                  <a:latin typeface="Helvetica" charset="0"/>
                  <a:ea typeface="Helvetica" charset="0"/>
                  <a:cs typeface="Helvetica" charset="0"/>
                </a:rPr>
                <a:t>count = high</a:t>
              </a:r>
            </a:p>
          </p:txBody>
        </p:sp>
        <p:sp>
          <p:nvSpPr>
            <p:cNvPr id="28" name="Rectangle 27">
              <a:extLst>
                <a:ext uri="{FF2B5EF4-FFF2-40B4-BE49-F238E27FC236}">
                  <a16:creationId xmlns:a16="http://schemas.microsoft.com/office/drawing/2014/main" id="{EDA56AFA-9A62-C12A-1423-D5B253F90266}"/>
                </a:ext>
              </a:extLst>
            </p:cNvPr>
            <p:cNvSpPr/>
            <p:nvPr/>
          </p:nvSpPr>
          <p:spPr>
            <a:xfrm>
              <a:off x="6241608" y="2543297"/>
              <a:ext cx="1790486" cy="135467"/>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C005B73-C5F9-9B86-AC7A-940FFAAD8B33}"/>
                </a:ext>
              </a:extLst>
            </p:cNvPr>
            <p:cNvSpPr/>
            <p:nvPr/>
          </p:nvSpPr>
          <p:spPr>
            <a:xfrm>
              <a:off x="6241608" y="4981906"/>
              <a:ext cx="1790486" cy="135467"/>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BBF602BD-A3EF-42C8-A721-28C0D25BCA1C}"/>
                </a:ext>
              </a:extLst>
            </p:cNvPr>
            <p:cNvSpPr txBox="1"/>
            <p:nvPr/>
          </p:nvSpPr>
          <p:spPr>
            <a:xfrm>
              <a:off x="4974089" y="2398086"/>
              <a:ext cx="1079142" cy="430887"/>
            </a:xfrm>
            <a:prstGeom prst="rect">
              <a:avLst/>
            </a:prstGeom>
            <a:noFill/>
          </p:spPr>
          <p:txBody>
            <a:bodyPr wrap="none" rtlCol="0">
              <a:spAutoFit/>
            </a:bodyPr>
            <a:lstStyle/>
            <a:p>
              <a:r>
                <a:rPr lang="en-US" sz="2200" dirty="0">
                  <a:latin typeface="Helvetica" charset="0"/>
                  <a:ea typeface="Helvetica" charset="0"/>
                  <a:cs typeface="Helvetica" charset="0"/>
                </a:rPr>
                <a:t>gene B</a:t>
              </a:r>
            </a:p>
          </p:txBody>
        </p:sp>
        <p:sp>
          <p:nvSpPr>
            <p:cNvPr id="31" name="TextBox 30">
              <a:extLst>
                <a:ext uri="{FF2B5EF4-FFF2-40B4-BE49-F238E27FC236}">
                  <a16:creationId xmlns:a16="http://schemas.microsoft.com/office/drawing/2014/main" id="{F9996334-06E2-327A-B952-10E2580B5253}"/>
                </a:ext>
              </a:extLst>
            </p:cNvPr>
            <p:cNvSpPr txBox="1"/>
            <p:nvPr/>
          </p:nvSpPr>
          <p:spPr>
            <a:xfrm>
              <a:off x="4974089" y="4809099"/>
              <a:ext cx="1063881" cy="430887"/>
            </a:xfrm>
            <a:prstGeom prst="rect">
              <a:avLst/>
            </a:prstGeom>
            <a:noFill/>
          </p:spPr>
          <p:txBody>
            <a:bodyPr wrap="none" rtlCol="0">
              <a:spAutoFit/>
            </a:bodyPr>
            <a:lstStyle/>
            <a:p>
              <a:r>
                <a:rPr lang="en-US" sz="2200" dirty="0">
                  <a:latin typeface="Helvetica" charset="0"/>
                  <a:ea typeface="Helvetica" charset="0"/>
                  <a:cs typeface="Helvetica" charset="0"/>
                </a:rPr>
                <a:t>gene A</a:t>
              </a:r>
            </a:p>
          </p:txBody>
        </p:sp>
        <p:sp>
          <p:nvSpPr>
            <p:cNvPr id="33" name="TextBox 32">
              <a:extLst>
                <a:ext uri="{FF2B5EF4-FFF2-40B4-BE49-F238E27FC236}">
                  <a16:creationId xmlns:a16="http://schemas.microsoft.com/office/drawing/2014/main" id="{5938E786-5C3F-A443-4D4D-B9468CFF596B}"/>
                </a:ext>
              </a:extLst>
            </p:cNvPr>
            <p:cNvSpPr txBox="1"/>
            <p:nvPr/>
          </p:nvSpPr>
          <p:spPr>
            <a:xfrm rot="16200000">
              <a:off x="5471161" y="3582257"/>
              <a:ext cx="1128835" cy="477054"/>
            </a:xfrm>
            <a:prstGeom prst="rect">
              <a:avLst/>
            </a:prstGeom>
            <a:noFill/>
          </p:spPr>
          <p:txBody>
            <a:bodyPr wrap="none" rtlCol="0">
              <a:spAutoFit/>
            </a:bodyPr>
            <a:lstStyle/>
            <a:p>
              <a:r>
                <a:rPr lang="en-US" sz="2500" dirty="0">
                  <a:latin typeface="Helvetica" charset="0"/>
                  <a:ea typeface="Helvetica" charset="0"/>
                  <a:cs typeface="Helvetica" charset="0"/>
                </a:rPr>
                <a:t>Genes</a:t>
              </a:r>
            </a:p>
          </p:txBody>
        </p:sp>
        <p:sp>
          <p:nvSpPr>
            <p:cNvPr id="34" name="TextBox 33">
              <a:extLst>
                <a:ext uri="{FF2B5EF4-FFF2-40B4-BE49-F238E27FC236}">
                  <a16:creationId xmlns:a16="http://schemas.microsoft.com/office/drawing/2014/main" id="{D4546750-374F-33DE-34EE-C923F8C8BACB}"/>
                </a:ext>
              </a:extLst>
            </p:cNvPr>
            <p:cNvSpPr txBox="1"/>
            <p:nvPr/>
          </p:nvSpPr>
          <p:spPr>
            <a:xfrm>
              <a:off x="6660663" y="1771713"/>
              <a:ext cx="894797" cy="477054"/>
            </a:xfrm>
            <a:prstGeom prst="rect">
              <a:avLst/>
            </a:prstGeom>
            <a:noFill/>
          </p:spPr>
          <p:txBody>
            <a:bodyPr wrap="none" rtlCol="0">
              <a:spAutoFit/>
            </a:bodyPr>
            <a:lstStyle/>
            <a:p>
              <a:r>
                <a:rPr lang="en-US" sz="2500">
                  <a:latin typeface="Helvetica" charset="0"/>
                  <a:ea typeface="Helvetica" charset="0"/>
                  <a:cs typeface="Helvetica" charset="0"/>
                </a:rPr>
                <a:t>Cells</a:t>
              </a:r>
              <a:endParaRPr lang="en-US" sz="2500" dirty="0">
                <a:latin typeface="Helvetica" charset="0"/>
                <a:ea typeface="Helvetica" charset="0"/>
                <a:cs typeface="Helvetica" charset="0"/>
              </a:endParaRPr>
            </a:p>
          </p:txBody>
        </p:sp>
      </p:grpSp>
      <p:sp>
        <p:nvSpPr>
          <p:cNvPr id="36" name="Rectangle 35">
            <a:extLst>
              <a:ext uri="{FF2B5EF4-FFF2-40B4-BE49-F238E27FC236}">
                <a16:creationId xmlns:a16="http://schemas.microsoft.com/office/drawing/2014/main" id="{9FA15BC4-38B2-8C40-4B3C-E7D058223F90}"/>
              </a:ext>
            </a:extLst>
          </p:cNvPr>
          <p:cNvSpPr/>
          <p:nvPr/>
        </p:nvSpPr>
        <p:spPr>
          <a:xfrm>
            <a:off x="9269674" y="1947034"/>
            <a:ext cx="184872" cy="3108132"/>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Arrow Connector 36">
            <a:extLst>
              <a:ext uri="{FF2B5EF4-FFF2-40B4-BE49-F238E27FC236}">
                <a16:creationId xmlns:a16="http://schemas.microsoft.com/office/drawing/2014/main" id="{27DBC7E3-D452-26A4-5C5A-122EDBA86CDD}"/>
              </a:ext>
            </a:extLst>
          </p:cNvPr>
          <p:cNvCxnSpPr>
            <a:cxnSpLocks/>
          </p:cNvCxnSpPr>
          <p:nvPr/>
        </p:nvCxnSpPr>
        <p:spPr>
          <a:xfrm flipH="1">
            <a:off x="7648623" y="4903786"/>
            <a:ext cx="1575222" cy="6401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88303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0649B-BE55-E783-2850-E4B0302666F2}"/>
              </a:ext>
            </a:extLst>
          </p:cNvPr>
          <p:cNvSpPr>
            <a:spLocks noGrp="1"/>
          </p:cNvSpPr>
          <p:nvPr>
            <p:ph type="title"/>
          </p:nvPr>
        </p:nvSpPr>
        <p:spPr>
          <a:xfrm>
            <a:off x="327561" y="365125"/>
            <a:ext cx="10515600" cy="1325563"/>
          </a:xfrm>
        </p:spPr>
        <p:txBody>
          <a:bodyPr/>
          <a:lstStyle/>
          <a:p>
            <a:r>
              <a:rPr lang="en-US" dirty="0"/>
              <a:t>Single-cell sequencing</a:t>
            </a:r>
          </a:p>
        </p:txBody>
      </p:sp>
      <p:pic>
        <p:nvPicPr>
          <p:cNvPr id="2050" name="Picture 2">
            <a:extLst>
              <a:ext uri="{FF2B5EF4-FFF2-40B4-BE49-F238E27FC236}">
                <a16:creationId xmlns:a16="http://schemas.microsoft.com/office/drawing/2014/main" id="{495C7D26-A2D9-7630-9560-E0D754BEC6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5673" y="1690688"/>
            <a:ext cx="8098164" cy="404064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687E19A-D390-3009-2257-051B5E6F94C9}"/>
              </a:ext>
            </a:extLst>
          </p:cNvPr>
          <p:cNvSpPr txBox="1"/>
          <p:nvPr/>
        </p:nvSpPr>
        <p:spPr>
          <a:xfrm>
            <a:off x="35223" y="6308209"/>
            <a:ext cx="7557903" cy="369332"/>
          </a:xfrm>
          <a:prstGeom prst="rect">
            <a:avLst/>
          </a:prstGeom>
          <a:noFill/>
        </p:spPr>
        <p:txBody>
          <a:bodyPr wrap="none" rtlCol="0">
            <a:spAutoFit/>
          </a:bodyPr>
          <a:lstStyle/>
          <a:p>
            <a:r>
              <a:rPr lang="en-US" dirty="0"/>
              <a:t>Source: </a:t>
            </a:r>
            <a:r>
              <a:rPr lang="en-US" dirty="0">
                <a:hlinkClick r:id="rId3"/>
              </a:rPr>
              <a:t>https://www.tbmcore.cnrs.fr/onecell/?lang=en</a:t>
            </a:r>
            <a:r>
              <a:rPr lang="en-US" dirty="0"/>
              <a:t> (if GIF doesn’t work)</a:t>
            </a:r>
          </a:p>
        </p:txBody>
      </p:sp>
    </p:spTree>
    <p:extLst>
      <p:ext uri="{BB962C8B-B14F-4D97-AF65-F5344CB8AC3E}">
        <p14:creationId xmlns:p14="http://schemas.microsoft.com/office/powerpoint/2010/main" val="38036246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6ABC2-4562-43D2-A1F2-4EDEAC21BC32}"/>
            </a:ext>
          </a:extLst>
        </p:cNvPr>
        <p:cNvGrpSpPr/>
        <p:nvPr/>
      </p:nvGrpSpPr>
      <p:grpSpPr>
        <a:xfrm>
          <a:off x="0" y="0"/>
          <a:ext cx="0" cy="0"/>
          <a:chOff x="0" y="0"/>
          <a:chExt cx="0" cy="0"/>
        </a:xfrm>
      </p:grpSpPr>
      <p:pic>
        <p:nvPicPr>
          <p:cNvPr id="75" name="Picture 74">
            <a:extLst>
              <a:ext uri="{FF2B5EF4-FFF2-40B4-BE49-F238E27FC236}">
                <a16:creationId xmlns:a16="http://schemas.microsoft.com/office/drawing/2014/main" id="{B0FCE533-6E4A-13A6-EB93-637DBB45F6C7}"/>
              </a:ext>
            </a:extLst>
          </p:cNvPr>
          <p:cNvPicPr>
            <a:picLocks noChangeAspect="1"/>
          </p:cNvPicPr>
          <p:nvPr/>
        </p:nvPicPr>
        <p:blipFill>
          <a:blip r:embed="rId3"/>
          <a:stretch>
            <a:fillRect/>
          </a:stretch>
        </p:blipFill>
        <p:spPr>
          <a:xfrm>
            <a:off x="7849617" y="1758607"/>
            <a:ext cx="1922576" cy="3589524"/>
          </a:xfrm>
          <a:prstGeom prst="rect">
            <a:avLst/>
          </a:prstGeom>
        </p:spPr>
      </p:pic>
      <p:pic>
        <p:nvPicPr>
          <p:cNvPr id="76" name="Picture 75">
            <a:extLst>
              <a:ext uri="{FF2B5EF4-FFF2-40B4-BE49-F238E27FC236}">
                <a16:creationId xmlns:a16="http://schemas.microsoft.com/office/drawing/2014/main" id="{CE813975-5A65-16C6-9D05-F9E2ED3A5C9E}"/>
              </a:ext>
            </a:extLst>
          </p:cNvPr>
          <p:cNvPicPr>
            <a:picLocks noChangeAspect="1"/>
          </p:cNvPicPr>
          <p:nvPr/>
        </p:nvPicPr>
        <p:blipFill>
          <a:blip r:embed="rId4"/>
          <a:stretch>
            <a:fillRect/>
          </a:stretch>
        </p:blipFill>
        <p:spPr>
          <a:xfrm>
            <a:off x="10145378" y="1758607"/>
            <a:ext cx="516513" cy="3575979"/>
          </a:xfrm>
          <a:prstGeom prst="rect">
            <a:avLst/>
          </a:prstGeom>
        </p:spPr>
      </p:pic>
      <p:sp>
        <p:nvSpPr>
          <p:cNvPr id="77" name="TextBox 76">
            <a:extLst>
              <a:ext uri="{FF2B5EF4-FFF2-40B4-BE49-F238E27FC236}">
                <a16:creationId xmlns:a16="http://schemas.microsoft.com/office/drawing/2014/main" id="{C7FF1265-6E9E-8FA8-7FEE-6B1C6C79EB12}"/>
              </a:ext>
            </a:extLst>
          </p:cNvPr>
          <p:cNvSpPr txBox="1"/>
          <p:nvPr/>
        </p:nvSpPr>
        <p:spPr>
          <a:xfrm rot="16200000">
            <a:off x="6586092" y="2529192"/>
            <a:ext cx="1977401" cy="400110"/>
          </a:xfrm>
          <a:prstGeom prst="rect">
            <a:avLst/>
          </a:prstGeom>
          <a:noFill/>
        </p:spPr>
        <p:txBody>
          <a:bodyPr wrap="none" rtlCol="0">
            <a:spAutoFit/>
          </a:bodyPr>
          <a:lstStyle/>
          <a:p>
            <a:r>
              <a:rPr lang="en-US" sz="2000" dirty="0"/>
              <a:t>Spots (samples)</a:t>
            </a:r>
          </a:p>
        </p:txBody>
      </p:sp>
      <p:sp>
        <p:nvSpPr>
          <p:cNvPr id="79" name="TextBox 78">
            <a:extLst>
              <a:ext uri="{FF2B5EF4-FFF2-40B4-BE49-F238E27FC236}">
                <a16:creationId xmlns:a16="http://schemas.microsoft.com/office/drawing/2014/main" id="{C9B9D44F-1F30-ED2D-5B6E-82E6E512E853}"/>
              </a:ext>
            </a:extLst>
          </p:cNvPr>
          <p:cNvSpPr txBox="1"/>
          <p:nvPr/>
        </p:nvSpPr>
        <p:spPr>
          <a:xfrm>
            <a:off x="9786422" y="948668"/>
            <a:ext cx="1234424" cy="820659"/>
          </a:xfrm>
          <a:prstGeom prst="rect">
            <a:avLst/>
          </a:prstGeom>
          <a:noFill/>
        </p:spPr>
        <p:txBody>
          <a:bodyPr wrap="none" rtlCol="0">
            <a:spAutoFit/>
          </a:bodyPr>
          <a:lstStyle/>
          <a:p>
            <a:pPr algn="ctr"/>
            <a:r>
              <a:rPr lang="en-US" sz="2200" dirty="0"/>
              <a:t>Spatial </a:t>
            </a:r>
            <a:br>
              <a:rPr lang="en-US" sz="2200" dirty="0"/>
            </a:br>
            <a:r>
              <a:rPr lang="en-US" sz="2200" dirty="0"/>
              <a:t>(2D)</a:t>
            </a:r>
          </a:p>
        </p:txBody>
      </p:sp>
      <p:pic>
        <p:nvPicPr>
          <p:cNvPr id="41" name="Picture 40">
            <a:extLst>
              <a:ext uri="{FF2B5EF4-FFF2-40B4-BE49-F238E27FC236}">
                <a16:creationId xmlns:a16="http://schemas.microsoft.com/office/drawing/2014/main" id="{3805DF27-6842-460F-EBBD-373217248464}"/>
              </a:ext>
            </a:extLst>
          </p:cNvPr>
          <p:cNvPicPr>
            <a:picLocks noChangeAspect="1"/>
          </p:cNvPicPr>
          <p:nvPr/>
        </p:nvPicPr>
        <p:blipFill rotWithShape="1">
          <a:blip r:embed="rId5">
            <a:extLst>
              <a:ext uri="{28A0092B-C50C-407E-A947-70E740481C1C}">
                <a14:useLocalDpi xmlns:a14="http://schemas.microsoft.com/office/drawing/2010/main" val="0"/>
              </a:ext>
            </a:extLst>
          </a:blip>
          <a:srcRect l="25315" t="31466" r="7379" b="36444"/>
          <a:stretch/>
        </p:blipFill>
        <p:spPr>
          <a:xfrm rot="5400000" flipH="1">
            <a:off x="6836682" y="2584776"/>
            <a:ext cx="3939955" cy="1922575"/>
          </a:xfrm>
          <a:prstGeom prst="rect">
            <a:avLst/>
          </a:prstGeom>
        </p:spPr>
      </p:pic>
      <p:pic>
        <p:nvPicPr>
          <p:cNvPr id="6" name="Picture 5">
            <a:extLst>
              <a:ext uri="{FF2B5EF4-FFF2-40B4-BE49-F238E27FC236}">
                <a16:creationId xmlns:a16="http://schemas.microsoft.com/office/drawing/2014/main" id="{4017A392-233E-8CD7-8931-27E76C6088AA}"/>
              </a:ext>
            </a:extLst>
          </p:cNvPr>
          <p:cNvPicPr>
            <a:picLocks noChangeAspect="1"/>
          </p:cNvPicPr>
          <p:nvPr/>
        </p:nvPicPr>
        <p:blipFill rotWithShape="1">
          <a:blip r:embed="rId6"/>
          <a:srcRect l="78076"/>
          <a:stretch/>
        </p:blipFill>
        <p:spPr>
          <a:xfrm>
            <a:off x="-1019781" y="-4827432"/>
            <a:ext cx="3227646" cy="4573934"/>
          </a:xfrm>
          <a:prstGeom prst="rect">
            <a:avLst/>
          </a:prstGeom>
        </p:spPr>
      </p:pic>
      <p:sp>
        <p:nvSpPr>
          <p:cNvPr id="2" name="Title 1">
            <a:extLst>
              <a:ext uri="{FF2B5EF4-FFF2-40B4-BE49-F238E27FC236}">
                <a16:creationId xmlns:a16="http://schemas.microsoft.com/office/drawing/2014/main" id="{CB0351FE-2479-0420-E1AD-907FAC0DEEAE}"/>
              </a:ext>
            </a:extLst>
          </p:cNvPr>
          <p:cNvSpPr>
            <a:spLocks noGrp="1"/>
          </p:cNvSpPr>
          <p:nvPr>
            <p:ph type="title"/>
          </p:nvPr>
        </p:nvSpPr>
        <p:spPr>
          <a:xfrm>
            <a:off x="105936" y="-29882"/>
            <a:ext cx="10914910" cy="1325563"/>
          </a:xfrm>
        </p:spPr>
        <p:txBody>
          <a:bodyPr>
            <a:normAutofit/>
          </a:bodyPr>
          <a:lstStyle/>
          <a:p>
            <a:r>
              <a:rPr lang="en-US" sz="4500" dirty="0">
                <a:cs typeface="Damascus" pitchFamily="2" charset="-78"/>
              </a:rPr>
              <a:t>Spatial transcriptomics (spatial sequencing)</a:t>
            </a:r>
            <a:endParaRPr lang="en-US" sz="4500" u="sng" dirty="0">
              <a:cs typeface="Damascus" pitchFamily="2" charset="-78"/>
            </a:endParaRPr>
          </a:p>
        </p:txBody>
      </p:sp>
      <p:sp>
        <p:nvSpPr>
          <p:cNvPr id="46" name="Right Arrow 45">
            <a:extLst>
              <a:ext uri="{FF2B5EF4-FFF2-40B4-BE49-F238E27FC236}">
                <a16:creationId xmlns:a16="http://schemas.microsoft.com/office/drawing/2014/main" id="{3A66B45F-472F-65D0-E909-E78BEE218CB7}"/>
              </a:ext>
            </a:extLst>
          </p:cNvPr>
          <p:cNvSpPr/>
          <p:nvPr/>
        </p:nvSpPr>
        <p:spPr>
          <a:xfrm>
            <a:off x="3942407" y="2870209"/>
            <a:ext cx="861937" cy="12665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47" name="TextBox 46">
            <a:extLst>
              <a:ext uri="{FF2B5EF4-FFF2-40B4-BE49-F238E27FC236}">
                <a16:creationId xmlns:a16="http://schemas.microsoft.com/office/drawing/2014/main" id="{E9D5553D-7BBF-789E-F00A-09E28A434DB5}"/>
              </a:ext>
            </a:extLst>
          </p:cNvPr>
          <p:cNvSpPr txBox="1"/>
          <p:nvPr/>
        </p:nvSpPr>
        <p:spPr>
          <a:xfrm>
            <a:off x="8708967" y="-1032889"/>
            <a:ext cx="3478308" cy="646331"/>
          </a:xfrm>
          <a:prstGeom prst="rect">
            <a:avLst/>
          </a:prstGeom>
          <a:noFill/>
        </p:spPr>
        <p:txBody>
          <a:bodyPr wrap="square" rtlCol="0">
            <a:spAutoFit/>
          </a:bodyPr>
          <a:lstStyle/>
          <a:p>
            <a:r>
              <a:rPr lang="en-US" b="1" dirty="0"/>
              <a:t>Gene expression matrix + spatial coordinates</a:t>
            </a:r>
          </a:p>
        </p:txBody>
      </p:sp>
      <p:sp>
        <p:nvSpPr>
          <p:cNvPr id="4" name="TextBox 3">
            <a:extLst>
              <a:ext uri="{FF2B5EF4-FFF2-40B4-BE49-F238E27FC236}">
                <a16:creationId xmlns:a16="http://schemas.microsoft.com/office/drawing/2014/main" id="{CE5A74F7-E9DC-38E5-A5D2-F288E886E576}"/>
              </a:ext>
            </a:extLst>
          </p:cNvPr>
          <p:cNvSpPr txBox="1"/>
          <p:nvPr/>
        </p:nvSpPr>
        <p:spPr>
          <a:xfrm>
            <a:off x="7221441" y="5628538"/>
            <a:ext cx="4965834" cy="1061829"/>
          </a:xfrm>
          <a:prstGeom prst="rect">
            <a:avLst/>
          </a:prstGeom>
          <a:noFill/>
        </p:spPr>
        <p:txBody>
          <a:bodyPr wrap="square" rtlCol="0">
            <a:spAutoFit/>
          </a:bodyPr>
          <a:lstStyle/>
          <a:p>
            <a:r>
              <a:rPr lang="en-US" sz="2100" b="1" dirty="0"/>
              <a:t>High-dimensional data:</a:t>
            </a:r>
            <a:r>
              <a:rPr lang="en-US" sz="2100" dirty="0"/>
              <a:t> </a:t>
            </a:r>
          </a:p>
          <a:p>
            <a:r>
              <a:rPr lang="en-US" sz="2100" dirty="0"/>
              <a:t>1,000-20,000 genes (</a:t>
            </a:r>
            <a:r>
              <a:rPr lang="en-US" sz="2100" i="1" dirty="0"/>
              <a:t>“features”</a:t>
            </a:r>
            <a:r>
              <a:rPr lang="en-US" sz="2100" dirty="0"/>
              <a:t>)</a:t>
            </a:r>
          </a:p>
          <a:p>
            <a:r>
              <a:rPr lang="en-US" sz="2100" dirty="0"/>
              <a:t>1,000s - 1,000,000s spots (</a:t>
            </a:r>
            <a:r>
              <a:rPr lang="en-US" sz="2100" i="1" dirty="0"/>
              <a:t>“samples”</a:t>
            </a:r>
            <a:r>
              <a:rPr lang="en-US" sz="2100" dirty="0"/>
              <a:t>)</a:t>
            </a:r>
          </a:p>
        </p:txBody>
      </p:sp>
      <p:pic>
        <p:nvPicPr>
          <p:cNvPr id="5" name="Picture 4" descr="A picture containing food&#10;&#10;Description automatically generated">
            <a:extLst>
              <a:ext uri="{FF2B5EF4-FFF2-40B4-BE49-F238E27FC236}">
                <a16:creationId xmlns:a16="http://schemas.microsoft.com/office/drawing/2014/main" id="{071C83D0-C713-2966-45CD-62D0A6A83D45}"/>
              </a:ext>
            </a:extLst>
          </p:cNvPr>
          <p:cNvPicPr>
            <a:picLocks noChangeAspect="1"/>
          </p:cNvPicPr>
          <p:nvPr/>
        </p:nvPicPr>
        <p:blipFill rotWithShape="1">
          <a:blip r:embed="rId7"/>
          <a:srcRect l="43670" t="18576" r="31932" b="29795"/>
          <a:stretch/>
        </p:blipFill>
        <p:spPr>
          <a:xfrm>
            <a:off x="354273" y="2299998"/>
            <a:ext cx="2277875" cy="2506742"/>
          </a:xfrm>
          <a:prstGeom prst="rect">
            <a:avLst/>
          </a:prstGeom>
        </p:spPr>
      </p:pic>
      <p:grpSp>
        <p:nvGrpSpPr>
          <p:cNvPr id="74" name="Group 73">
            <a:extLst>
              <a:ext uri="{FF2B5EF4-FFF2-40B4-BE49-F238E27FC236}">
                <a16:creationId xmlns:a16="http://schemas.microsoft.com/office/drawing/2014/main" id="{C5F1C0F3-A9E4-F06C-8B43-1244DFD672F7}"/>
              </a:ext>
            </a:extLst>
          </p:cNvPr>
          <p:cNvGrpSpPr/>
          <p:nvPr/>
        </p:nvGrpSpPr>
        <p:grpSpPr>
          <a:xfrm>
            <a:off x="438058" y="2635430"/>
            <a:ext cx="2097541" cy="1930439"/>
            <a:chOff x="3522322" y="2404372"/>
            <a:chExt cx="1568675" cy="1410430"/>
          </a:xfrm>
          <a:solidFill>
            <a:schemeClr val="accent6">
              <a:lumMod val="20000"/>
              <a:lumOff val="80000"/>
              <a:alpha val="74000"/>
            </a:schemeClr>
          </a:solidFill>
        </p:grpSpPr>
        <p:sp>
          <p:nvSpPr>
            <p:cNvPr id="7" name="Oval 6">
              <a:extLst>
                <a:ext uri="{FF2B5EF4-FFF2-40B4-BE49-F238E27FC236}">
                  <a16:creationId xmlns:a16="http://schemas.microsoft.com/office/drawing/2014/main" id="{74F96DF0-D4CA-7921-688C-D32376837A59}"/>
                </a:ext>
              </a:extLst>
            </p:cNvPr>
            <p:cNvSpPr/>
            <p:nvPr/>
          </p:nvSpPr>
          <p:spPr>
            <a:xfrm>
              <a:off x="3795388" y="240437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C20DBBA-C6C8-8BD6-8A17-BAEE66F3DC5B}"/>
                </a:ext>
              </a:extLst>
            </p:cNvPr>
            <p:cNvSpPr/>
            <p:nvPr/>
          </p:nvSpPr>
          <p:spPr>
            <a:xfrm>
              <a:off x="4073048" y="240437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EDE439E-9BCF-EA9E-657A-7A40C6EB4FA9}"/>
                </a:ext>
              </a:extLst>
            </p:cNvPr>
            <p:cNvSpPr/>
            <p:nvPr/>
          </p:nvSpPr>
          <p:spPr>
            <a:xfrm>
              <a:off x="4352797" y="240437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F3E7F97-98DE-BB03-6B2B-1AA4A5E8820E}"/>
                </a:ext>
              </a:extLst>
            </p:cNvPr>
            <p:cNvSpPr/>
            <p:nvPr/>
          </p:nvSpPr>
          <p:spPr>
            <a:xfrm>
              <a:off x="4630457" y="240437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8BE9203-6A81-E8CD-FFE0-6E07D500F901}"/>
                </a:ext>
              </a:extLst>
            </p:cNvPr>
            <p:cNvSpPr/>
            <p:nvPr/>
          </p:nvSpPr>
          <p:spPr>
            <a:xfrm>
              <a:off x="3795388" y="264988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EA1DEA8-D572-CA21-2FC7-1929F22B7729}"/>
                </a:ext>
              </a:extLst>
            </p:cNvPr>
            <p:cNvSpPr/>
            <p:nvPr/>
          </p:nvSpPr>
          <p:spPr>
            <a:xfrm>
              <a:off x="4073048" y="264988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3C22B651-7C8A-293B-699C-DEDDE437A42C}"/>
                </a:ext>
              </a:extLst>
            </p:cNvPr>
            <p:cNvSpPr/>
            <p:nvPr/>
          </p:nvSpPr>
          <p:spPr>
            <a:xfrm>
              <a:off x="4352797" y="264988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C803E37-E770-0BFE-5093-892B6A4E3543}"/>
                </a:ext>
              </a:extLst>
            </p:cNvPr>
            <p:cNvSpPr/>
            <p:nvPr/>
          </p:nvSpPr>
          <p:spPr>
            <a:xfrm>
              <a:off x="4630457" y="264988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AD3BBF4-573B-D1A2-D945-3B6AA395969B}"/>
                </a:ext>
              </a:extLst>
            </p:cNvPr>
            <p:cNvSpPr/>
            <p:nvPr/>
          </p:nvSpPr>
          <p:spPr>
            <a:xfrm>
              <a:off x="3795388" y="289539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456C9FDC-8C04-9FF7-A6D7-FBCDBA0FD6F9}"/>
                </a:ext>
              </a:extLst>
            </p:cNvPr>
            <p:cNvSpPr/>
            <p:nvPr/>
          </p:nvSpPr>
          <p:spPr>
            <a:xfrm>
              <a:off x="4073048" y="289539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9FC87D4-58C4-B228-0097-8E7D18AAD63D}"/>
                </a:ext>
              </a:extLst>
            </p:cNvPr>
            <p:cNvSpPr/>
            <p:nvPr/>
          </p:nvSpPr>
          <p:spPr>
            <a:xfrm>
              <a:off x="4352797" y="289539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CDDDC859-D1ED-C761-E07E-6B830D2BF0D0}"/>
                </a:ext>
              </a:extLst>
            </p:cNvPr>
            <p:cNvSpPr/>
            <p:nvPr/>
          </p:nvSpPr>
          <p:spPr>
            <a:xfrm>
              <a:off x="4630457" y="289539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CD486027-8306-9902-B000-6A101FD453C1}"/>
                </a:ext>
              </a:extLst>
            </p:cNvPr>
            <p:cNvSpPr/>
            <p:nvPr/>
          </p:nvSpPr>
          <p:spPr>
            <a:xfrm>
              <a:off x="3795388" y="314090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BC16B26-59D1-726B-BD23-CC60E6D5DC80}"/>
                </a:ext>
              </a:extLst>
            </p:cNvPr>
            <p:cNvSpPr/>
            <p:nvPr/>
          </p:nvSpPr>
          <p:spPr>
            <a:xfrm>
              <a:off x="4073048" y="314090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AE0B14B-4D44-B0D2-3FE2-C620DE2819AE}"/>
                </a:ext>
              </a:extLst>
            </p:cNvPr>
            <p:cNvSpPr/>
            <p:nvPr/>
          </p:nvSpPr>
          <p:spPr>
            <a:xfrm>
              <a:off x="4352797" y="314090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49EFB64-1D23-848A-8A03-DEE6592AC298}"/>
                </a:ext>
              </a:extLst>
            </p:cNvPr>
            <p:cNvSpPr/>
            <p:nvPr/>
          </p:nvSpPr>
          <p:spPr>
            <a:xfrm>
              <a:off x="4630457" y="314090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2717E24-5C39-6238-C5C0-FC2DD01986BB}"/>
                </a:ext>
              </a:extLst>
            </p:cNvPr>
            <p:cNvSpPr/>
            <p:nvPr/>
          </p:nvSpPr>
          <p:spPr>
            <a:xfrm>
              <a:off x="3795388" y="338641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0741AC1E-5725-C9A3-4C38-5F61C573374B}"/>
                </a:ext>
              </a:extLst>
            </p:cNvPr>
            <p:cNvSpPr/>
            <p:nvPr/>
          </p:nvSpPr>
          <p:spPr>
            <a:xfrm>
              <a:off x="4073048" y="338641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1D29F7C4-5277-8A32-4A52-EAABA740527D}"/>
                </a:ext>
              </a:extLst>
            </p:cNvPr>
            <p:cNvSpPr/>
            <p:nvPr/>
          </p:nvSpPr>
          <p:spPr>
            <a:xfrm>
              <a:off x="4352797" y="338641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2A5C8740-1DB6-9D05-98DB-19CC3A130742}"/>
                </a:ext>
              </a:extLst>
            </p:cNvPr>
            <p:cNvSpPr/>
            <p:nvPr/>
          </p:nvSpPr>
          <p:spPr>
            <a:xfrm>
              <a:off x="4630457" y="338641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DCE97B62-AC77-5F22-DFD5-30BF6686AE4F}"/>
                </a:ext>
              </a:extLst>
            </p:cNvPr>
            <p:cNvSpPr/>
            <p:nvPr/>
          </p:nvSpPr>
          <p:spPr>
            <a:xfrm>
              <a:off x="4908117" y="240437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6765D499-4563-0D1F-AC13-1B48CA00AAB0}"/>
                </a:ext>
              </a:extLst>
            </p:cNvPr>
            <p:cNvSpPr/>
            <p:nvPr/>
          </p:nvSpPr>
          <p:spPr>
            <a:xfrm>
              <a:off x="4908117" y="264988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DB9E99BD-060A-BD3C-783E-077CF236AE79}"/>
                </a:ext>
              </a:extLst>
            </p:cNvPr>
            <p:cNvSpPr/>
            <p:nvPr/>
          </p:nvSpPr>
          <p:spPr>
            <a:xfrm>
              <a:off x="4908117" y="289539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FDD93E7F-D332-2B3D-3CAB-E7CEF485BEF1}"/>
                </a:ext>
              </a:extLst>
            </p:cNvPr>
            <p:cNvSpPr/>
            <p:nvPr/>
          </p:nvSpPr>
          <p:spPr>
            <a:xfrm>
              <a:off x="4908117" y="314090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7688F2EB-8F29-55C9-39A4-D4779903293B}"/>
                </a:ext>
              </a:extLst>
            </p:cNvPr>
            <p:cNvSpPr/>
            <p:nvPr/>
          </p:nvSpPr>
          <p:spPr>
            <a:xfrm>
              <a:off x="4908117" y="338641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DF424561-B32E-B914-50F0-BC20C54D4B6F}"/>
                </a:ext>
              </a:extLst>
            </p:cNvPr>
            <p:cNvSpPr/>
            <p:nvPr/>
          </p:nvSpPr>
          <p:spPr>
            <a:xfrm>
              <a:off x="4073048" y="363192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18F90CBE-DD7A-2572-3234-AF2296304FD2}"/>
                </a:ext>
              </a:extLst>
            </p:cNvPr>
            <p:cNvSpPr/>
            <p:nvPr/>
          </p:nvSpPr>
          <p:spPr>
            <a:xfrm>
              <a:off x="4352797" y="363192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D05D50A5-EC30-DA33-A649-07ADFDFC136B}"/>
                </a:ext>
              </a:extLst>
            </p:cNvPr>
            <p:cNvSpPr/>
            <p:nvPr/>
          </p:nvSpPr>
          <p:spPr>
            <a:xfrm>
              <a:off x="4630457" y="363192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2D5B96CC-0DE9-8294-7ABE-BE3B971E8DAA}"/>
                </a:ext>
              </a:extLst>
            </p:cNvPr>
            <p:cNvSpPr/>
            <p:nvPr/>
          </p:nvSpPr>
          <p:spPr>
            <a:xfrm>
              <a:off x="4908117" y="3631922"/>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6555F6B0-A805-04F1-8968-D833DDCB2BA3}"/>
                </a:ext>
              </a:extLst>
            </p:cNvPr>
            <p:cNvSpPr/>
            <p:nvPr/>
          </p:nvSpPr>
          <p:spPr>
            <a:xfrm>
              <a:off x="3522322" y="3146121"/>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3" name="Straight Connector 42">
            <a:extLst>
              <a:ext uri="{FF2B5EF4-FFF2-40B4-BE49-F238E27FC236}">
                <a16:creationId xmlns:a16="http://schemas.microsoft.com/office/drawing/2014/main" id="{A6B96C03-5EE8-69DA-EB8E-6941CD25282B}"/>
              </a:ext>
            </a:extLst>
          </p:cNvPr>
          <p:cNvCxnSpPr>
            <a:cxnSpLocks/>
            <a:stCxn id="27" idx="0"/>
          </p:cNvCxnSpPr>
          <p:nvPr/>
        </p:nvCxnSpPr>
        <p:spPr>
          <a:xfrm>
            <a:off x="2413331" y="2635430"/>
            <a:ext cx="933462" cy="12417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6C197F10-1557-30FD-540C-43C0B695875A}"/>
              </a:ext>
            </a:extLst>
          </p:cNvPr>
          <p:cNvCxnSpPr>
            <a:cxnSpLocks/>
          </p:cNvCxnSpPr>
          <p:nvPr/>
        </p:nvCxnSpPr>
        <p:spPr>
          <a:xfrm>
            <a:off x="2413331" y="2948091"/>
            <a:ext cx="837485" cy="1192941"/>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CFAE6E6B-7FE8-AAC9-3633-4BCCC25F2B7F}"/>
              </a:ext>
            </a:extLst>
          </p:cNvPr>
          <p:cNvGrpSpPr/>
          <p:nvPr/>
        </p:nvGrpSpPr>
        <p:grpSpPr>
          <a:xfrm>
            <a:off x="3122332" y="2735794"/>
            <a:ext cx="482240" cy="2035771"/>
            <a:chOff x="3847583" y="7753473"/>
            <a:chExt cx="421176" cy="1815825"/>
          </a:xfrm>
        </p:grpSpPr>
        <p:sp>
          <p:nvSpPr>
            <p:cNvPr id="50" name="Rectangle 49">
              <a:extLst>
                <a:ext uri="{FF2B5EF4-FFF2-40B4-BE49-F238E27FC236}">
                  <a16:creationId xmlns:a16="http://schemas.microsoft.com/office/drawing/2014/main" id="{3DB4832C-0FCC-1593-4589-A31B6743A0F8}"/>
                </a:ext>
              </a:extLst>
            </p:cNvPr>
            <p:cNvSpPr/>
            <p:nvPr/>
          </p:nvSpPr>
          <p:spPr>
            <a:xfrm>
              <a:off x="3981601" y="7753473"/>
              <a:ext cx="153141" cy="214547"/>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
            </a:p>
          </p:txBody>
        </p:sp>
        <p:sp>
          <p:nvSpPr>
            <p:cNvPr id="51" name="Rectangle 50">
              <a:extLst>
                <a:ext uri="{FF2B5EF4-FFF2-40B4-BE49-F238E27FC236}">
                  <a16:creationId xmlns:a16="http://schemas.microsoft.com/office/drawing/2014/main" id="{71B21F72-0C24-DEDD-BC6A-44F9A96DCCC9}"/>
                </a:ext>
              </a:extLst>
            </p:cNvPr>
            <p:cNvSpPr/>
            <p:nvPr/>
          </p:nvSpPr>
          <p:spPr>
            <a:xfrm>
              <a:off x="3983558" y="7968021"/>
              <a:ext cx="151184" cy="2145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
            </a:p>
          </p:txBody>
        </p:sp>
        <p:sp>
          <p:nvSpPr>
            <p:cNvPr id="52" name="Rectangle 51">
              <a:extLst>
                <a:ext uri="{FF2B5EF4-FFF2-40B4-BE49-F238E27FC236}">
                  <a16:creationId xmlns:a16="http://schemas.microsoft.com/office/drawing/2014/main" id="{D21E611E-CE87-B5C6-AAE8-981569351F58}"/>
                </a:ext>
              </a:extLst>
            </p:cNvPr>
            <p:cNvSpPr/>
            <p:nvPr/>
          </p:nvSpPr>
          <p:spPr>
            <a:xfrm>
              <a:off x="3983228" y="8182568"/>
              <a:ext cx="151184" cy="2145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
            </a:p>
          </p:txBody>
        </p:sp>
        <p:sp>
          <p:nvSpPr>
            <p:cNvPr id="53" name="Rectangle 52">
              <a:extLst>
                <a:ext uri="{FF2B5EF4-FFF2-40B4-BE49-F238E27FC236}">
                  <a16:creationId xmlns:a16="http://schemas.microsoft.com/office/drawing/2014/main" id="{BD6A1386-9C09-B316-1618-EF73D29CCE4A}"/>
                </a:ext>
              </a:extLst>
            </p:cNvPr>
            <p:cNvSpPr/>
            <p:nvPr/>
          </p:nvSpPr>
          <p:spPr>
            <a:xfrm>
              <a:off x="3981601" y="8397114"/>
              <a:ext cx="153141" cy="21454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
            </a:p>
          </p:txBody>
        </p:sp>
        <p:sp>
          <p:nvSpPr>
            <p:cNvPr id="54" name="Rectangle 53">
              <a:extLst>
                <a:ext uri="{FF2B5EF4-FFF2-40B4-BE49-F238E27FC236}">
                  <a16:creationId xmlns:a16="http://schemas.microsoft.com/office/drawing/2014/main" id="{2E42938B-9992-9FF2-1412-D0E17117E805}"/>
                </a:ext>
              </a:extLst>
            </p:cNvPr>
            <p:cNvSpPr/>
            <p:nvPr/>
          </p:nvSpPr>
          <p:spPr>
            <a:xfrm>
              <a:off x="3982306" y="8611661"/>
              <a:ext cx="153141" cy="214547"/>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
            </a:p>
          </p:txBody>
        </p:sp>
        <p:sp>
          <p:nvSpPr>
            <p:cNvPr id="56" name="Rectangle 55">
              <a:extLst>
                <a:ext uri="{FF2B5EF4-FFF2-40B4-BE49-F238E27FC236}">
                  <a16:creationId xmlns:a16="http://schemas.microsoft.com/office/drawing/2014/main" id="{27B42F22-B9CD-E740-A6B0-CEC1BEE5EF1F}"/>
                </a:ext>
              </a:extLst>
            </p:cNvPr>
            <p:cNvSpPr/>
            <p:nvPr/>
          </p:nvSpPr>
          <p:spPr>
            <a:xfrm>
              <a:off x="3981601" y="8826209"/>
              <a:ext cx="153141" cy="2145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
            </a:p>
          </p:txBody>
        </p:sp>
        <p:sp>
          <p:nvSpPr>
            <p:cNvPr id="58" name="TextBox 57">
              <a:extLst>
                <a:ext uri="{FF2B5EF4-FFF2-40B4-BE49-F238E27FC236}">
                  <a16:creationId xmlns:a16="http://schemas.microsoft.com/office/drawing/2014/main" id="{3F7634C9-F897-7A07-2729-13E2722178AD}"/>
                </a:ext>
              </a:extLst>
            </p:cNvPr>
            <p:cNvSpPr txBox="1"/>
            <p:nvPr/>
          </p:nvSpPr>
          <p:spPr>
            <a:xfrm rot="5400000">
              <a:off x="3793898" y="9094438"/>
              <a:ext cx="528545" cy="421176"/>
            </a:xfrm>
            <a:prstGeom prst="rect">
              <a:avLst/>
            </a:prstGeom>
            <a:noFill/>
          </p:spPr>
          <p:txBody>
            <a:bodyPr wrap="none" rtlCol="0">
              <a:spAutoFit/>
            </a:bodyPr>
            <a:lstStyle/>
            <a:p>
              <a:r>
                <a:rPr lang="en-US" sz="1333"/>
                <a:t>…</a:t>
              </a:r>
            </a:p>
          </p:txBody>
        </p:sp>
      </p:grpSp>
      <p:sp>
        <p:nvSpPr>
          <p:cNvPr id="59" name="TextBox 58">
            <a:extLst>
              <a:ext uri="{FF2B5EF4-FFF2-40B4-BE49-F238E27FC236}">
                <a16:creationId xmlns:a16="http://schemas.microsoft.com/office/drawing/2014/main" id="{F573EA1A-F4A3-B09E-3F71-8D665617812F}"/>
              </a:ext>
            </a:extLst>
          </p:cNvPr>
          <p:cNvSpPr txBox="1"/>
          <p:nvPr/>
        </p:nvSpPr>
        <p:spPr>
          <a:xfrm>
            <a:off x="2475763" y="4430292"/>
            <a:ext cx="2223555" cy="646331"/>
          </a:xfrm>
          <a:prstGeom prst="rect">
            <a:avLst/>
          </a:prstGeom>
          <a:noFill/>
        </p:spPr>
        <p:txBody>
          <a:bodyPr wrap="square" rtlCol="0">
            <a:spAutoFit/>
          </a:bodyPr>
          <a:lstStyle/>
          <a:p>
            <a:pPr algn="ctr"/>
            <a:r>
              <a:rPr lang="en-US" dirty="0">
                <a:latin typeface="Helvetica" pitchFamily="2" charset="0"/>
              </a:rPr>
              <a:t>Gene expression vector</a:t>
            </a:r>
          </a:p>
        </p:txBody>
      </p:sp>
      <p:sp>
        <p:nvSpPr>
          <p:cNvPr id="61" name="TextBox 60">
            <a:extLst>
              <a:ext uri="{FF2B5EF4-FFF2-40B4-BE49-F238E27FC236}">
                <a16:creationId xmlns:a16="http://schemas.microsoft.com/office/drawing/2014/main" id="{29604CA8-8C6E-3799-4325-3B9A12F6C747}"/>
              </a:ext>
            </a:extLst>
          </p:cNvPr>
          <p:cNvSpPr txBox="1"/>
          <p:nvPr/>
        </p:nvSpPr>
        <p:spPr>
          <a:xfrm>
            <a:off x="1961125" y="1508030"/>
            <a:ext cx="2056692" cy="646331"/>
          </a:xfrm>
          <a:prstGeom prst="rect">
            <a:avLst/>
          </a:prstGeom>
          <a:noFill/>
        </p:spPr>
        <p:txBody>
          <a:bodyPr wrap="square" rtlCol="0">
            <a:spAutoFit/>
          </a:bodyPr>
          <a:lstStyle/>
          <a:p>
            <a:pPr algn="ctr"/>
            <a:r>
              <a:rPr lang="en-US" dirty="0">
                <a:latin typeface="Helvetica" pitchFamily="2" charset="0"/>
              </a:rPr>
              <a:t>Spatial coordinate of spot</a:t>
            </a:r>
          </a:p>
        </p:txBody>
      </p:sp>
      <p:pic>
        <p:nvPicPr>
          <p:cNvPr id="62" name="Picture 61">
            <a:extLst>
              <a:ext uri="{FF2B5EF4-FFF2-40B4-BE49-F238E27FC236}">
                <a16:creationId xmlns:a16="http://schemas.microsoft.com/office/drawing/2014/main" id="{4AF26920-0B6E-92F5-85D6-28C0CE01594C}"/>
              </a:ext>
            </a:extLst>
          </p:cNvPr>
          <p:cNvPicPr>
            <a:picLocks noChangeAspect="1"/>
          </p:cNvPicPr>
          <p:nvPr/>
        </p:nvPicPr>
        <p:blipFill>
          <a:blip r:embed="rId8"/>
          <a:stretch>
            <a:fillRect/>
          </a:stretch>
        </p:blipFill>
        <p:spPr>
          <a:xfrm>
            <a:off x="2602588" y="2200274"/>
            <a:ext cx="773766" cy="364062"/>
          </a:xfrm>
          <a:prstGeom prst="rect">
            <a:avLst/>
          </a:prstGeom>
        </p:spPr>
      </p:pic>
      <p:sp>
        <p:nvSpPr>
          <p:cNvPr id="63" name="TextBox 62">
            <a:extLst>
              <a:ext uri="{FF2B5EF4-FFF2-40B4-BE49-F238E27FC236}">
                <a16:creationId xmlns:a16="http://schemas.microsoft.com/office/drawing/2014/main" id="{156E959B-DA2C-4CFC-1FB9-132388A2169E}"/>
              </a:ext>
            </a:extLst>
          </p:cNvPr>
          <p:cNvSpPr txBox="1"/>
          <p:nvPr/>
        </p:nvSpPr>
        <p:spPr>
          <a:xfrm rot="5400000">
            <a:off x="3313550" y="3344261"/>
            <a:ext cx="686406" cy="307777"/>
          </a:xfrm>
          <a:prstGeom prst="rect">
            <a:avLst/>
          </a:prstGeom>
          <a:noFill/>
        </p:spPr>
        <p:txBody>
          <a:bodyPr wrap="none" rtlCol="0">
            <a:spAutoFit/>
          </a:bodyPr>
          <a:lstStyle/>
          <a:p>
            <a:r>
              <a:rPr lang="en-US" sz="1400" dirty="0"/>
              <a:t>Genes</a:t>
            </a:r>
          </a:p>
        </p:txBody>
      </p:sp>
      <p:sp>
        <p:nvSpPr>
          <p:cNvPr id="37" name="TextBox 36">
            <a:extLst>
              <a:ext uri="{FF2B5EF4-FFF2-40B4-BE49-F238E27FC236}">
                <a16:creationId xmlns:a16="http://schemas.microsoft.com/office/drawing/2014/main" id="{9EF27098-D6CE-5F26-DEBC-55A23B7F2C5D}"/>
              </a:ext>
            </a:extLst>
          </p:cNvPr>
          <p:cNvSpPr txBox="1"/>
          <p:nvPr/>
        </p:nvSpPr>
        <p:spPr>
          <a:xfrm>
            <a:off x="749054" y="7310777"/>
            <a:ext cx="10693891" cy="477054"/>
          </a:xfrm>
          <a:prstGeom prst="rect">
            <a:avLst/>
          </a:prstGeom>
          <a:noFill/>
        </p:spPr>
        <p:txBody>
          <a:bodyPr wrap="square" rtlCol="0">
            <a:spAutoFit/>
          </a:bodyPr>
          <a:lstStyle/>
          <a:p>
            <a:r>
              <a:rPr lang="en-US" sz="2500" u="sng" dirty="0"/>
              <a:t>Computational opportunities (and challenges):</a:t>
            </a:r>
            <a:r>
              <a:rPr lang="en-US" sz="2500" dirty="0"/>
              <a:t> modeling </a:t>
            </a:r>
            <a:r>
              <a:rPr lang="en-US" sz="2500" b="1" dirty="0"/>
              <a:t>spatial</a:t>
            </a:r>
            <a:r>
              <a:rPr lang="en-US" sz="2500" dirty="0"/>
              <a:t> structure</a:t>
            </a:r>
          </a:p>
        </p:txBody>
      </p:sp>
      <p:sp>
        <p:nvSpPr>
          <p:cNvPr id="36" name="TextBox 35">
            <a:extLst>
              <a:ext uri="{FF2B5EF4-FFF2-40B4-BE49-F238E27FC236}">
                <a16:creationId xmlns:a16="http://schemas.microsoft.com/office/drawing/2014/main" id="{76E7B2C7-245B-0F4A-8AFA-88F895D5C567}"/>
              </a:ext>
            </a:extLst>
          </p:cNvPr>
          <p:cNvSpPr txBox="1"/>
          <p:nvPr/>
        </p:nvSpPr>
        <p:spPr>
          <a:xfrm>
            <a:off x="501475" y="1847031"/>
            <a:ext cx="1590500" cy="477054"/>
          </a:xfrm>
          <a:prstGeom prst="rect">
            <a:avLst/>
          </a:prstGeom>
          <a:noFill/>
        </p:spPr>
        <p:txBody>
          <a:bodyPr wrap="none" rtlCol="0">
            <a:spAutoFit/>
          </a:bodyPr>
          <a:lstStyle/>
          <a:p>
            <a:r>
              <a:rPr lang="en-US" sz="2500" dirty="0"/>
              <a:t>2-D tissue</a:t>
            </a:r>
          </a:p>
        </p:txBody>
      </p:sp>
      <p:graphicFrame>
        <p:nvGraphicFramePr>
          <p:cNvPr id="49" name="Table 48">
            <a:extLst>
              <a:ext uri="{FF2B5EF4-FFF2-40B4-BE49-F238E27FC236}">
                <a16:creationId xmlns:a16="http://schemas.microsoft.com/office/drawing/2014/main" id="{557926E7-C069-6412-BFD2-DFA33F704670}"/>
              </a:ext>
            </a:extLst>
          </p:cNvPr>
          <p:cNvGraphicFramePr>
            <a:graphicFrameLocks noGrp="1"/>
          </p:cNvGraphicFramePr>
          <p:nvPr/>
        </p:nvGraphicFramePr>
        <p:xfrm>
          <a:off x="-2005279" y="3300937"/>
          <a:ext cx="1666340" cy="3325360"/>
        </p:xfrm>
        <a:graphic>
          <a:graphicData uri="http://schemas.openxmlformats.org/drawingml/2006/table">
            <a:tbl>
              <a:tblPr>
                <a:tableStyleId>{0505E3EF-67EA-436B-97B2-0124C06EBD24}</a:tableStyleId>
              </a:tblPr>
              <a:tblGrid>
                <a:gridCol w="166634">
                  <a:extLst>
                    <a:ext uri="{9D8B030D-6E8A-4147-A177-3AD203B41FA5}">
                      <a16:colId xmlns:a16="http://schemas.microsoft.com/office/drawing/2014/main" val="1847557178"/>
                    </a:ext>
                  </a:extLst>
                </a:gridCol>
                <a:gridCol w="166634">
                  <a:extLst>
                    <a:ext uri="{9D8B030D-6E8A-4147-A177-3AD203B41FA5}">
                      <a16:colId xmlns:a16="http://schemas.microsoft.com/office/drawing/2014/main" val="4175269433"/>
                    </a:ext>
                  </a:extLst>
                </a:gridCol>
                <a:gridCol w="166634">
                  <a:extLst>
                    <a:ext uri="{9D8B030D-6E8A-4147-A177-3AD203B41FA5}">
                      <a16:colId xmlns:a16="http://schemas.microsoft.com/office/drawing/2014/main" val="2954664385"/>
                    </a:ext>
                  </a:extLst>
                </a:gridCol>
                <a:gridCol w="166634">
                  <a:extLst>
                    <a:ext uri="{9D8B030D-6E8A-4147-A177-3AD203B41FA5}">
                      <a16:colId xmlns:a16="http://schemas.microsoft.com/office/drawing/2014/main" val="1692806264"/>
                    </a:ext>
                  </a:extLst>
                </a:gridCol>
                <a:gridCol w="166634">
                  <a:extLst>
                    <a:ext uri="{9D8B030D-6E8A-4147-A177-3AD203B41FA5}">
                      <a16:colId xmlns:a16="http://schemas.microsoft.com/office/drawing/2014/main" val="3179830405"/>
                    </a:ext>
                  </a:extLst>
                </a:gridCol>
                <a:gridCol w="166634">
                  <a:extLst>
                    <a:ext uri="{9D8B030D-6E8A-4147-A177-3AD203B41FA5}">
                      <a16:colId xmlns:a16="http://schemas.microsoft.com/office/drawing/2014/main" val="835605984"/>
                    </a:ext>
                  </a:extLst>
                </a:gridCol>
                <a:gridCol w="166634">
                  <a:extLst>
                    <a:ext uri="{9D8B030D-6E8A-4147-A177-3AD203B41FA5}">
                      <a16:colId xmlns:a16="http://schemas.microsoft.com/office/drawing/2014/main" val="500014"/>
                    </a:ext>
                  </a:extLst>
                </a:gridCol>
                <a:gridCol w="166634">
                  <a:extLst>
                    <a:ext uri="{9D8B030D-6E8A-4147-A177-3AD203B41FA5}">
                      <a16:colId xmlns:a16="http://schemas.microsoft.com/office/drawing/2014/main" val="1162345700"/>
                    </a:ext>
                  </a:extLst>
                </a:gridCol>
                <a:gridCol w="166634">
                  <a:extLst>
                    <a:ext uri="{9D8B030D-6E8A-4147-A177-3AD203B41FA5}">
                      <a16:colId xmlns:a16="http://schemas.microsoft.com/office/drawing/2014/main" val="1266928044"/>
                    </a:ext>
                  </a:extLst>
                </a:gridCol>
                <a:gridCol w="166634">
                  <a:extLst>
                    <a:ext uri="{9D8B030D-6E8A-4147-A177-3AD203B41FA5}">
                      <a16:colId xmlns:a16="http://schemas.microsoft.com/office/drawing/2014/main" val="2813799600"/>
                    </a:ext>
                  </a:extLst>
                </a:gridCol>
              </a:tblGrid>
              <a:tr h="166268">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extLst>
                  <a:ext uri="{0D108BD9-81ED-4DB2-BD59-A6C34878D82A}">
                    <a16:rowId xmlns:a16="http://schemas.microsoft.com/office/drawing/2014/main" val="4201502412"/>
                  </a:ext>
                </a:extLst>
              </a:tr>
              <a:tr h="166268">
                <a:tc>
                  <a:txBody>
                    <a:bodyPr/>
                    <a:lstStyle/>
                    <a:p>
                      <a:endParaRPr lang="en-US" sz="100"/>
                    </a:p>
                  </a:txBody>
                  <a:tcPr marL="0" marR="0" marT="0" marB="0"/>
                </a:tc>
                <a:tc>
                  <a:txBody>
                    <a:bodyPr/>
                    <a:lstStyle/>
                    <a:p>
                      <a:endParaRPr lang="en-US" sz="100"/>
                    </a:p>
                  </a:txBody>
                  <a:tcPr marL="0" marR="0" marT="0" marB="0"/>
                </a:tc>
                <a:tc>
                  <a:txBody>
                    <a:bodyPr/>
                    <a:lstStyle/>
                    <a:p>
                      <a:endParaRPr lang="en-US" sz="100" dirty="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dirty="0"/>
                    </a:p>
                  </a:txBody>
                  <a:tcPr marL="0" marR="0" marT="0" marB="0"/>
                </a:tc>
                <a:extLst>
                  <a:ext uri="{0D108BD9-81ED-4DB2-BD59-A6C34878D82A}">
                    <a16:rowId xmlns:a16="http://schemas.microsoft.com/office/drawing/2014/main" val="1161964161"/>
                  </a:ext>
                </a:extLst>
              </a:tr>
              <a:tr h="166268">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extLst>
                  <a:ext uri="{0D108BD9-81ED-4DB2-BD59-A6C34878D82A}">
                    <a16:rowId xmlns:a16="http://schemas.microsoft.com/office/drawing/2014/main" val="4182628966"/>
                  </a:ext>
                </a:extLst>
              </a:tr>
              <a:tr h="166268">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dirty="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extLst>
                  <a:ext uri="{0D108BD9-81ED-4DB2-BD59-A6C34878D82A}">
                    <a16:rowId xmlns:a16="http://schemas.microsoft.com/office/drawing/2014/main" val="1536178884"/>
                  </a:ext>
                </a:extLst>
              </a:tr>
              <a:tr h="166268">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dirty="0"/>
                    </a:p>
                  </a:txBody>
                  <a:tcPr marL="0" marR="0" marT="0" marB="0"/>
                </a:tc>
                <a:tc>
                  <a:txBody>
                    <a:bodyPr/>
                    <a:lstStyle/>
                    <a:p>
                      <a:endParaRPr lang="en-US" sz="100"/>
                    </a:p>
                  </a:txBody>
                  <a:tcPr marL="0" marR="0" marT="0" marB="0"/>
                </a:tc>
                <a:tc>
                  <a:txBody>
                    <a:bodyPr/>
                    <a:lstStyle/>
                    <a:p>
                      <a:endParaRPr lang="en-US" sz="100"/>
                    </a:p>
                  </a:txBody>
                  <a:tcPr marL="0" marR="0" marT="0" marB="0"/>
                </a:tc>
                <a:extLst>
                  <a:ext uri="{0D108BD9-81ED-4DB2-BD59-A6C34878D82A}">
                    <a16:rowId xmlns:a16="http://schemas.microsoft.com/office/drawing/2014/main" val="314523758"/>
                  </a:ext>
                </a:extLst>
              </a:tr>
              <a:tr h="166268">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extLst>
                  <a:ext uri="{0D108BD9-81ED-4DB2-BD59-A6C34878D82A}">
                    <a16:rowId xmlns:a16="http://schemas.microsoft.com/office/drawing/2014/main" val="1636847495"/>
                  </a:ext>
                </a:extLst>
              </a:tr>
              <a:tr h="166268">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dirty="0"/>
                    </a:p>
                  </a:txBody>
                  <a:tcPr marL="0" marR="0" marT="0" marB="0"/>
                </a:tc>
                <a:tc>
                  <a:txBody>
                    <a:bodyPr/>
                    <a:lstStyle/>
                    <a:p>
                      <a:endParaRPr lang="en-US" sz="100"/>
                    </a:p>
                  </a:txBody>
                  <a:tcPr marL="0" marR="0" marT="0" marB="0"/>
                </a:tc>
                <a:tc>
                  <a:txBody>
                    <a:bodyPr/>
                    <a:lstStyle/>
                    <a:p>
                      <a:endParaRPr lang="en-US" sz="100" dirty="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extLst>
                  <a:ext uri="{0D108BD9-81ED-4DB2-BD59-A6C34878D82A}">
                    <a16:rowId xmlns:a16="http://schemas.microsoft.com/office/drawing/2014/main" val="766256760"/>
                  </a:ext>
                </a:extLst>
              </a:tr>
              <a:tr h="166268">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dirty="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dirty="0"/>
                    </a:p>
                  </a:txBody>
                  <a:tcPr marL="0" marR="0" marT="0" marB="0"/>
                </a:tc>
                <a:extLst>
                  <a:ext uri="{0D108BD9-81ED-4DB2-BD59-A6C34878D82A}">
                    <a16:rowId xmlns:a16="http://schemas.microsoft.com/office/drawing/2014/main" val="2491624468"/>
                  </a:ext>
                </a:extLst>
              </a:tr>
              <a:tr h="166268">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dirty="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dirty="0"/>
                    </a:p>
                  </a:txBody>
                  <a:tcPr marL="0" marR="0" marT="0" marB="0"/>
                </a:tc>
                <a:extLst>
                  <a:ext uri="{0D108BD9-81ED-4DB2-BD59-A6C34878D82A}">
                    <a16:rowId xmlns:a16="http://schemas.microsoft.com/office/drawing/2014/main" val="1880544682"/>
                  </a:ext>
                </a:extLst>
              </a:tr>
              <a:tr h="166268">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dirty="0"/>
                    </a:p>
                  </a:txBody>
                  <a:tcPr marL="0" marR="0" marT="0" marB="0"/>
                </a:tc>
                <a:extLst>
                  <a:ext uri="{0D108BD9-81ED-4DB2-BD59-A6C34878D82A}">
                    <a16:rowId xmlns:a16="http://schemas.microsoft.com/office/drawing/2014/main" val="3019345728"/>
                  </a:ext>
                </a:extLst>
              </a:tr>
              <a:tr h="166268">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dirty="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dirty="0"/>
                    </a:p>
                  </a:txBody>
                  <a:tcPr marL="0" marR="0" marT="0" marB="0"/>
                </a:tc>
                <a:tc>
                  <a:txBody>
                    <a:bodyPr/>
                    <a:lstStyle/>
                    <a:p>
                      <a:endParaRPr lang="en-US" sz="100"/>
                    </a:p>
                  </a:txBody>
                  <a:tcPr marL="0" marR="0" marT="0" marB="0"/>
                </a:tc>
                <a:tc>
                  <a:txBody>
                    <a:bodyPr/>
                    <a:lstStyle/>
                    <a:p>
                      <a:endParaRPr lang="en-US" sz="100" dirty="0"/>
                    </a:p>
                  </a:txBody>
                  <a:tcPr marL="0" marR="0" marT="0" marB="0"/>
                </a:tc>
                <a:extLst>
                  <a:ext uri="{0D108BD9-81ED-4DB2-BD59-A6C34878D82A}">
                    <a16:rowId xmlns:a16="http://schemas.microsoft.com/office/drawing/2014/main" val="1441899892"/>
                  </a:ext>
                </a:extLst>
              </a:tr>
              <a:tr h="166268">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dirty="0"/>
                    </a:p>
                  </a:txBody>
                  <a:tcPr marL="0" marR="0" marT="0" marB="0"/>
                </a:tc>
                <a:extLst>
                  <a:ext uri="{0D108BD9-81ED-4DB2-BD59-A6C34878D82A}">
                    <a16:rowId xmlns:a16="http://schemas.microsoft.com/office/drawing/2014/main" val="3869058466"/>
                  </a:ext>
                </a:extLst>
              </a:tr>
              <a:tr h="166268">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dirty="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dirty="0"/>
                    </a:p>
                  </a:txBody>
                  <a:tcPr marL="0" marR="0" marT="0" marB="0"/>
                </a:tc>
                <a:extLst>
                  <a:ext uri="{0D108BD9-81ED-4DB2-BD59-A6C34878D82A}">
                    <a16:rowId xmlns:a16="http://schemas.microsoft.com/office/drawing/2014/main" val="3263924716"/>
                  </a:ext>
                </a:extLst>
              </a:tr>
              <a:tr h="166268">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dirty="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dirty="0"/>
                    </a:p>
                  </a:txBody>
                  <a:tcPr marL="0" marR="0" marT="0" marB="0"/>
                </a:tc>
                <a:tc>
                  <a:txBody>
                    <a:bodyPr/>
                    <a:lstStyle/>
                    <a:p>
                      <a:endParaRPr lang="en-US" sz="100"/>
                    </a:p>
                  </a:txBody>
                  <a:tcPr marL="0" marR="0" marT="0" marB="0"/>
                </a:tc>
                <a:tc>
                  <a:txBody>
                    <a:bodyPr/>
                    <a:lstStyle/>
                    <a:p>
                      <a:endParaRPr lang="en-US" sz="100" dirty="0"/>
                    </a:p>
                  </a:txBody>
                  <a:tcPr marL="0" marR="0" marT="0" marB="0"/>
                </a:tc>
                <a:extLst>
                  <a:ext uri="{0D108BD9-81ED-4DB2-BD59-A6C34878D82A}">
                    <a16:rowId xmlns:a16="http://schemas.microsoft.com/office/drawing/2014/main" val="3008705156"/>
                  </a:ext>
                </a:extLst>
              </a:tr>
              <a:tr h="166268">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dirty="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dirty="0"/>
                    </a:p>
                  </a:txBody>
                  <a:tcPr marL="0" marR="0" marT="0" marB="0"/>
                </a:tc>
                <a:extLst>
                  <a:ext uri="{0D108BD9-81ED-4DB2-BD59-A6C34878D82A}">
                    <a16:rowId xmlns:a16="http://schemas.microsoft.com/office/drawing/2014/main" val="1907531028"/>
                  </a:ext>
                </a:extLst>
              </a:tr>
              <a:tr h="166268">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dirty="0"/>
                    </a:p>
                  </a:txBody>
                  <a:tcPr marL="0" marR="0" marT="0" marB="0"/>
                </a:tc>
                <a:extLst>
                  <a:ext uri="{0D108BD9-81ED-4DB2-BD59-A6C34878D82A}">
                    <a16:rowId xmlns:a16="http://schemas.microsoft.com/office/drawing/2014/main" val="1052943588"/>
                  </a:ext>
                </a:extLst>
              </a:tr>
              <a:tr h="166268">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dirty="0"/>
                    </a:p>
                  </a:txBody>
                  <a:tcPr marL="0" marR="0" marT="0" marB="0"/>
                </a:tc>
                <a:tc>
                  <a:txBody>
                    <a:bodyPr/>
                    <a:lstStyle/>
                    <a:p>
                      <a:endParaRPr lang="en-US" sz="100"/>
                    </a:p>
                  </a:txBody>
                  <a:tcPr marL="0" marR="0" marT="0" marB="0"/>
                </a:tc>
                <a:tc>
                  <a:txBody>
                    <a:bodyPr/>
                    <a:lstStyle/>
                    <a:p>
                      <a:endParaRPr lang="en-US" sz="100" dirty="0"/>
                    </a:p>
                  </a:txBody>
                  <a:tcPr marL="0" marR="0" marT="0" marB="0"/>
                </a:tc>
                <a:extLst>
                  <a:ext uri="{0D108BD9-81ED-4DB2-BD59-A6C34878D82A}">
                    <a16:rowId xmlns:a16="http://schemas.microsoft.com/office/drawing/2014/main" val="2277746856"/>
                  </a:ext>
                </a:extLst>
              </a:tr>
              <a:tr h="166268">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dirty="0"/>
                    </a:p>
                  </a:txBody>
                  <a:tcPr marL="0" marR="0" marT="0" marB="0"/>
                </a:tc>
                <a:tc>
                  <a:txBody>
                    <a:bodyPr/>
                    <a:lstStyle/>
                    <a:p>
                      <a:endParaRPr lang="en-US" sz="100"/>
                    </a:p>
                  </a:txBody>
                  <a:tcPr marL="0" marR="0" marT="0" marB="0"/>
                </a:tc>
                <a:tc>
                  <a:txBody>
                    <a:bodyPr/>
                    <a:lstStyle/>
                    <a:p>
                      <a:endParaRPr lang="en-US" sz="100" dirty="0"/>
                    </a:p>
                  </a:txBody>
                  <a:tcPr marL="0" marR="0" marT="0" marB="0"/>
                </a:tc>
                <a:extLst>
                  <a:ext uri="{0D108BD9-81ED-4DB2-BD59-A6C34878D82A}">
                    <a16:rowId xmlns:a16="http://schemas.microsoft.com/office/drawing/2014/main" val="1899106305"/>
                  </a:ext>
                </a:extLst>
              </a:tr>
              <a:tr h="166268">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dirty="0"/>
                    </a:p>
                  </a:txBody>
                  <a:tcPr marL="0" marR="0" marT="0" marB="0"/>
                </a:tc>
                <a:extLst>
                  <a:ext uri="{0D108BD9-81ED-4DB2-BD59-A6C34878D82A}">
                    <a16:rowId xmlns:a16="http://schemas.microsoft.com/office/drawing/2014/main" val="149339140"/>
                  </a:ext>
                </a:extLst>
              </a:tr>
              <a:tr h="166268">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a:p>
                  </a:txBody>
                  <a:tcPr marL="0" marR="0" marT="0" marB="0"/>
                </a:tc>
                <a:tc>
                  <a:txBody>
                    <a:bodyPr/>
                    <a:lstStyle/>
                    <a:p>
                      <a:endParaRPr lang="en-US" sz="100" dirty="0"/>
                    </a:p>
                  </a:txBody>
                  <a:tcPr marL="0" marR="0" marT="0" marB="0"/>
                </a:tc>
                <a:tc>
                  <a:txBody>
                    <a:bodyPr/>
                    <a:lstStyle/>
                    <a:p>
                      <a:endParaRPr lang="en-US" sz="100"/>
                    </a:p>
                  </a:txBody>
                  <a:tcPr marL="0" marR="0" marT="0" marB="0"/>
                </a:tc>
                <a:tc>
                  <a:txBody>
                    <a:bodyPr/>
                    <a:lstStyle/>
                    <a:p>
                      <a:endParaRPr lang="en-US" sz="100" dirty="0"/>
                    </a:p>
                  </a:txBody>
                  <a:tcPr marL="0" marR="0" marT="0" marB="0"/>
                </a:tc>
                <a:extLst>
                  <a:ext uri="{0D108BD9-81ED-4DB2-BD59-A6C34878D82A}">
                    <a16:rowId xmlns:a16="http://schemas.microsoft.com/office/drawing/2014/main" val="1683051036"/>
                  </a:ext>
                </a:extLst>
              </a:tr>
            </a:tbl>
          </a:graphicData>
        </a:graphic>
      </p:graphicFrame>
      <p:graphicFrame>
        <p:nvGraphicFramePr>
          <p:cNvPr id="55" name="Table 54">
            <a:extLst>
              <a:ext uri="{FF2B5EF4-FFF2-40B4-BE49-F238E27FC236}">
                <a16:creationId xmlns:a16="http://schemas.microsoft.com/office/drawing/2014/main" id="{0E743557-6202-41C4-593F-F06FDE186180}"/>
              </a:ext>
            </a:extLst>
          </p:cNvPr>
          <p:cNvGraphicFramePr>
            <a:graphicFrameLocks noGrp="1"/>
          </p:cNvGraphicFramePr>
          <p:nvPr/>
        </p:nvGraphicFramePr>
        <p:xfrm>
          <a:off x="-981196" y="-636833"/>
          <a:ext cx="426522" cy="3325360"/>
        </p:xfrm>
        <a:graphic>
          <a:graphicData uri="http://schemas.openxmlformats.org/drawingml/2006/table">
            <a:tbl>
              <a:tblPr>
                <a:tableStyleId>{D7AC3CCA-C797-4891-BE02-D94E43425B78}</a:tableStyleId>
              </a:tblPr>
              <a:tblGrid>
                <a:gridCol w="213261">
                  <a:extLst>
                    <a:ext uri="{9D8B030D-6E8A-4147-A177-3AD203B41FA5}">
                      <a16:colId xmlns:a16="http://schemas.microsoft.com/office/drawing/2014/main" val="1266928044"/>
                    </a:ext>
                  </a:extLst>
                </a:gridCol>
                <a:gridCol w="213261">
                  <a:extLst>
                    <a:ext uri="{9D8B030D-6E8A-4147-A177-3AD203B41FA5}">
                      <a16:colId xmlns:a16="http://schemas.microsoft.com/office/drawing/2014/main" val="2813799600"/>
                    </a:ext>
                  </a:extLst>
                </a:gridCol>
              </a:tblGrid>
              <a:tr h="166268">
                <a:tc>
                  <a:txBody>
                    <a:bodyPr/>
                    <a:lstStyle/>
                    <a:p>
                      <a:endParaRPr lang="en-US" sz="100"/>
                    </a:p>
                  </a:txBody>
                  <a:tcPr marL="0" marR="0" marT="0" marB="0"/>
                </a:tc>
                <a:tc>
                  <a:txBody>
                    <a:bodyPr/>
                    <a:lstStyle/>
                    <a:p>
                      <a:endParaRPr lang="en-US" sz="100"/>
                    </a:p>
                  </a:txBody>
                  <a:tcPr marL="0" marR="0" marT="0" marB="0"/>
                </a:tc>
                <a:extLst>
                  <a:ext uri="{0D108BD9-81ED-4DB2-BD59-A6C34878D82A}">
                    <a16:rowId xmlns:a16="http://schemas.microsoft.com/office/drawing/2014/main" val="4201502412"/>
                  </a:ext>
                </a:extLst>
              </a:tr>
              <a:tr h="166268">
                <a:tc>
                  <a:txBody>
                    <a:bodyPr/>
                    <a:lstStyle/>
                    <a:p>
                      <a:endParaRPr lang="en-US" sz="100"/>
                    </a:p>
                  </a:txBody>
                  <a:tcPr marL="0" marR="0" marT="0" marB="0"/>
                </a:tc>
                <a:tc>
                  <a:txBody>
                    <a:bodyPr/>
                    <a:lstStyle/>
                    <a:p>
                      <a:endParaRPr lang="en-US" sz="100"/>
                    </a:p>
                  </a:txBody>
                  <a:tcPr marL="0" marR="0" marT="0" marB="0"/>
                </a:tc>
                <a:extLst>
                  <a:ext uri="{0D108BD9-81ED-4DB2-BD59-A6C34878D82A}">
                    <a16:rowId xmlns:a16="http://schemas.microsoft.com/office/drawing/2014/main" val="1161964161"/>
                  </a:ext>
                </a:extLst>
              </a:tr>
              <a:tr h="166268">
                <a:tc>
                  <a:txBody>
                    <a:bodyPr/>
                    <a:lstStyle/>
                    <a:p>
                      <a:endParaRPr lang="en-US" sz="100"/>
                    </a:p>
                  </a:txBody>
                  <a:tcPr marL="0" marR="0" marT="0" marB="0"/>
                </a:tc>
                <a:tc>
                  <a:txBody>
                    <a:bodyPr/>
                    <a:lstStyle/>
                    <a:p>
                      <a:endParaRPr lang="en-US" sz="100"/>
                    </a:p>
                  </a:txBody>
                  <a:tcPr marL="0" marR="0" marT="0" marB="0"/>
                </a:tc>
                <a:extLst>
                  <a:ext uri="{0D108BD9-81ED-4DB2-BD59-A6C34878D82A}">
                    <a16:rowId xmlns:a16="http://schemas.microsoft.com/office/drawing/2014/main" val="4182628966"/>
                  </a:ext>
                </a:extLst>
              </a:tr>
              <a:tr h="166268">
                <a:tc>
                  <a:txBody>
                    <a:bodyPr/>
                    <a:lstStyle/>
                    <a:p>
                      <a:endParaRPr lang="en-US" sz="100"/>
                    </a:p>
                  </a:txBody>
                  <a:tcPr marL="0" marR="0" marT="0" marB="0"/>
                </a:tc>
                <a:tc>
                  <a:txBody>
                    <a:bodyPr/>
                    <a:lstStyle/>
                    <a:p>
                      <a:endParaRPr lang="en-US" sz="100"/>
                    </a:p>
                  </a:txBody>
                  <a:tcPr marL="0" marR="0" marT="0" marB="0"/>
                </a:tc>
                <a:extLst>
                  <a:ext uri="{0D108BD9-81ED-4DB2-BD59-A6C34878D82A}">
                    <a16:rowId xmlns:a16="http://schemas.microsoft.com/office/drawing/2014/main" val="1536178884"/>
                  </a:ext>
                </a:extLst>
              </a:tr>
              <a:tr h="166268">
                <a:tc>
                  <a:txBody>
                    <a:bodyPr/>
                    <a:lstStyle/>
                    <a:p>
                      <a:endParaRPr lang="en-US" sz="100"/>
                    </a:p>
                  </a:txBody>
                  <a:tcPr marL="0" marR="0" marT="0" marB="0"/>
                </a:tc>
                <a:tc>
                  <a:txBody>
                    <a:bodyPr/>
                    <a:lstStyle/>
                    <a:p>
                      <a:endParaRPr lang="en-US" sz="100"/>
                    </a:p>
                  </a:txBody>
                  <a:tcPr marL="0" marR="0" marT="0" marB="0"/>
                </a:tc>
                <a:extLst>
                  <a:ext uri="{0D108BD9-81ED-4DB2-BD59-A6C34878D82A}">
                    <a16:rowId xmlns:a16="http://schemas.microsoft.com/office/drawing/2014/main" val="314523758"/>
                  </a:ext>
                </a:extLst>
              </a:tr>
              <a:tr h="166268">
                <a:tc>
                  <a:txBody>
                    <a:bodyPr/>
                    <a:lstStyle/>
                    <a:p>
                      <a:endParaRPr lang="en-US" sz="100"/>
                    </a:p>
                  </a:txBody>
                  <a:tcPr marL="0" marR="0" marT="0" marB="0"/>
                </a:tc>
                <a:tc>
                  <a:txBody>
                    <a:bodyPr/>
                    <a:lstStyle/>
                    <a:p>
                      <a:endParaRPr lang="en-US" sz="100"/>
                    </a:p>
                  </a:txBody>
                  <a:tcPr marL="0" marR="0" marT="0" marB="0"/>
                </a:tc>
                <a:extLst>
                  <a:ext uri="{0D108BD9-81ED-4DB2-BD59-A6C34878D82A}">
                    <a16:rowId xmlns:a16="http://schemas.microsoft.com/office/drawing/2014/main" val="1636847495"/>
                  </a:ext>
                </a:extLst>
              </a:tr>
              <a:tr h="166268">
                <a:tc>
                  <a:txBody>
                    <a:bodyPr/>
                    <a:lstStyle/>
                    <a:p>
                      <a:endParaRPr lang="en-US" sz="100"/>
                    </a:p>
                  </a:txBody>
                  <a:tcPr marL="0" marR="0" marT="0" marB="0"/>
                </a:tc>
                <a:tc>
                  <a:txBody>
                    <a:bodyPr/>
                    <a:lstStyle/>
                    <a:p>
                      <a:endParaRPr lang="en-US" sz="100"/>
                    </a:p>
                  </a:txBody>
                  <a:tcPr marL="0" marR="0" marT="0" marB="0"/>
                </a:tc>
                <a:extLst>
                  <a:ext uri="{0D108BD9-81ED-4DB2-BD59-A6C34878D82A}">
                    <a16:rowId xmlns:a16="http://schemas.microsoft.com/office/drawing/2014/main" val="766256760"/>
                  </a:ext>
                </a:extLst>
              </a:tr>
              <a:tr h="166268">
                <a:tc>
                  <a:txBody>
                    <a:bodyPr/>
                    <a:lstStyle/>
                    <a:p>
                      <a:endParaRPr lang="en-US" sz="100"/>
                    </a:p>
                  </a:txBody>
                  <a:tcPr marL="0" marR="0" marT="0" marB="0"/>
                </a:tc>
                <a:tc>
                  <a:txBody>
                    <a:bodyPr/>
                    <a:lstStyle/>
                    <a:p>
                      <a:endParaRPr lang="en-US" sz="100" dirty="0"/>
                    </a:p>
                  </a:txBody>
                  <a:tcPr marL="0" marR="0" marT="0" marB="0"/>
                </a:tc>
                <a:extLst>
                  <a:ext uri="{0D108BD9-81ED-4DB2-BD59-A6C34878D82A}">
                    <a16:rowId xmlns:a16="http://schemas.microsoft.com/office/drawing/2014/main" val="2491624468"/>
                  </a:ext>
                </a:extLst>
              </a:tr>
              <a:tr h="166268">
                <a:tc>
                  <a:txBody>
                    <a:bodyPr/>
                    <a:lstStyle/>
                    <a:p>
                      <a:endParaRPr lang="en-US" sz="100"/>
                    </a:p>
                  </a:txBody>
                  <a:tcPr marL="0" marR="0" marT="0" marB="0"/>
                </a:tc>
                <a:tc>
                  <a:txBody>
                    <a:bodyPr/>
                    <a:lstStyle/>
                    <a:p>
                      <a:endParaRPr lang="en-US" sz="100" dirty="0"/>
                    </a:p>
                  </a:txBody>
                  <a:tcPr marL="0" marR="0" marT="0" marB="0"/>
                </a:tc>
                <a:extLst>
                  <a:ext uri="{0D108BD9-81ED-4DB2-BD59-A6C34878D82A}">
                    <a16:rowId xmlns:a16="http://schemas.microsoft.com/office/drawing/2014/main" val="1880544682"/>
                  </a:ext>
                </a:extLst>
              </a:tr>
              <a:tr h="166268">
                <a:tc>
                  <a:txBody>
                    <a:bodyPr/>
                    <a:lstStyle/>
                    <a:p>
                      <a:endParaRPr lang="en-US" sz="100"/>
                    </a:p>
                  </a:txBody>
                  <a:tcPr marL="0" marR="0" marT="0" marB="0"/>
                </a:tc>
                <a:tc>
                  <a:txBody>
                    <a:bodyPr/>
                    <a:lstStyle/>
                    <a:p>
                      <a:endParaRPr lang="en-US" sz="100" dirty="0"/>
                    </a:p>
                  </a:txBody>
                  <a:tcPr marL="0" marR="0" marT="0" marB="0"/>
                </a:tc>
                <a:extLst>
                  <a:ext uri="{0D108BD9-81ED-4DB2-BD59-A6C34878D82A}">
                    <a16:rowId xmlns:a16="http://schemas.microsoft.com/office/drawing/2014/main" val="3019345728"/>
                  </a:ext>
                </a:extLst>
              </a:tr>
              <a:tr h="166268">
                <a:tc>
                  <a:txBody>
                    <a:bodyPr/>
                    <a:lstStyle/>
                    <a:p>
                      <a:endParaRPr lang="en-US" sz="100"/>
                    </a:p>
                  </a:txBody>
                  <a:tcPr marL="0" marR="0" marT="0" marB="0"/>
                </a:tc>
                <a:tc>
                  <a:txBody>
                    <a:bodyPr/>
                    <a:lstStyle/>
                    <a:p>
                      <a:endParaRPr lang="en-US" sz="100" dirty="0"/>
                    </a:p>
                  </a:txBody>
                  <a:tcPr marL="0" marR="0" marT="0" marB="0"/>
                </a:tc>
                <a:extLst>
                  <a:ext uri="{0D108BD9-81ED-4DB2-BD59-A6C34878D82A}">
                    <a16:rowId xmlns:a16="http://schemas.microsoft.com/office/drawing/2014/main" val="1441899892"/>
                  </a:ext>
                </a:extLst>
              </a:tr>
              <a:tr h="166268">
                <a:tc>
                  <a:txBody>
                    <a:bodyPr/>
                    <a:lstStyle/>
                    <a:p>
                      <a:endParaRPr lang="en-US" sz="100"/>
                    </a:p>
                  </a:txBody>
                  <a:tcPr marL="0" marR="0" marT="0" marB="0"/>
                </a:tc>
                <a:tc>
                  <a:txBody>
                    <a:bodyPr/>
                    <a:lstStyle/>
                    <a:p>
                      <a:endParaRPr lang="en-US" sz="100" dirty="0"/>
                    </a:p>
                  </a:txBody>
                  <a:tcPr marL="0" marR="0" marT="0" marB="0"/>
                </a:tc>
                <a:extLst>
                  <a:ext uri="{0D108BD9-81ED-4DB2-BD59-A6C34878D82A}">
                    <a16:rowId xmlns:a16="http://schemas.microsoft.com/office/drawing/2014/main" val="3869058466"/>
                  </a:ext>
                </a:extLst>
              </a:tr>
              <a:tr h="166268">
                <a:tc>
                  <a:txBody>
                    <a:bodyPr/>
                    <a:lstStyle/>
                    <a:p>
                      <a:endParaRPr lang="en-US" sz="100"/>
                    </a:p>
                  </a:txBody>
                  <a:tcPr marL="0" marR="0" marT="0" marB="0"/>
                </a:tc>
                <a:tc>
                  <a:txBody>
                    <a:bodyPr/>
                    <a:lstStyle/>
                    <a:p>
                      <a:endParaRPr lang="en-US" sz="100" dirty="0"/>
                    </a:p>
                  </a:txBody>
                  <a:tcPr marL="0" marR="0" marT="0" marB="0"/>
                </a:tc>
                <a:extLst>
                  <a:ext uri="{0D108BD9-81ED-4DB2-BD59-A6C34878D82A}">
                    <a16:rowId xmlns:a16="http://schemas.microsoft.com/office/drawing/2014/main" val="3263924716"/>
                  </a:ext>
                </a:extLst>
              </a:tr>
              <a:tr h="166268">
                <a:tc>
                  <a:txBody>
                    <a:bodyPr/>
                    <a:lstStyle/>
                    <a:p>
                      <a:endParaRPr lang="en-US" sz="100"/>
                    </a:p>
                  </a:txBody>
                  <a:tcPr marL="0" marR="0" marT="0" marB="0"/>
                </a:tc>
                <a:tc>
                  <a:txBody>
                    <a:bodyPr/>
                    <a:lstStyle/>
                    <a:p>
                      <a:endParaRPr lang="en-US" sz="100" dirty="0"/>
                    </a:p>
                  </a:txBody>
                  <a:tcPr marL="0" marR="0" marT="0" marB="0"/>
                </a:tc>
                <a:extLst>
                  <a:ext uri="{0D108BD9-81ED-4DB2-BD59-A6C34878D82A}">
                    <a16:rowId xmlns:a16="http://schemas.microsoft.com/office/drawing/2014/main" val="3008705156"/>
                  </a:ext>
                </a:extLst>
              </a:tr>
              <a:tr h="166268">
                <a:tc>
                  <a:txBody>
                    <a:bodyPr/>
                    <a:lstStyle/>
                    <a:p>
                      <a:endParaRPr lang="en-US" sz="100"/>
                    </a:p>
                  </a:txBody>
                  <a:tcPr marL="0" marR="0" marT="0" marB="0"/>
                </a:tc>
                <a:tc>
                  <a:txBody>
                    <a:bodyPr/>
                    <a:lstStyle/>
                    <a:p>
                      <a:endParaRPr lang="en-US" sz="100" dirty="0"/>
                    </a:p>
                  </a:txBody>
                  <a:tcPr marL="0" marR="0" marT="0" marB="0"/>
                </a:tc>
                <a:extLst>
                  <a:ext uri="{0D108BD9-81ED-4DB2-BD59-A6C34878D82A}">
                    <a16:rowId xmlns:a16="http://schemas.microsoft.com/office/drawing/2014/main" val="1907531028"/>
                  </a:ext>
                </a:extLst>
              </a:tr>
              <a:tr h="166268">
                <a:tc>
                  <a:txBody>
                    <a:bodyPr/>
                    <a:lstStyle/>
                    <a:p>
                      <a:endParaRPr lang="en-US" sz="100"/>
                    </a:p>
                  </a:txBody>
                  <a:tcPr marL="0" marR="0" marT="0" marB="0"/>
                </a:tc>
                <a:tc>
                  <a:txBody>
                    <a:bodyPr/>
                    <a:lstStyle/>
                    <a:p>
                      <a:endParaRPr lang="en-US" sz="100" dirty="0"/>
                    </a:p>
                  </a:txBody>
                  <a:tcPr marL="0" marR="0" marT="0" marB="0"/>
                </a:tc>
                <a:extLst>
                  <a:ext uri="{0D108BD9-81ED-4DB2-BD59-A6C34878D82A}">
                    <a16:rowId xmlns:a16="http://schemas.microsoft.com/office/drawing/2014/main" val="1052943588"/>
                  </a:ext>
                </a:extLst>
              </a:tr>
              <a:tr h="166268">
                <a:tc>
                  <a:txBody>
                    <a:bodyPr/>
                    <a:lstStyle/>
                    <a:p>
                      <a:endParaRPr lang="en-US" sz="100"/>
                    </a:p>
                  </a:txBody>
                  <a:tcPr marL="0" marR="0" marT="0" marB="0"/>
                </a:tc>
                <a:tc>
                  <a:txBody>
                    <a:bodyPr/>
                    <a:lstStyle/>
                    <a:p>
                      <a:endParaRPr lang="en-US" sz="100" dirty="0"/>
                    </a:p>
                  </a:txBody>
                  <a:tcPr marL="0" marR="0" marT="0" marB="0"/>
                </a:tc>
                <a:extLst>
                  <a:ext uri="{0D108BD9-81ED-4DB2-BD59-A6C34878D82A}">
                    <a16:rowId xmlns:a16="http://schemas.microsoft.com/office/drawing/2014/main" val="2277746856"/>
                  </a:ext>
                </a:extLst>
              </a:tr>
              <a:tr h="166268">
                <a:tc>
                  <a:txBody>
                    <a:bodyPr/>
                    <a:lstStyle/>
                    <a:p>
                      <a:endParaRPr lang="en-US" sz="100"/>
                    </a:p>
                  </a:txBody>
                  <a:tcPr marL="0" marR="0" marT="0" marB="0"/>
                </a:tc>
                <a:tc>
                  <a:txBody>
                    <a:bodyPr/>
                    <a:lstStyle/>
                    <a:p>
                      <a:endParaRPr lang="en-US" sz="100" dirty="0"/>
                    </a:p>
                  </a:txBody>
                  <a:tcPr marL="0" marR="0" marT="0" marB="0"/>
                </a:tc>
                <a:extLst>
                  <a:ext uri="{0D108BD9-81ED-4DB2-BD59-A6C34878D82A}">
                    <a16:rowId xmlns:a16="http://schemas.microsoft.com/office/drawing/2014/main" val="1899106305"/>
                  </a:ext>
                </a:extLst>
              </a:tr>
              <a:tr h="166268">
                <a:tc>
                  <a:txBody>
                    <a:bodyPr/>
                    <a:lstStyle/>
                    <a:p>
                      <a:endParaRPr lang="en-US" sz="100"/>
                    </a:p>
                  </a:txBody>
                  <a:tcPr marL="0" marR="0" marT="0" marB="0"/>
                </a:tc>
                <a:tc>
                  <a:txBody>
                    <a:bodyPr/>
                    <a:lstStyle/>
                    <a:p>
                      <a:endParaRPr lang="en-US" sz="100" dirty="0"/>
                    </a:p>
                  </a:txBody>
                  <a:tcPr marL="0" marR="0" marT="0" marB="0"/>
                </a:tc>
                <a:extLst>
                  <a:ext uri="{0D108BD9-81ED-4DB2-BD59-A6C34878D82A}">
                    <a16:rowId xmlns:a16="http://schemas.microsoft.com/office/drawing/2014/main" val="149339140"/>
                  </a:ext>
                </a:extLst>
              </a:tr>
              <a:tr h="166268">
                <a:tc>
                  <a:txBody>
                    <a:bodyPr/>
                    <a:lstStyle/>
                    <a:p>
                      <a:endParaRPr lang="en-US" sz="100" dirty="0"/>
                    </a:p>
                  </a:txBody>
                  <a:tcPr marL="0" marR="0" marT="0" marB="0"/>
                </a:tc>
                <a:tc>
                  <a:txBody>
                    <a:bodyPr/>
                    <a:lstStyle/>
                    <a:p>
                      <a:endParaRPr lang="en-US" sz="100" dirty="0"/>
                    </a:p>
                  </a:txBody>
                  <a:tcPr marL="0" marR="0" marT="0" marB="0"/>
                </a:tc>
                <a:extLst>
                  <a:ext uri="{0D108BD9-81ED-4DB2-BD59-A6C34878D82A}">
                    <a16:rowId xmlns:a16="http://schemas.microsoft.com/office/drawing/2014/main" val="1683051036"/>
                  </a:ext>
                </a:extLst>
              </a:tr>
            </a:tbl>
          </a:graphicData>
        </a:graphic>
      </p:graphicFrame>
      <p:pic>
        <p:nvPicPr>
          <p:cNvPr id="72" name="Picture 71">
            <a:extLst>
              <a:ext uri="{FF2B5EF4-FFF2-40B4-BE49-F238E27FC236}">
                <a16:creationId xmlns:a16="http://schemas.microsoft.com/office/drawing/2014/main" id="{383C5161-23CF-2CD6-FBA2-80BA94A84A13}"/>
              </a:ext>
            </a:extLst>
          </p:cNvPr>
          <p:cNvPicPr>
            <a:picLocks noChangeAspect="1"/>
          </p:cNvPicPr>
          <p:nvPr/>
        </p:nvPicPr>
        <p:blipFill rotWithShape="1">
          <a:blip r:embed="rId9"/>
          <a:srcRect b="19564"/>
          <a:stretch/>
        </p:blipFill>
        <p:spPr>
          <a:xfrm>
            <a:off x="135902" y="5516042"/>
            <a:ext cx="4808893" cy="1112660"/>
          </a:xfrm>
          <a:prstGeom prst="rect">
            <a:avLst/>
          </a:prstGeom>
          <a:ln w="28575">
            <a:solidFill>
              <a:schemeClr val="tx1"/>
            </a:solidFill>
          </a:ln>
        </p:spPr>
      </p:pic>
      <p:sp>
        <p:nvSpPr>
          <p:cNvPr id="3" name="Slide Number Placeholder 2">
            <a:extLst>
              <a:ext uri="{FF2B5EF4-FFF2-40B4-BE49-F238E27FC236}">
                <a16:creationId xmlns:a16="http://schemas.microsoft.com/office/drawing/2014/main" id="{8B19B338-6AAA-6F81-9A1C-E483743E5083}"/>
              </a:ext>
            </a:extLst>
          </p:cNvPr>
          <p:cNvSpPr>
            <a:spLocks noGrp="1"/>
          </p:cNvSpPr>
          <p:nvPr>
            <p:ph type="sldNum" sz="quarter" idx="12"/>
          </p:nvPr>
        </p:nvSpPr>
        <p:spPr/>
        <p:txBody>
          <a:bodyPr/>
          <a:lstStyle/>
          <a:p>
            <a:fld id="{78F37FD3-93CC-5546-A434-8C2BE5A302AF}" type="slidenum">
              <a:rPr lang="en-US" smtClean="0"/>
              <a:t>26</a:t>
            </a:fld>
            <a:endParaRPr lang="en-US"/>
          </a:p>
        </p:txBody>
      </p:sp>
      <p:pic>
        <p:nvPicPr>
          <p:cNvPr id="39" name="Picture 38">
            <a:extLst>
              <a:ext uri="{FF2B5EF4-FFF2-40B4-BE49-F238E27FC236}">
                <a16:creationId xmlns:a16="http://schemas.microsoft.com/office/drawing/2014/main" id="{9C99BC93-03A7-6A60-9347-091D2532AFAE}"/>
              </a:ext>
            </a:extLst>
          </p:cNvPr>
          <p:cNvPicPr>
            <a:picLocks noChangeAspect="1"/>
          </p:cNvPicPr>
          <p:nvPr/>
        </p:nvPicPr>
        <p:blipFill>
          <a:blip r:embed="rId10"/>
          <a:stretch>
            <a:fillRect/>
          </a:stretch>
        </p:blipFill>
        <p:spPr>
          <a:xfrm>
            <a:off x="4927641" y="2973136"/>
            <a:ext cx="1229829" cy="978533"/>
          </a:xfrm>
          <a:prstGeom prst="rect">
            <a:avLst/>
          </a:prstGeom>
        </p:spPr>
      </p:pic>
      <p:sp>
        <p:nvSpPr>
          <p:cNvPr id="40" name="Right Arrow 39">
            <a:extLst>
              <a:ext uri="{FF2B5EF4-FFF2-40B4-BE49-F238E27FC236}">
                <a16:creationId xmlns:a16="http://schemas.microsoft.com/office/drawing/2014/main" id="{05C8C0EE-D8AC-D589-68AC-A93C0FB08611}"/>
              </a:ext>
            </a:extLst>
          </p:cNvPr>
          <p:cNvSpPr/>
          <p:nvPr/>
        </p:nvSpPr>
        <p:spPr>
          <a:xfrm>
            <a:off x="6296089" y="2830508"/>
            <a:ext cx="861937" cy="12665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78" name="TextBox 77">
            <a:extLst>
              <a:ext uri="{FF2B5EF4-FFF2-40B4-BE49-F238E27FC236}">
                <a16:creationId xmlns:a16="http://schemas.microsoft.com/office/drawing/2014/main" id="{587D5906-8B0B-90D2-2D4A-F91D04B557E8}"/>
              </a:ext>
            </a:extLst>
          </p:cNvPr>
          <p:cNvSpPr txBox="1"/>
          <p:nvPr/>
        </p:nvSpPr>
        <p:spPr>
          <a:xfrm>
            <a:off x="7763436" y="1334062"/>
            <a:ext cx="2015872" cy="400110"/>
          </a:xfrm>
          <a:prstGeom prst="rect">
            <a:avLst/>
          </a:prstGeom>
          <a:noFill/>
        </p:spPr>
        <p:txBody>
          <a:bodyPr wrap="none" rtlCol="0">
            <a:spAutoFit/>
          </a:bodyPr>
          <a:lstStyle/>
          <a:p>
            <a:r>
              <a:rPr lang="en-US" sz="2000" dirty="0"/>
              <a:t>Genes (features)</a:t>
            </a:r>
          </a:p>
        </p:txBody>
      </p:sp>
    </p:spTree>
    <p:extLst>
      <p:ext uri="{BB962C8B-B14F-4D97-AF65-F5344CB8AC3E}">
        <p14:creationId xmlns:p14="http://schemas.microsoft.com/office/powerpoint/2010/main" val="34402879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A7E4F-5353-BBAE-9F2C-49809923180B}"/>
              </a:ext>
            </a:extLst>
          </p:cNvPr>
          <p:cNvSpPr>
            <a:spLocks noGrp="1"/>
          </p:cNvSpPr>
          <p:nvPr>
            <p:ph type="title"/>
          </p:nvPr>
        </p:nvSpPr>
        <p:spPr>
          <a:xfrm>
            <a:off x="303811" y="246371"/>
            <a:ext cx="10515600" cy="1325563"/>
          </a:xfrm>
        </p:spPr>
        <p:txBody>
          <a:bodyPr/>
          <a:lstStyle/>
          <a:p>
            <a:r>
              <a:rPr lang="en-US" dirty="0"/>
              <a:t>Challenges: </a:t>
            </a:r>
            <a:r>
              <a:rPr lang="en-US" b="1" dirty="0"/>
              <a:t>sparsity </a:t>
            </a:r>
            <a:r>
              <a:rPr lang="en-US" dirty="0"/>
              <a:t>and </a:t>
            </a:r>
            <a:r>
              <a:rPr lang="en-US" b="1" dirty="0"/>
              <a:t>batch effects</a:t>
            </a:r>
          </a:p>
        </p:txBody>
      </p:sp>
      <p:pic>
        <p:nvPicPr>
          <p:cNvPr id="21" name="Picture 20">
            <a:extLst>
              <a:ext uri="{FF2B5EF4-FFF2-40B4-BE49-F238E27FC236}">
                <a16:creationId xmlns:a16="http://schemas.microsoft.com/office/drawing/2014/main" id="{C57976C4-7BDD-B42E-2AED-7E57EA75D8A9}"/>
              </a:ext>
            </a:extLst>
          </p:cNvPr>
          <p:cNvPicPr>
            <a:picLocks noChangeAspect="1"/>
          </p:cNvPicPr>
          <p:nvPr/>
        </p:nvPicPr>
        <p:blipFill>
          <a:blip r:embed="rId2"/>
          <a:stretch>
            <a:fillRect/>
          </a:stretch>
        </p:blipFill>
        <p:spPr>
          <a:xfrm>
            <a:off x="688796" y="2102992"/>
            <a:ext cx="1922576" cy="3589524"/>
          </a:xfrm>
          <a:prstGeom prst="rect">
            <a:avLst/>
          </a:prstGeom>
        </p:spPr>
      </p:pic>
      <p:pic>
        <p:nvPicPr>
          <p:cNvPr id="22" name="Picture 21">
            <a:extLst>
              <a:ext uri="{FF2B5EF4-FFF2-40B4-BE49-F238E27FC236}">
                <a16:creationId xmlns:a16="http://schemas.microsoft.com/office/drawing/2014/main" id="{7492CAB1-8FB6-AA7C-780E-2AABA111E617}"/>
              </a:ext>
            </a:extLst>
          </p:cNvPr>
          <p:cNvPicPr>
            <a:picLocks noChangeAspect="1"/>
          </p:cNvPicPr>
          <p:nvPr/>
        </p:nvPicPr>
        <p:blipFill>
          <a:blip r:embed="rId3"/>
          <a:stretch>
            <a:fillRect/>
          </a:stretch>
        </p:blipFill>
        <p:spPr>
          <a:xfrm>
            <a:off x="2984557" y="2102992"/>
            <a:ext cx="516513" cy="3575979"/>
          </a:xfrm>
          <a:prstGeom prst="rect">
            <a:avLst/>
          </a:prstGeom>
        </p:spPr>
      </p:pic>
      <p:sp>
        <p:nvSpPr>
          <p:cNvPr id="23" name="TextBox 22">
            <a:extLst>
              <a:ext uri="{FF2B5EF4-FFF2-40B4-BE49-F238E27FC236}">
                <a16:creationId xmlns:a16="http://schemas.microsoft.com/office/drawing/2014/main" id="{EFDE7F99-AAAD-A0E3-D39F-526477E27FD2}"/>
              </a:ext>
            </a:extLst>
          </p:cNvPr>
          <p:cNvSpPr txBox="1"/>
          <p:nvPr/>
        </p:nvSpPr>
        <p:spPr>
          <a:xfrm rot="16200000">
            <a:off x="-574729" y="2873577"/>
            <a:ext cx="1977401" cy="400110"/>
          </a:xfrm>
          <a:prstGeom prst="rect">
            <a:avLst/>
          </a:prstGeom>
          <a:noFill/>
        </p:spPr>
        <p:txBody>
          <a:bodyPr wrap="none" rtlCol="0">
            <a:spAutoFit/>
          </a:bodyPr>
          <a:lstStyle/>
          <a:p>
            <a:r>
              <a:rPr lang="en-US" sz="2000" dirty="0"/>
              <a:t>Spots (samples)</a:t>
            </a:r>
          </a:p>
        </p:txBody>
      </p:sp>
      <p:sp>
        <p:nvSpPr>
          <p:cNvPr id="24" name="TextBox 23">
            <a:extLst>
              <a:ext uri="{FF2B5EF4-FFF2-40B4-BE49-F238E27FC236}">
                <a16:creationId xmlns:a16="http://schemas.microsoft.com/office/drawing/2014/main" id="{214BD99C-350F-276C-CEEC-292AE3306CB5}"/>
              </a:ext>
            </a:extLst>
          </p:cNvPr>
          <p:cNvSpPr txBox="1"/>
          <p:nvPr/>
        </p:nvSpPr>
        <p:spPr>
          <a:xfrm>
            <a:off x="2625601" y="1293053"/>
            <a:ext cx="1234424" cy="820659"/>
          </a:xfrm>
          <a:prstGeom prst="rect">
            <a:avLst/>
          </a:prstGeom>
          <a:noFill/>
        </p:spPr>
        <p:txBody>
          <a:bodyPr wrap="none" rtlCol="0">
            <a:spAutoFit/>
          </a:bodyPr>
          <a:lstStyle/>
          <a:p>
            <a:pPr algn="ctr"/>
            <a:r>
              <a:rPr lang="en-US" sz="2200" dirty="0"/>
              <a:t>Spatial </a:t>
            </a:r>
            <a:br>
              <a:rPr lang="en-US" sz="2200" dirty="0"/>
            </a:br>
            <a:r>
              <a:rPr lang="en-US" sz="2200" dirty="0"/>
              <a:t>(2D)</a:t>
            </a:r>
          </a:p>
        </p:txBody>
      </p:sp>
      <p:sp>
        <p:nvSpPr>
          <p:cNvPr id="26" name="TextBox 25">
            <a:extLst>
              <a:ext uri="{FF2B5EF4-FFF2-40B4-BE49-F238E27FC236}">
                <a16:creationId xmlns:a16="http://schemas.microsoft.com/office/drawing/2014/main" id="{739B603D-D7B3-4531-B437-FB851FBFDE8F}"/>
              </a:ext>
            </a:extLst>
          </p:cNvPr>
          <p:cNvSpPr txBox="1"/>
          <p:nvPr/>
        </p:nvSpPr>
        <p:spPr>
          <a:xfrm>
            <a:off x="602615" y="1678447"/>
            <a:ext cx="2015872" cy="400110"/>
          </a:xfrm>
          <a:prstGeom prst="rect">
            <a:avLst/>
          </a:prstGeom>
          <a:noFill/>
        </p:spPr>
        <p:txBody>
          <a:bodyPr wrap="none" rtlCol="0">
            <a:spAutoFit/>
          </a:bodyPr>
          <a:lstStyle/>
          <a:p>
            <a:r>
              <a:rPr lang="en-US" sz="2000" dirty="0"/>
              <a:t>Genes (features)</a:t>
            </a:r>
          </a:p>
        </p:txBody>
      </p:sp>
      <p:pic>
        <p:nvPicPr>
          <p:cNvPr id="27" name="Picture 26">
            <a:extLst>
              <a:ext uri="{FF2B5EF4-FFF2-40B4-BE49-F238E27FC236}">
                <a16:creationId xmlns:a16="http://schemas.microsoft.com/office/drawing/2014/main" id="{BCBC8E2F-42A7-15F7-8658-B3E9C8A87308}"/>
              </a:ext>
            </a:extLst>
          </p:cNvPr>
          <p:cNvPicPr>
            <a:picLocks noChangeAspect="1"/>
          </p:cNvPicPr>
          <p:nvPr/>
        </p:nvPicPr>
        <p:blipFill rotWithShape="1">
          <a:blip r:embed="rId4"/>
          <a:srcRect l="28141" t="6114" r="42183" b="4656"/>
          <a:stretch/>
        </p:blipFill>
        <p:spPr>
          <a:xfrm>
            <a:off x="689808" y="2113711"/>
            <a:ext cx="1921564" cy="3634385"/>
          </a:xfrm>
          <a:prstGeom prst="rect">
            <a:avLst/>
          </a:prstGeom>
        </p:spPr>
      </p:pic>
      <p:sp>
        <p:nvSpPr>
          <p:cNvPr id="28" name="TextBox 27">
            <a:extLst>
              <a:ext uri="{FF2B5EF4-FFF2-40B4-BE49-F238E27FC236}">
                <a16:creationId xmlns:a16="http://schemas.microsoft.com/office/drawing/2014/main" id="{2EC15666-5568-EA78-A87B-D34D62FA0B8A}"/>
              </a:ext>
            </a:extLst>
          </p:cNvPr>
          <p:cNvSpPr txBox="1"/>
          <p:nvPr/>
        </p:nvSpPr>
        <p:spPr>
          <a:xfrm>
            <a:off x="617237" y="5961413"/>
            <a:ext cx="2065694" cy="461665"/>
          </a:xfrm>
          <a:prstGeom prst="rect">
            <a:avLst/>
          </a:prstGeom>
          <a:noFill/>
        </p:spPr>
        <p:txBody>
          <a:bodyPr wrap="none" rtlCol="0">
            <a:spAutoFit/>
          </a:bodyPr>
          <a:lstStyle/>
          <a:p>
            <a:r>
              <a:rPr lang="en-US" sz="2400" dirty="0"/>
              <a:t>70-90% zeros!</a:t>
            </a:r>
          </a:p>
        </p:txBody>
      </p:sp>
      <p:sp>
        <p:nvSpPr>
          <p:cNvPr id="29" name="TextBox 28">
            <a:extLst>
              <a:ext uri="{FF2B5EF4-FFF2-40B4-BE49-F238E27FC236}">
                <a16:creationId xmlns:a16="http://schemas.microsoft.com/office/drawing/2014/main" id="{543C8930-4FF4-45DD-CCFC-D874B366909E}"/>
              </a:ext>
            </a:extLst>
          </p:cNvPr>
          <p:cNvSpPr txBox="1"/>
          <p:nvPr/>
        </p:nvSpPr>
        <p:spPr>
          <a:xfrm>
            <a:off x="5712031" y="1678350"/>
            <a:ext cx="6479969" cy="1631216"/>
          </a:xfrm>
          <a:prstGeom prst="rect">
            <a:avLst/>
          </a:prstGeom>
          <a:noFill/>
        </p:spPr>
        <p:txBody>
          <a:bodyPr wrap="square" rtlCol="0">
            <a:spAutoFit/>
          </a:bodyPr>
          <a:lstStyle/>
          <a:p>
            <a:r>
              <a:rPr lang="en-US" sz="2500" u="sng" dirty="0"/>
              <a:t>Batch effects:</a:t>
            </a:r>
            <a:r>
              <a:rPr lang="en-US" sz="2500" dirty="0"/>
              <a:t> </a:t>
            </a:r>
          </a:p>
          <a:p>
            <a:r>
              <a:rPr lang="en-US" sz="2500" dirty="0"/>
              <a:t>even if you measure </a:t>
            </a:r>
            <a:r>
              <a:rPr lang="en-US" sz="2500" b="1" dirty="0"/>
              <a:t>exact same dataset</a:t>
            </a:r>
            <a:r>
              <a:rPr lang="en-US" sz="2500" dirty="0"/>
              <a:t>, there will be (large, unknown) differences in measurements</a:t>
            </a:r>
          </a:p>
        </p:txBody>
      </p:sp>
      <p:pic>
        <p:nvPicPr>
          <p:cNvPr id="31" name="Picture 30">
            <a:extLst>
              <a:ext uri="{FF2B5EF4-FFF2-40B4-BE49-F238E27FC236}">
                <a16:creationId xmlns:a16="http://schemas.microsoft.com/office/drawing/2014/main" id="{1F187809-B041-6C17-0475-ACC56C0185A9}"/>
              </a:ext>
            </a:extLst>
          </p:cNvPr>
          <p:cNvPicPr>
            <a:picLocks noChangeAspect="1"/>
          </p:cNvPicPr>
          <p:nvPr/>
        </p:nvPicPr>
        <p:blipFill rotWithShape="1">
          <a:blip r:embed="rId5">
            <a:extLst>
              <a:ext uri="{28A0092B-C50C-407E-A947-70E740481C1C}">
                <a14:useLocalDpi xmlns:a14="http://schemas.microsoft.com/office/drawing/2010/main" val="0"/>
              </a:ext>
            </a:extLst>
          </a:blip>
          <a:srcRect l="58280" t="49451" r="10855" b="36444"/>
          <a:stretch>
            <a:fillRect/>
          </a:stretch>
        </p:blipFill>
        <p:spPr>
          <a:xfrm rot="5400000" flipH="1">
            <a:off x="6404929" y="4160498"/>
            <a:ext cx="1806738" cy="845076"/>
          </a:xfrm>
          <a:prstGeom prst="rect">
            <a:avLst/>
          </a:prstGeom>
        </p:spPr>
      </p:pic>
      <p:pic>
        <p:nvPicPr>
          <p:cNvPr id="32" name="Picture 31">
            <a:extLst>
              <a:ext uri="{FF2B5EF4-FFF2-40B4-BE49-F238E27FC236}">
                <a16:creationId xmlns:a16="http://schemas.microsoft.com/office/drawing/2014/main" id="{43E3317A-8F67-3522-FB55-E19E8C7D4225}"/>
              </a:ext>
            </a:extLst>
          </p:cNvPr>
          <p:cNvPicPr>
            <a:picLocks noChangeAspect="1"/>
          </p:cNvPicPr>
          <p:nvPr/>
        </p:nvPicPr>
        <p:blipFill rotWithShape="1">
          <a:blip r:embed="rId5">
            <a:extLst>
              <a:ext uri="{28A0092B-C50C-407E-A947-70E740481C1C}">
                <a14:useLocalDpi xmlns:a14="http://schemas.microsoft.com/office/drawing/2010/main" val="0"/>
              </a:ext>
            </a:extLst>
          </a:blip>
          <a:srcRect l="39685" t="31289" r="29450" b="54606"/>
          <a:stretch>
            <a:fillRect/>
          </a:stretch>
        </p:blipFill>
        <p:spPr>
          <a:xfrm rot="5400000" flipH="1">
            <a:off x="9367477" y="4071729"/>
            <a:ext cx="1806738" cy="845078"/>
          </a:xfrm>
          <a:prstGeom prst="rect">
            <a:avLst/>
          </a:prstGeom>
        </p:spPr>
      </p:pic>
      <p:sp>
        <p:nvSpPr>
          <p:cNvPr id="33" name="TextBox 32">
            <a:extLst>
              <a:ext uri="{FF2B5EF4-FFF2-40B4-BE49-F238E27FC236}">
                <a16:creationId xmlns:a16="http://schemas.microsoft.com/office/drawing/2014/main" id="{0E368DA9-AE55-5490-A4AC-6C7D9836BF8C}"/>
              </a:ext>
            </a:extLst>
          </p:cNvPr>
          <p:cNvSpPr txBox="1"/>
          <p:nvPr/>
        </p:nvSpPr>
        <p:spPr>
          <a:xfrm>
            <a:off x="5913912" y="5678970"/>
            <a:ext cx="2248099" cy="646331"/>
          </a:xfrm>
          <a:prstGeom prst="rect">
            <a:avLst/>
          </a:prstGeom>
          <a:noFill/>
        </p:spPr>
        <p:txBody>
          <a:bodyPr wrap="square" rtlCol="0">
            <a:spAutoFit/>
          </a:bodyPr>
          <a:lstStyle/>
          <a:p>
            <a:r>
              <a:rPr lang="en-US" dirty="0"/>
              <a:t>Dataset A measured on Tuesday</a:t>
            </a:r>
          </a:p>
        </p:txBody>
      </p:sp>
      <p:sp>
        <p:nvSpPr>
          <p:cNvPr id="34" name="TextBox 33">
            <a:extLst>
              <a:ext uri="{FF2B5EF4-FFF2-40B4-BE49-F238E27FC236}">
                <a16:creationId xmlns:a16="http://schemas.microsoft.com/office/drawing/2014/main" id="{EEBC1BFE-63A3-3AE0-AE4C-03D67A5744F7}"/>
              </a:ext>
            </a:extLst>
          </p:cNvPr>
          <p:cNvSpPr txBox="1"/>
          <p:nvPr/>
        </p:nvSpPr>
        <p:spPr>
          <a:xfrm>
            <a:off x="9216452" y="5692516"/>
            <a:ext cx="2248099" cy="646331"/>
          </a:xfrm>
          <a:prstGeom prst="rect">
            <a:avLst/>
          </a:prstGeom>
          <a:noFill/>
        </p:spPr>
        <p:txBody>
          <a:bodyPr wrap="square" rtlCol="0">
            <a:spAutoFit/>
          </a:bodyPr>
          <a:lstStyle/>
          <a:p>
            <a:r>
              <a:rPr lang="en-US" dirty="0"/>
              <a:t>Dataset A measured on Wednesday</a:t>
            </a:r>
          </a:p>
        </p:txBody>
      </p:sp>
      <p:sp>
        <p:nvSpPr>
          <p:cNvPr id="35" name="TextBox 34">
            <a:extLst>
              <a:ext uri="{FF2B5EF4-FFF2-40B4-BE49-F238E27FC236}">
                <a16:creationId xmlns:a16="http://schemas.microsoft.com/office/drawing/2014/main" id="{0C403884-8132-6C85-59FA-6DFAA2FA1595}"/>
              </a:ext>
            </a:extLst>
          </p:cNvPr>
          <p:cNvSpPr txBox="1"/>
          <p:nvPr/>
        </p:nvSpPr>
        <p:spPr>
          <a:xfrm>
            <a:off x="6258296" y="6517866"/>
            <a:ext cx="5548763" cy="369332"/>
          </a:xfrm>
          <a:prstGeom prst="rect">
            <a:avLst/>
          </a:prstGeom>
          <a:noFill/>
        </p:spPr>
        <p:txBody>
          <a:bodyPr wrap="none" rtlCol="0">
            <a:spAutoFit/>
          </a:bodyPr>
          <a:lstStyle/>
          <a:p>
            <a:r>
              <a:rPr lang="en-US" dirty="0"/>
              <a:t>(or by different people, or with different machine, or …)</a:t>
            </a:r>
          </a:p>
        </p:txBody>
      </p:sp>
      <p:sp>
        <p:nvSpPr>
          <p:cNvPr id="36" name="TextBox 35">
            <a:extLst>
              <a:ext uri="{FF2B5EF4-FFF2-40B4-BE49-F238E27FC236}">
                <a16:creationId xmlns:a16="http://schemas.microsoft.com/office/drawing/2014/main" id="{917A9BAA-36C9-1614-71F9-CC296357D69E}"/>
              </a:ext>
            </a:extLst>
          </p:cNvPr>
          <p:cNvSpPr txBox="1"/>
          <p:nvPr/>
        </p:nvSpPr>
        <p:spPr>
          <a:xfrm rot="16200000">
            <a:off x="6316655" y="3843814"/>
            <a:ext cx="697627" cy="369332"/>
          </a:xfrm>
          <a:prstGeom prst="rect">
            <a:avLst/>
          </a:prstGeom>
          <a:noFill/>
        </p:spPr>
        <p:txBody>
          <a:bodyPr wrap="none" rtlCol="0">
            <a:spAutoFit/>
          </a:bodyPr>
          <a:lstStyle/>
          <a:p>
            <a:r>
              <a:rPr lang="en-US" dirty="0"/>
              <a:t>Cells</a:t>
            </a:r>
          </a:p>
        </p:txBody>
      </p:sp>
      <p:sp>
        <p:nvSpPr>
          <p:cNvPr id="37" name="TextBox 36">
            <a:extLst>
              <a:ext uri="{FF2B5EF4-FFF2-40B4-BE49-F238E27FC236}">
                <a16:creationId xmlns:a16="http://schemas.microsoft.com/office/drawing/2014/main" id="{BAC22D28-9E04-7FC1-4706-BD36BB55AF7B}"/>
              </a:ext>
            </a:extLst>
          </p:cNvPr>
          <p:cNvSpPr txBox="1"/>
          <p:nvPr/>
        </p:nvSpPr>
        <p:spPr>
          <a:xfrm>
            <a:off x="6900159" y="3317465"/>
            <a:ext cx="830677" cy="369332"/>
          </a:xfrm>
          <a:prstGeom prst="rect">
            <a:avLst/>
          </a:prstGeom>
          <a:noFill/>
        </p:spPr>
        <p:txBody>
          <a:bodyPr wrap="none" rtlCol="0">
            <a:spAutoFit/>
          </a:bodyPr>
          <a:lstStyle/>
          <a:p>
            <a:r>
              <a:rPr lang="en-US" dirty="0"/>
              <a:t>Genes</a:t>
            </a:r>
          </a:p>
        </p:txBody>
      </p:sp>
      <p:sp>
        <p:nvSpPr>
          <p:cNvPr id="38" name="TextBox 37">
            <a:extLst>
              <a:ext uri="{FF2B5EF4-FFF2-40B4-BE49-F238E27FC236}">
                <a16:creationId xmlns:a16="http://schemas.microsoft.com/office/drawing/2014/main" id="{B37BBB15-D96F-8F88-4A5E-9A74E5E8D609}"/>
              </a:ext>
            </a:extLst>
          </p:cNvPr>
          <p:cNvSpPr txBox="1"/>
          <p:nvPr/>
        </p:nvSpPr>
        <p:spPr>
          <a:xfrm>
            <a:off x="9848307" y="3212675"/>
            <a:ext cx="830677" cy="369332"/>
          </a:xfrm>
          <a:prstGeom prst="rect">
            <a:avLst/>
          </a:prstGeom>
          <a:noFill/>
        </p:spPr>
        <p:txBody>
          <a:bodyPr wrap="none" rtlCol="0">
            <a:spAutoFit/>
          </a:bodyPr>
          <a:lstStyle/>
          <a:p>
            <a:r>
              <a:rPr lang="en-US" dirty="0"/>
              <a:t>Genes</a:t>
            </a:r>
          </a:p>
        </p:txBody>
      </p:sp>
      <p:sp>
        <p:nvSpPr>
          <p:cNvPr id="39" name="TextBox 38">
            <a:extLst>
              <a:ext uri="{FF2B5EF4-FFF2-40B4-BE49-F238E27FC236}">
                <a16:creationId xmlns:a16="http://schemas.microsoft.com/office/drawing/2014/main" id="{F5890589-3AF6-5701-4394-268CBC86805F}"/>
              </a:ext>
            </a:extLst>
          </p:cNvPr>
          <p:cNvSpPr txBox="1"/>
          <p:nvPr/>
        </p:nvSpPr>
        <p:spPr>
          <a:xfrm rot="16200000">
            <a:off x="9346347" y="3783213"/>
            <a:ext cx="697627" cy="369332"/>
          </a:xfrm>
          <a:prstGeom prst="rect">
            <a:avLst/>
          </a:prstGeom>
          <a:noFill/>
        </p:spPr>
        <p:txBody>
          <a:bodyPr wrap="none" rtlCol="0">
            <a:spAutoFit/>
          </a:bodyPr>
          <a:lstStyle/>
          <a:p>
            <a:r>
              <a:rPr lang="en-US" dirty="0"/>
              <a:t>Cells</a:t>
            </a:r>
          </a:p>
        </p:txBody>
      </p:sp>
    </p:spTree>
    <p:extLst>
      <p:ext uri="{BB962C8B-B14F-4D97-AF65-F5344CB8AC3E}">
        <p14:creationId xmlns:p14="http://schemas.microsoft.com/office/powerpoint/2010/main" val="22991830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07BAB-E24C-B0F8-F7CB-E9869BCE22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2B532D-0F7C-E883-4914-46A3B22324F7}"/>
              </a:ext>
            </a:extLst>
          </p:cNvPr>
          <p:cNvSpPr>
            <a:spLocks noGrp="1"/>
          </p:cNvSpPr>
          <p:nvPr>
            <p:ph type="title"/>
          </p:nvPr>
        </p:nvSpPr>
        <p:spPr>
          <a:xfrm>
            <a:off x="74035" y="-216907"/>
            <a:ext cx="12043930" cy="1325563"/>
          </a:xfrm>
        </p:spPr>
        <p:txBody>
          <a:bodyPr>
            <a:normAutofit/>
          </a:bodyPr>
          <a:lstStyle/>
          <a:p>
            <a:r>
              <a:rPr lang="en-US" sz="4000" dirty="0"/>
              <a:t>Application: dimensionality reduction + data visualization</a:t>
            </a:r>
          </a:p>
        </p:txBody>
      </p:sp>
      <p:grpSp>
        <p:nvGrpSpPr>
          <p:cNvPr id="7" name="Group 6">
            <a:extLst>
              <a:ext uri="{FF2B5EF4-FFF2-40B4-BE49-F238E27FC236}">
                <a16:creationId xmlns:a16="http://schemas.microsoft.com/office/drawing/2014/main" id="{CFAD1EE0-B599-51B6-E5E5-8811FBF9D866}"/>
              </a:ext>
            </a:extLst>
          </p:cNvPr>
          <p:cNvGrpSpPr/>
          <p:nvPr/>
        </p:nvGrpSpPr>
        <p:grpSpPr>
          <a:xfrm>
            <a:off x="202674" y="2089244"/>
            <a:ext cx="2336683" cy="2757507"/>
            <a:chOff x="7431262" y="1334062"/>
            <a:chExt cx="2336683" cy="2757507"/>
          </a:xfrm>
        </p:grpSpPr>
        <p:sp>
          <p:nvSpPr>
            <p:cNvPr id="4" name="TextBox 3">
              <a:extLst>
                <a:ext uri="{FF2B5EF4-FFF2-40B4-BE49-F238E27FC236}">
                  <a16:creationId xmlns:a16="http://schemas.microsoft.com/office/drawing/2014/main" id="{3C5B9AA6-03DD-5B59-81EC-57B71CE9BF41}"/>
                </a:ext>
              </a:extLst>
            </p:cNvPr>
            <p:cNvSpPr txBox="1"/>
            <p:nvPr/>
          </p:nvSpPr>
          <p:spPr>
            <a:xfrm rot="16200000">
              <a:off x="6906150" y="2151731"/>
              <a:ext cx="1450333" cy="400110"/>
            </a:xfrm>
            <a:prstGeom prst="rect">
              <a:avLst/>
            </a:prstGeom>
            <a:noFill/>
          </p:spPr>
          <p:txBody>
            <a:bodyPr wrap="none" rtlCol="0">
              <a:spAutoFit/>
            </a:bodyPr>
            <a:lstStyle/>
            <a:p>
              <a:r>
                <a:rPr lang="en-US" sz="2000" dirty="0"/>
                <a:t>Cells/spots</a:t>
              </a:r>
            </a:p>
          </p:txBody>
        </p:sp>
        <p:pic>
          <p:nvPicPr>
            <p:cNvPr id="5" name="Picture 4">
              <a:extLst>
                <a:ext uri="{FF2B5EF4-FFF2-40B4-BE49-F238E27FC236}">
                  <a16:creationId xmlns:a16="http://schemas.microsoft.com/office/drawing/2014/main" id="{E88B225A-3708-7F6E-332E-68EB85DA62E6}"/>
                </a:ext>
              </a:extLst>
            </p:cNvPr>
            <p:cNvPicPr>
              <a:picLocks noChangeAspect="1"/>
            </p:cNvPicPr>
            <p:nvPr/>
          </p:nvPicPr>
          <p:blipFill rotWithShape="1">
            <a:blip r:embed="rId2">
              <a:extLst>
                <a:ext uri="{28A0092B-C50C-407E-A947-70E740481C1C}">
                  <a14:useLocalDpi xmlns:a14="http://schemas.microsoft.com/office/drawing/2010/main" val="0"/>
                </a:ext>
              </a:extLst>
            </a:blip>
            <a:srcRect l="25315" t="31466" r="7379" b="36444"/>
            <a:stretch/>
          </p:blipFill>
          <p:spPr>
            <a:xfrm rot="5400000" flipH="1">
              <a:off x="7548915" y="1872539"/>
              <a:ext cx="2515485" cy="1922575"/>
            </a:xfrm>
            <a:prstGeom prst="rect">
              <a:avLst/>
            </a:prstGeom>
          </p:spPr>
        </p:pic>
        <p:sp>
          <p:nvSpPr>
            <p:cNvPr id="6" name="TextBox 5">
              <a:extLst>
                <a:ext uri="{FF2B5EF4-FFF2-40B4-BE49-F238E27FC236}">
                  <a16:creationId xmlns:a16="http://schemas.microsoft.com/office/drawing/2014/main" id="{A88DAB01-6793-4EC3-7D09-A355334ABBB6}"/>
                </a:ext>
              </a:extLst>
            </p:cNvPr>
            <p:cNvSpPr txBox="1"/>
            <p:nvPr/>
          </p:nvSpPr>
          <p:spPr>
            <a:xfrm>
              <a:off x="7763436" y="1334062"/>
              <a:ext cx="901209" cy="400110"/>
            </a:xfrm>
            <a:prstGeom prst="rect">
              <a:avLst/>
            </a:prstGeom>
            <a:noFill/>
          </p:spPr>
          <p:txBody>
            <a:bodyPr wrap="none" rtlCol="0">
              <a:spAutoFit/>
            </a:bodyPr>
            <a:lstStyle/>
            <a:p>
              <a:r>
                <a:rPr lang="en-US" sz="2000" dirty="0"/>
                <a:t>Genes</a:t>
              </a:r>
            </a:p>
          </p:txBody>
        </p:sp>
      </p:grpSp>
      <p:pic>
        <p:nvPicPr>
          <p:cNvPr id="3074" name="Picture 2" descr="Annotating single cell datasets: A Q&amp;A covering challenges of automated and  manual methods | 10x Genomics">
            <a:extLst>
              <a:ext uri="{FF2B5EF4-FFF2-40B4-BE49-F238E27FC236}">
                <a16:creationId xmlns:a16="http://schemas.microsoft.com/office/drawing/2014/main" id="{F274851F-592C-7A71-557E-19F9C72D0C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5399" y="760939"/>
            <a:ext cx="3324480" cy="23375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87F09862-73DD-9B01-DFE6-226D6039F52B}"/>
              </a:ext>
            </a:extLst>
          </p:cNvPr>
          <p:cNvSpPr txBox="1"/>
          <p:nvPr/>
        </p:nvSpPr>
        <p:spPr>
          <a:xfrm>
            <a:off x="7730872" y="3008340"/>
            <a:ext cx="2929007" cy="369332"/>
          </a:xfrm>
          <a:prstGeom prst="rect">
            <a:avLst/>
          </a:prstGeom>
          <a:noFill/>
        </p:spPr>
        <p:txBody>
          <a:bodyPr wrap="none" rtlCol="0">
            <a:spAutoFit/>
          </a:bodyPr>
          <a:lstStyle/>
          <a:p>
            <a:r>
              <a:rPr lang="en-US" dirty="0"/>
              <a:t>(dot=cell, color = cell types)</a:t>
            </a:r>
          </a:p>
        </p:txBody>
      </p:sp>
      <p:sp>
        <p:nvSpPr>
          <p:cNvPr id="12" name="TextBox 11">
            <a:extLst>
              <a:ext uri="{FF2B5EF4-FFF2-40B4-BE49-F238E27FC236}">
                <a16:creationId xmlns:a16="http://schemas.microsoft.com/office/drawing/2014/main" id="{633C977B-4DCE-C39F-1D45-7985118925D1}"/>
              </a:ext>
            </a:extLst>
          </p:cNvPr>
          <p:cNvSpPr txBox="1"/>
          <p:nvPr/>
        </p:nvSpPr>
        <p:spPr>
          <a:xfrm>
            <a:off x="5556268" y="1723457"/>
            <a:ext cx="1638590" cy="477054"/>
          </a:xfrm>
          <a:prstGeom prst="rect">
            <a:avLst/>
          </a:prstGeom>
          <a:noFill/>
        </p:spPr>
        <p:txBody>
          <a:bodyPr wrap="none" rtlCol="0">
            <a:spAutoFit/>
          </a:bodyPr>
          <a:lstStyle/>
          <a:p>
            <a:r>
              <a:rPr lang="en-US" sz="2500" u="sng" dirty="0"/>
              <a:t>Single-cell</a:t>
            </a:r>
          </a:p>
        </p:txBody>
      </p:sp>
      <p:sp>
        <p:nvSpPr>
          <p:cNvPr id="16" name="TextBox 15">
            <a:extLst>
              <a:ext uri="{FF2B5EF4-FFF2-40B4-BE49-F238E27FC236}">
                <a16:creationId xmlns:a16="http://schemas.microsoft.com/office/drawing/2014/main" id="{A4EA09A0-0DE3-8FCA-B1E7-7D048A15C837}"/>
              </a:ext>
            </a:extLst>
          </p:cNvPr>
          <p:cNvSpPr txBox="1"/>
          <p:nvPr/>
        </p:nvSpPr>
        <p:spPr>
          <a:xfrm>
            <a:off x="5618871" y="5221588"/>
            <a:ext cx="1146852" cy="477054"/>
          </a:xfrm>
          <a:prstGeom prst="rect">
            <a:avLst/>
          </a:prstGeom>
          <a:noFill/>
        </p:spPr>
        <p:txBody>
          <a:bodyPr wrap="none" rtlCol="0">
            <a:spAutoFit/>
          </a:bodyPr>
          <a:lstStyle/>
          <a:p>
            <a:r>
              <a:rPr lang="en-US" sz="2500" u="sng" dirty="0"/>
              <a:t>Spatial</a:t>
            </a:r>
          </a:p>
        </p:txBody>
      </p:sp>
      <p:grpSp>
        <p:nvGrpSpPr>
          <p:cNvPr id="17" name="Group 16">
            <a:extLst>
              <a:ext uri="{FF2B5EF4-FFF2-40B4-BE49-F238E27FC236}">
                <a16:creationId xmlns:a16="http://schemas.microsoft.com/office/drawing/2014/main" id="{4B9FA5E4-6FA6-2220-0CDB-3A7D76DBBDBB}"/>
              </a:ext>
            </a:extLst>
          </p:cNvPr>
          <p:cNvGrpSpPr/>
          <p:nvPr/>
        </p:nvGrpSpPr>
        <p:grpSpPr>
          <a:xfrm>
            <a:off x="7120996" y="4223493"/>
            <a:ext cx="3889904" cy="2515485"/>
            <a:chOff x="4987403" y="3940553"/>
            <a:chExt cx="4489106" cy="2448850"/>
          </a:xfrm>
        </p:grpSpPr>
        <p:sp>
          <p:nvSpPr>
            <p:cNvPr id="18" name="Zhao et al., 2021">
              <a:extLst>
                <a:ext uri="{FF2B5EF4-FFF2-40B4-BE49-F238E27FC236}">
                  <a16:creationId xmlns:a16="http://schemas.microsoft.com/office/drawing/2014/main" id="{FA7B8DBE-FB7A-1DEB-14E3-5E676391A5E3}"/>
                </a:ext>
              </a:extLst>
            </p:cNvPr>
            <p:cNvSpPr txBox="1"/>
            <p:nvPr/>
          </p:nvSpPr>
          <p:spPr>
            <a:xfrm>
              <a:off x="6380101" y="6034675"/>
              <a:ext cx="2541609" cy="3547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25400" tIns="25400" rIns="25400" bIns="25400" anchor="ctr">
              <a:spAutoFit/>
            </a:bodyPr>
            <a:lstStyle>
              <a:lvl1pPr>
                <a:defRPr sz="2800" b="0"/>
              </a:lvl1pPr>
            </a:lstStyle>
            <a:p>
              <a:r>
                <a:rPr sz="800" dirty="0">
                  <a:solidFill>
                    <a:schemeClr val="bg1">
                      <a:lumMod val="50000"/>
                    </a:schemeClr>
                  </a:solidFill>
                </a:rPr>
                <a:t>Zhao et al.,</a:t>
              </a:r>
              <a:r>
                <a:rPr lang="en-US" sz="800" dirty="0">
                  <a:solidFill>
                    <a:schemeClr val="bg1">
                      <a:lumMod val="50000"/>
                    </a:schemeClr>
                  </a:solidFill>
                </a:rPr>
                <a:t> Nat. Biotech. </a:t>
              </a:r>
              <a:r>
                <a:rPr sz="800" dirty="0">
                  <a:solidFill>
                    <a:schemeClr val="bg1">
                      <a:lumMod val="50000"/>
                    </a:schemeClr>
                  </a:solidFill>
                </a:rPr>
                <a:t> </a:t>
              </a:r>
              <a:r>
                <a:rPr lang="en-US" sz="800" dirty="0">
                  <a:solidFill>
                    <a:schemeClr val="bg1">
                      <a:lumMod val="50000"/>
                    </a:schemeClr>
                  </a:solidFill>
                </a:rPr>
                <a:t>(</a:t>
              </a:r>
              <a:r>
                <a:rPr sz="800" dirty="0">
                  <a:solidFill>
                    <a:schemeClr val="bg1">
                      <a:lumMod val="50000"/>
                    </a:schemeClr>
                  </a:solidFill>
                </a:rPr>
                <a:t>2021</a:t>
              </a:r>
              <a:r>
                <a:rPr lang="en-US" sz="800" dirty="0">
                  <a:solidFill>
                    <a:schemeClr val="bg1">
                      <a:lumMod val="50000"/>
                    </a:schemeClr>
                  </a:solidFill>
                </a:rPr>
                <a:t>)</a:t>
              </a:r>
            </a:p>
            <a:p>
              <a:r>
                <a:rPr lang="en-US" sz="800" dirty="0">
                  <a:solidFill>
                    <a:schemeClr val="bg1">
                      <a:lumMod val="50000"/>
                    </a:schemeClr>
                  </a:solidFill>
                </a:rPr>
                <a:t>Data: </a:t>
              </a:r>
              <a:r>
                <a:rPr lang="en-US" sz="800" dirty="0" err="1">
                  <a:solidFill>
                    <a:schemeClr val="bg1">
                      <a:lumMod val="50000"/>
                    </a:schemeClr>
                  </a:solidFill>
                </a:rPr>
                <a:t>Thrane</a:t>
              </a:r>
              <a:r>
                <a:rPr lang="en-US" sz="800" dirty="0">
                  <a:solidFill>
                    <a:schemeClr val="bg1">
                      <a:lumMod val="50000"/>
                    </a:schemeClr>
                  </a:solidFill>
                </a:rPr>
                <a:t>, et al. </a:t>
              </a:r>
              <a:r>
                <a:rPr lang="en-US" sz="800" i="1" dirty="0">
                  <a:solidFill>
                    <a:schemeClr val="bg1">
                      <a:lumMod val="50000"/>
                    </a:schemeClr>
                  </a:solidFill>
                </a:rPr>
                <a:t>Cancer Res.</a:t>
              </a:r>
              <a:r>
                <a:rPr lang="en-US" sz="800" dirty="0">
                  <a:solidFill>
                    <a:schemeClr val="bg1">
                      <a:lumMod val="50000"/>
                    </a:schemeClr>
                  </a:solidFill>
                </a:rPr>
                <a:t> (2018)</a:t>
              </a:r>
              <a:endParaRPr sz="800" dirty="0">
                <a:solidFill>
                  <a:schemeClr val="bg1">
                    <a:lumMod val="50000"/>
                  </a:schemeClr>
                </a:solidFill>
              </a:endParaRPr>
            </a:p>
          </p:txBody>
        </p:sp>
        <p:sp>
          <p:nvSpPr>
            <p:cNvPr id="19" name="Tumor">
              <a:extLst>
                <a:ext uri="{FF2B5EF4-FFF2-40B4-BE49-F238E27FC236}">
                  <a16:creationId xmlns:a16="http://schemas.microsoft.com/office/drawing/2014/main" id="{AB39FCC4-6D2C-5037-A85F-EB8E637192F0}"/>
                </a:ext>
              </a:extLst>
            </p:cNvPr>
            <p:cNvSpPr txBox="1"/>
            <p:nvPr/>
          </p:nvSpPr>
          <p:spPr>
            <a:xfrm>
              <a:off x="6059009" y="3940553"/>
              <a:ext cx="1866639" cy="42812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25400" tIns="25400" rIns="25400" bIns="25400" anchor="ctr">
              <a:spAutoFit/>
            </a:bodyPr>
            <a:lstStyle>
              <a:lvl1pPr>
                <a:defRPr b="0"/>
              </a:lvl1pPr>
            </a:lstStyle>
            <a:p>
              <a:r>
                <a:rPr lang="en-US" sz="2000" b="1" dirty="0"/>
                <a:t>Melanoma</a:t>
              </a:r>
              <a:endParaRPr sz="2000" b="1" dirty="0"/>
            </a:p>
          </p:txBody>
        </p:sp>
        <p:pic>
          <p:nvPicPr>
            <p:cNvPr id="20" name="Picture 19">
              <a:extLst>
                <a:ext uri="{FF2B5EF4-FFF2-40B4-BE49-F238E27FC236}">
                  <a16:creationId xmlns:a16="http://schemas.microsoft.com/office/drawing/2014/main" id="{4C3ED016-823C-9AB9-F037-CB1D04E5D92A}"/>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4987403" y="4230647"/>
              <a:ext cx="4489106" cy="1939293"/>
            </a:xfrm>
            <a:prstGeom prst="rect">
              <a:avLst/>
            </a:prstGeom>
          </p:spPr>
        </p:pic>
      </p:grpSp>
      <p:sp>
        <p:nvSpPr>
          <p:cNvPr id="24" name="Right Arrow 23">
            <a:extLst>
              <a:ext uri="{FF2B5EF4-FFF2-40B4-BE49-F238E27FC236}">
                <a16:creationId xmlns:a16="http://schemas.microsoft.com/office/drawing/2014/main" id="{92455C39-65DA-176B-40BD-69A7A54468FD}"/>
              </a:ext>
            </a:extLst>
          </p:cNvPr>
          <p:cNvSpPr/>
          <p:nvPr/>
        </p:nvSpPr>
        <p:spPr>
          <a:xfrm>
            <a:off x="3108473" y="3136810"/>
            <a:ext cx="1457325" cy="6953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E90821A9-7AA5-89E2-EA04-246D2EB6FDF4}"/>
              </a:ext>
            </a:extLst>
          </p:cNvPr>
          <p:cNvSpPr txBox="1"/>
          <p:nvPr/>
        </p:nvSpPr>
        <p:spPr>
          <a:xfrm>
            <a:off x="616782" y="5236977"/>
            <a:ext cx="3631368" cy="1246495"/>
          </a:xfrm>
          <a:prstGeom prst="rect">
            <a:avLst/>
          </a:prstGeom>
          <a:noFill/>
        </p:spPr>
        <p:txBody>
          <a:bodyPr wrap="square" rtlCol="0">
            <a:spAutoFit/>
          </a:bodyPr>
          <a:lstStyle/>
          <a:p>
            <a:r>
              <a:rPr lang="en-US" sz="2500" b="1" dirty="0"/>
              <a:t>Data is very high dimensional! How to intuitively understand?</a:t>
            </a:r>
          </a:p>
        </p:txBody>
      </p:sp>
    </p:spTree>
    <p:extLst>
      <p:ext uri="{BB962C8B-B14F-4D97-AF65-F5344CB8AC3E}">
        <p14:creationId xmlns:p14="http://schemas.microsoft.com/office/powerpoint/2010/main" val="6236014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405DC-5515-A928-93C5-6069DEFA505E}"/>
              </a:ext>
            </a:extLst>
          </p:cNvPr>
          <p:cNvSpPr>
            <a:spLocks noGrp="1"/>
          </p:cNvSpPr>
          <p:nvPr>
            <p:ph type="title"/>
          </p:nvPr>
        </p:nvSpPr>
        <p:spPr>
          <a:xfrm>
            <a:off x="137556" y="22325"/>
            <a:ext cx="10515600" cy="1325563"/>
          </a:xfrm>
        </p:spPr>
        <p:txBody>
          <a:bodyPr/>
          <a:lstStyle/>
          <a:p>
            <a:r>
              <a:rPr lang="en-US" dirty="0"/>
              <a:t>Differential + multimodal data analysis</a:t>
            </a:r>
          </a:p>
        </p:txBody>
      </p:sp>
      <p:sp>
        <p:nvSpPr>
          <p:cNvPr id="19" name="TextBox 18">
            <a:extLst>
              <a:ext uri="{FF2B5EF4-FFF2-40B4-BE49-F238E27FC236}">
                <a16:creationId xmlns:a16="http://schemas.microsoft.com/office/drawing/2014/main" id="{EDD4CF33-6FB9-76A2-F4A9-DF5875381B18}"/>
              </a:ext>
            </a:extLst>
          </p:cNvPr>
          <p:cNvSpPr txBox="1"/>
          <p:nvPr/>
        </p:nvSpPr>
        <p:spPr>
          <a:xfrm>
            <a:off x="7671945" y="1293996"/>
            <a:ext cx="5679374" cy="553998"/>
          </a:xfrm>
          <a:prstGeom prst="rect">
            <a:avLst/>
          </a:prstGeom>
          <a:noFill/>
        </p:spPr>
        <p:txBody>
          <a:bodyPr wrap="square" rtlCol="0">
            <a:spAutoFit/>
          </a:bodyPr>
          <a:lstStyle/>
          <a:p>
            <a:r>
              <a:rPr lang="en-US" sz="3000" u="sng" dirty="0"/>
              <a:t>Multi-modal data</a:t>
            </a:r>
          </a:p>
        </p:txBody>
      </p:sp>
      <p:pic>
        <p:nvPicPr>
          <p:cNvPr id="21" name="Picture 20" descr="A diagram of a diagram of a barcode&#10;&#10;AI-generated content may be incorrect.">
            <a:extLst>
              <a:ext uri="{FF2B5EF4-FFF2-40B4-BE49-F238E27FC236}">
                <a16:creationId xmlns:a16="http://schemas.microsoft.com/office/drawing/2014/main" id="{E4CC8DF1-C0B4-EEAC-A5D6-103961E870AA}"/>
              </a:ext>
            </a:extLst>
          </p:cNvPr>
          <p:cNvPicPr>
            <a:picLocks noChangeAspect="1"/>
          </p:cNvPicPr>
          <p:nvPr/>
        </p:nvPicPr>
        <p:blipFill>
          <a:blip r:embed="rId2"/>
          <a:stretch>
            <a:fillRect/>
          </a:stretch>
        </p:blipFill>
        <p:spPr>
          <a:xfrm>
            <a:off x="6906088" y="4321082"/>
            <a:ext cx="3516243" cy="2362194"/>
          </a:xfrm>
          <a:prstGeom prst="rect">
            <a:avLst/>
          </a:prstGeom>
        </p:spPr>
      </p:pic>
      <p:pic>
        <p:nvPicPr>
          <p:cNvPr id="22" name="Picture 21">
            <a:extLst>
              <a:ext uri="{FF2B5EF4-FFF2-40B4-BE49-F238E27FC236}">
                <a16:creationId xmlns:a16="http://schemas.microsoft.com/office/drawing/2014/main" id="{984B8C61-957C-5473-79D8-C1CB1681DD67}"/>
              </a:ext>
            </a:extLst>
          </p:cNvPr>
          <p:cNvPicPr>
            <a:picLocks noChangeAspect="1"/>
          </p:cNvPicPr>
          <p:nvPr/>
        </p:nvPicPr>
        <p:blipFill rotWithShape="1">
          <a:blip r:embed="rId3">
            <a:extLst>
              <a:ext uri="{28A0092B-C50C-407E-A947-70E740481C1C}">
                <a14:useLocalDpi xmlns:a14="http://schemas.microsoft.com/office/drawing/2010/main" val="0"/>
              </a:ext>
            </a:extLst>
          </a:blip>
          <a:srcRect l="58280" t="31466" r="10855" b="36444"/>
          <a:stretch>
            <a:fillRect/>
          </a:stretch>
        </p:blipFill>
        <p:spPr>
          <a:xfrm rot="5400000" flipH="1">
            <a:off x="7233095" y="2189500"/>
            <a:ext cx="1806738" cy="1922575"/>
          </a:xfrm>
          <a:prstGeom prst="rect">
            <a:avLst/>
          </a:prstGeom>
        </p:spPr>
      </p:pic>
      <p:sp>
        <p:nvSpPr>
          <p:cNvPr id="23" name="TextBox 22">
            <a:extLst>
              <a:ext uri="{FF2B5EF4-FFF2-40B4-BE49-F238E27FC236}">
                <a16:creationId xmlns:a16="http://schemas.microsoft.com/office/drawing/2014/main" id="{763F2C9E-8D16-4601-39A5-26F6BE3D0264}"/>
              </a:ext>
            </a:extLst>
          </p:cNvPr>
          <p:cNvSpPr txBox="1"/>
          <p:nvPr/>
        </p:nvSpPr>
        <p:spPr>
          <a:xfrm rot="16200000">
            <a:off x="6589730" y="2479874"/>
            <a:ext cx="814647" cy="430887"/>
          </a:xfrm>
          <a:prstGeom prst="rect">
            <a:avLst/>
          </a:prstGeom>
          <a:noFill/>
        </p:spPr>
        <p:txBody>
          <a:bodyPr wrap="none" rtlCol="0">
            <a:spAutoFit/>
          </a:bodyPr>
          <a:lstStyle/>
          <a:p>
            <a:r>
              <a:rPr lang="en-US" sz="2200" dirty="0"/>
              <a:t>Cells</a:t>
            </a:r>
          </a:p>
        </p:txBody>
      </p:sp>
      <p:sp>
        <p:nvSpPr>
          <p:cNvPr id="24" name="TextBox 23">
            <a:extLst>
              <a:ext uri="{FF2B5EF4-FFF2-40B4-BE49-F238E27FC236}">
                <a16:creationId xmlns:a16="http://schemas.microsoft.com/office/drawing/2014/main" id="{76F9FBF2-6826-9876-1358-D7E032DE4DC6}"/>
              </a:ext>
            </a:extLst>
          </p:cNvPr>
          <p:cNvSpPr txBox="1"/>
          <p:nvPr/>
        </p:nvSpPr>
        <p:spPr>
          <a:xfrm>
            <a:off x="7175176" y="1859000"/>
            <a:ext cx="976549" cy="430887"/>
          </a:xfrm>
          <a:prstGeom prst="rect">
            <a:avLst/>
          </a:prstGeom>
          <a:noFill/>
        </p:spPr>
        <p:txBody>
          <a:bodyPr wrap="none" rtlCol="0">
            <a:spAutoFit/>
          </a:bodyPr>
          <a:lstStyle/>
          <a:p>
            <a:r>
              <a:rPr lang="en-US" sz="2200" dirty="0"/>
              <a:t>Genes</a:t>
            </a:r>
          </a:p>
        </p:txBody>
      </p:sp>
      <p:pic>
        <p:nvPicPr>
          <p:cNvPr id="25" name="Picture 24">
            <a:extLst>
              <a:ext uri="{FF2B5EF4-FFF2-40B4-BE49-F238E27FC236}">
                <a16:creationId xmlns:a16="http://schemas.microsoft.com/office/drawing/2014/main" id="{2CDF0877-98C2-9D45-1340-ACC065D51FB9}"/>
              </a:ext>
            </a:extLst>
          </p:cNvPr>
          <p:cNvPicPr>
            <a:picLocks noChangeAspect="1"/>
          </p:cNvPicPr>
          <p:nvPr/>
        </p:nvPicPr>
        <p:blipFill rotWithShape="1">
          <a:blip r:embed="rId3">
            <a:extLst>
              <a:ext uri="{28A0092B-C50C-407E-A947-70E740481C1C}">
                <a14:useLocalDpi xmlns:a14="http://schemas.microsoft.com/office/drawing/2010/main" val="0"/>
              </a:ext>
            </a:extLst>
          </a:blip>
          <a:srcRect l="58280" t="49451" r="10855" b="36444"/>
          <a:stretch>
            <a:fillRect/>
          </a:stretch>
        </p:blipFill>
        <p:spPr>
          <a:xfrm rot="5400000" flipH="1">
            <a:off x="8870793" y="2737439"/>
            <a:ext cx="1806738" cy="845076"/>
          </a:xfrm>
          <a:prstGeom prst="rect">
            <a:avLst/>
          </a:prstGeom>
        </p:spPr>
      </p:pic>
      <p:sp>
        <p:nvSpPr>
          <p:cNvPr id="26" name="TextBox 25">
            <a:extLst>
              <a:ext uri="{FF2B5EF4-FFF2-40B4-BE49-F238E27FC236}">
                <a16:creationId xmlns:a16="http://schemas.microsoft.com/office/drawing/2014/main" id="{F68C8360-95DD-CD3D-6F66-1D683F8143C0}"/>
              </a:ext>
            </a:extLst>
          </p:cNvPr>
          <p:cNvSpPr txBox="1"/>
          <p:nvPr/>
        </p:nvSpPr>
        <p:spPr>
          <a:xfrm>
            <a:off x="9146002" y="1828731"/>
            <a:ext cx="1365630" cy="369332"/>
          </a:xfrm>
          <a:prstGeom prst="rect">
            <a:avLst/>
          </a:prstGeom>
          <a:noFill/>
        </p:spPr>
        <p:txBody>
          <a:bodyPr wrap="none" rtlCol="0">
            <a:spAutoFit/>
          </a:bodyPr>
          <a:lstStyle/>
          <a:p>
            <a:r>
              <a:rPr lang="en-US" dirty="0"/>
              <a:t>Metabolites</a:t>
            </a:r>
          </a:p>
        </p:txBody>
      </p:sp>
      <p:pic>
        <p:nvPicPr>
          <p:cNvPr id="27" name="Picture 26">
            <a:extLst>
              <a:ext uri="{FF2B5EF4-FFF2-40B4-BE49-F238E27FC236}">
                <a16:creationId xmlns:a16="http://schemas.microsoft.com/office/drawing/2014/main" id="{5BF17C28-EE81-8725-5071-573E37C824FE}"/>
              </a:ext>
            </a:extLst>
          </p:cNvPr>
          <p:cNvPicPr>
            <a:picLocks noChangeAspect="1"/>
          </p:cNvPicPr>
          <p:nvPr/>
        </p:nvPicPr>
        <p:blipFill rotWithShape="1">
          <a:blip r:embed="rId3">
            <a:extLst>
              <a:ext uri="{28A0092B-C50C-407E-A947-70E740481C1C}">
                <a14:useLocalDpi xmlns:a14="http://schemas.microsoft.com/office/drawing/2010/main" val="0"/>
              </a:ext>
            </a:extLst>
          </a:blip>
          <a:srcRect l="39685" t="31289" r="29450" b="54606"/>
          <a:stretch>
            <a:fillRect/>
          </a:stretch>
        </p:blipFill>
        <p:spPr>
          <a:xfrm rot="5400000" flipH="1">
            <a:off x="10147045" y="2711325"/>
            <a:ext cx="1806738" cy="845078"/>
          </a:xfrm>
          <a:prstGeom prst="rect">
            <a:avLst/>
          </a:prstGeom>
        </p:spPr>
      </p:pic>
      <p:sp>
        <p:nvSpPr>
          <p:cNvPr id="28" name="TextBox 27">
            <a:extLst>
              <a:ext uri="{FF2B5EF4-FFF2-40B4-BE49-F238E27FC236}">
                <a16:creationId xmlns:a16="http://schemas.microsoft.com/office/drawing/2014/main" id="{A5BD124A-9D96-1D54-38CA-4F170D8EC3D5}"/>
              </a:ext>
            </a:extLst>
          </p:cNvPr>
          <p:cNvSpPr txBox="1"/>
          <p:nvPr/>
        </p:nvSpPr>
        <p:spPr>
          <a:xfrm>
            <a:off x="10728851" y="1808443"/>
            <a:ext cx="643125" cy="369332"/>
          </a:xfrm>
          <a:prstGeom prst="rect">
            <a:avLst/>
          </a:prstGeom>
          <a:noFill/>
        </p:spPr>
        <p:txBody>
          <a:bodyPr wrap="none" rtlCol="0">
            <a:spAutoFit/>
          </a:bodyPr>
          <a:lstStyle/>
          <a:p>
            <a:r>
              <a:rPr lang="en-US" dirty="0"/>
              <a:t>DNA</a:t>
            </a:r>
          </a:p>
        </p:txBody>
      </p:sp>
      <p:sp>
        <p:nvSpPr>
          <p:cNvPr id="29" name="TextBox 28">
            <a:extLst>
              <a:ext uri="{FF2B5EF4-FFF2-40B4-BE49-F238E27FC236}">
                <a16:creationId xmlns:a16="http://schemas.microsoft.com/office/drawing/2014/main" id="{EF794FC2-D8DA-BFB9-5D8B-72CA59976D2D}"/>
              </a:ext>
            </a:extLst>
          </p:cNvPr>
          <p:cNvSpPr txBox="1"/>
          <p:nvPr/>
        </p:nvSpPr>
        <p:spPr>
          <a:xfrm>
            <a:off x="11568426" y="2568715"/>
            <a:ext cx="604653" cy="707886"/>
          </a:xfrm>
          <a:prstGeom prst="rect">
            <a:avLst/>
          </a:prstGeom>
          <a:noFill/>
        </p:spPr>
        <p:txBody>
          <a:bodyPr wrap="none" rtlCol="0">
            <a:spAutoFit/>
          </a:bodyPr>
          <a:lstStyle/>
          <a:p>
            <a:r>
              <a:rPr lang="en-US" sz="4000" dirty="0"/>
              <a:t>…</a:t>
            </a:r>
          </a:p>
        </p:txBody>
      </p:sp>
      <p:sp>
        <p:nvSpPr>
          <p:cNvPr id="3" name="Content Placeholder 2">
            <a:extLst>
              <a:ext uri="{FF2B5EF4-FFF2-40B4-BE49-F238E27FC236}">
                <a16:creationId xmlns:a16="http://schemas.microsoft.com/office/drawing/2014/main" id="{596B08B1-F83B-9F9B-E3A5-C5C6D2E29DF3}"/>
              </a:ext>
            </a:extLst>
          </p:cNvPr>
          <p:cNvSpPr>
            <a:spLocks noGrp="1"/>
          </p:cNvSpPr>
          <p:nvPr>
            <p:ph idx="1"/>
          </p:nvPr>
        </p:nvSpPr>
        <p:spPr>
          <a:xfrm>
            <a:off x="616782" y="1472260"/>
            <a:ext cx="4756430" cy="917575"/>
          </a:xfrm>
        </p:spPr>
        <p:txBody>
          <a:bodyPr>
            <a:normAutofit/>
          </a:bodyPr>
          <a:lstStyle/>
          <a:p>
            <a:pPr marL="0" indent="0">
              <a:buNone/>
            </a:pPr>
            <a:r>
              <a:rPr lang="en-US" u="sng" dirty="0"/>
              <a:t>Differential analysis</a:t>
            </a:r>
          </a:p>
        </p:txBody>
      </p:sp>
      <p:grpSp>
        <p:nvGrpSpPr>
          <p:cNvPr id="5" name="Group 4">
            <a:extLst>
              <a:ext uri="{FF2B5EF4-FFF2-40B4-BE49-F238E27FC236}">
                <a16:creationId xmlns:a16="http://schemas.microsoft.com/office/drawing/2014/main" id="{C15CE7F5-9B69-7254-83A4-243A74C86556}"/>
              </a:ext>
            </a:extLst>
          </p:cNvPr>
          <p:cNvGrpSpPr/>
          <p:nvPr/>
        </p:nvGrpSpPr>
        <p:grpSpPr>
          <a:xfrm>
            <a:off x="169561" y="2949610"/>
            <a:ext cx="2369283" cy="2757507"/>
            <a:chOff x="7410025" y="1334062"/>
            <a:chExt cx="2369283" cy="2757507"/>
          </a:xfrm>
        </p:grpSpPr>
        <p:sp>
          <p:nvSpPr>
            <p:cNvPr id="6" name="TextBox 5">
              <a:extLst>
                <a:ext uri="{FF2B5EF4-FFF2-40B4-BE49-F238E27FC236}">
                  <a16:creationId xmlns:a16="http://schemas.microsoft.com/office/drawing/2014/main" id="{4030A4FA-AB88-C27E-1ECB-2226CC10D1CE}"/>
                </a:ext>
              </a:extLst>
            </p:cNvPr>
            <p:cNvSpPr txBox="1"/>
            <p:nvPr/>
          </p:nvSpPr>
          <p:spPr>
            <a:xfrm rot="16200000">
              <a:off x="6884913" y="2101195"/>
              <a:ext cx="1450333" cy="400110"/>
            </a:xfrm>
            <a:prstGeom prst="rect">
              <a:avLst/>
            </a:prstGeom>
            <a:noFill/>
          </p:spPr>
          <p:txBody>
            <a:bodyPr wrap="none" rtlCol="0">
              <a:spAutoFit/>
            </a:bodyPr>
            <a:lstStyle/>
            <a:p>
              <a:r>
                <a:rPr lang="en-US" sz="2000" dirty="0"/>
                <a:t>Cells/spots</a:t>
              </a:r>
            </a:p>
          </p:txBody>
        </p:sp>
        <p:pic>
          <p:nvPicPr>
            <p:cNvPr id="7" name="Picture 6">
              <a:extLst>
                <a:ext uri="{FF2B5EF4-FFF2-40B4-BE49-F238E27FC236}">
                  <a16:creationId xmlns:a16="http://schemas.microsoft.com/office/drawing/2014/main" id="{98E818C0-520D-8A9C-688D-C172AD2F4629}"/>
                </a:ext>
              </a:extLst>
            </p:cNvPr>
            <p:cNvPicPr>
              <a:picLocks noChangeAspect="1"/>
            </p:cNvPicPr>
            <p:nvPr/>
          </p:nvPicPr>
          <p:blipFill rotWithShape="1">
            <a:blip r:embed="rId3">
              <a:extLst>
                <a:ext uri="{28A0092B-C50C-407E-A947-70E740481C1C}">
                  <a14:useLocalDpi xmlns:a14="http://schemas.microsoft.com/office/drawing/2010/main" val="0"/>
                </a:ext>
              </a:extLst>
            </a:blip>
            <a:srcRect l="25315" t="31466" r="7379" b="36444"/>
            <a:stretch/>
          </p:blipFill>
          <p:spPr>
            <a:xfrm rot="5400000" flipH="1">
              <a:off x="7548915" y="1872539"/>
              <a:ext cx="2515485" cy="1922575"/>
            </a:xfrm>
            <a:prstGeom prst="rect">
              <a:avLst/>
            </a:prstGeom>
          </p:spPr>
        </p:pic>
        <p:sp>
          <p:nvSpPr>
            <p:cNvPr id="15" name="TextBox 14">
              <a:extLst>
                <a:ext uri="{FF2B5EF4-FFF2-40B4-BE49-F238E27FC236}">
                  <a16:creationId xmlns:a16="http://schemas.microsoft.com/office/drawing/2014/main" id="{341CF96F-BAE4-79ED-DFB3-5037FC7D0B89}"/>
                </a:ext>
              </a:extLst>
            </p:cNvPr>
            <p:cNvSpPr txBox="1"/>
            <p:nvPr/>
          </p:nvSpPr>
          <p:spPr>
            <a:xfrm>
              <a:off x="7763436" y="1334062"/>
              <a:ext cx="2015872" cy="400110"/>
            </a:xfrm>
            <a:prstGeom prst="rect">
              <a:avLst/>
            </a:prstGeom>
            <a:noFill/>
          </p:spPr>
          <p:txBody>
            <a:bodyPr wrap="none" rtlCol="0">
              <a:spAutoFit/>
            </a:bodyPr>
            <a:lstStyle/>
            <a:p>
              <a:r>
                <a:rPr lang="en-US" sz="2000" dirty="0"/>
                <a:t>Genes (features)</a:t>
              </a:r>
            </a:p>
          </p:txBody>
        </p:sp>
      </p:grpSp>
      <p:grpSp>
        <p:nvGrpSpPr>
          <p:cNvPr id="16" name="Group 15">
            <a:extLst>
              <a:ext uri="{FF2B5EF4-FFF2-40B4-BE49-F238E27FC236}">
                <a16:creationId xmlns:a16="http://schemas.microsoft.com/office/drawing/2014/main" id="{8BB07269-9F17-F938-2D32-7B86A5ABD930}"/>
              </a:ext>
            </a:extLst>
          </p:cNvPr>
          <p:cNvGrpSpPr/>
          <p:nvPr/>
        </p:nvGrpSpPr>
        <p:grpSpPr>
          <a:xfrm>
            <a:off x="3263529" y="3149665"/>
            <a:ext cx="2369333" cy="1983646"/>
            <a:chOff x="2853152" y="2683011"/>
            <a:chExt cx="2369333" cy="1983646"/>
          </a:xfrm>
        </p:grpSpPr>
        <p:grpSp>
          <p:nvGrpSpPr>
            <p:cNvPr id="17" name="Group 16">
              <a:extLst>
                <a:ext uri="{FF2B5EF4-FFF2-40B4-BE49-F238E27FC236}">
                  <a16:creationId xmlns:a16="http://schemas.microsoft.com/office/drawing/2014/main" id="{04D836D6-A022-929E-4E46-7EE1EF989B84}"/>
                </a:ext>
              </a:extLst>
            </p:cNvPr>
            <p:cNvGrpSpPr/>
            <p:nvPr/>
          </p:nvGrpSpPr>
          <p:grpSpPr>
            <a:xfrm>
              <a:off x="3206613" y="2683011"/>
              <a:ext cx="2015872" cy="1983646"/>
              <a:chOff x="7763436" y="1334062"/>
              <a:chExt cx="2015872" cy="1983646"/>
            </a:xfrm>
          </p:grpSpPr>
          <p:pic>
            <p:nvPicPr>
              <p:cNvPr id="20" name="Picture 19">
                <a:extLst>
                  <a:ext uri="{FF2B5EF4-FFF2-40B4-BE49-F238E27FC236}">
                    <a16:creationId xmlns:a16="http://schemas.microsoft.com/office/drawing/2014/main" id="{2130DA6E-66F5-C2A2-C693-A0FE4C1A7857}"/>
                  </a:ext>
                </a:extLst>
              </p:cNvPr>
              <p:cNvPicPr>
                <a:picLocks noChangeAspect="1"/>
              </p:cNvPicPr>
              <p:nvPr/>
            </p:nvPicPr>
            <p:blipFill rotWithShape="1">
              <a:blip r:embed="rId3">
                <a:extLst>
                  <a:ext uri="{28A0092B-C50C-407E-A947-70E740481C1C}">
                    <a14:useLocalDpi xmlns:a14="http://schemas.microsoft.com/office/drawing/2010/main" val="0"/>
                  </a:ext>
                </a:extLst>
              </a:blip>
              <a:srcRect l="50250" t="31466" r="7380" b="36444"/>
              <a:stretch>
                <a:fillRect/>
              </a:stretch>
            </p:blipFill>
            <p:spPr>
              <a:xfrm rot="16200000" flipH="1">
                <a:off x="8002930" y="1564653"/>
                <a:ext cx="1583534" cy="1922575"/>
              </a:xfrm>
              <a:prstGeom prst="rect">
                <a:avLst/>
              </a:prstGeom>
            </p:spPr>
          </p:pic>
          <p:sp>
            <p:nvSpPr>
              <p:cNvPr id="30" name="TextBox 29">
                <a:extLst>
                  <a:ext uri="{FF2B5EF4-FFF2-40B4-BE49-F238E27FC236}">
                    <a16:creationId xmlns:a16="http://schemas.microsoft.com/office/drawing/2014/main" id="{C1BA8521-57B5-F2F8-A67F-815EF0CFBDBB}"/>
                  </a:ext>
                </a:extLst>
              </p:cNvPr>
              <p:cNvSpPr txBox="1"/>
              <p:nvPr/>
            </p:nvSpPr>
            <p:spPr>
              <a:xfrm>
                <a:off x="7763436" y="1334062"/>
                <a:ext cx="2015872" cy="400110"/>
              </a:xfrm>
              <a:prstGeom prst="rect">
                <a:avLst/>
              </a:prstGeom>
              <a:noFill/>
            </p:spPr>
            <p:txBody>
              <a:bodyPr wrap="none" rtlCol="0">
                <a:spAutoFit/>
              </a:bodyPr>
              <a:lstStyle/>
              <a:p>
                <a:r>
                  <a:rPr lang="en-US" sz="2000" dirty="0"/>
                  <a:t>Genes (features)</a:t>
                </a:r>
              </a:p>
            </p:txBody>
          </p:sp>
        </p:grpSp>
        <p:sp>
          <p:nvSpPr>
            <p:cNvPr id="18" name="TextBox 17">
              <a:extLst>
                <a:ext uri="{FF2B5EF4-FFF2-40B4-BE49-F238E27FC236}">
                  <a16:creationId xmlns:a16="http://schemas.microsoft.com/office/drawing/2014/main" id="{4BBDD002-94CC-9CDA-81D1-64D819937A9C}"/>
                </a:ext>
              </a:extLst>
            </p:cNvPr>
            <p:cNvSpPr txBox="1"/>
            <p:nvPr/>
          </p:nvSpPr>
          <p:spPr>
            <a:xfrm rot="16200000">
              <a:off x="2328040" y="3608234"/>
              <a:ext cx="1450333" cy="400110"/>
            </a:xfrm>
            <a:prstGeom prst="rect">
              <a:avLst/>
            </a:prstGeom>
            <a:noFill/>
          </p:spPr>
          <p:txBody>
            <a:bodyPr wrap="none" rtlCol="0">
              <a:spAutoFit/>
            </a:bodyPr>
            <a:lstStyle/>
            <a:p>
              <a:r>
                <a:rPr lang="en-US" sz="2000" dirty="0"/>
                <a:t>Cells/spots</a:t>
              </a:r>
            </a:p>
          </p:txBody>
        </p:sp>
      </p:grpSp>
      <p:sp>
        <p:nvSpPr>
          <p:cNvPr id="31" name="TextBox 30">
            <a:extLst>
              <a:ext uri="{FF2B5EF4-FFF2-40B4-BE49-F238E27FC236}">
                <a16:creationId xmlns:a16="http://schemas.microsoft.com/office/drawing/2014/main" id="{C99CCC30-13CC-378B-0845-37ED906F259B}"/>
              </a:ext>
            </a:extLst>
          </p:cNvPr>
          <p:cNvSpPr txBox="1"/>
          <p:nvPr/>
        </p:nvSpPr>
        <p:spPr>
          <a:xfrm>
            <a:off x="867906" y="2389835"/>
            <a:ext cx="1326004" cy="477054"/>
          </a:xfrm>
          <a:prstGeom prst="rect">
            <a:avLst/>
          </a:prstGeom>
          <a:noFill/>
        </p:spPr>
        <p:txBody>
          <a:bodyPr wrap="none" rtlCol="0">
            <a:spAutoFit/>
          </a:bodyPr>
          <a:lstStyle/>
          <a:p>
            <a:r>
              <a:rPr lang="en-US" sz="2500" b="1" dirty="0"/>
              <a:t>Healthy</a:t>
            </a:r>
          </a:p>
        </p:txBody>
      </p:sp>
      <p:sp>
        <p:nvSpPr>
          <p:cNvPr id="32" name="TextBox 31">
            <a:extLst>
              <a:ext uri="{FF2B5EF4-FFF2-40B4-BE49-F238E27FC236}">
                <a16:creationId xmlns:a16="http://schemas.microsoft.com/office/drawing/2014/main" id="{45236434-21B1-0264-84A4-3F003273998D}"/>
              </a:ext>
            </a:extLst>
          </p:cNvPr>
          <p:cNvSpPr txBox="1"/>
          <p:nvPr/>
        </p:nvSpPr>
        <p:spPr>
          <a:xfrm>
            <a:off x="3811007" y="2389835"/>
            <a:ext cx="1547218" cy="477054"/>
          </a:xfrm>
          <a:prstGeom prst="rect">
            <a:avLst/>
          </a:prstGeom>
          <a:noFill/>
        </p:spPr>
        <p:txBody>
          <a:bodyPr wrap="none" rtlCol="0">
            <a:spAutoFit/>
          </a:bodyPr>
          <a:lstStyle/>
          <a:p>
            <a:r>
              <a:rPr lang="en-US" sz="2500" b="1" dirty="0"/>
              <a:t>Diseased</a:t>
            </a:r>
          </a:p>
        </p:txBody>
      </p:sp>
      <p:sp>
        <p:nvSpPr>
          <p:cNvPr id="33" name="TextBox 32">
            <a:extLst>
              <a:ext uri="{FF2B5EF4-FFF2-40B4-BE49-F238E27FC236}">
                <a16:creationId xmlns:a16="http://schemas.microsoft.com/office/drawing/2014/main" id="{E7FDC506-E733-54F2-A3B3-80039CEEDAE5}"/>
              </a:ext>
            </a:extLst>
          </p:cNvPr>
          <p:cNvSpPr txBox="1"/>
          <p:nvPr/>
        </p:nvSpPr>
        <p:spPr>
          <a:xfrm>
            <a:off x="1451685" y="6057319"/>
            <a:ext cx="3173241" cy="461665"/>
          </a:xfrm>
          <a:prstGeom prst="rect">
            <a:avLst/>
          </a:prstGeom>
          <a:noFill/>
        </p:spPr>
        <p:txBody>
          <a:bodyPr wrap="none" rtlCol="0">
            <a:spAutoFit/>
          </a:bodyPr>
          <a:lstStyle/>
          <a:p>
            <a:r>
              <a:rPr lang="en-US" sz="2400" dirty="0">
                <a:solidFill>
                  <a:srgbClr val="00B050"/>
                </a:solidFill>
              </a:rPr>
              <a:t>Cell type disappeared!</a:t>
            </a:r>
          </a:p>
        </p:txBody>
      </p:sp>
      <p:sp>
        <p:nvSpPr>
          <p:cNvPr id="34" name="Rectangle 33">
            <a:extLst>
              <a:ext uri="{FF2B5EF4-FFF2-40B4-BE49-F238E27FC236}">
                <a16:creationId xmlns:a16="http://schemas.microsoft.com/office/drawing/2014/main" id="{B6F69DAA-3DD7-A3C8-4DC7-436C987B0CB0}"/>
              </a:ext>
            </a:extLst>
          </p:cNvPr>
          <p:cNvSpPr/>
          <p:nvPr/>
        </p:nvSpPr>
        <p:spPr>
          <a:xfrm>
            <a:off x="569671" y="3251006"/>
            <a:ext cx="2090401" cy="855761"/>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Arrow Connector 34">
            <a:extLst>
              <a:ext uri="{FF2B5EF4-FFF2-40B4-BE49-F238E27FC236}">
                <a16:creationId xmlns:a16="http://schemas.microsoft.com/office/drawing/2014/main" id="{FC2AD370-FCD9-B540-332C-EB6102563B68}"/>
              </a:ext>
            </a:extLst>
          </p:cNvPr>
          <p:cNvCxnSpPr/>
          <p:nvPr/>
        </p:nvCxnSpPr>
        <p:spPr>
          <a:xfrm>
            <a:off x="2030680" y="4149830"/>
            <a:ext cx="273132" cy="1864426"/>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95532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3BBA0-E720-2CF8-9264-BCF945CCC33D}"/>
              </a:ext>
            </a:extLst>
          </p:cNvPr>
          <p:cNvSpPr>
            <a:spLocks noGrp="1"/>
          </p:cNvSpPr>
          <p:nvPr>
            <p:ph type="title"/>
          </p:nvPr>
        </p:nvSpPr>
        <p:spPr>
          <a:xfrm>
            <a:off x="62345" y="0"/>
            <a:ext cx="10515600" cy="1325563"/>
          </a:xfrm>
        </p:spPr>
        <p:txBody>
          <a:bodyPr/>
          <a:lstStyle/>
          <a:p>
            <a:r>
              <a:rPr lang="en-US" dirty="0"/>
              <a:t>Trajectory inference</a:t>
            </a:r>
          </a:p>
        </p:txBody>
      </p:sp>
      <p:sp>
        <p:nvSpPr>
          <p:cNvPr id="21" name="Content Placeholder 2">
            <a:extLst>
              <a:ext uri="{FF2B5EF4-FFF2-40B4-BE49-F238E27FC236}">
                <a16:creationId xmlns:a16="http://schemas.microsoft.com/office/drawing/2014/main" id="{1C1CA31E-6112-A09C-9588-418B1D123BD4}"/>
              </a:ext>
            </a:extLst>
          </p:cNvPr>
          <p:cNvSpPr txBox="1">
            <a:spLocks/>
          </p:cNvSpPr>
          <p:nvPr/>
        </p:nvSpPr>
        <p:spPr>
          <a:xfrm>
            <a:off x="437424" y="1476082"/>
            <a:ext cx="4252480" cy="8441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u="sng" dirty="0"/>
              <a:t>A single dataset</a:t>
            </a:r>
          </a:p>
        </p:txBody>
      </p:sp>
      <p:pic>
        <p:nvPicPr>
          <p:cNvPr id="3076" name="Picture 4" descr="Chapter 10 Trajectory Analysis | Advanced Single-Cell Analysis with  Bioconductor">
            <a:extLst>
              <a:ext uri="{FF2B5EF4-FFF2-40B4-BE49-F238E27FC236}">
                <a16:creationId xmlns:a16="http://schemas.microsoft.com/office/drawing/2014/main" id="{04F109F1-F6AA-2E3E-3EDA-C8988D210B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648" y="1917434"/>
            <a:ext cx="3668486" cy="262034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3C1B2F57-F8F7-479B-A49B-122EA4405D3B}"/>
              </a:ext>
            </a:extLst>
          </p:cNvPr>
          <p:cNvSpPr txBox="1"/>
          <p:nvPr/>
        </p:nvSpPr>
        <p:spPr>
          <a:xfrm>
            <a:off x="153648" y="4849784"/>
            <a:ext cx="4252480" cy="1631216"/>
          </a:xfrm>
          <a:prstGeom prst="rect">
            <a:avLst/>
          </a:prstGeom>
          <a:noFill/>
        </p:spPr>
        <p:txBody>
          <a:bodyPr wrap="square" rtlCol="0">
            <a:spAutoFit/>
          </a:bodyPr>
          <a:lstStyle/>
          <a:p>
            <a:r>
              <a:rPr lang="en-US" sz="2500" dirty="0"/>
              <a:t>Data=single snapshot but cells are at different stages</a:t>
            </a:r>
          </a:p>
          <a:p>
            <a:pPr marL="285750" indent="-285750">
              <a:buFont typeface="Arial" panose="020B0604020202020204" pitchFamily="34" charset="0"/>
              <a:buChar char="•"/>
            </a:pPr>
            <a:r>
              <a:rPr lang="en-US" sz="2500" dirty="0"/>
              <a:t>can you infer “</a:t>
            </a:r>
            <a:r>
              <a:rPr lang="en-US" sz="2500" dirty="0" err="1"/>
              <a:t>pseudotime</a:t>
            </a:r>
            <a:r>
              <a:rPr lang="en-US" sz="2500" dirty="0"/>
              <a:t>” ordering of cells?</a:t>
            </a:r>
          </a:p>
        </p:txBody>
      </p:sp>
      <p:sp>
        <p:nvSpPr>
          <p:cNvPr id="10" name="Content Placeholder 2">
            <a:extLst>
              <a:ext uri="{FF2B5EF4-FFF2-40B4-BE49-F238E27FC236}">
                <a16:creationId xmlns:a16="http://schemas.microsoft.com/office/drawing/2014/main" id="{06D94C43-9CDF-E76C-7079-E3C74EFB019F}"/>
              </a:ext>
            </a:extLst>
          </p:cNvPr>
          <p:cNvSpPr txBox="1">
            <a:spLocks/>
          </p:cNvSpPr>
          <p:nvPr/>
        </p:nvSpPr>
        <p:spPr>
          <a:xfrm>
            <a:off x="6647858" y="1396222"/>
            <a:ext cx="5061211" cy="917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u="sng" dirty="0"/>
              <a:t>Time series data</a:t>
            </a:r>
          </a:p>
          <a:p>
            <a:pPr lvl="1"/>
            <a:r>
              <a:rPr lang="en-US" dirty="0"/>
              <a:t>optimal transport, diffusion, …</a:t>
            </a:r>
          </a:p>
        </p:txBody>
      </p:sp>
      <p:pic>
        <p:nvPicPr>
          <p:cNvPr id="13" name="Picture 12" descr="A diagram of a human body&#10;&#10;AI-generated content may be incorrect.">
            <a:extLst>
              <a:ext uri="{FF2B5EF4-FFF2-40B4-BE49-F238E27FC236}">
                <a16:creationId xmlns:a16="http://schemas.microsoft.com/office/drawing/2014/main" id="{228E5454-9916-63BB-8047-FBB2F3A80582}"/>
              </a:ext>
            </a:extLst>
          </p:cNvPr>
          <p:cNvPicPr>
            <a:picLocks noChangeAspect="1"/>
          </p:cNvPicPr>
          <p:nvPr/>
        </p:nvPicPr>
        <p:blipFill>
          <a:blip r:embed="rId3"/>
          <a:stretch>
            <a:fillRect/>
          </a:stretch>
        </p:blipFill>
        <p:spPr>
          <a:xfrm>
            <a:off x="6931296" y="2290767"/>
            <a:ext cx="4148381" cy="3819641"/>
          </a:xfrm>
          <a:prstGeom prst="rect">
            <a:avLst/>
          </a:prstGeom>
        </p:spPr>
      </p:pic>
      <p:sp>
        <p:nvSpPr>
          <p:cNvPr id="15" name="TextBox 14">
            <a:extLst>
              <a:ext uri="{FF2B5EF4-FFF2-40B4-BE49-F238E27FC236}">
                <a16:creationId xmlns:a16="http://schemas.microsoft.com/office/drawing/2014/main" id="{0DAB4D8C-3994-6C25-6981-67D442BFB1C6}"/>
              </a:ext>
            </a:extLst>
          </p:cNvPr>
          <p:cNvSpPr txBox="1"/>
          <p:nvPr/>
        </p:nvSpPr>
        <p:spPr>
          <a:xfrm>
            <a:off x="7392565" y="6111668"/>
            <a:ext cx="3007170" cy="369332"/>
          </a:xfrm>
          <a:prstGeom prst="rect">
            <a:avLst/>
          </a:prstGeom>
          <a:noFill/>
        </p:spPr>
        <p:txBody>
          <a:bodyPr wrap="none" rtlCol="0">
            <a:spAutoFit/>
          </a:bodyPr>
          <a:lstStyle/>
          <a:p>
            <a:r>
              <a:rPr lang="en-US" dirty="0"/>
              <a:t>Mouse embryo E10.5 -&gt; E9.5</a:t>
            </a:r>
          </a:p>
        </p:txBody>
      </p:sp>
      <p:sp>
        <p:nvSpPr>
          <p:cNvPr id="23" name="TextBox 22">
            <a:extLst>
              <a:ext uri="{FF2B5EF4-FFF2-40B4-BE49-F238E27FC236}">
                <a16:creationId xmlns:a16="http://schemas.microsoft.com/office/drawing/2014/main" id="{7B330B7D-5E1C-B630-7A15-2A569017F9D6}"/>
              </a:ext>
            </a:extLst>
          </p:cNvPr>
          <p:cNvSpPr txBox="1"/>
          <p:nvPr/>
        </p:nvSpPr>
        <p:spPr>
          <a:xfrm>
            <a:off x="10112905" y="6581001"/>
            <a:ext cx="1933543" cy="276999"/>
          </a:xfrm>
          <a:prstGeom prst="rect">
            <a:avLst/>
          </a:prstGeom>
          <a:noFill/>
        </p:spPr>
        <p:txBody>
          <a:bodyPr wrap="none" rtlCol="0">
            <a:spAutoFit/>
          </a:bodyPr>
          <a:lstStyle/>
          <a:p>
            <a:r>
              <a:rPr lang="en-US" sz="1200" dirty="0">
                <a:solidFill>
                  <a:schemeClr val="bg1">
                    <a:lumMod val="50000"/>
                  </a:schemeClr>
                </a:solidFill>
              </a:rPr>
              <a:t>Halmos et al, </a:t>
            </a:r>
            <a:r>
              <a:rPr lang="en-US" sz="1200" dirty="0" err="1">
                <a:solidFill>
                  <a:schemeClr val="bg1">
                    <a:lumMod val="50000"/>
                  </a:schemeClr>
                </a:solidFill>
              </a:rPr>
              <a:t>bioRxiv</a:t>
            </a:r>
            <a:r>
              <a:rPr lang="en-US" sz="1200" dirty="0">
                <a:solidFill>
                  <a:schemeClr val="bg1">
                    <a:lumMod val="50000"/>
                  </a:schemeClr>
                </a:solidFill>
              </a:rPr>
              <a:t> 2025</a:t>
            </a:r>
          </a:p>
        </p:txBody>
      </p:sp>
    </p:spTree>
    <p:extLst>
      <p:ext uri="{BB962C8B-B14F-4D97-AF65-F5344CB8AC3E}">
        <p14:creationId xmlns:p14="http://schemas.microsoft.com/office/powerpoint/2010/main" val="39958350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8AD27-B9AA-DDEE-D4C2-6B8319140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68ED82-C213-B01F-6A82-95807D513FE1}"/>
              </a:ext>
            </a:extLst>
          </p:cNvPr>
          <p:cNvSpPr>
            <a:spLocks noGrp="1"/>
          </p:cNvSpPr>
          <p:nvPr>
            <p:ph type="title"/>
          </p:nvPr>
        </p:nvSpPr>
        <p:spPr>
          <a:xfrm>
            <a:off x="137556" y="22325"/>
            <a:ext cx="10515600" cy="1325563"/>
          </a:xfrm>
        </p:spPr>
        <p:txBody>
          <a:bodyPr/>
          <a:lstStyle/>
          <a:p>
            <a:r>
              <a:rPr lang="en-US" dirty="0"/>
              <a:t>New: foundation models</a:t>
            </a:r>
          </a:p>
        </p:txBody>
      </p:sp>
      <p:grpSp>
        <p:nvGrpSpPr>
          <p:cNvPr id="14" name="Group 13">
            <a:extLst>
              <a:ext uri="{FF2B5EF4-FFF2-40B4-BE49-F238E27FC236}">
                <a16:creationId xmlns:a16="http://schemas.microsoft.com/office/drawing/2014/main" id="{B1806383-214B-9308-77CC-F192836C2639}"/>
              </a:ext>
            </a:extLst>
          </p:cNvPr>
          <p:cNvGrpSpPr/>
          <p:nvPr/>
        </p:nvGrpSpPr>
        <p:grpSpPr>
          <a:xfrm>
            <a:off x="1257552" y="2758992"/>
            <a:ext cx="2660824" cy="3099025"/>
            <a:chOff x="509901" y="1888175"/>
            <a:chExt cx="2660824" cy="3099025"/>
          </a:xfrm>
        </p:grpSpPr>
        <p:pic>
          <p:nvPicPr>
            <p:cNvPr id="4" name="Picture 3">
              <a:extLst>
                <a:ext uri="{FF2B5EF4-FFF2-40B4-BE49-F238E27FC236}">
                  <a16:creationId xmlns:a16="http://schemas.microsoft.com/office/drawing/2014/main" id="{28ED70EF-3DC1-6893-29AB-F9547CE8FB1C}"/>
                </a:ext>
              </a:extLst>
            </p:cNvPr>
            <p:cNvPicPr>
              <a:picLocks noChangeAspect="1"/>
            </p:cNvPicPr>
            <p:nvPr/>
          </p:nvPicPr>
          <p:blipFill rotWithShape="1">
            <a:blip r:embed="rId2">
              <a:extLst>
                <a:ext uri="{28A0092B-C50C-407E-A947-70E740481C1C}">
                  <a14:useLocalDpi xmlns:a14="http://schemas.microsoft.com/office/drawing/2010/main" val="0"/>
                </a:ext>
              </a:extLst>
            </a:blip>
            <a:srcRect l="29315" t="31466" r="10632" b="36444"/>
            <a:stretch>
              <a:fillRect/>
            </a:stretch>
          </p:blipFill>
          <p:spPr>
            <a:xfrm rot="5400000" flipH="1">
              <a:off x="348970" y="2049106"/>
              <a:ext cx="2244437" cy="1922575"/>
            </a:xfrm>
            <a:prstGeom prst="rect">
              <a:avLst/>
            </a:prstGeom>
            <a:ln w="28575">
              <a:solidFill>
                <a:schemeClr val="tx1"/>
              </a:solidFill>
            </a:ln>
          </p:spPr>
        </p:pic>
        <p:pic>
          <p:nvPicPr>
            <p:cNvPr id="8" name="Picture 7">
              <a:extLst>
                <a:ext uri="{FF2B5EF4-FFF2-40B4-BE49-F238E27FC236}">
                  <a16:creationId xmlns:a16="http://schemas.microsoft.com/office/drawing/2014/main" id="{2153CF1C-A9BE-16D6-6950-238FC5D91F4C}"/>
                </a:ext>
              </a:extLst>
            </p:cNvPr>
            <p:cNvPicPr>
              <a:picLocks noChangeAspect="1"/>
            </p:cNvPicPr>
            <p:nvPr/>
          </p:nvPicPr>
          <p:blipFill rotWithShape="1">
            <a:blip r:embed="rId2">
              <a:extLst>
                <a:ext uri="{28A0092B-C50C-407E-A947-70E740481C1C}">
                  <a14:useLocalDpi xmlns:a14="http://schemas.microsoft.com/office/drawing/2010/main" val="0"/>
                </a:ext>
              </a:extLst>
            </a:blip>
            <a:srcRect l="29315" t="31466" r="10632" b="36444"/>
            <a:stretch>
              <a:fillRect/>
            </a:stretch>
          </p:blipFill>
          <p:spPr>
            <a:xfrm rot="5400000" flipH="1">
              <a:off x="477619" y="2294094"/>
              <a:ext cx="2244437" cy="1922575"/>
            </a:xfrm>
            <a:prstGeom prst="rect">
              <a:avLst/>
            </a:prstGeom>
            <a:ln w="28575">
              <a:solidFill>
                <a:schemeClr val="tx1"/>
              </a:solidFill>
            </a:ln>
          </p:spPr>
        </p:pic>
        <p:pic>
          <p:nvPicPr>
            <p:cNvPr id="9" name="Picture 8">
              <a:extLst>
                <a:ext uri="{FF2B5EF4-FFF2-40B4-BE49-F238E27FC236}">
                  <a16:creationId xmlns:a16="http://schemas.microsoft.com/office/drawing/2014/main" id="{7E3499D0-A043-DF3C-70C1-93BDD885AC37}"/>
                </a:ext>
              </a:extLst>
            </p:cNvPr>
            <p:cNvPicPr>
              <a:picLocks noChangeAspect="1"/>
            </p:cNvPicPr>
            <p:nvPr/>
          </p:nvPicPr>
          <p:blipFill rotWithShape="1">
            <a:blip r:embed="rId2">
              <a:extLst>
                <a:ext uri="{28A0092B-C50C-407E-A947-70E740481C1C}">
                  <a14:useLocalDpi xmlns:a14="http://schemas.microsoft.com/office/drawing/2010/main" val="0"/>
                </a:ext>
              </a:extLst>
            </a:blip>
            <a:srcRect l="29315" t="31466" r="10632" b="36444"/>
            <a:stretch>
              <a:fillRect/>
            </a:stretch>
          </p:blipFill>
          <p:spPr>
            <a:xfrm rot="5400000" flipH="1">
              <a:off x="630019" y="2446494"/>
              <a:ext cx="2244437" cy="1922575"/>
            </a:xfrm>
            <a:prstGeom prst="rect">
              <a:avLst/>
            </a:prstGeom>
            <a:ln w="28575">
              <a:solidFill>
                <a:schemeClr val="tx1"/>
              </a:solidFill>
            </a:ln>
          </p:spPr>
        </p:pic>
        <p:pic>
          <p:nvPicPr>
            <p:cNvPr id="10" name="Picture 9">
              <a:extLst>
                <a:ext uri="{FF2B5EF4-FFF2-40B4-BE49-F238E27FC236}">
                  <a16:creationId xmlns:a16="http://schemas.microsoft.com/office/drawing/2014/main" id="{05B5EDF3-0ABB-930A-E24C-2ED9718BD2F8}"/>
                </a:ext>
              </a:extLst>
            </p:cNvPr>
            <p:cNvPicPr>
              <a:picLocks noChangeAspect="1"/>
            </p:cNvPicPr>
            <p:nvPr/>
          </p:nvPicPr>
          <p:blipFill rotWithShape="1">
            <a:blip r:embed="rId2">
              <a:extLst>
                <a:ext uri="{28A0092B-C50C-407E-A947-70E740481C1C}">
                  <a14:useLocalDpi xmlns:a14="http://schemas.microsoft.com/office/drawing/2010/main" val="0"/>
                </a:ext>
              </a:extLst>
            </a:blip>
            <a:srcRect l="29315" t="31466" r="10632" b="36444"/>
            <a:stretch>
              <a:fillRect/>
            </a:stretch>
          </p:blipFill>
          <p:spPr>
            <a:xfrm rot="5400000" flipH="1">
              <a:off x="782419" y="2598894"/>
              <a:ext cx="2244437" cy="1922575"/>
            </a:xfrm>
            <a:prstGeom prst="rect">
              <a:avLst/>
            </a:prstGeom>
            <a:ln w="28575">
              <a:solidFill>
                <a:schemeClr val="tx1"/>
              </a:solidFill>
            </a:ln>
          </p:spPr>
        </p:pic>
        <p:pic>
          <p:nvPicPr>
            <p:cNvPr id="11" name="Picture 10">
              <a:extLst>
                <a:ext uri="{FF2B5EF4-FFF2-40B4-BE49-F238E27FC236}">
                  <a16:creationId xmlns:a16="http://schemas.microsoft.com/office/drawing/2014/main" id="{333458A4-4811-7921-57CB-22017012B47C}"/>
                </a:ext>
              </a:extLst>
            </p:cNvPr>
            <p:cNvPicPr>
              <a:picLocks noChangeAspect="1"/>
            </p:cNvPicPr>
            <p:nvPr/>
          </p:nvPicPr>
          <p:blipFill rotWithShape="1">
            <a:blip r:embed="rId2">
              <a:extLst>
                <a:ext uri="{28A0092B-C50C-407E-A947-70E740481C1C}">
                  <a14:useLocalDpi xmlns:a14="http://schemas.microsoft.com/office/drawing/2010/main" val="0"/>
                </a:ext>
              </a:extLst>
            </a:blip>
            <a:srcRect l="29315" t="31466" r="10632" b="36444"/>
            <a:stretch>
              <a:fillRect/>
            </a:stretch>
          </p:blipFill>
          <p:spPr>
            <a:xfrm rot="5400000" flipH="1">
              <a:off x="934819" y="2751294"/>
              <a:ext cx="2244437" cy="1922575"/>
            </a:xfrm>
            <a:prstGeom prst="rect">
              <a:avLst/>
            </a:prstGeom>
            <a:ln w="28575">
              <a:solidFill>
                <a:schemeClr val="tx1"/>
              </a:solidFill>
            </a:ln>
          </p:spPr>
        </p:pic>
        <p:pic>
          <p:nvPicPr>
            <p:cNvPr id="12" name="Picture 11">
              <a:extLst>
                <a:ext uri="{FF2B5EF4-FFF2-40B4-BE49-F238E27FC236}">
                  <a16:creationId xmlns:a16="http://schemas.microsoft.com/office/drawing/2014/main" id="{DFC87A90-EC4F-3B2A-7E6B-9C82330B74FB}"/>
                </a:ext>
              </a:extLst>
            </p:cNvPr>
            <p:cNvPicPr>
              <a:picLocks noChangeAspect="1"/>
            </p:cNvPicPr>
            <p:nvPr/>
          </p:nvPicPr>
          <p:blipFill rotWithShape="1">
            <a:blip r:embed="rId2">
              <a:extLst>
                <a:ext uri="{28A0092B-C50C-407E-A947-70E740481C1C}">
                  <a14:useLocalDpi xmlns:a14="http://schemas.microsoft.com/office/drawing/2010/main" val="0"/>
                </a:ext>
              </a:extLst>
            </a:blip>
            <a:srcRect l="29315" t="31466" r="10632" b="36444"/>
            <a:stretch>
              <a:fillRect/>
            </a:stretch>
          </p:blipFill>
          <p:spPr>
            <a:xfrm rot="5400000" flipH="1">
              <a:off x="1087219" y="2903694"/>
              <a:ext cx="2244437" cy="1922575"/>
            </a:xfrm>
            <a:prstGeom prst="rect">
              <a:avLst/>
            </a:prstGeom>
            <a:ln w="28575">
              <a:solidFill>
                <a:schemeClr val="tx1"/>
              </a:solidFill>
            </a:ln>
          </p:spPr>
        </p:pic>
      </p:grpSp>
      <p:sp>
        <p:nvSpPr>
          <p:cNvPr id="13" name="TextBox 12">
            <a:extLst>
              <a:ext uri="{FF2B5EF4-FFF2-40B4-BE49-F238E27FC236}">
                <a16:creationId xmlns:a16="http://schemas.microsoft.com/office/drawing/2014/main" id="{5F444993-E58A-89B0-B596-7DC9452C4161}"/>
              </a:ext>
            </a:extLst>
          </p:cNvPr>
          <p:cNvSpPr txBox="1"/>
          <p:nvPr/>
        </p:nvSpPr>
        <p:spPr>
          <a:xfrm>
            <a:off x="365418" y="1347888"/>
            <a:ext cx="5679374" cy="1246495"/>
          </a:xfrm>
          <a:prstGeom prst="rect">
            <a:avLst/>
          </a:prstGeom>
          <a:noFill/>
        </p:spPr>
        <p:txBody>
          <a:bodyPr wrap="square" rtlCol="0">
            <a:spAutoFit/>
          </a:bodyPr>
          <a:lstStyle/>
          <a:p>
            <a:r>
              <a:rPr lang="en-US" sz="2500" u="sng" dirty="0"/>
              <a:t>Foundation models</a:t>
            </a:r>
          </a:p>
          <a:p>
            <a:pPr marL="342900" indent="-342900">
              <a:buFont typeface="Arial" panose="020B0604020202020204" pitchFamily="34" charset="0"/>
              <a:buChar char="•"/>
            </a:pPr>
            <a:r>
              <a:rPr lang="en-US" sz="2500" dirty="0"/>
              <a:t>How to learn insights from </a:t>
            </a:r>
            <a:r>
              <a:rPr lang="en-US" sz="2500" b="1" dirty="0"/>
              <a:t>large</a:t>
            </a:r>
            <a:r>
              <a:rPr lang="en-US" sz="2500" dirty="0"/>
              <a:t> volume of datasets?</a:t>
            </a:r>
          </a:p>
        </p:txBody>
      </p:sp>
      <p:pic>
        <p:nvPicPr>
          <p:cNvPr id="5126" name="Picture 6" descr="Hot deep neural networks definition Deals 12 Types of Neural Networks in  Deep Learning">
            <a:extLst>
              <a:ext uri="{FF2B5EF4-FFF2-40B4-BE49-F238E27FC236}">
                <a16:creationId xmlns:a16="http://schemas.microsoft.com/office/drawing/2014/main" id="{7ACB6544-6CD2-061D-42A9-B0C6854D977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016" t="4581" r="22531" b="18398"/>
          <a:stretch>
            <a:fillRect/>
          </a:stretch>
        </p:blipFill>
        <p:spPr bwMode="auto">
          <a:xfrm>
            <a:off x="4274622" y="3321008"/>
            <a:ext cx="1944742" cy="161038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Fig. 1: Model schematic.">
            <a:extLst>
              <a:ext uri="{FF2B5EF4-FFF2-40B4-BE49-F238E27FC236}">
                <a16:creationId xmlns:a16="http://schemas.microsoft.com/office/drawing/2014/main" id="{97D109F5-DAFF-72F3-5246-C53EE1D1CFB0}"/>
              </a:ext>
            </a:extLst>
          </p:cNvPr>
          <p:cNvPicPr>
            <a:picLocks noChangeAspect="1"/>
          </p:cNvPicPr>
          <p:nvPr/>
        </p:nvPicPr>
        <p:blipFill>
          <a:blip r:embed="rId4"/>
          <a:srcRect t="50626" r="64501"/>
          <a:stretch>
            <a:fillRect/>
          </a:stretch>
        </p:blipFill>
        <p:spPr>
          <a:xfrm>
            <a:off x="7791598" y="1398551"/>
            <a:ext cx="3884553" cy="4430057"/>
          </a:xfrm>
          <a:prstGeom prst="rect">
            <a:avLst/>
          </a:prstGeom>
        </p:spPr>
      </p:pic>
      <p:sp>
        <p:nvSpPr>
          <p:cNvPr id="5" name="TextBox 4">
            <a:extLst>
              <a:ext uri="{FF2B5EF4-FFF2-40B4-BE49-F238E27FC236}">
                <a16:creationId xmlns:a16="http://schemas.microsoft.com/office/drawing/2014/main" id="{983D400B-A623-21BD-833A-5B814895D836}"/>
              </a:ext>
            </a:extLst>
          </p:cNvPr>
          <p:cNvSpPr txBox="1"/>
          <p:nvPr/>
        </p:nvSpPr>
        <p:spPr>
          <a:xfrm>
            <a:off x="7791598" y="5673351"/>
            <a:ext cx="4077335" cy="369332"/>
          </a:xfrm>
          <a:prstGeom prst="rect">
            <a:avLst/>
          </a:prstGeom>
          <a:noFill/>
        </p:spPr>
        <p:txBody>
          <a:bodyPr wrap="none" rtlCol="0">
            <a:spAutoFit/>
          </a:bodyPr>
          <a:lstStyle/>
          <a:p>
            <a:r>
              <a:rPr lang="en-US" dirty="0" err="1">
                <a:solidFill>
                  <a:schemeClr val="bg1">
                    <a:lumMod val="65000"/>
                  </a:schemeClr>
                </a:solidFill>
              </a:rPr>
              <a:t>scGPT</a:t>
            </a:r>
            <a:r>
              <a:rPr lang="en-US" dirty="0">
                <a:solidFill>
                  <a:schemeClr val="bg1">
                    <a:lumMod val="65000"/>
                  </a:schemeClr>
                </a:solidFill>
              </a:rPr>
              <a:t> (Cui et al, Nature Methods 2024)</a:t>
            </a:r>
          </a:p>
        </p:txBody>
      </p:sp>
    </p:spTree>
    <p:extLst>
      <p:ext uri="{BB962C8B-B14F-4D97-AF65-F5344CB8AC3E}">
        <p14:creationId xmlns:p14="http://schemas.microsoft.com/office/powerpoint/2010/main" val="39193549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6779-2CEE-8696-1B80-2107277B4A06}"/>
              </a:ext>
            </a:extLst>
          </p:cNvPr>
          <p:cNvSpPr>
            <a:spLocks noGrp="1"/>
          </p:cNvSpPr>
          <p:nvPr>
            <p:ph type="title"/>
          </p:nvPr>
        </p:nvSpPr>
        <p:spPr>
          <a:xfrm>
            <a:off x="386938" y="377000"/>
            <a:ext cx="10515600" cy="1325563"/>
          </a:xfrm>
        </p:spPr>
        <p:txBody>
          <a:bodyPr/>
          <a:lstStyle/>
          <a:p>
            <a:r>
              <a:rPr lang="en-US" dirty="0"/>
              <a:t>Applications</a:t>
            </a:r>
          </a:p>
        </p:txBody>
      </p:sp>
      <p:sp>
        <p:nvSpPr>
          <p:cNvPr id="3" name="Content Placeholder 2">
            <a:extLst>
              <a:ext uri="{FF2B5EF4-FFF2-40B4-BE49-F238E27FC236}">
                <a16:creationId xmlns:a16="http://schemas.microsoft.com/office/drawing/2014/main" id="{DCF22C81-E465-3CAC-AFBF-356462913C97}"/>
              </a:ext>
            </a:extLst>
          </p:cNvPr>
          <p:cNvSpPr>
            <a:spLocks noGrp="1"/>
          </p:cNvSpPr>
          <p:nvPr>
            <p:ph idx="1"/>
          </p:nvPr>
        </p:nvSpPr>
        <p:spPr>
          <a:xfrm>
            <a:off x="616782" y="1472260"/>
            <a:ext cx="4756430" cy="917575"/>
          </a:xfrm>
        </p:spPr>
        <p:txBody>
          <a:bodyPr>
            <a:normAutofit/>
          </a:bodyPr>
          <a:lstStyle/>
          <a:p>
            <a:pPr marL="0" indent="0">
              <a:buNone/>
            </a:pPr>
            <a:r>
              <a:rPr lang="en-US" u="sng" dirty="0"/>
              <a:t>Data integration/differential analysis</a:t>
            </a:r>
          </a:p>
        </p:txBody>
      </p:sp>
      <p:grpSp>
        <p:nvGrpSpPr>
          <p:cNvPr id="4" name="Group 3">
            <a:extLst>
              <a:ext uri="{FF2B5EF4-FFF2-40B4-BE49-F238E27FC236}">
                <a16:creationId xmlns:a16="http://schemas.microsoft.com/office/drawing/2014/main" id="{4BFC1206-5256-0330-EF87-0792B45B3EEA}"/>
              </a:ext>
            </a:extLst>
          </p:cNvPr>
          <p:cNvGrpSpPr/>
          <p:nvPr/>
        </p:nvGrpSpPr>
        <p:grpSpPr>
          <a:xfrm>
            <a:off x="169561" y="2949610"/>
            <a:ext cx="2369283" cy="2757507"/>
            <a:chOff x="7410025" y="1334062"/>
            <a:chExt cx="2369283" cy="2757507"/>
          </a:xfrm>
        </p:grpSpPr>
        <p:sp>
          <p:nvSpPr>
            <p:cNvPr id="5" name="TextBox 4">
              <a:extLst>
                <a:ext uri="{FF2B5EF4-FFF2-40B4-BE49-F238E27FC236}">
                  <a16:creationId xmlns:a16="http://schemas.microsoft.com/office/drawing/2014/main" id="{07C14521-3CCE-629C-D970-4509B8D39AA7}"/>
                </a:ext>
              </a:extLst>
            </p:cNvPr>
            <p:cNvSpPr txBox="1"/>
            <p:nvPr/>
          </p:nvSpPr>
          <p:spPr>
            <a:xfrm rot="16200000">
              <a:off x="6884913" y="2101195"/>
              <a:ext cx="1450333" cy="400110"/>
            </a:xfrm>
            <a:prstGeom prst="rect">
              <a:avLst/>
            </a:prstGeom>
            <a:noFill/>
          </p:spPr>
          <p:txBody>
            <a:bodyPr wrap="none" rtlCol="0">
              <a:spAutoFit/>
            </a:bodyPr>
            <a:lstStyle/>
            <a:p>
              <a:r>
                <a:rPr lang="en-US" sz="2000" dirty="0"/>
                <a:t>Cells/spots</a:t>
              </a:r>
            </a:p>
          </p:txBody>
        </p:sp>
        <p:pic>
          <p:nvPicPr>
            <p:cNvPr id="6" name="Picture 5">
              <a:extLst>
                <a:ext uri="{FF2B5EF4-FFF2-40B4-BE49-F238E27FC236}">
                  <a16:creationId xmlns:a16="http://schemas.microsoft.com/office/drawing/2014/main" id="{D451CD12-9DFF-B4ED-A9CD-FB0A2995D37D}"/>
                </a:ext>
              </a:extLst>
            </p:cNvPr>
            <p:cNvPicPr>
              <a:picLocks noChangeAspect="1"/>
            </p:cNvPicPr>
            <p:nvPr/>
          </p:nvPicPr>
          <p:blipFill rotWithShape="1">
            <a:blip r:embed="rId2">
              <a:extLst>
                <a:ext uri="{28A0092B-C50C-407E-A947-70E740481C1C}">
                  <a14:useLocalDpi xmlns:a14="http://schemas.microsoft.com/office/drawing/2010/main" val="0"/>
                </a:ext>
              </a:extLst>
            </a:blip>
            <a:srcRect l="25315" t="31466" r="7379" b="36444"/>
            <a:stretch/>
          </p:blipFill>
          <p:spPr>
            <a:xfrm rot="5400000" flipH="1">
              <a:off x="7548915" y="1872539"/>
              <a:ext cx="2515485" cy="1922575"/>
            </a:xfrm>
            <a:prstGeom prst="rect">
              <a:avLst/>
            </a:prstGeom>
          </p:spPr>
        </p:pic>
        <p:sp>
          <p:nvSpPr>
            <p:cNvPr id="7" name="TextBox 6">
              <a:extLst>
                <a:ext uri="{FF2B5EF4-FFF2-40B4-BE49-F238E27FC236}">
                  <a16:creationId xmlns:a16="http://schemas.microsoft.com/office/drawing/2014/main" id="{EFAE53F7-D3AE-8A5C-6C29-ED837436EC80}"/>
                </a:ext>
              </a:extLst>
            </p:cNvPr>
            <p:cNvSpPr txBox="1"/>
            <p:nvPr/>
          </p:nvSpPr>
          <p:spPr>
            <a:xfrm>
              <a:off x="7763436" y="1334062"/>
              <a:ext cx="2015872" cy="400110"/>
            </a:xfrm>
            <a:prstGeom prst="rect">
              <a:avLst/>
            </a:prstGeom>
            <a:noFill/>
          </p:spPr>
          <p:txBody>
            <a:bodyPr wrap="none" rtlCol="0">
              <a:spAutoFit/>
            </a:bodyPr>
            <a:lstStyle/>
            <a:p>
              <a:r>
                <a:rPr lang="en-US" sz="2000" dirty="0"/>
                <a:t>Genes (features)</a:t>
              </a:r>
            </a:p>
          </p:txBody>
        </p:sp>
      </p:grpSp>
      <p:grpSp>
        <p:nvGrpSpPr>
          <p:cNvPr id="13" name="Group 12">
            <a:extLst>
              <a:ext uri="{FF2B5EF4-FFF2-40B4-BE49-F238E27FC236}">
                <a16:creationId xmlns:a16="http://schemas.microsoft.com/office/drawing/2014/main" id="{F75DDA62-5E87-FD2E-C990-B7855E76D5A7}"/>
              </a:ext>
            </a:extLst>
          </p:cNvPr>
          <p:cNvGrpSpPr/>
          <p:nvPr/>
        </p:nvGrpSpPr>
        <p:grpSpPr>
          <a:xfrm>
            <a:off x="3263529" y="3149665"/>
            <a:ext cx="2369333" cy="1983646"/>
            <a:chOff x="2853152" y="2683011"/>
            <a:chExt cx="2369333" cy="1983646"/>
          </a:xfrm>
        </p:grpSpPr>
        <p:grpSp>
          <p:nvGrpSpPr>
            <p:cNvPr id="8" name="Group 7">
              <a:extLst>
                <a:ext uri="{FF2B5EF4-FFF2-40B4-BE49-F238E27FC236}">
                  <a16:creationId xmlns:a16="http://schemas.microsoft.com/office/drawing/2014/main" id="{A8E0EEBC-98A4-6D28-DC17-7B396040CB15}"/>
                </a:ext>
              </a:extLst>
            </p:cNvPr>
            <p:cNvGrpSpPr/>
            <p:nvPr/>
          </p:nvGrpSpPr>
          <p:grpSpPr>
            <a:xfrm>
              <a:off x="3206613" y="2683011"/>
              <a:ext cx="2015872" cy="1983646"/>
              <a:chOff x="7763436" y="1334062"/>
              <a:chExt cx="2015872" cy="1983646"/>
            </a:xfrm>
          </p:grpSpPr>
          <p:pic>
            <p:nvPicPr>
              <p:cNvPr id="10" name="Picture 9">
                <a:extLst>
                  <a:ext uri="{FF2B5EF4-FFF2-40B4-BE49-F238E27FC236}">
                    <a16:creationId xmlns:a16="http://schemas.microsoft.com/office/drawing/2014/main" id="{F720C8CD-D7AA-D895-1574-BE828C78C6CE}"/>
                  </a:ext>
                </a:extLst>
              </p:cNvPr>
              <p:cNvPicPr>
                <a:picLocks noChangeAspect="1"/>
              </p:cNvPicPr>
              <p:nvPr/>
            </p:nvPicPr>
            <p:blipFill rotWithShape="1">
              <a:blip r:embed="rId2">
                <a:extLst>
                  <a:ext uri="{28A0092B-C50C-407E-A947-70E740481C1C}">
                    <a14:useLocalDpi xmlns:a14="http://schemas.microsoft.com/office/drawing/2010/main" val="0"/>
                  </a:ext>
                </a:extLst>
              </a:blip>
              <a:srcRect l="50250" t="31466" r="7380" b="36444"/>
              <a:stretch>
                <a:fillRect/>
              </a:stretch>
            </p:blipFill>
            <p:spPr>
              <a:xfrm rot="16200000" flipH="1">
                <a:off x="8002930" y="1564653"/>
                <a:ext cx="1583534" cy="1922575"/>
              </a:xfrm>
              <a:prstGeom prst="rect">
                <a:avLst/>
              </a:prstGeom>
            </p:spPr>
          </p:pic>
          <p:sp>
            <p:nvSpPr>
              <p:cNvPr id="11" name="TextBox 10">
                <a:extLst>
                  <a:ext uri="{FF2B5EF4-FFF2-40B4-BE49-F238E27FC236}">
                    <a16:creationId xmlns:a16="http://schemas.microsoft.com/office/drawing/2014/main" id="{3D2C19E1-696A-8C47-F54A-898C81776A70}"/>
                  </a:ext>
                </a:extLst>
              </p:cNvPr>
              <p:cNvSpPr txBox="1"/>
              <p:nvPr/>
            </p:nvSpPr>
            <p:spPr>
              <a:xfrm>
                <a:off x="7763436" y="1334062"/>
                <a:ext cx="2015872" cy="400110"/>
              </a:xfrm>
              <a:prstGeom prst="rect">
                <a:avLst/>
              </a:prstGeom>
              <a:noFill/>
            </p:spPr>
            <p:txBody>
              <a:bodyPr wrap="none" rtlCol="0">
                <a:spAutoFit/>
              </a:bodyPr>
              <a:lstStyle/>
              <a:p>
                <a:r>
                  <a:rPr lang="en-US" sz="2000" dirty="0"/>
                  <a:t>Genes (features)</a:t>
                </a:r>
              </a:p>
            </p:txBody>
          </p:sp>
        </p:grpSp>
        <p:sp>
          <p:nvSpPr>
            <p:cNvPr id="12" name="TextBox 11">
              <a:extLst>
                <a:ext uri="{FF2B5EF4-FFF2-40B4-BE49-F238E27FC236}">
                  <a16:creationId xmlns:a16="http://schemas.microsoft.com/office/drawing/2014/main" id="{1299F55B-4ED6-1730-B182-8C634866B5F5}"/>
                </a:ext>
              </a:extLst>
            </p:cNvPr>
            <p:cNvSpPr txBox="1"/>
            <p:nvPr/>
          </p:nvSpPr>
          <p:spPr>
            <a:xfrm rot="16200000">
              <a:off x="2328040" y="3608234"/>
              <a:ext cx="1450333" cy="400110"/>
            </a:xfrm>
            <a:prstGeom prst="rect">
              <a:avLst/>
            </a:prstGeom>
            <a:noFill/>
          </p:spPr>
          <p:txBody>
            <a:bodyPr wrap="none" rtlCol="0">
              <a:spAutoFit/>
            </a:bodyPr>
            <a:lstStyle/>
            <a:p>
              <a:r>
                <a:rPr lang="en-US" sz="2000" dirty="0"/>
                <a:t>Cells/spots</a:t>
              </a:r>
            </a:p>
          </p:txBody>
        </p:sp>
      </p:grpSp>
      <p:sp>
        <p:nvSpPr>
          <p:cNvPr id="14" name="TextBox 13">
            <a:extLst>
              <a:ext uri="{FF2B5EF4-FFF2-40B4-BE49-F238E27FC236}">
                <a16:creationId xmlns:a16="http://schemas.microsoft.com/office/drawing/2014/main" id="{0AA72317-46D0-F803-3E24-D63E91D768BC}"/>
              </a:ext>
            </a:extLst>
          </p:cNvPr>
          <p:cNvSpPr txBox="1"/>
          <p:nvPr/>
        </p:nvSpPr>
        <p:spPr>
          <a:xfrm>
            <a:off x="867906" y="2389835"/>
            <a:ext cx="1326004" cy="477054"/>
          </a:xfrm>
          <a:prstGeom prst="rect">
            <a:avLst/>
          </a:prstGeom>
          <a:noFill/>
        </p:spPr>
        <p:txBody>
          <a:bodyPr wrap="none" rtlCol="0">
            <a:spAutoFit/>
          </a:bodyPr>
          <a:lstStyle/>
          <a:p>
            <a:r>
              <a:rPr lang="en-US" sz="2500" b="1" dirty="0"/>
              <a:t>Healthy</a:t>
            </a:r>
          </a:p>
        </p:txBody>
      </p:sp>
      <p:sp>
        <p:nvSpPr>
          <p:cNvPr id="15" name="TextBox 14">
            <a:extLst>
              <a:ext uri="{FF2B5EF4-FFF2-40B4-BE49-F238E27FC236}">
                <a16:creationId xmlns:a16="http://schemas.microsoft.com/office/drawing/2014/main" id="{77E0F451-BECD-E900-CD6F-6B9BA8DFF3FE}"/>
              </a:ext>
            </a:extLst>
          </p:cNvPr>
          <p:cNvSpPr txBox="1"/>
          <p:nvPr/>
        </p:nvSpPr>
        <p:spPr>
          <a:xfrm>
            <a:off x="3811007" y="2389835"/>
            <a:ext cx="1547218" cy="477054"/>
          </a:xfrm>
          <a:prstGeom prst="rect">
            <a:avLst/>
          </a:prstGeom>
          <a:noFill/>
        </p:spPr>
        <p:txBody>
          <a:bodyPr wrap="none" rtlCol="0">
            <a:spAutoFit/>
          </a:bodyPr>
          <a:lstStyle/>
          <a:p>
            <a:r>
              <a:rPr lang="en-US" sz="2500" b="1" dirty="0"/>
              <a:t>Diseased</a:t>
            </a:r>
          </a:p>
        </p:txBody>
      </p:sp>
      <p:sp>
        <p:nvSpPr>
          <p:cNvPr id="16" name="TextBox 15">
            <a:extLst>
              <a:ext uri="{FF2B5EF4-FFF2-40B4-BE49-F238E27FC236}">
                <a16:creationId xmlns:a16="http://schemas.microsoft.com/office/drawing/2014/main" id="{2203C3CA-3BA8-5F9C-5F50-D062C0132301}"/>
              </a:ext>
            </a:extLst>
          </p:cNvPr>
          <p:cNvSpPr txBox="1"/>
          <p:nvPr/>
        </p:nvSpPr>
        <p:spPr>
          <a:xfrm>
            <a:off x="1451685" y="6057319"/>
            <a:ext cx="3173241" cy="461665"/>
          </a:xfrm>
          <a:prstGeom prst="rect">
            <a:avLst/>
          </a:prstGeom>
          <a:noFill/>
        </p:spPr>
        <p:txBody>
          <a:bodyPr wrap="none" rtlCol="0">
            <a:spAutoFit/>
          </a:bodyPr>
          <a:lstStyle/>
          <a:p>
            <a:r>
              <a:rPr lang="en-US" sz="2400" dirty="0">
                <a:solidFill>
                  <a:srgbClr val="00B050"/>
                </a:solidFill>
              </a:rPr>
              <a:t>Cell type disappeared!</a:t>
            </a:r>
          </a:p>
        </p:txBody>
      </p:sp>
      <p:sp>
        <p:nvSpPr>
          <p:cNvPr id="17" name="Rectangle 16">
            <a:extLst>
              <a:ext uri="{FF2B5EF4-FFF2-40B4-BE49-F238E27FC236}">
                <a16:creationId xmlns:a16="http://schemas.microsoft.com/office/drawing/2014/main" id="{925E6CF4-20FC-D83B-0ABD-D773D2A662C7}"/>
              </a:ext>
            </a:extLst>
          </p:cNvPr>
          <p:cNvSpPr/>
          <p:nvPr/>
        </p:nvSpPr>
        <p:spPr>
          <a:xfrm>
            <a:off x="569671" y="3251006"/>
            <a:ext cx="2090401" cy="855761"/>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61F8B4E8-0F2A-7345-A9E9-7B2E8A605B43}"/>
              </a:ext>
            </a:extLst>
          </p:cNvPr>
          <p:cNvCxnSpPr/>
          <p:nvPr/>
        </p:nvCxnSpPr>
        <p:spPr>
          <a:xfrm>
            <a:off x="2030680" y="4149830"/>
            <a:ext cx="273132" cy="1864426"/>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7CF9BB03-14F4-C164-F804-B34DCDE355E0}"/>
              </a:ext>
            </a:extLst>
          </p:cNvPr>
          <p:cNvSpPr txBox="1">
            <a:spLocks/>
          </p:cNvSpPr>
          <p:nvPr/>
        </p:nvSpPr>
        <p:spPr>
          <a:xfrm>
            <a:off x="6647858" y="1396222"/>
            <a:ext cx="5061211" cy="917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u="sng" dirty="0"/>
              <a:t>(</a:t>
            </a:r>
            <a:r>
              <a:rPr lang="en-US" u="sng" dirty="0" err="1"/>
              <a:t>Spatio</a:t>
            </a:r>
            <a:r>
              <a:rPr lang="en-US" u="sng" dirty="0"/>
              <a:t>)temporal time series</a:t>
            </a:r>
          </a:p>
          <a:p>
            <a:pPr lvl="1"/>
            <a:r>
              <a:rPr lang="en-US" dirty="0"/>
              <a:t>optimal transport, diffusion, …</a:t>
            </a:r>
          </a:p>
        </p:txBody>
      </p:sp>
      <p:pic>
        <p:nvPicPr>
          <p:cNvPr id="22" name="Picture 21" descr="A diagram of a human body&#10;&#10;AI-generated content may be incorrect.">
            <a:extLst>
              <a:ext uri="{FF2B5EF4-FFF2-40B4-BE49-F238E27FC236}">
                <a16:creationId xmlns:a16="http://schemas.microsoft.com/office/drawing/2014/main" id="{0721B3CD-2D4B-CA1F-884B-7632505360FC}"/>
              </a:ext>
            </a:extLst>
          </p:cNvPr>
          <p:cNvPicPr>
            <a:picLocks noChangeAspect="1"/>
          </p:cNvPicPr>
          <p:nvPr/>
        </p:nvPicPr>
        <p:blipFill>
          <a:blip r:embed="rId3"/>
          <a:stretch>
            <a:fillRect/>
          </a:stretch>
        </p:blipFill>
        <p:spPr>
          <a:xfrm>
            <a:off x="6931296" y="2290767"/>
            <a:ext cx="4148381" cy="3819641"/>
          </a:xfrm>
          <a:prstGeom prst="rect">
            <a:avLst/>
          </a:prstGeom>
        </p:spPr>
      </p:pic>
      <p:sp>
        <p:nvSpPr>
          <p:cNvPr id="23" name="TextBox 22">
            <a:extLst>
              <a:ext uri="{FF2B5EF4-FFF2-40B4-BE49-F238E27FC236}">
                <a16:creationId xmlns:a16="http://schemas.microsoft.com/office/drawing/2014/main" id="{59212A03-C621-A279-D353-64D56520F1E3}"/>
              </a:ext>
            </a:extLst>
          </p:cNvPr>
          <p:cNvSpPr txBox="1"/>
          <p:nvPr/>
        </p:nvSpPr>
        <p:spPr>
          <a:xfrm>
            <a:off x="7392565" y="6111668"/>
            <a:ext cx="3007170" cy="369332"/>
          </a:xfrm>
          <a:prstGeom prst="rect">
            <a:avLst/>
          </a:prstGeom>
          <a:noFill/>
        </p:spPr>
        <p:txBody>
          <a:bodyPr wrap="none" rtlCol="0">
            <a:spAutoFit/>
          </a:bodyPr>
          <a:lstStyle/>
          <a:p>
            <a:r>
              <a:rPr lang="en-US" dirty="0"/>
              <a:t>Mouse embryo E10.5 -&gt; E9.5</a:t>
            </a:r>
          </a:p>
        </p:txBody>
      </p:sp>
      <p:sp>
        <p:nvSpPr>
          <p:cNvPr id="24" name="TextBox 23">
            <a:extLst>
              <a:ext uri="{FF2B5EF4-FFF2-40B4-BE49-F238E27FC236}">
                <a16:creationId xmlns:a16="http://schemas.microsoft.com/office/drawing/2014/main" id="{6DFC0B3C-8F49-850F-95B9-BA3B3ED62203}"/>
              </a:ext>
            </a:extLst>
          </p:cNvPr>
          <p:cNvSpPr txBox="1"/>
          <p:nvPr/>
        </p:nvSpPr>
        <p:spPr>
          <a:xfrm>
            <a:off x="10112905" y="6581001"/>
            <a:ext cx="1933543" cy="276999"/>
          </a:xfrm>
          <a:prstGeom prst="rect">
            <a:avLst/>
          </a:prstGeom>
          <a:noFill/>
        </p:spPr>
        <p:txBody>
          <a:bodyPr wrap="none" rtlCol="0">
            <a:spAutoFit/>
          </a:bodyPr>
          <a:lstStyle/>
          <a:p>
            <a:r>
              <a:rPr lang="en-US" sz="1200" dirty="0">
                <a:solidFill>
                  <a:schemeClr val="bg1">
                    <a:lumMod val="50000"/>
                  </a:schemeClr>
                </a:solidFill>
              </a:rPr>
              <a:t>Halmos et al, </a:t>
            </a:r>
            <a:r>
              <a:rPr lang="en-US" sz="1200" dirty="0" err="1">
                <a:solidFill>
                  <a:schemeClr val="bg1">
                    <a:lumMod val="50000"/>
                  </a:schemeClr>
                </a:solidFill>
              </a:rPr>
              <a:t>bioRxiv</a:t>
            </a:r>
            <a:r>
              <a:rPr lang="en-US" sz="1200" dirty="0">
                <a:solidFill>
                  <a:schemeClr val="bg1">
                    <a:lumMod val="50000"/>
                  </a:schemeClr>
                </a:solidFill>
              </a:rPr>
              <a:t> 2025</a:t>
            </a:r>
          </a:p>
        </p:txBody>
      </p:sp>
    </p:spTree>
    <p:extLst>
      <p:ext uri="{BB962C8B-B14F-4D97-AF65-F5344CB8AC3E}">
        <p14:creationId xmlns:p14="http://schemas.microsoft.com/office/powerpoint/2010/main" val="41837837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C5AEE-E33B-251F-C908-925D65BA0BF4}"/>
              </a:ext>
            </a:extLst>
          </p:cNvPr>
          <p:cNvSpPr>
            <a:spLocks noGrp="1"/>
          </p:cNvSpPr>
          <p:nvPr>
            <p:ph type="title"/>
          </p:nvPr>
        </p:nvSpPr>
        <p:spPr>
          <a:xfrm>
            <a:off x="137555" y="0"/>
            <a:ext cx="11773395" cy="1325563"/>
          </a:xfrm>
        </p:spPr>
        <p:txBody>
          <a:bodyPr/>
          <a:lstStyle/>
          <a:p>
            <a:r>
              <a:rPr lang="en-US" dirty="0"/>
              <a:t>Recap: course roadmap</a:t>
            </a:r>
          </a:p>
        </p:txBody>
      </p:sp>
      <p:sp>
        <p:nvSpPr>
          <p:cNvPr id="3" name="Content Placeholder 2">
            <a:extLst>
              <a:ext uri="{FF2B5EF4-FFF2-40B4-BE49-F238E27FC236}">
                <a16:creationId xmlns:a16="http://schemas.microsoft.com/office/drawing/2014/main" id="{D45D75AF-C64F-E9B4-6E19-673403339565}"/>
              </a:ext>
            </a:extLst>
          </p:cNvPr>
          <p:cNvSpPr>
            <a:spLocks noGrp="1"/>
          </p:cNvSpPr>
          <p:nvPr>
            <p:ph idx="1"/>
          </p:nvPr>
        </p:nvSpPr>
        <p:spPr>
          <a:xfrm>
            <a:off x="600694" y="1325563"/>
            <a:ext cx="10515600" cy="5312744"/>
          </a:xfrm>
        </p:spPr>
        <p:txBody>
          <a:bodyPr>
            <a:normAutofit fontScale="77500" lnSpcReduction="20000"/>
          </a:bodyPr>
          <a:lstStyle/>
          <a:p>
            <a:pPr marL="0" indent="0">
              <a:buNone/>
            </a:pPr>
            <a:r>
              <a:rPr lang="en-US" dirty="0"/>
              <a:t>Unit 1: linear dimensionality reduction</a:t>
            </a:r>
          </a:p>
          <a:p>
            <a:r>
              <a:rPr lang="en-US" dirty="0"/>
              <a:t>PCA, NMF, …</a:t>
            </a:r>
          </a:p>
          <a:p>
            <a:pPr marL="0" indent="0">
              <a:buNone/>
            </a:pPr>
            <a:endParaRPr lang="en-US" dirty="0"/>
          </a:p>
          <a:p>
            <a:pPr marL="0" indent="0">
              <a:buNone/>
            </a:pPr>
            <a:r>
              <a:rPr lang="en-US" dirty="0"/>
              <a:t>Unit 2: non-linear dimensionality reduction (deep learning)</a:t>
            </a:r>
          </a:p>
          <a:p>
            <a:r>
              <a:rPr lang="en-US" dirty="0"/>
              <a:t>Autoencoders, contrastive learning, foundation models</a:t>
            </a:r>
          </a:p>
          <a:p>
            <a:endParaRPr lang="en-US" dirty="0"/>
          </a:p>
          <a:p>
            <a:pPr marL="0" indent="0">
              <a:buNone/>
            </a:pPr>
            <a:r>
              <a:rPr lang="en-US" dirty="0"/>
              <a:t>Unit 3: manifold learning + graphs</a:t>
            </a:r>
          </a:p>
          <a:p>
            <a:r>
              <a:rPr lang="en-US" dirty="0"/>
              <a:t>Random walks, diffusion, …</a:t>
            </a:r>
          </a:p>
          <a:p>
            <a:endParaRPr lang="en-US" dirty="0"/>
          </a:p>
          <a:p>
            <a:pPr marL="0" indent="0">
              <a:buNone/>
            </a:pPr>
            <a:r>
              <a:rPr lang="en-US" dirty="0"/>
              <a:t>Unit 4: graphs (cont’d) + spatial methodologies</a:t>
            </a:r>
          </a:p>
          <a:p>
            <a:pPr marL="0" indent="0">
              <a:buNone/>
            </a:pPr>
            <a:endParaRPr lang="en-US" dirty="0"/>
          </a:p>
          <a:p>
            <a:pPr marL="0" indent="0">
              <a:buNone/>
            </a:pPr>
            <a:r>
              <a:rPr lang="en-US" dirty="0"/>
              <a:t>Unit 5: Optimal transport for integrating multiple datasets</a:t>
            </a:r>
          </a:p>
          <a:p>
            <a:pPr marL="0" indent="0">
              <a:buNone/>
            </a:pPr>
            <a:endParaRPr lang="en-US" dirty="0"/>
          </a:p>
          <a:p>
            <a:pPr marL="0" indent="0">
              <a:buNone/>
            </a:pPr>
            <a:r>
              <a:rPr lang="en-US" b="1" u="sng" dirty="0"/>
              <a:t>Next class: refresher on ML/stats + pre-lab</a:t>
            </a:r>
          </a:p>
        </p:txBody>
      </p:sp>
    </p:spTree>
    <p:extLst>
      <p:ext uri="{BB962C8B-B14F-4D97-AF65-F5344CB8AC3E}">
        <p14:creationId xmlns:p14="http://schemas.microsoft.com/office/powerpoint/2010/main" val="39187057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9650</TotalTime>
  <Words>2011</Words>
  <Application>Microsoft Macintosh PowerPoint</Application>
  <PresentationFormat>Widescreen</PresentationFormat>
  <Paragraphs>306</Paragraphs>
  <Slides>33</Slides>
  <Notes>6</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Aptos</vt:lpstr>
      <vt:lpstr>Aptos Display</vt:lpstr>
      <vt:lpstr>Arial</vt:lpstr>
      <vt:lpstr>Damascus</vt:lpstr>
      <vt:lpstr>Helvetica</vt:lpstr>
      <vt:lpstr>Office Theme</vt:lpstr>
      <vt:lpstr>Machine Learning for Single-Cell and Spatial Biology</vt:lpstr>
      <vt:lpstr>Today</vt:lpstr>
      <vt:lpstr>This class: ML methods to understanding cells/tissues in our body</vt:lpstr>
      <vt:lpstr>Recent news: AI/ML-powered “virtual cells”</vt:lpstr>
      <vt:lpstr>Objectives</vt:lpstr>
      <vt:lpstr>Instructors</vt:lpstr>
      <vt:lpstr>Logistics</vt:lpstr>
      <vt:lpstr>Calendar (subject to change)</vt:lpstr>
      <vt:lpstr>Assessments</vt:lpstr>
      <vt:lpstr>Homeworks (10% of grade)</vt:lpstr>
      <vt:lpstr>In-class labs (10% of grade)</vt:lpstr>
      <vt:lpstr>In-class exams (25% of grade)</vt:lpstr>
      <vt:lpstr>Oral exam (25% of grade)</vt:lpstr>
      <vt:lpstr>Final project (25% of grade)</vt:lpstr>
      <vt:lpstr>Final project (25% of grade)</vt:lpstr>
      <vt:lpstr>Grading</vt:lpstr>
      <vt:lpstr>Prerequisites</vt:lpstr>
      <vt:lpstr>Class focus</vt:lpstr>
      <vt:lpstr>Introduction to single cell/spatial data</vt:lpstr>
      <vt:lpstr>PowerPoint Presentation</vt:lpstr>
      <vt:lpstr>PowerPoint Presentation</vt:lpstr>
      <vt:lpstr>PowerPoint Presentation</vt:lpstr>
      <vt:lpstr>PowerPoint Presentation</vt:lpstr>
      <vt:lpstr>PowerPoint Presentation</vt:lpstr>
      <vt:lpstr>Single-cell sequencing</vt:lpstr>
      <vt:lpstr>Spatial transcriptomics (spatial sequencing)</vt:lpstr>
      <vt:lpstr>Challenges: sparsity and batch effects</vt:lpstr>
      <vt:lpstr>Application: dimensionality reduction + data visualization</vt:lpstr>
      <vt:lpstr>Differential + multimodal data analysis</vt:lpstr>
      <vt:lpstr>Trajectory inference</vt:lpstr>
      <vt:lpstr>New: foundation models</vt:lpstr>
      <vt:lpstr>Applications</vt:lpstr>
      <vt:lpstr>Recap: course roadmap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Uthsav Chitra</dc:creator>
  <cp:lastModifiedBy>Uthsav Chitra</cp:lastModifiedBy>
  <cp:revision>15</cp:revision>
  <dcterms:created xsi:type="dcterms:W3CDTF">2026-01-18T19:39:29Z</dcterms:created>
  <dcterms:modified xsi:type="dcterms:W3CDTF">2026-09-02T17:37:40Z</dcterms:modified>
</cp:coreProperties>
</file>
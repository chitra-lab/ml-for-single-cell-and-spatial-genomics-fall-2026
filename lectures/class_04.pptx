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83" r:id="rId4"/>
    <p:sldId id="1850" r:id="rId5"/>
    <p:sldId id="1893" r:id="rId6"/>
    <p:sldId id="258" r:id="rId7"/>
    <p:sldId id="259" r:id="rId8"/>
    <p:sldId id="1894" r:id="rId9"/>
    <p:sldId id="260" r:id="rId10"/>
    <p:sldId id="261" r:id="rId11"/>
    <p:sldId id="1895" r:id="rId12"/>
    <p:sldId id="1896" r:id="rId13"/>
    <p:sldId id="1897" r:id="rId14"/>
    <p:sldId id="262" r:id="rId15"/>
    <p:sldId id="263" r:id="rId16"/>
    <p:sldId id="264" r:id="rId17"/>
    <p:sldId id="1919" r:id="rId18"/>
    <p:sldId id="1921" r:id="rId19"/>
    <p:sldId id="1922" r:id="rId20"/>
    <p:sldId id="1899" r:id="rId21"/>
    <p:sldId id="265" r:id="rId22"/>
    <p:sldId id="266" r:id="rId23"/>
    <p:sldId id="267" r:id="rId24"/>
    <p:sldId id="1923" r:id="rId25"/>
    <p:sldId id="1901" r:id="rId26"/>
    <p:sldId id="1902" r:id="rId27"/>
    <p:sldId id="1900" r:id="rId28"/>
    <p:sldId id="268" r:id="rId29"/>
    <p:sldId id="1903" r:id="rId30"/>
    <p:sldId id="1916" r:id="rId31"/>
    <p:sldId id="1915" r:id="rId32"/>
    <p:sldId id="269" r:id="rId33"/>
    <p:sldId id="270" r:id="rId34"/>
    <p:sldId id="271" r:id="rId35"/>
    <p:sldId id="1918" r:id="rId36"/>
    <p:sldId id="1907" r:id="rId37"/>
    <p:sldId id="272" r:id="rId38"/>
    <p:sldId id="1908" r:id="rId39"/>
    <p:sldId id="273" r:id="rId40"/>
    <p:sldId id="274" r:id="rId41"/>
    <p:sldId id="1909" r:id="rId42"/>
    <p:sldId id="275" r:id="rId43"/>
    <p:sldId id="1910" r:id="rId44"/>
    <p:sldId id="1912" r:id="rId45"/>
    <p:sldId id="1913" r:id="rId46"/>
    <p:sldId id="1917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73"/>
    <p:restoredTop sz="94702"/>
  </p:normalViewPr>
  <p:slideViewPr>
    <p:cSldViewPr snapToGrid="0">
      <p:cViewPr varScale="1">
        <p:scale>
          <a:sx n="99" d="100"/>
          <a:sy n="99" d="100"/>
        </p:scale>
        <p:origin x="1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29:51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24575,'0'26'0,"0"14"0,0 26 0,0 32-1746,0-35 1,0 4 1745,0 12 0,0 3 0,1 10 0,-2 3 0,-1 1 0,0 1 0,0-29 0,0 0 0,0-1 0,-1 28 0,0 0-821,2-2 1,2 0 820,1-4 0,2-2 0,1-3 0,1-2 0,0-4 0,1-3 0,-1-5 0,-1-1 50,0 2 0,0 0-50,-2-5 0,-1-1 0,-1 5 0,0 0 0,-1-1 0,0-1 0,1-2 0,-1-1 0,-1-2 0,2 0-191,0-6 0,1-1 191,2 44 0,1-12 0,-1-7 0,0-7 1476,1-10-1476,-1-3 2163,3-6-2163,-3-1 0,2-3 1269,3-4-1269,-2 4 506,3 2-506,2 6 0,-3 2 0,2-5 0,0-2 0,-2-2 0,2-8 0,0-5 0,-3-9 0,1-8 0,-2-6 0,-1-3 0,0-1 0,0-2 0,2-4 0,-1-4 0,4-2 0,1 0 0,2 0 0,5 0 0,4 0 0,4 0 0,1 0 0,0 0 0,4 0 0,5 0 0,-1 0 0,4 0 0,-7 0 0,-5 0 0,-1 0 0,-3 0 0,3 0 0,-2 0 0,-3 0 0,-5 0 0,-3 0 0,-3-2 0,-4-6 0,-3-4 0,-3-9 0,-4-9 0,-5-11 0,0-19 0,-4-18-544,7 28 1,1-3 543,0-10 0,2-3-971,-1-11 0,2-3 971,0-9 0,2-3 0,-1 2 0,0-1 0,0-4 0,0-1-1148,0 0 0,0-1 1148,0 29 0,0-1 0,0 0 0,0 1 0,0 0 0,0 1 0,0-27 0,0 1 0,0 6 0,0 2-640,0 11 0,0 1 640,0 3 0,0 1 68,0 9 0,0 3-68,0-40 1460,3 14-1460,1 12 2343,1 8-2343,-2 7 1644,-3 5-1644,0-3 0,0 9 891,0-3-891,0 0 131,0 2-131,0-3 0,0 2 0,0 0 0,0 1 0,0 0 0,0-1 0,0 1 0,0 0 0,0-1 0,0 1 0,0 4 0,0 6 0,0 5 0,0 7 0,0 2 0,0 2 0,0 2 0,0-2 0,0 0 0,0-1 0,0 1 0,0 2 0,0-2 0,0 3 0,0 0 0,0 1 0,0 3 0,0 0 0,0 1 0,0 0 0,0 2 0,0-4 0,0 0 0,0-2 0,0 0 0,0 2 0,0 0 0,-2 4 0,-4 3 0,-7 4 0,-3 3 0,-4-4 0,-3 1 0,2-1 0,-3-1 0,0 1 0,0 1 0,-3 0 0,-4 2 0,-5 0 0,-1 1 0,-3 0 0,-1 0 0,-1-1 0,0 1 0,4 0 0,5 0 0,5 0 0,4 0 0,4 0 0,6 0 0,3 0 0,0-2 0,0-1 0,-1 0 0,5 0 0,1 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29:52.7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24575,'0'16'0,"3"1"0,3 11 0,4 2 0,1 6 0,-4-3 0,-3-4 0,-4-4 0,3-7 0,0-3 0,4-3 0,-4-5 0,0-2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29:53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273 3 24575,'0'-3'0,"0"13"0,-4 12 0,-11 19 0,-4 3 0,-10 3 0,-2 4 0,2-1 0,-2 5 0,6 0 0,4-7 0,2-1 0,6-7 0,2-14 0,4 2 0,0-9 0,1-2 0,3-6 0,0-9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29:54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24575,'23'0'0,"4"0"0,8 0 0,-2 0 0,1 0 0,-4 0 0,-1 0 0,-5 0 0,-4 0 0,0 0 0,-3 0 0,-6 0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29:55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24575,'11'0'0,"5"0"0,4 0 0,-1 0 0,-8 0 0,-6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29:56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1 196 24575,'0'-10'0,"0"-3"0,0-5 0,3-4 0,4-1 0,6-4 0,3 6 0,-3 1 0,-2 5 0,-4 7 0,1 0 0,5 5 0,1 0 0,2 0 0,3 3 0,1-1 0,7 1 0,4 0 0,1-1 0,0 7 0,-3 4 0,-1 7 0,4 3 0,-3-2 0,-1-2 0,-2-2 0,-5-2 0,3-3 0,-3-2 0,0-4 0,0-2 0,-1-1 0,0 0 0,1 0 0,2 0 0,-1 0 0,1-3 0,-2-3 0,-4-4 0,-1-2 0,-4-1 0,0-3 0,0 3 0,-1 0 0,-3 2 0,-2 3 0,-2 2 0,-3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29:57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0 332 24575,'0'-11'0,"0"-3"0,0-5 0,0-1 0,0 4 0,0 1 0,5 6 0,3 3 0,7 4 0,5 1 0,0 0 0,3 1 0,1 0 0,-3 0 0,3-1 0,-3 1 0,-4 0 0,3 0 0,-4 0 0,4 6 0,3 5 0,-2 2 0,2-1 0,-2-6 0,0-3 0,0-1 0,-1-2 0,1 0 0,-4 0 0,0-5 0,-3-8 0,0-7 0,0-7 0,0-5 0,0 0 0,0-1 0,0 2 0,-2 7 0,0 2 0,-1 7 0,0 5 0,-4 6 0,-2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0:10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16 190 24575,'0'32'0,"0"17"0,0 35 0,0-27 0,0 4 0,0 12 0,0 3-4916,0 9 1,0 1 4335,0-3 0,0-1 580,0 0 0,0-1 708,0-3 1,0 0-709,0-3 0,0 1 0,0 5 0,0-1 0,0-9 0,0-1 603,0-2 0,0-1-603,0-6 0,0-1 0,0-2 0,0 1 0,0 3 0,0-1-99,0-7 1,0-3 98,0 41 0,0-10 0,0-11 0,0-7 5589,0-3-5589,0-5 1609,0 1-1609,0 7 0,0-1 1033,0-5-1033,0-5 334,0-8-334,0-2 0,0-5 0,-4 0 0,0 3 0,0 1 0,1 3 0,3 5 0,0 0 0,0-1 0,0-4 0,0-9 0,0-1 0,0-2 0,0 4 0,0-1 0,0 1 0,0 0 0,0-6 0,0-3 0,0-6 0,0-5 0,0 0 0,0-5 0,0 4 0,0 0 0,0 1 0,0 3 0,0 0 0,0 4 0,0 1 0,0-1 0,0-1 0,0-1 0,0-2 0,0-3 0,0-3 0,0-1 0,0 0 0,0-1 0,0 1 0,0-1 0,0 1 0,0 3 0,0 4 0,0 1 0,0 0 0,0-4 0,0-2 0,0-2 0,0 0 0,0 0 0,0-1 0,0-1 0,0 1 0,0-1 0,0 1 0,2-2 0,3-4 0,7-3 0,7-3 0,6 0 0,18-3 0,9-4 0,7-1 0,2-3 0,-6 3 0,2 0 0,1 0 0,3-1 0,-6 1 0,-4 3 0,-2-2 0,-9 3 0,-1 0 0,-4-2 0,-2 3 0,0-1 0,-4-1 0,0 1 0,-1-1 0,1 2 0,-4 2 0,-1 1 0,0 0 0,1-3 0,2-1 0,0 0 0,0 1 0,0 1 0,0-1 0,1-1 0,3 1 0,2 1 0,0 1 0,-1 1 0,0 0 0,1 0 0,-3-1 0,-2 1 0,-3 0 0,-3 0 0,-2 0 0,-1 0 0,-2 0 0,-1 0 0,-2 0 0,0 0 0,2 0 0,2 0 0,4 0 0,1 0 0,1 0 0,1 0 0,-1 0 0,-3 0 0,-4 0 0,0 0 0,-4 0 0,-1 0 0,1 0 0,-1 0 0,0 0 0,-1 0 0,0 0 0,2 0 0,4 0 0,3 0 0,2 0 0,-2 0 0,-2 0 0,-1 0 0,-4 0 0,0 0 0,-3-7 0,-3-10 0,-4-11 0,-3-14 0,0-43 0,0-6 0,0 26 0,0-2 0,0 5 0,0 0-315,0 2 1,0 1 314,0 4 0,0 1 0,0 1 0,0 0 0,0 2 0,0 0 0,0-47 0,0 9 0,0 7 0,0 3 0,0-4 0,0 0-93,0 4 93,0 4 0,0 1 0,-3 8 0,-4 2 0,-2 6 0,-2 6 626,3 1-626,0 5 0,1-3 0,1 4 96,-1 0-96,1 2 0,-1 2 0,-1 0 0,0-1 0,1 4 0,0 0 0,2-3 0,2-5 0,-1-6 0,0 1 0,-1 1 0,-1 3 0,1 2 0,-2 0 0,-4 0 0,1 5 0,-1 1 0,4 1 0,1-2 0,-2-5 0,0 2 0,0 1 0,1 0 0,2 3 0,0-2 0,-1 0 0,1-2 0,1-7 0,0-6 0,4-4 0,0-5 0,0 6 0,0 3 0,0 3 0,0 0 0,0-3 0,0 7 0,0 1 0,0 9 0,0 0 0,0 1 0,0 4 0,0 2 0,3 3 0,1 4 0,-1 1 0,0 1 0,0 2 0,0 2 0,0 5 0,0 2 0,-5 3 0,-4 2 0,-10 1 0,-14 2 0,-6 0 0,-10 1 0,-7 3 0,-6 0 0,-14 0 0,-3 0 0,-1 0 0,-2 0 0,5 0 0,1 0 0,5 0 0,0 0 0,5 0 0,1 0 0,2 4 0,4 0 0,-3 0 0,8 2 0,7-1 0,0 5 0,4 1 0,-5 0 0,0 0 0,2-2 0,5 2 0,4-4 0,4-2 0,4-2 0,5-2 0,4-1 0,1 0 0,-1 3 0,1 0 0,1 2 0,4 0 0,1 0 0,-4 3 0,-2 0 0,6-3 0,2-1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0:11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1427 24575,'0'11'0,"0"-26"0,0-32 0,4-49 0,3 34 0,1-5-3896,4-10 1,3-2 3895,2 1 0,3 0 0,4-8 0,1 0 245,-1 4 1,-1 2-246,-1 10 0,-1 2-154,-1 3 1,-2 5 153,5-19 0,-4 13 0,-6 18 5559,-7 15-5559,-3 17 1571,0 18-1571,1 18 0,2 18 0,6 21 0,1 7 0,-1 9 0,1 5 0,-1 10-413,2 8 413,-5-49 0,0 1 0,0 1 0,0 0-355,10 42 355,-1 3 0,-1-7 0,0-13 0,-1-12 0,-2-13 0,-1-11 0,-1-7 0,0-8 0,-1-2 0,-4-11 0,-4-5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0:12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24575,'-4'0'0,"11"0"0,8 0 0,10 0 0,6 0 0,4 0 0,1 0 0,1 0 0,-6 0 0,-8 0 0,-5 0 0,-10 0 0,-3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0:14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 36 24575,'0'10'0,"0"17"0,0 23 0,0 23 0,0 19-597,0-42 1,0 2 596,0 6 0,0-1 0,0-2 0,0 0 0,0-1 0,0 0 0,0 5 0,0 0 0,0 1 0,0-2 0,0-3 0,0-1 0,0 43 140,0-19-140,0 1 0,0 17 0,0-6 0,0 1 0,0-16 0,0-13 0,0-15 0,0-17 0,0-8 894,5-11-894,15-5 159,9-3-159,18-3 0,9 0 0,7 0 0,14 0 0,7 0 0,-4 0 0,-5 0 0,-11 0 0,-11 0 0,-5 0 0,-13 0 0,-6 0 0,-8 0 0,-4 0 0,-1 0 0,-5 0 0,0 0 0,-2-5 0,-3-7 0,-4-8 0,-2-14 0,0-3 0,0-7 0,0-11 0,-3-8 0,-4-25 0,0 36 0,1-3-436,-2-5 1,1-1 435,0 0 0,0 0 0,1 2 0,1 1 0,2 1 0,0 1 0,-1 2 0,0 1 0,1 2 0,0 1 0,-6-36-173,1 12 173,-1 7 0,1 6 0,-3-6 0,3 22 0,-2-7 863,4 20-863,-2-3 181,4 1-181,-3 2 0,3 6 0,0 4 0,0 4 0,4 4 0,-1 1 0,1 0 0,-3 4 0,-6 3 0,-11 4 0,-13 2 0,-20-1 0,-10 1 0,-1 0 0,-3 3 0,11 1 0,-2 0 0,1 2 0,0-1 0,0 2 0,4 3 0,2-2 0,7 3 0,6-4 0,4-2 0,9-2 0,4-3 0,11 0 0,5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0:15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24575,'11'6'0,"6"7"0,6 8 0,-1 3 0,1 2 0,-2-1 0,-2 0 0,3 1 0,-3-4 0,-1-1 0,-5-4 0,1 0 0,-9-9 0,1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0T15:30:16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0 24575,'0'19'0,"0"2"0,0 7 0,-3 7 0,-7 12 0,-8 2 0,-2-1 0,-1-6 0,5-9 0,0-5 0,-2 2 0,1-2 0,1 1 0,1 3 0,0-5 0,1-6 0,3-3 0,4-13 0,4-1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A3A4B-C475-AC41-80A2-C8FBF29EFC4E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98662-54CD-334A-8FC1-72498E7156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77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798662-54CD-334A-8FC1-72498E71561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18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D0C5-9D17-D4D8-EC9B-9DF04ACF4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FDC88-10B4-F750-AC44-E729E04D9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B95F0-5372-4D04-BED8-F17548B43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597B0-AE13-A29D-9812-8718B79F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D5E85-96E9-DBDC-A9EF-7EEA5CAF9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78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D76B-06B1-3F2B-274D-BEE6D49D7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4D93A-49EC-A99E-B631-7F0EC0C89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CA1D5-BBF9-8226-6301-E5B33F28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85E90-2F42-D469-FFA0-C17E513DA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6458B-F100-719E-0C5B-13C0D919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4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908F-D29E-ADB0-29E6-AB52BF8A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30F2E-159D-0C74-BFF2-6A1B8F13D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FBCA4-7878-0F9D-4302-92B44833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EFF70-CFF1-D877-7025-46CF92DB1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7DD6A-DC91-853D-E5F4-17DA704D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0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7C9F-6771-A031-3133-3BDF9D8A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5972F-B36B-2EBF-5A5A-4A4CBD8E8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412C0-B595-B41B-0C62-CF3EA18EF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01517-2DA0-8DFD-6197-65568F5F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44102-D067-87DC-46D9-BE23A2DF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EB02A-69C6-68D7-EA42-32ECFB5F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1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252F-8EA0-DB02-984A-DF10B3D02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7A2CC-A824-2CE8-0994-6C1804917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43AFF-739C-287D-ABA9-D638ED671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0B659F-572C-FB4F-D410-5A42D9D78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BE0216-C64A-FC25-B7F0-C0C512A00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FABB41-5577-9895-B674-C2D218F45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CA9FF-94C3-CFC1-0780-B9E4999A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F47E25-7D91-2E49-3BB8-21183FDB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369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1B647-0A36-B457-E4AA-B1A0B633A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4CCFA-8BF5-E755-6F6F-23DFEB67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E485D-20E2-1FE9-0AB3-4C62F89C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0189E-538E-0430-E9CA-771CAF3C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7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44922-F25A-E745-727F-697DAE64A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7DC4B9-2963-3CEE-421D-FBC2E2441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C8F3A-E110-1EA2-3A2B-7644C500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94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0154-ED77-45DB-D30B-3D73B357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C9B2D-D01F-6F0A-4311-AB65E301B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53A96-01C3-3B42-9E4C-4D85757D9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B3AED-8769-9E3B-47F1-6AF6BA9C0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B0E22-3820-893D-BE4D-C466E9AF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C9384-339F-9F66-BA39-E8A7C9C2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4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346A0-C330-1F46-943A-A3C19A52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B23F32-ADD4-CF44-9166-49A4AC3AF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DA70A-FD78-D477-CD46-05A235528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14859-39E4-100E-C18D-996581109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C1733-3420-6D94-B2F2-1EB45398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C7725-D049-83AB-D02D-AED043579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1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DFE6-38F8-8F22-C3AE-C24EB49E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C0FCB-35C1-7DF1-F960-4130D2FEC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FB729-8601-CD41-633D-0FC77D6E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ABD19-0BD5-60AB-62F2-39599A2E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4CDF2-34F6-6876-8791-9A3B31689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50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5746E4-AA3F-826F-AC03-16CAC5472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4686E-DBDC-36FF-4596-7953E5B8C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B610D-9467-D256-7715-BC3730EC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2A29-4E7B-2C41-B1A1-9A7F1252260B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BFA48-0023-2370-08AA-A353AB468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5DECC-BF40-F0A5-690D-BA7EAEEE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53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772AF4-6821-071A-05CD-68B02B352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EA601-AD01-28BD-20CF-59FF56B96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DCC83-2FD5-C301-30A1-FE6667814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22A29-4E7B-2C41-B1A1-9A7F1252260B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F9AAB-DD8F-DECC-BFCF-15705E312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20D01-69DE-B101-3BA0-416BC5080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AD91B-61A7-F544-AB96-CE2CCE080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1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hnaswamylab.org/workshop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o.telecom-paristech.fr/rioul/liesse/2015telecomups/SE-slides.pdf" TargetMode="External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edium.com/@sophiamsac/understanding-nmf-for-simple-topic-modelling-b3d7bc4f3fc2" TargetMode="External"/><Relationship Id="rId5" Type="http://schemas.openxmlformats.org/officeDocument/2006/relationships/image" Target="../media/image10.png"/><Relationship Id="rId4" Type="http://schemas.openxmlformats.org/officeDocument/2006/relationships/hyperlink" Target="https://www.audiolabs-erlangen.de/resources/MIR/FMP/C8/C8S3_NMFbasic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7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hyperlink" Target="https://see.stanford.edu/materials/lsoeldsee263/05-ls.pdf" TargetMode="External"/><Relationship Id="rId21" Type="http://schemas.openxmlformats.org/officeDocument/2006/relationships/image" Target="../media/image21.png"/><Relationship Id="rId7" Type="http://schemas.openxmlformats.org/officeDocument/2006/relationships/image" Target="../media/image14.png"/><Relationship Id="rId12" Type="http://schemas.openxmlformats.org/officeDocument/2006/relationships/customXml" Target="../ink/ink5.xml"/><Relationship Id="rId17" Type="http://schemas.openxmlformats.org/officeDocument/2006/relationships/image" Target="../media/image19.png"/><Relationship Id="rId25" Type="http://schemas.openxmlformats.org/officeDocument/2006/relationships/image" Target="../media/image23.png"/><Relationship Id="rId2" Type="http://schemas.openxmlformats.org/officeDocument/2006/relationships/image" Target="../media/image12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16.png"/><Relationship Id="rId24" Type="http://schemas.openxmlformats.org/officeDocument/2006/relationships/customXml" Target="../ink/ink11.xml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23" Type="http://schemas.openxmlformats.org/officeDocument/2006/relationships/image" Target="../media/image22.png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image" Target="../media/image20.png"/><Relationship Id="rId4" Type="http://schemas.openxmlformats.org/officeDocument/2006/relationships/customXml" Target="../ink/ink1.xml"/><Relationship Id="rId9" Type="http://schemas.openxmlformats.org/officeDocument/2006/relationships/image" Target="../media/image15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24.png"/><Relationship Id="rId30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ee.stanford.edu/materials/lsoeldsee263/05-ls.pdf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15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180.png"/><Relationship Id="rId7" Type="http://schemas.openxmlformats.org/officeDocument/2006/relationships/image" Target="../media/image22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5" Type="http://schemas.openxmlformats.org/officeDocument/2006/relationships/image" Target="../media/image20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180.png"/><Relationship Id="rId7" Type="http://schemas.openxmlformats.org/officeDocument/2006/relationships/image" Target="../media/image28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1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0152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4800" b="0" i="0" dirty="0">
                <a:solidFill>
                  <a:srgbClr val="000000"/>
                </a:solidFill>
                <a:latin typeface="+mj-lt"/>
                <a:cs typeface="+mj-lt"/>
              </a:rPr>
              <a:t>Nonnegative Matrix Factorization</a:t>
            </a:r>
            <a:r>
              <a:rPr lang="en-US" sz="4800" b="0" i="0" dirty="0">
                <a:solidFill>
                  <a:srgbClr val="000000"/>
                </a:solidFill>
                <a:latin typeface="+mj-lt"/>
                <a:cs typeface="+mj-lt"/>
              </a:rPr>
              <a:t> (+ Intro Optimization)</a:t>
            </a:r>
            <a:endParaRPr sz="48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4207625"/>
            <a:ext cx="1036015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Uthsav Chitra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Johns Hopkins University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September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>
                <a:solidFill>
                  <a:srgbClr val="000000"/>
                </a:solidFill>
                <a:latin typeface="+mj-lt"/>
                <a:cs typeface="+mj-lt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Recap: PCA</a:t>
            </a:r>
            <a:endParaRPr lang="en-US" sz="22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Nonnegative matrix factorization (NMF)</a:t>
            </a:r>
          </a:p>
          <a:p>
            <a:pPr marL="548640" lvl="1" indent="-27432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Definition and gene programs (what W and H mean)</a:t>
            </a:r>
          </a:p>
          <a:p>
            <a:pPr marL="548640" lvl="1" indent="-27432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Objective functions: Frobenius and KL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Algorithms</a:t>
            </a:r>
          </a:p>
          <a:p>
            <a:pPr marL="548640" lvl="1" indent="-27432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Multiplicative updates (Lee &amp; Seung)</a:t>
            </a:r>
          </a:p>
          <a:p>
            <a:pPr marL="548640" lvl="1" indent="-27432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Alternating least squares / HALS</a:t>
            </a:r>
          </a:p>
          <a:p>
            <a:pPr marL="548640" lvl="1" indent="-27432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Initialization, local minima, choosing K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NMF in single-cell analysis</a:t>
            </a:r>
          </a:p>
          <a:p>
            <a:pPr marL="548640" lvl="1" indent="-27432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–"/>
            </a:pPr>
            <a:r>
              <a:rPr sz="1800" b="0" i="0" dirty="0" err="1">
                <a:solidFill>
                  <a:srgbClr val="000000"/>
                </a:solidFill>
                <a:latin typeface="+mn-lt"/>
                <a:cs typeface="+mn-lt"/>
              </a:rPr>
              <a:t>cNMF</a:t>
            </a: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 — consensus gene programs; LIGER / </a:t>
            </a:r>
            <a:r>
              <a:rPr sz="1800" b="0" i="0" dirty="0" err="1">
                <a:solidFill>
                  <a:srgbClr val="000000"/>
                </a:solidFill>
                <a:latin typeface="+mn-lt"/>
                <a:cs typeface="+mn-lt"/>
              </a:rPr>
              <a:t>iNMF</a:t>
            </a: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 — data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7974F-BB1E-1981-9BF1-CC1900D91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2" y="365125"/>
            <a:ext cx="10515600" cy="1325563"/>
          </a:xfrm>
        </p:spPr>
        <p:txBody>
          <a:bodyPr/>
          <a:lstStyle/>
          <a:p>
            <a:r>
              <a:rPr lang="en-US" dirty="0"/>
              <a:t>Dimensionality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FDA0A-2AAA-257E-4F7A-E5E4091A5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1" y="1690688"/>
            <a:ext cx="11395363" cy="10152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Reduce dimension (number of </a:t>
            </a:r>
            <a:r>
              <a:rPr lang="en-US" b="1" dirty="0"/>
              <a:t>features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US" dirty="0"/>
              <a:t>of high-dimensional data</a:t>
            </a:r>
          </a:p>
          <a:p>
            <a:r>
              <a:rPr lang="en-US" dirty="0"/>
              <a:t>makes it easier to visualize data, train ML models, etc.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374659-A27D-05D8-7588-21998E3FDA7A}"/>
              </a:ext>
            </a:extLst>
          </p:cNvPr>
          <p:cNvSpPr/>
          <p:nvPr/>
        </p:nvSpPr>
        <p:spPr>
          <a:xfrm>
            <a:off x="955035" y="3843709"/>
            <a:ext cx="3893128" cy="24799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F6457-A0E0-0B89-8AD6-F14EA84819C1}"/>
              </a:ext>
            </a:extLst>
          </p:cNvPr>
          <p:cNvSpPr txBox="1"/>
          <p:nvPr/>
        </p:nvSpPr>
        <p:spPr>
          <a:xfrm>
            <a:off x="997527" y="3366655"/>
            <a:ext cx="325518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G features (e.g. genes)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976620-F34D-BD37-9452-2B20B565C35A}"/>
              </a:ext>
            </a:extLst>
          </p:cNvPr>
          <p:cNvSpPr txBox="1"/>
          <p:nvPr/>
        </p:nvSpPr>
        <p:spPr>
          <a:xfrm rot="16200000">
            <a:off x="-838134" y="4826158"/>
            <a:ext cx="27906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N samples (e.g. cells)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A9895AD-5AD1-7A46-EFE1-4163246C4DF0}"/>
              </a:ext>
            </a:extLst>
          </p:cNvPr>
          <p:cNvCxnSpPr/>
          <p:nvPr/>
        </p:nvCxnSpPr>
        <p:spPr>
          <a:xfrm>
            <a:off x="5126182" y="4932218"/>
            <a:ext cx="173181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163D2CD-B6A6-F4B6-B48E-E02BDA927C5E}"/>
              </a:ext>
            </a:extLst>
          </p:cNvPr>
          <p:cNvSpPr/>
          <p:nvPr/>
        </p:nvSpPr>
        <p:spPr>
          <a:xfrm>
            <a:off x="7591362" y="3866357"/>
            <a:ext cx="1829729" cy="24799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1580D-5373-AC0D-4554-7A79EBEBEE60}"/>
              </a:ext>
            </a:extLst>
          </p:cNvPr>
          <p:cNvSpPr txBox="1"/>
          <p:nvPr/>
        </p:nvSpPr>
        <p:spPr>
          <a:xfrm rot="16200000">
            <a:off x="5883854" y="4890895"/>
            <a:ext cx="27906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N samples (e.g. cells)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0E519C-9DF4-B967-9BF3-7324517FE006}"/>
              </a:ext>
            </a:extLst>
          </p:cNvPr>
          <p:cNvSpPr txBox="1"/>
          <p:nvPr/>
        </p:nvSpPr>
        <p:spPr>
          <a:xfrm>
            <a:off x="7234083" y="3285218"/>
            <a:ext cx="248016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FF0000"/>
                </a:solidFill>
              </a:rPr>
              <a:t>G’ &lt;&lt; G features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A21C63-AA09-7A1D-AA1F-057FC0BAAD1A}"/>
              </a:ext>
            </a:extLst>
          </p:cNvPr>
          <p:cNvSpPr txBox="1"/>
          <p:nvPr/>
        </p:nvSpPr>
        <p:spPr>
          <a:xfrm>
            <a:off x="2572693" y="4764602"/>
            <a:ext cx="4106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E6E83-2436-42A4-6203-343511FB9224}"/>
              </a:ext>
            </a:extLst>
          </p:cNvPr>
          <p:cNvSpPr txBox="1"/>
          <p:nvPr/>
        </p:nvSpPr>
        <p:spPr>
          <a:xfrm>
            <a:off x="8191429" y="4817267"/>
            <a:ext cx="5245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Y’</a:t>
            </a:r>
          </a:p>
        </p:txBody>
      </p:sp>
    </p:spTree>
    <p:extLst>
      <p:ext uri="{BB962C8B-B14F-4D97-AF65-F5344CB8AC3E}">
        <p14:creationId xmlns:p14="http://schemas.microsoft.com/office/powerpoint/2010/main" val="3801259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DBE01-626F-3641-1113-22E8B7780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9EA4-BE8E-A594-9AE2-E9829CA7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234" y="303131"/>
            <a:ext cx="10515600" cy="1325563"/>
          </a:xfrm>
        </p:spPr>
        <p:txBody>
          <a:bodyPr/>
          <a:lstStyle/>
          <a:p>
            <a:r>
              <a:rPr lang="en-US" dirty="0"/>
              <a:t>Principal Components Analysis (PCA)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1E2F3-BCF6-9752-F0AD-F458A2C8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49"/>
            <a:ext cx="10515600" cy="1406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Intuition: find </a:t>
            </a:r>
            <a:r>
              <a:rPr lang="en-US" b="1" dirty="0"/>
              <a:t>linear combinations</a:t>
            </a:r>
            <a:r>
              <a:rPr lang="en-US" dirty="0"/>
              <a:t> of features that are most “informative” (have highest variance)</a:t>
            </a:r>
          </a:p>
          <a:p>
            <a:r>
              <a:rPr lang="en-US" dirty="0"/>
              <a:t>Called principal components, or PCs</a:t>
            </a:r>
            <a:endParaRPr lang="en-US" b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8115C9F-DAC1-5A44-9095-B6485124C3F5}"/>
              </a:ext>
            </a:extLst>
          </p:cNvPr>
          <p:cNvGrpSpPr/>
          <p:nvPr/>
        </p:nvGrpSpPr>
        <p:grpSpPr>
          <a:xfrm>
            <a:off x="528234" y="3345531"/>
            <a:ext cx="4506423" cy="2868251"/>
            <a:chOff x="549424" y="3666991"/>
            <a:chExt cx="4506423" cy="286825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25A1389-4746-AFEA-79CE-C0F60CF8ABD6}"/>
                </a:ext>
              </a:extLst>
            </p:cNvPr>
            <p:cNvSpPr/>
            <p:nvPr/>
          </p:nvSpPr>
          <p:spPr>
            <a:xfrm>
              <a:off x="1162719" y="4055279"/>
              <a:ext cx="3893128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0D558C-EA75-4D19-1EE4-3AFEFE9628DA}"/>
                </a:ext>
              </a:extLst>
            </p:cNvPr>
            <p:cNvSpPr txBox="1"/>
            <p:nvPr/>
          </p:nvSpPr>
          <p:spPr>
            <a:xfrm rot="16200000">
              <a:off x="-513431" y="5037728"/>
              <a:ext cx="25565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Samples (e.g. cells)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143BAEF-95E8-7608-DFC2-223856933DAB}"/>
                </a:ext>
              </a:extLst>
            </p:cNvPr>
            <p:cNvCxnSpPr/>
            <p:nvPr/>
          </p:nvCxnSpPr>
          <p:spPr>
            <a:xfrm>
              <a:off x="2036484" y="4072122"/>
              <a:ext cx="0" cy="24522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B161ACD-2726-558B-B2E9-B63D92BC3E95}"/>
                </a:ext>
              </a:extLst>
            </p:cNvPr>
            <p:cNvCxnSpPr/>
            <p:nvPr/>
          </p:nvCxnSpPr>
          <p:spPr>
            <a:xfrm>
              <a:off x="2472438" y="4079215"/>
              <a:ext cx="0" cy="24522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B3BD249-BCB1-0760-D0D7-DE6146AE5B0C}"/>
                </a:ext>
              </a:extLst>
            </p:cNvPr>
            <p:cNvCxnSpPr/>
            <p:nvPr/>
          </p:nvCxnSpPr>
          <p:spPr>
            <a:xfrm>
              <a:off x="3782157" y="4055279"/>
              <a:ext cx="0" cy="24522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07D945D-2574-DBCA-38F9-072FF4E0B5C1}"/>
                </a:ext>
              </a:extLst>
            </p:cNvPr>
            <p:cNvCxnSpPr/>
            <p:nvPr/>
          </p:nvCxnSpPr>
          <p:spPr>
            <a:xfrm>
              <a:off x="4238714" y="4067348"/>
              <a:ext cx="0" cy="245225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4D34FA3-EF7C-2050-9271-AE367352BDFA}"/>
                </a:ext>
              </a:extLst>
            </p:cNvPr>
            <p:cNvSpPr txBox="1"/>
            <p:nvPr/>
          </p:nvSpPr>
          <p:spPr>
            <a:xfrm>
              <a:off x="1689646" y="3669720"/>
              <a:ext cx="12320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Feature A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97E3E47-A086-1EEF-5469-D655917F61E1}"/>
                </a:ext>
              </a:extLst>
            </p:cNvPr>
            <p:cNvSpPr txBox="1"/>
            <p:nvPr/>
          </p:nvSpPr>
          <p:spPr>
            <a:xfrm>
              <a:off x="3452566" y="3666991"/>
              <a:ext cx="12368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Feature B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8A415D2-ACFC-909F-E0EB-CB30366E623F}"/>
              </a:ext>
            </a:extLst>
          </p:cNvPr>
          <p:cNvCxnSpPr/>
          <p:nvPr/>
        </p:nvCxnSpPr>
        <p:spPr>
          <a:xfrm>
            <a:off x="5457693" y="4754872"/>
            <a:ext cx="124803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BEFDE91-5DBB-FB54-AC7B-E6D217021913}"/>
              </a:ext>
            </a:extLst>
          </p:cNvPr>
          <p:cNvGrpSpPr/>
          <p:nvPr/>
        </p:nvGrpSpPr>
        <p:grpSpPr>
          <a:xfrm>
            <a:off x="6780329" y="2899635"/>
            <a:ext cx="3714635" cy="3234429"/>
            <a:chOff x="549424" y="3300813"/>
            <a:chExt cx="3714635" cy="323442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90D13DF-52E2-D169-B2B1-CC007E889A8B}"/>
                </a:ext>
              </a:extLst>
            </p:cNvPr>
            <p:cNvSpPr/>
            <p:nvPr/>
          </p:nvSpPr>
          <p:spPr>
            <a:xfrm>
              <a:off x="1162719" y="4055279"/>
              <a:ext cx="2034629" cy="2479963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036455E-5C63-F650-5BC9-989A0554E45C}"/>
                </a:ext>
              </a:extLst>
            </p:cNvPr>
            <p:cNvSpPr txBox="1"/>
            <p:nvPr/>
          </p:nvSpPr>
          <p:spPr>
            <a:xfrm rot="16200000">
              <a:off x="-513431" y="5037728"/>
              <a:ext cx="255659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Samples (e.g. cells)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F36C8D9-9821-F2EC-0CAD-E4C4BF9D59B7}"/>
                </a:ext>
              </a:extLst>
            </p:cNvPr>
            <p:cNvCxnSpPr/>
            <p:nvPr/>
          </p:nvCxnSpPr>
          <p:spPr>
            <a:xfrm>
              <a:off x="1202922" y="4054591"/>
              <a:ext cx="0" cy="2452255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70F42F6-6987-23B3-A3A8-367FB2698023}"/>
                </a:ext>
              </a:extLst>
            </p:cNvPr>
            <p:cNvCxnSpPr/>
            <p:nvPr/>
          </p:nvCxnSpPr>
          <p:spPr>
            <a:xfrm>
              <a:off x="1505711" y="4079215"/>
              <a:ext cx="0" cy="2452255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6A5EE70-1260-EA14-58E6-D9B7844A20AE}"/>
                </a:ext>
              </a:extLst>
            </p:cNvPr>
            <p:cNvSpPr txBox="1"/>
            <p:nvPr/>
          </p:nvSpPr>
          <p:spPr>
            <a:xfrm>
              <a:off x="670201" y="3300813"/>
              <a:ext cx="35938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B050"/>
                  </a:solidFill>
                </a:rPr>
                <a:t>Principal component (PC) 1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/>
                <a:t>=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br>
                <a:rPr lang="en-US" sz="2000" dirty="0">
                  <a:solidFill>
                    <a:srgbClr val="FF0000"/>
                  </a:solidFill>
                </a:rPr>
              </a:br>
              <a:r>
                <a:rPr lang="en-US" sz="2000" dirty="0"/>
                <a:t>2 * </a:t>
              </a:r>
              <a:r>
                <a:rPr lang="en-US" sz="2000" dirty="0">
                  <a:solidFill>
                    <a:srgbClr val="FF0000"/>
                  </a:solidFill>
                </a:rPr>
                <a:t>Feature A </a:t>
              </a:r>
              <a:r>
                <a:rPr lang="en-US" sz="2000" dirty="0"/>
                <a:t>+ 3 * </a:t>
              </a:r>
              <a:r>
                <a:rPr lang="en-US" sz="2000" dirty="0">
                  <a:solidFill>
                    <a:schemeClr val="accent4">
                      <a:lumMod val="50000"/>
                    </a:schemeClr>
                  </a:solidFill>
                </a:rPr>
                <a:t>Feature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7021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7E8EF3-9BAF-F95D-C407-DE34EFC7D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9"/>
            <a:ext cx="8770549" cy="65779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013A47-D2B8-5EFC-6224-A32DEAAF632A}"/>
              </a:ext>
            </a:extLst>
          </p:cNvPr>
          <p:cNvSpPr txBox="1"/>
          <p:nvPr/>
        </p:nvSpPr>
        <p:spPr>
          <a:xfrm>
            <a:off x="7302287" y="5196006"/>
            <a:ext cx="4572213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Linear comb. of features = direction in space, e.g. 2 * (</a:t>
            </a:r>
            <a:r>
              <a:rPr lang="en-US" sz="2000" dirty="0">
                <a:solidFill>
                  <a:srgbClr val="FF0000"/>
                </a:solidFill>
              </a:rPr>
              <a:t>Feature 1) </a:t>
            </a:r>
            <a:r>
              <a:rPr lang="en-US" sz="2000" dirty="0"/>
              <a:t>+ 3 * (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Feature 2) </a:t>
            </a:r>
            <a:r>
              <a:rPr lang="en-US" sz="2000" dirty="0"/>
              <a:t>represented by vector &lt;2,3&gt;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61A3F-6C01-22B9-1B2A-69F4FFFFFFFB}"/>
              </a:ext>
            </a:extLst>
          </p:cNvPr>
          <p:cNvSpPr txBox="1"/>
          <p:nvPr/>
        </p:nvSpPr>
        <p:spPr>
          <a:xfrm>
            <a:off x="0" y="6581001"/>
            <a:ext cx="5306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Smita Krishnaswamy et al: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https://krishnaswamylab.org/workshop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7154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Alternative view: 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PCA 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as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 a matrix factorization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6583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Last class: the top-K PCs give the </a:t>
            </a:r>
            <a:r>
              <a:rPr sz="2500" b="0" i="0" dirty="0">
                <a:solidFill>
                  <a:srgbClr val="FF0000"/>
                </a:solidFill>
                <a:latin typeface="+mn-lt"/>
                <a:cs typeface="+mn-lt"/>
              </a:rPr>
              <a:t>best rank-K approximation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 of the data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:</a:t>
            </a:r>
            <a:endParaRPr sz="2500" b="0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43399" y="2002536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endParaRPr lang="en-US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3993740"/>
            <a:ext cx="6583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where U, V are </a:t>
            </a:r>
            <a:r>
              <a:rPr sz="2500" b="0" i="0" dirty="0">
                <a:solidFill>
                  <a:srgbClr val="FF0000"/>
                </a:solidFill>
                <a:latin typeface="+mn-lt"/>
                <a:cs typeface="+mn-lt"/>
              </a:rPr>
              <a:t>unconstrained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 — entries can be positive or negative.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554480"/>
            <a:ext cx="1355140" cy="1747418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35240" y="1554480"/>
            <a:ext cx="1355140" cy="17474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300" b="0" i="1">
                <a:solidFill>
                  <a:srgbClr val="000000"/>
                </a:solidFill>
                <a:latin typeface="Cambria Math"/>
                <a:cs typeface="Cambria Math"/>
              </a:rPr>
              <a:t>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6956" y="2135581"/>
            <a:ext cx="4572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100" b="0" i="0">
                <a:solidFill>
                  <a:srgbClr val="000000"/>
                </a:solidFill>
                <a:latin typeface="Cambria Math"/>
                <a:cs typeface="Cambria Math"/>
              </a:rPr>
              <a:t>≈</a:t>
            </a:r>
          </a:p>
        </p:txBody>
      </p:sp>
      <p:sp>
        <p:nvSpPr>
          <p:cNvPr id="9" name="Rectangle 8"/>
          <p:cNvSpPr/>
          <p:nvPr/>
        </p:nvSpPr>
        <p:spPr>
          <a:xfrm>
            <a:off x="9520732" y="1554480"/>
            <a:ext cx="713232" cy="1747418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9699040" y="1554480"/>
            <a:ext cx="0" cy="1747418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7348" y="1554480"/>
            <a:ext cx="0" cy="1747418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55656" y="1554480"/>
            <a:ext cx="0" cy="1747418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520732" y="1554480"/>
            <a:ext cx="713232" cy="17474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0" i="1" dirty="0">
                <a:solidFill>
                  <a:srgbClr val="000000"/>
                </a:solidFill>
                <a:latin typeface="Cambria Math"/>
                <a:cs typeface="Cambria Math"/>
              </a:rPr>
              <a:t>U</a:t>
            </a:r>
            <a:r>
              <a:rPr lang="en-US" sz="2000" b="0" i="1" baseline="30000" dirty="0">
                <a:solidFill>
                  <a:srgbClr val="000000"/>
                </a:solidFill>
                <a:latin typeface="Cambria Math"/>
                <a:cs typeface="Cambria Math"/>
              </a:rPr>
              <a:t>T</a:t>
            </a:r>
            <a:endParaRPr sz="2000" b="0" i="1" baseline="30000" dirty="0">
              <a:solidFill>
                <a:srgbClr val="000000"/>
              </a:solidFill>
              <a:latin typeface="Cambria Math"/>
              <a:cs typeface="Cambria Math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380268" y="1554480"/>
            <a:ext cx="1355140" cy="713232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10380268" y="1732788"/>
            <a:ext cx="1355141" cy="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80268" y="1911095"/>
            <a:ext cx="1355141" cy="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380268" y="2089404"/>
            <a:ext cx="1355141" cy="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380268" y="1554480"/>
            <a:ext cx="1355140" cy="7132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0" i="1">
                <a:solidFill>
                  <a:srgbClr val="000000"/>
                </a:solidFill>
                <a:latin typeface="Cambria Math"/>
                <a:cs typeface="Cambria Math"/>
              </a:rP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356762"/>
            <a:ext cx="13551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>
                <a:solidFill>
                  <a:srgbClr val="000000"/>
                </a:solidFill>
                <a:latin typeface="+mn-lt"/>
                <a:cs typeface="+mn-lt"/>
              </a:rPr>
              <a:t>Y  (cells × genes)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3572" y="3356762"/>
            <a:ext cx="9875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dirty="0">
                <a:solidFill>
                  <a:srgbClr val="000000"/>
                </a:solidFill>
                <a:latin typeface="+mn-lt"/>
                <a:cs typeface="+mn-lt"/>
              </a:rPr>
              <a:t>U</a:t>
            </a:r>
            <a:r>
              <a:rPr lang="en-US" b="0" i="0" baseline="30000" dirty="0">
                <a:solidFill>
                  <a:srgbClr val="000000"/>
                </a:solidFill>
                <a:latin typeface="+mn-lt"/>
                <a:cs typeface="+mn-lt"/>
              </a:rPr>
              <a:t>T</a:t>
            </a:r>
            <a:r>
              <a:rPr b="0" i="0" dirty="0">
                <a:solidFill>
                  <a:srgbClr val="000000"/>
                </a:solidFill>
                <a:latin typeface="+mn-lt"/>
                <a:cs typeface="+mn-lt"/>
              </a:rPr>
              <a:t>  (N × 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0268" y="2322576"/>
            <a:ext cx="13551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>
                <a:solidFill>
                  <a:srgbClr val="000000"/>
                </a:solidFill>
                <a:latin typeface="+mn-lt"/>
                <a:cs typeface="+mn-lt"/>
              </a:rPr>
              <a:t>V  (K × 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232" y="7193280"/>
            <a:ext cx="676656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 b="0" i="0" dirty="0">
                <a:solidFill>
                  <a:srgbClr val="FF0000"/>
                </a:solidFill>
                <a:latin typeface="+mn-lt"/>
                <a:cs typeface="+mn-lt"/>
              </a:rPr>
              <a:t>The catch: interpretability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PCs mix genes with positive and negative weights.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Opposing contributions cancel out.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A PC is hard to read as “a set of genes acting together.”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6E345222-FB99-E005-C073-D7265063F2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7232" y="2510028"/>
                <a:ext cx="5734868" cy="148371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5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50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50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eqArr>
                                <m:eqArrPr>
                                  <m:ctrlPr>
                                    <a:rPr lang="en-US" sz="25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50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en-US" sz="250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sz="25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sz="25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ℝ</m:t>
                                      </m:r>
                                    </m:e>
                                    <m:sup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×</m:t>
                                      </m:r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𝐺</m:t>
                                      </m:r>
                                    </m:sup>
                                  </m:sSup>
                                  <m:r>
                                    <a:rPr lang="en-US" sz="25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eqArr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25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5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5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sSup>
                                        <m:sSupPr>
                                          <m:ctrlPr>
                                            <a:rPr lang="en-US" sz="25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500" i="1" smtClean="0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p>
                                          <m:r>
                                            <a:rPr lang="en-US" sz="250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sz="250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5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5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≈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</m:e>
                      </m:func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24" name="Content Placeholder 2">
                <a:extLst>
                  <a:ext uri="{FF2B5EF4-FFF2-40B4-BE49-F238E27FC236}">
                    <a16:creationId xmlns:a16="http://schemas.microsoft.com/office/drawing/2014/main" id="{6E345222-FB99-E005-C073-D7265063F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32" y="2510028"/>
                <a:ext cx="5734868" cy="1483712"/>
              </a:xfrm>
              <a:prstGeom prst="rect">
                <a:avLst/>
              </a:prstGeom>
              <a:blipFill>
                <a:blip r:embed="rId2"/>
                <a:stretch>
                  <a:fillRect t="-2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94E4986-4BC9-A5C9-3F3C-3C932B38DE46}"/>
              </a:ext>
            </a:extLst>
          </p:cNvPr>
          <p:cNvCxnSpPr/>
          <p:nvPr/>
        </p:nvCxnSpPr>
        <p:spPr>
          <a:xfrm flipV="1">
            <a:off x="11074400" y="2642616"/>
            <a:ext cx="0" cy="22449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D082A72-2980-5807-B6A8-54212BD752EB}"/>
              </a:ext>
            </a:extLst>
          </p:cNvPr>
          <p:cNvSpPr txBox="1"/>
          <p:nvPr/>
        </p:nvSpPr>
        <p:spPr>
          <a:xfrm>
            <a:off x="9915679" y="5100608"/>
            <a:ext cx="2005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Each row is a PC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E4EFD53-93BD-6D49-5308-F81009DDC6DC}"/>
              </a:ext>
            </a:extLst>
          </p:cNvPr>
          <p:cNvCxnSpPr>
            <a:cxnSpLocks/>
          </p:cNvCxnSpPr>
          <p:nvPr/>
        </p:nvCxnSpPr>
        <p:spPr>
          <a:xfrm flipV="1">
            <a:off x="8296120" y="3656277"/>
            <a:ext cx="1199341" cy="184444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77392F2-FC8E-9614-3B1A-B2F2128F135F}"/>
              </a:ext>
            </a:extLst>
          </p:cNvPr>
          <p:cNvSpPr txBox="1"/>
          <p:nvPr/>
        </p:nvSpPr>
        <p:spPr>
          <a:xfrm>
            <a:off x="7099300" y="5626100"/>
            <a:ext cx="31537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Each column is a “loading”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374904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Challenge: 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Why signed 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PCs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 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can be 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hard to interpret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2732" y="4218073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Ideally 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each PC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 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corresponds to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 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a related 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group of genes </a:t>
            </a:r>
            <a:endParaRPr lang="en-US" sz="25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marL="342900" indent="-3429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000000"/>
                </a:solidFill>
                <a:cs typeface="+mn-lt"/>
              </a:rPr>
              <a:t>e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.g. 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a 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gene 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pathway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 (genes w/ related functions)</a:t>
            </a:r>
            <a:endParaRPr sz="2500" b="0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3380" y="708152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1" i="0">
                <a:solidFill>
                  <a:srgbClr val="000000"/>
                </a:solidFill>
                <a:latin typeface="+mn-lt"/>
                <a:cs typeface="+mn-lt"/>
              </a:rPr>
              <a:t>Goal: </a:t>
            </a:r>
            <a:r>
              <a:rPr sz="1900" b="0" i="0">
                <a:solidFill>
                  <a:srgbClr val="000000"/>
                </a:solidFill>
                <a:latin typeface="+mn-lt"/>
                <a:cs typeface="+mn-lt"/>
              </a:rPr>
              <a:t>constrain the factors to be additive, nonnegative “parts” of the data.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E50796-9C0B-B092-C02A-462048F85026}"/>
              </a:ext>
            </a:extLst>
          </p:cNvPr>
          <p:cNvSpPr/>
          <p:nvPr/>
        </p:nvSpPr>
        <p:spPr>
          <a:xfrm>
            <a:off x="6084107" y="2046576"/>
            <a:ext cx="4330700" cy="640081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D95CD4-BC0F-B291-5907-D807BA80A022}"/>
              </a:ext>
            </a:extLst>
          </p:cNvPr>
          <p:cNvSpPr txBox="1"/>
          <p:nvPr/>
        </p:nvSpPr>
        <p:spPr>
          <a:xfrm rot="5400000">
            <a:off x="2193413" y="2447758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5A890E3-B19F-BBCF-D771-0D2602123A68}"/>
              </a:ext>
            </a:extLst>
          </p:cNvPr>
          <p:cNvCxnSpPr>
            <a:cxnSpLocks/>
          </p:cNvCxnSpPr>
          <p:nvPr/>
        </p:nvCxnSpPr>
        <p:spPr>
          <a:xfrm>
            <a:off x="4147249" y="2095592"/>
            <a:ext cx="1743856" cy="13715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9DE44C4C-3F0A-6E62-0302-60A283C793B4}"/>
              </a:ext>
            </a:extLst>
          </p:cNvPr>
          <p:cNvSpPr/>
          <p:nvPr/>
        </p:nvSpPr>
        <p:spPr>
          <a:xfrm>
            <a:off x="881475" y="1845655"/>
            <a:ext cx="3119830" cy="1523509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439879-D0E5-BE2E-4EE8-EDF9BA582D51}"/>
              </a:ext>
            </a:extLst>
          </p:cNvPr>
          <p:cNvSpPr txBox="1"/>
          <p:nvPr/>
        </p:nvSpPr>
        <p:spPr>
          <a:xfrm>
            <a:off x="6084107" y="2730312"/>
            <a:ext cx="6671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90998F-3341-3684-E9A0-037356748118}"/>
              </a:ext>
            </a:extLst>
          </p:cNvPr>
          <p:cNvSpPr txBox="1"/>
          <p:nvPr/>
        </p:nvSpPr>
        <p:spPr>
          <a:xfrm>
            <a:off x="6732647" y="2730312"/>
            <a:ext cx="6671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3487E0-A4A1-0DA2-C706-B2DBD102E80B}"/>
              </a:ext>
            </a:extLst>
          </p:cNvPr>
          <p:cNvSpPr txBox="1"/>
          <p:nvPr/>
        </p:nvSpPr>
        <p:spPr>
          <a:xfrm>
            <a:off x="7407427" y="2730312"/>
            <a:ext cx="6671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A3D0F6-B4C0-B859-52B0-129F3CFB6EE5}"/>
              </a:ext>
            </a:extLst>
          </p:cNvPr>
          <p:cNvSpPr txBox="1"/>
          <p:nvPr/>
        </p:nvSpPr>
        <p:spPr>
          <a:xfrm>
            <a:off x="8980023" y="2607409"/>
            <a:ext cx="8255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D3F3BD-A629-C290-CFA5-DAC884DB7E1A}"/>
              </a:ext>
            </a:extLst>
          </p:cNvPr>
          <p:cNvSpPr txBox="1"/>
          <p:nvPr/>
        </p:nvSpPr>
        <p:spPr>
          <a:xfrm>
            <a:off x="9747637" y="2730312"/>
            <a:ext cx="6671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20BA01-584D-82AC-91DD-FD3A174D77E3}"/>
              </a:ext>
            </a:extLst>
          </p:cNvPr>
          <p:cNvSpPr txBox="1"/>
          <p:nvPr/>
        </p:nvSpPr>
        <p:spPr>
          <a:xfrm>
            <a:off x="8048357" y="2730312"/>
            <a:ext cx="6671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86F2D6-B70D-D505-2136-2EFB7A9A5829}"/>
              </a:ext>
            </a:extLst>
          </p:cNvPr>
          <p:cNvSpPr txBox="1"/>
          <p:nvPr/>
        </p:nvSpPr>
        <p:spPr>
          <a:xfrm>
            <a:off x="6230051" y="2196176"/>
            <a:ext cx="4860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0070C0"/>
                </a:solidFill>
              </a:rPr>
              <a:t>15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3F4D32-7ECF-D2F7-BFF0-19A67665D555}"/>
              </a:ext>
            </a:extLst>
          </p:cNvPr>
          <p:cNvSpPr txBox="1"/>
          <p:nvPr/>
        </p:nvSpPr>
        <p:spPr>
          <a:xfrm>
            <a:off x="10527729" y="2137477"/>
            <a:ext cx="1385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PC</a:t>
            </a:r>
          </a:p>
        </p:txBody>
      </p:sp>
      <p:cxnSp>
        <p:nvCxnSpPr>
          <p:cNvPr id="46" name="Connector 15">
            <a:extLst>
              <a:ext uri="{FF2B5EF4-FFF2-40B4-BE49-F238E27FC236}">
                <a16:creationId xmlns:a16="http://schemas.microsoft.com/office/drawing/2014/main" id="{E463B00B-BE66-426E-4718-F6FEB645FA78}"/>
              </a:ext>
            </a:extLst>
          </p:cNvPr>
          <p:cNvCxnSpPr>
            <a:cxnSpLocks/>
          </p:cNvCxnSpPr>
          <p:nvPr/>
        </p:nvCxnSpPr>
        <p:spPr>
          <a:xfrm>
            <a:off x="881475" y="2348082"/>
            <a:ext cx="3119830" cy="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79CC757-DC0A-BD04-2BD3-85E556123883}"/>
              </a:ext>
            </a:extLst>
          </p:cNvPr>
          <p:cNvSpPr txBox="1"/>
          <p:nvPr/>
        </p:nvSpPr>
        <p:spPr>
          <a:xfrm>
            <a:off x="6777708" y="2196176"/>
            <a:ext cx="5661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0070C0"/>
                </a:solidFill>
              </a:rPr>
              <a:t>7.2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860A17-1401-9A69-1082-1DC14DE7FD22}"/>
              </a:ext>
            </a:extLst>
          </p:cNvPr>
          <p:cNvSpPr txBox="1"/>
          <p:nvPr/>
        </p:nvSpPr>
        <p:spPr>
          <a:xfrm>
            <a:off x="7389599" y="2224375"/>
            <a:ext cx="4315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-3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ADBFF69-0166-86F3-6C7B-FFE8242ED6E6}"/>
              </a:ext>
            </a:extLst>
          </p:cNvPr>
          <p:cNvSpPr txBox="1"/>
          <p:nvPr/>
        </p:nvSpPr>
        <p:spPr>
          <a:xfrm>
            <a:off x="8048357" y="2218540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1237BD-AE81-ABC7-6F45-5EA25EC65ACD}"/>
              </a:ext>
            </a:extLst>
          </p:cNvPr>
          <p:cNvSpPr txBox="1"/>
          <p:nvPr/>
        </p:nvSpPr>
        <p:spPr>
          <a:xfrm>
            <a:off x="9882199" y="2196175"/>
            <a:ext cx="4315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00745A-A356-0247-2728-042338802685}"/>
              </a:ext>
            </a:extLst>
          </p:cNvPr>
          <p:cNvSpPr txBox="1"/>
          <p:nvPr/>
        </p:nvSpPr>
        <p:spPr>
          <a:xfrm>
            <a:off x="835091" y="5383533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But oftentimes, </a:t>
            </a:r>
            <a:r>
              <a:rPr lang="en-US" sz="2500" b="0" i="0" u="sng" dirty="0">
                <a:solidFill>
                  <a:srgbClr val="000000"/>
                </a:solidFill>
                <a:latin typeface="+mn-lt"/>
                <a:cs typeface="+mn-lt"/>
              </a:rPr>
              <a:t>most genes have a non-zero value 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(positive or negative) </a:t>
            </a:r>
            <a:b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</a:b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-&gt; PCs not directly interpretable</a:t>
            </a:r>
            <a:endParaRPr sz="2500" b="0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AE5E603-D1A9-A5C6-07B2-D7D230D13E43}"/>
              </a:ext>
            </a:extLst>
          </p:cNvPr>
          <p:cNvSpPr txBox="1"/>
          <p:nvPr/>
        </p:nvSpPr>
        <p:spPr>
          <a:xfrm>
            <a:off x="9013941" y="2172658"/>
            <a:ext cx="825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26628-754C-F279-76E8-CDDD69A7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2EF4C85-3BA8-8296-2BCA-37654D25F943}"/>
              </a:ext>
            </a:extLst>
          </p:cNvPr>
          <p:cNvCxnSpPr>
            <a:cxnSpLocks/>
          </p:cNvCxnSpPr>
          <p:nvPr/>
        </p:nvCxnSpPr>
        <p:spPr>
          <a:xfrm>
            <a:off x="1081230" y="4310560"/>
            <a:ext cx="3519666" cy="12281"/>
          </a:xfrm>
          <a:prstGeom prst="line">
            <a:avLst/>
          </a:prstGeom>
          <a:ln w="1270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673FA7A-7FD7-48A8-2C44-D337134B1A09}"/>
              </a:ext>
            </a:extLst>
          </p:cNvPr>
          <p:cNvSpPr/>
          <p:nvPr/>
        </p:nvSpPr>
        <p:spPr>
          <a:xfrm>
            <a:off x="1273672" y="3429474"/>
            <a:ext cx="309281" cy="881085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CFC65-4AFA-C0A2-E50E-2965F322487A}"/>
              </a:ext>
            </a:extLst>
          </p:cNvPr>
          <p:cNvSpPr/>
          <p:nvPr/>
        </p:nvSpPr>
        <p:spPr>
          <a:xfrm>
            <a:off x="2281454" y="4340054"/>
            <a:ext cx="309282" cy="451821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72F41-7627-E3D9-7576-428F2E3E12B8}"/>
              </a:ext>
            </a:extLst>
          </p:cNvPr>
          <p:cNvSpPr/>
          <p:nvPr/>
        </p:nvSpPr>
        <p:spPr>
          <a:xfrm>
            <a:off x="1806921" y="3690292"/>
            <a:ext cx="309282" cy="632549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D6613C-1AF1-2C9B-59F7-1FEAD191FE58}"/>
              </a:ext>
            </a:extLst>
          </p:cNvPr>
          <p:cNvSpPr/>
          <p:nvPr/>
        </p:nvSpPr>
        <p:spPr>
          <a:xfrm>
            <a:off x="3259504" y="4310559"/>
            <a:ext cx="309282" cy="768096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DD538C-1414-7774-D4C1-FB5C62492931}"/>
              </a:ext>
            </a:extLst>
          </p:cNvPr>
          <p:cNvSpPr/>
          <p:nvPr/>
        </p:nvSpPr>
        <p:spPr>
          <a:xfrm>
            <a:off x="2783179" y="3949103"/>
            <a:ext cx="309282" cy="36145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8E3C05-A9D3-915F-D18D-54648AAA319E}"/>
              </a:ext>
            </a:extLst>
          </p:cNvPr>
          <p:cNvSpPr/>
          <p:nvPr/>
        </p:nvSpPr>
        <p:spPr>
          <a:xfrm>
            <a:off x="3771667" y="4322841"/>
            <a:ext cx="309282" cy="406639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9E779C-3A59-B1D9-4ED0-266CCBD4316D}"/>
              </a:ext>
            </a:extLst>
          </p:cNvPr>
          <p:cNvSpPr txBox="1"/>
          <p:nvPr/>
        </p:nvSpPr>
        <p:spPr>
          <a:xfrm>
            <a:off x="1033437" y="2420737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500" b="1" i="0" dirty="0">
                <a:solidFill>
                  <a:srgbClr val="000000"/>
                </a:solidFill>
                <a:latin typeface="+mn-lt"/>
                <a:cs typeface="+mn-lt"/>
              </a:rPr>
              <a:t>PCA</a:t>
            </a:r>
            <a:r>
              <a:rPr lang="en-US" sz="3500" b="1" i="0" dirty="0">
                <a:solidFill>
                  <a:srgbClr val="000000"/>
                </a:solidFill>
                <a:latin typeface="+mn-lt"/>
                <a:cs typeface="+mn-lt"/>
              </a:rPr>
              <a:t>: hard to interpret</a:t>
            </a:r>
            <a:endParaRPr sz="3500" b="1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A1362DB2-26EF-75D4-EF32-F3DC473A4638}"/>
              </a:ext>
            </a:extLst>
          </p:cNvPr>
          <p:cNvCxnSpPr>
            <a:cxnSpLocks/>
            <a:endCxn id="20" idx="3"/>
          </p:cNvCxnSpPr>
          <p:nvPr/>
        </p:nvCxnSpPr>
        <p:spPr>
          <a:xfrm>
            <a:off x="6750510" y="4310560"/>
            <a:ext cx="3010347" cy="1"/>
          </a:xfrm>
          <a:prstGeom prst="line">
            <a:avLst/>
          </a:prstGeom>
          <a:ln w="1270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2A35F0E-AC3D-360E-B645-ACB297B3D4B5}"/>
              </a:ext>
            </a:extLst>
          </p:cNvPr>
          <p:cNvSpPr/>
          <p:nvPr/>
        </p:nvSpPr>
        <p:spPr>
          <a:xfrm>
            <a:off x="6942952" y="3652192"/>
            <a:ext cx="309282" cy="65836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99D7B3-D3D2-569A-68B0-18863EB93902}"/>
              </a:ext>
            </a:extLst>
          </p:cNvPr>
          <p:cNvSpPr/>
          <p:nvPr/>
        </p:nvSpPr>
        <p:spPr>
          <a:xfrm>
            <a:off x="7444677" y="4310560"/>
            <a:ext cx="309282" cy="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03B04D-7666-AE0F-FC12-6B14E15FF2FA}"/>
              </a:ext>
            </a:extLst>
          </p:cNvPr>
          <p:cNvSpPr/>
          <p:nvPr/>
        </p:nvSpPr>
        <p:spPr>
          <a:xfrm>
            <a:off x="7946401" y="3542464"/>
            <a:ext cx="309282" cy="76809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1174FB4-FED5-BCAF-DEF1-F2A33FD56FD3}"/>
              </a:ext>
            </a:extLst>
          </p:cNvPr>
          <p:cNvSpPr/>
          <p:nvPr/>
        </p:nvSpPr>
        <p:spPr>
          <a:xfrm>
            <a:off x="8448126" y="4310560"/>
            <a:ext cx="309282" cy="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1E57BB-1030-DCF3-1376-0DD6E9572987}"/>
              </a:ext>
            </a:extLst>
          </p:cNvPr>
          <p:cNvSpPr/>
          <p:nvPr/>
        </p:nvSpPr>
        <p:spPr>
          <a:xfrm>
            <a:off x="8949851" y="3816784"/>
            <a:ext cx="309282" cy="49377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60DA5C-BF3C-E120-AA72-748694045BC4}"/>
              </a:ext>
            </a:extLst>
          </p:cNvPr>
          <p:cNvSpPr/>
          <p:nvPr/>
        </p:nvSpPr>
        <p:spPr>
          <a:xfrm>
            <a:off x="9451575" y="4310560"/>
            <a:ext cx="309282" cy="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10B37D-C5F4-7E38-8C8A-8032E8B996B5}"/>
              </a:ext>
            </a:extLst>
          </p:cNvPr>
          <p:cNvSpPr/>
          <p:nvPr/>
        </p:nvSpPr>
        <p:spPr>
          <a:xfrm>
            <a:off x="10455025" y="4310560"/>
            <a:ext cx="309282" cy="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5BCA54-347C-C369-149D-D30DE5F07AEB}"/>
              </a:ext>
            </a:extLst>
          </p:cNvPr>
          <p:cNvSpPr txBox="1"/>
          <p:nvPr/>
        </p:nvSpPr>
        <p:spPr>
          <a:xfrm>
            <a:off x="6750510" y="303040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1500" b="1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144B4A9-8001-1F65-B1D5-73F3D74BFCEB}"/>
              </a:ext>
            </a:extLst>
          </p:cNvPr>
          <p:cNvGrpSpPr/>
          <p:nvPr/>
        </p:nvGrpSpPr>
        <p:grpSpPr>
          <a:xfrm>
            <a:off x="937366" y="627674"/>
            <a:ext cx="5829194" cy="1237734"/>
            <a:chOff x="937366" y="627674"/>
            <a:chExt cx="5829194" cy="123773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E58348F-71AC-1631-E76A-EEDB245BA325}"/>
                </a:ext>
              </a:extLst>
            </p:cNvPr>
            <p:cNvSpPr/>
            <p:nvPr/>
          </p:nvSpPr>
          <p:spPr>
            <a:xfrm>
              <a:off x="937366" y="627674"/>
              <a:ext cx="4330700" cy="640081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3621A03-7E5A-39F2-3B72-64824419CBEF}"/>
                </a:ext>
              </a:extLst>
            </p:cNvPr>
            <p:cNvSpPr txBox="1"/>
            <p:nvPr/>
          </p:nvSpPr>
          <p:spPr>
            <a:xfrm>
              <a:off x="937366" y="1311410"/>
              <a:ext cx="66717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/>
                <a:t>Gene </a:t>
              </a:r>
              <a:br>
                <a:rPr lang="en-US" sz="1500" dirty="0"/>
              </a:br>
              <a:r>
                <a:rPr lang="en-US" sz="1500" dirty="0"/>
                <a:t>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BB57405-C8CB-90F8-0462-190DB21BFCC1}"/>
                </a:ext>
              </a:extLst>
            </p:cNvPr>
            <p:cNvSpPr txBox="1"/>
            <p:nvPr/>
          </p:nvSpPr>
          <p:spPr>
            <a:xfrm>
              <a:off x="1585906" y="1311410"/>
              <a:ext cx="66717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/>
                <a:t>Gene </a:t>
              </a:r>
              <a:br>
                <a:rPr lang="en-US" sz="1500" dirty="0"/>
              </a:br>
              <a:r>
                <a:rPr lang="en-US" sz="1500" dirty="0"/>
                <a:t>2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8903FE8-866D-7CFD-1B22-614C13B49DE8}"/>
                </a:ext>
              </a:extLst>
            </p:cNvPr>
            <p:cNvSpPr txBox="1"/>
            <p:nvPr/>
          </p:nvSpPr>
          <p:spPr>
            <a:xfrm>
              <a:off x="2260686" y="1311410"/>
              <a:ext cx="66717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/>
                <a:t>Gene </a:t>
              </a:r>
              <a:br>
                <a:rPr lang="en-US" sz="1500" dirty="0"/>
              </a:br>
              <a:r>
                <a:rPr lang="en-US" sz="1500" dirty="0"/>
                <a:t>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A0227C1-7FDE-4B22-73FC-91406C39ABCF}"/>
                </a:ext>
              </a:extLst>
            </p:cNvPr>
            <p:cNvSpPr txBox="1"/>
            <p:nvPr/>
          </p:nvSpPr>
          <p:spPr>
            <a:xfrm>
              <a:off x="3833282" y="1188507"/>
              <a:ext cx="825500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500" dirty="0"/>
                <a:t>…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3F72F7B-E130-DCBF-9540-71D34402CE3A}"/>
                </a:ext>
              </a:extLst>
            </p:cNvPr>
            <p:cNvSpPr txBox="1"/>
            <p:nvPr/>
          </p:nvSpPr>
          <p:spPr>
            <a:xfrm>
              <a:off x="4600896" y="1311410"/>
              <a:ext cx="66717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/>
                <a:t>Gene </a:t>
              </a:r>
              <a:br>
                <a:rPr lang="en-US" sz="1500" dirty="0"/>
              </a:br>
              <a:r>
                <a:rPr lang="en-US" sz="1500" dirty="0"/>
                <a:t>G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1A861B6-339B-53D2-2E91-70B070C3C371}"/>
                </a:ext>
              </a:extLst>
            </p:cNvPr>
            <p:cNvSpPr txBox="1"/>
            <p:nvPr/>
          </p:nvSpPr>
          <p:spPr>
            <a:xfrm>
              <a:off x="2901616" y="1311410"/>
              <a:ext cx="66717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/>
                <a:t>Gene </a:t>
              </a:r>
              <a:br>
                <a:rPr lang="en-US" sz="1500" dirty="0"/>
              </a:br>
              <a:r>
                <a:rPr lang="en-US" sz="1500" dirty="0"/>
                <a:t>4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C1470A9-8733-F6E3-C923-1F09E2D37AB4}"/>
                </a:ext>
              </a:extLst>
            </p:cNvPr>
            <p:cNvSpPr txBox="1"/>
            <p:nvPr/>
          </p:nvSpPr>
          <p:spPr>
            <a:xfrm>
              <a:off x="1083310" y="777274"/>
              <a:ext cx="4860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rgbClr val="0070C0"/>
                  </a:solidFill>
                </a:rPr>
                <a:t>15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3E9387-B552-C90D-61C3-C2F96CB6839E}"/>
                </a:ext>
              </a:extLst>
            </p:cNvPr>
            <p:cNvSpPr txBox="1"/>
            <p:nvPr/>
          </p:nvSpPr>
          <p:spPr>
            <a:xfrm>
              <a:off x="5380988" y="718575"/>
              <a:ext cx="1385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Example PC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0ED3BD6-BF7C-8E6E-0166-17EAA06AAE43}"/>
                </a:ext>
              </a:extLst>
            </p:cNvPr>
            <p:cNvSpPr txBox="1"/>
            <p:nvPr/>
          </p:nvSpPr>
          <p:spPr>
            <a:xfrm>
              <a:off x="1630967" y="777274"/>
              <a:ext cx="56618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rgbClr val="0070C0"/>
                  </a:solidFill>
                </a:rPr>
                <a:t>7.2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11E26DC-36F8-E571-0C17-E6C19E845901}"/>
                </a:ext>
              </a:extLst>
            </p:cNvPr>
            <p:cNvSpPr txBox="1"/>
            <p:nvPr/>
          </p:nvSpPr>
          <p:spPr>
            <a:xfrm>
              <a:off x="2242858" y="805473"/>
              <a:ext cx="4315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rgbClr val="FF0000"/>
                  </a:solidFill>
                </a:rPr>
                <a:t>-3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15F44C4-F451-E9E4-9B6C-4FA54A803806}"/>
                </a:ext>
              </a:extLst>
            </p:cNvPr>
            <p:cNvSpPr txBox="1"/>
            <p:nvPr/>
          </p:nvSpPr>
          <p:spPr>
            <a:xfrm>
              <a:off x="2901616" y="799638"/>
              <a:ext cx="33534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rgbClr val="0070C0"/>
                  </a:solidFill>
                </a:rPr>
                <a:t>4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65C74C5-F0EF-B77A-0493-DC3501639F3D}"/>
                </a:ext>
              </a:extLst>
            </p:cNvPr>
            <p:cNvSpPr txBox="1"/>
            <p:nvPr/>
          </p:nvSpPr>
          <p:spPr>
            <a:xfrm>
              <a:off x="4735458" y="777273"/>
              <a:ext cx="4315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rgbClr val="FF0000"/>
                  </a:solidFill>
                </a:rPr>
                <a:t>-2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A59EB72-EF2E-7765-FFEA-FB86438B734F}"/>
                </a:ext>
              </a:extLst>
            </p:cNvPr>
            <p:cNvSpPr txBox="1"/>
            <p:nvPr/>
          </p:nvSpPr>
          <p:spPr>
            <a:xfrm>
              <a:off x="3867200" y="753756"/>
              <a:ext cx="825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…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6E773917-12B8-6BA2-449E-EEABFC0D5950}"/>
              </a:ext>
            </a:extLst>
          </p:cNvPr>
          <p:cNvSpPr txBox="1"/>
          <p:nvPr/>
        </p:nvSpPr>
        <p:spPr>
          <a:xfrm>
            <a:off x="922116" y="4354215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071C7F-9527-2DA0-3B3F-4255534FEE42}"/>
              </a:ext>
            </a:extLst>
          </p:cNvPr>
          <p:cNvSpPr txBox="1"/>
          <p:nvPr/>
        </p:nvSpPr>
        <p:spPr>
          <a:xfrm>
            <a:off x="1462595" y="4379400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153845-9512-94FF-6592-DC41982CF2C0}"/>
              </a:ext>
            </a:extLst>
          </p:cNvPr>
          <p:cNvSpPr txBox="1"/>
          <p:nvPr/>
        </p:nvSpPr>
        <p:spPr>
          <a:xfrm>
            <a:off x="1970398" y="4904994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DA9A7F-93DC-912D-548B-A79C84AE0BBB}"/>
              </a:ext>
            </a:extLst>
          </p:cNvPr>
          <p:cNvSpPr txBox="1"/>
          <p:nvPr/>
        </p:nvSpPr>
        <p:spPr>
          <a:xfrm>
            <a:off x="6952323" y="237744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2500" b="1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278666-4F34-DBFC-E469-229BDA118184}"/>
              </a:ext>
            </a:extLst>
          </p:cNvPr>
          <p:cNvSpPr txBox="1"/>
          <p:nvPr/>
        </p:nvSpPr>
        <p:spPr>
          <a:xfrm>
            <a:off x="6499647" y="2352880"/>
            <a:ext cx="4206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500" b="1" i="0" dirty="0">
                <a:solidFill>
                  <a:srgbClr val="000000"/>
                </a:solidFill>
                <a:latin typeface="+mn-lt"/>
                <a:cs typeface="+mn-lt"/>
              </a:rPr>
              <a:t>What we would like ideally</a:t>
            </a:r>
            <a:endParaRPr sz="3500" b="1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96EDBB-1321-86E4-25BA-A76854AA3F5F}"/>
              </a:ext>
            </a:extLst>
          </p:cNvPr>
          <p:cNvSpPr txBox="1"/>
          <p:nvPr/>
        </p:nvSpPr>
        <p:spPr>
          <a:xfrm>
            <a:off x="6599409" y="4362944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A70672-09E1-52AA-220F-1D92299FF913}"/>
              </a:ext>
            </a:extLst>
          </p:cNvPr>
          <p:cNvSpPr txBox="1"/>
          <p:nvPr/>
        </p:nvSpPr>
        <p:spPr>
          <a:xfrm>
            <a:off x="7184767" y="4366319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432A57-E7BC-C7EA-7E37-8E2A5E8BF0FE}"/>
              </a:ext>
            </a:extLst>
          </p:cNvPr>
          <p:cNvSpPr txBox="1"/>
          <p:nvPr/>
        </p:nvSpPr>
        <p:spPr>
          <a:xfrm>
            <a:off x="7729093" y="4401213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3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79C2472-9ED6-7860-7F0C-486165F95A7E}"/>
              </a:ext>
            </a:extLst>
          </p:cNvPr>
          <p:cNvCxnSpPr>
            <a:cxnSpLocks/>
          </p:cNvCxnSpPr>
          <p:nvPr/>
        </p:nvCxnSpPr>
        <p:spPr>
          <a:xfrm flipV="1">
            <a:off x="7305030" y="4976075"/>
            <a:ext cx="211256" cy="107294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DE61489-DD84-3025-B5F8-72FF909C6E59}"/>
              </a:ext>
            </a:extLst>
          </p:cNvPr>
          <p:cNvSpPr txBox="1"/>
          <p:nvPr/>
        </p:nvSpPr>
        <p:spPr>
          <a:xfrm>
            <a:off x="5058397" y="6073074"/>
            <a:ext cx="31972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</a:rPr>
              <a:t>Zero value for genes 2,4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C7BF27-4324-AEF4-3DC6-4E58A414634E}"/>
              </a:ext>
            </a:extLst>
          </p:cNvPr>
          <p:cNvSpPr txBox="1"/>
          <p:nvPr/>
        </p:nvSpPr>
        <p:spPr>
          <a:xfrm>
            <a:off x="2503853" y="4401213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6CF5CD-B7C6-5843-0479-D4D6EC3F331B}"/>
              </a:ext>
            </a:extLst>
          </p:cNvPr>
          <p:cNvSpPr txBox="1"/>
          <p:nvPr/>
        </p:nvSpPr>
        <p:spPr>
          <a:xfrm>
            <a:off x="3003273" y="5084563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D99E81-C9D4-9281-883F-399281645226}"/>
              </a:ext>
            </a:extLst>
          </p:cNvPr>
          <p:cNvSpPr txBox="1"/>
          <p:nvPr/>
        </p:nvSpPr>
        <p:spPr>
          <a:xfrm>
            <a:off x="3495591" y="4759369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1487F6-74B5-E515-B219-F1D59FBB93CD}"/>
              </a:ext>
            </a:extLst>
          </p:cNvPr>
          <p:cNvSpPr txBox="1"/>
          <p:nvPr/>
        </p:nvSpPr>
        <p:spPr>
          <a:xfrm>
            <a:off x="8673760" y="5821576"/>
            <a:ext cx="34453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chemeClr val="accent6">
                    <a:lumMod val="75000"/>
                  </a:schemeClr>
                </a:solidFill>
              </a:rPr>
              <a:t>Genes 1, 3, 5, … are all related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43B88B8-3E02-66CC-CB2C-E5B3A06E0783}"/>
              </a:ext>
            </a:extLst>
          </p:cNvPr>
          <p:cNvSpPr txBox="1"/>
          <p:nvPr/>
        </p:nvSpPr>
        <p:spPr>
          <a:xfrm>
            <a:off x="8229260" y="4362944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EBBC1A-71BD-925A-746B-F8007EE05CF7}"/>
              </a:ext>
            </a:extLst>
          </p:cNvPr>
          <p:cNvSpPr txBox="1"/>
          <p:nvPr/>
        </p:nvSpPr>
        <p:spPr>
          <a:xfrm>
            <a:off x="8773586" y="4401213"/>
            <a:ext cx="889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Gene </a:t>
            </a:r>
            <a:br>
              <a:rPr lang="en-US" sz="1500" dirty="0"/>
            </a:br>
            <a:r>
              <a:rPr lang="en-US" sz="1500" dirty="0"/>
              <a:t>5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6644660-26E4-FBA9-64C7-A4539E0C86BB}"/>
              </a:ext>
            </a:extLst>
          </p:cNvPr>
          <p:cNvCxnSpPr>
            <a:cxnSpLocks/>
          </p:cNvCxnSpPr>
          <p:nvPr/>
        </p:nvCxnSpPr>
        <p:spPr>
          <a:xfrm flipV="1">
            <a:off x="7514172" y="4933398"/>
            <a:ext cx="1088595" cy="112659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AFDE08B-4E79-77B2-F31A-11B91DB42572}"/>
              </a:ext>
            </a:extLst>
          </p:cNvPr>
          <p:cNvCxnSpPr>
            <a:cxnSpLocks/>
            <a:stCxn id="58" idx="0"/>
          </p:cNvCxnSpPr>
          <p:nvPr/>
        </p:nvCxnSpPr>
        <p:spPr>
          <a:xfrm flipH="1" flipV="1">
            <a:off x="9162362" y="4981373"/>
            <a:ext cx="1234079" cy="840203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52883E3-C1A6-EE65-5FC5-C3ACC5D109B8}"/>
              </a:ext>
            </a:extLst>
          </p:cNvPr>
          <p:cNvCxnSpPr>
            <a:cxnSpLocks/>
            <a:stCxn id="58" idx="0"/>
          </p:cNvCxnSpPr>
          <p:nvPr/>
        </p:nvCxnSpPr>
        <p:spPr>
          <a:xfrm flipH="1" flipV="1">
            <a:off x="8255683" y="4992158"/>
            <a:ext cx="2140758" cy="829418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90A5288-5D3A-7C17-9C72-E9E231B49675}"/>
              </a:ext>
            </a:extLst>
          </p:cNvPr>
          <p:cNvCxnSpPr>
            <a:cxnSpLocks/>
            <a:stCxn id="58" idx="0"/>
          </p:cNvCxnSpPr>
          <p:nvPr/>
        </p:nvCxnSpPr>
        <p:spPr>
          <a:xfrm flipH="1" flipV="1">
            <a:off x="7126066" y="4915289"/>
            <a:ext cx="3270375" cy="90628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631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Key idea: nonnegativity gives parts-based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1355608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1.  Gene expression counts </a:t>
            </a:r>
            <a:r>
              <a:rPr lang="en-US" sz="3000" b="1" i="0" dirty="0">
                <a:solidFill>
                  <a:srgbClr val="000000"/>
                </a:solidFill>
                <a:latin typeface="+mn-lt"/>
                <a:cs typeface="+mn-lt"/>
              </a:rPr>
              <a:t>Y 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are </a:t>
            </a:r>
            <a:r>
              <a:rPr lang="en-US" sz="3000" b="0" i="0" dirty="0">
                <a:solidFill>
                  <a:srgbClr val="FF0000"/>
                </a:solidFill>
                <a:latin typeface="+mn-lt"/>
                <a:cs typeface="+mn-lt"/>
              </a:rPr>
              <a:t>nonnegative</a:t>
            </a:r>
            <a:r>
              <a:rPr lang="en-US" sz="3000" dirty="0">
                <a:solidFill>
                  <a:srgbClr val="000000"/>
                </a:solidFill>
                <a:cs typeface="+mn-lt"/>
              </a:rPr>
              <a:t> (</a:t>
            </a:r>
            <a:r>
              <a:rPr lang="en-US" sz="3000" dirty="0" err="1">
                <a:solidFill>
                  <a:srgbClr val="000000"/>
                </a:solidFill>
                <a:cs typeface="+mn-lt"/>
              </a:rPr>
              <a:t>eg</a:t>
            </a:r>
            <a:r>
              <a:rPr lang="en-US" sz="3000" dirty="0">
                <a:solidFill>
                  <a:srgbClr val="000000"/>
                </a:solidFill>
                <a:cs typeface="+mn-lt"/>
              </a:rPr>
              <a:t> 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you cannot measure −3 transcripts)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2.  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If 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PCs (factors)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 and loadings are forced </a:t>
            </a:r>
            <a:r>
              <a:rPr sz="3000" b="0" i="0" dirty="0">
                <a:solidFill>
                  <a:srgbClr val="FF0000"/>
                </a:solidFill>
                <a:latin typeface="+mn-lt"/>
                <a:cs typeface="+mn-lt"/>
              </a:rPr>
              <a:t>≥ 0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, data can only be built by </a:t>
            </a:r>
            <a:r>
              <a:rPr sz="3000" b="0" i="1" dirty="0">
                <a:solidFill>
                  <a:srgbClr val="000000"/>
                </a:solidFill>
                <a:latin typeface="+mn-lt"/>
                <a:cs typeface="+mn-lt"/>
              </a:rPr>
              <a:t>adding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 parts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, not 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subtracting.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4787"/>
            <a:ext cx="107899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900" b="0" i="0">
                <a:solidFill>
                  <a:srgbClr val="000000"/>
                </a:solidFill>
                <a:latin typeface="+mn-lt"/>
                <a:cs typeface="+mn-lt"/>
              </a:rPr>
              <a:t>On faces, the parts are noses, eyes, mouths.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–"/>
            </a:pP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On single-cell data, the parts are </a:t>
            </a:r>
            <a:r>
              <a:rPr sz="1900" b="0" i="0" dirty="0">
                <a:solidFill>
                  <a:srgbClr val="FF0000"/>
                </a:solidFill>
                <a:latin typeface="+mn-lt"/>
                <a:cs typeface="+mn-lt"/>
              </a:rPr>
              <a:t>gene expression programs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 — and each cell is a nonnegative mixture of them: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080" y="9550668"/>
                <a:ext cx="10789920" cy="7315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b="0" i="0">
                          <a:latin typeface="Cambria Math" panose="02040503050406030204" pitchFamily="18" charset="0"/>
                        </a:rPr>
                        <m:t>cell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0.7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+ ⋯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9550668"/>
                <a:ext cx="10789920" cy="731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40080" y="1023646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1">
                <a:solidFill>
                  <a:srgbClr val="7F7F7F"/>
                </a:solidFill>
                <a:latin typeface="+mn-lt"/>
                <a:cs typeface="+mn-lt"/>
              </a:rPr>
              <a:t>(identity program A, cell-cycle program B, stress program C, …)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3141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Lee &amp; Seung, Nature 401:788–791 (1999).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84C6A2-F7DE-CE6E-4C3A-C4BA29C23155}"/>
              </a:ext>
            </a:extLst>
          </p:cNvPr>
          <p:cNvSpPr/>
          <p:nvPr/>
        </p:nvSpPr>
        <p:spPr>
          <a:xfrm>
            <a:off x="3554226" y="4059695"/>
            <a:ext cx="1737360" cy="224028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AB20D1-9B0B-54C0-1633-68736AAC99D9}"/>
              </a:ext>
            </a:extLst>
          </p:cNvPr>
          <p:cNvSpPr/>
          <p:nvPr/>
        </p:nvSpPr>
        <p:spPr>
          <a:xfrm>
            <a:off x="3789722" y="4729594"/>
            <a:ext cx="1266367" cy="9004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3000" b="0" dirty="0">
                <a:solidFill>
                  <a:srgbClr val="000000"/>
                </a:solidFill>
                <a:latin typeface="Cambria Math"/>
                <a:cs typeface="Cambria Math"/>
              </a:rPr>
              <a:t>Y</a:t>
            </a:r>
            <a:endParaRPr lang="en-US" sz="3000" b="0" dirty="0">
              <a:solidFill>
                <a:srgbClr val="000000"/>
              </a:solidFill>
              <a:latin typeface="Cambria Math"/>
              <a:cs typeface="Cambria Math"/>
            </a:endParaRPr>
          </a:p>
          <a:p>
            <a:pPr algn="ctr"/>
            <a:r>
              <a:rPr lang="en-US" sz="1500" b="0" dirty="0">
                <a:solidFill>
                  <a:srgbClr val="FF0000"/>
                </a:solidFill>
                <a:latin typeface="Cambria Math"/>
                <a:cs typeface="Cambria Math"/>
              </a:rPr>
              <a:t>Always nonnegative</a:t>
            </a:r>
            <a:endParaRPr sz="1500" b="0" dirty="0">
              <a:solidFill>
                <a:srgbClr val="FF0000"/>
              </a:solidFill>
              <a:latin typeface="Cambria Math"/>
              <a:cs typeface="Cambria Math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AA71D8-F469-5F4A-0AEB-15171EC728BB}"/>
              </a:ext>
            </a:extLst>
          </p:cNvPr>
          <p:cNvSpPr txBox="1"/>
          <p:nvPr/>
        </p:nvSpPr>
        <p:spPr>
          <a:xfrm>
            <a:off x="5328162" y="4887227"/>
            <a:ext cx="4572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800" b="0" i="0">
                <a:solidFill>
                  <a:srgbClr val="000000"/>
                </a:solidFill>
                <a:latin typeface="Cambria Math"/>
                <a:cs typeface="Cambria Math"/>
              </a:rPr>
              <a:t>≈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8035B6-1381-937F-FE3A-BF5D34ED14AB}"/>
              </a:ext>
            </a:extLst>
          </p:cNvPr>
          <p:cNvSpPr/>
          <p:nvPr/>
        </p:nvSpPr>
        <p:spPr>
          <a:xfrm>
            <a:off x="5821938" y="4059695"/>
            <a:ext cx="914400" cy="224028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9">
            <a:extLst>
              <a:ext uri="{FF2B5EF4-FFF2-40B4-BE49-F238E27FC236}">
                <a16:creationId xmlns:a16="http://schemas.microsoft.com/office/drawing/2014/main" id="{4BEEC6C4-AE9C-CAB9-7E1F-BD4F0AA6DA8F}"/>
              </a:ext>
            </a:extLst>
          </p:cNvPr>
          <p:cNvCxnSpPr/>
          <p:nvPr/>
        </p:nvCxnSpPr>
        <p:spPr>
          <a:xfrm>
            <a:off x="6050538" y="4059695"/>
            <a:ext cx="0" cy="224028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0">
            <a:extLst>
              <a:ext uri="{FF2B5EF4-FFF2-40B4-BE49-F238E27FC236}">
                <a16:creationId xmlns:a16="http://schemas.microsoft.com/office/drawing/2014/main" id="{C59C17A1-D6AC-0CF5-F4E5-186171388811}"/>
              </a:ext>
            </a:extLst>
          </p:cNvPr>
          <p:cNvCxnSpPr/>
          <p:nvPr/>
        </p:nvCxnSpPr>
        <p:spPr>
          <a:xfrm>
            <a:off x="6279138" y="4059695"/>
            <a:ext cx="0" cy="224028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1">
            <a:extLst>
              <a:ext uri="{FF2B5EF4-FFF2-40B4-BE49-F238E27FC236}">
                <a16:creationId xmlns:a16="http://schemas.microsoft.com/office/drawing/2014/main" id="{96B6F4A3-1976-73E4-F014-F423E2E2637B}"/>
              </a:ext>
            </a:extLst>
          </p:cNvPr>
          <p:cNvCxnSpPr/>
          <p:nvPr/>
        </p:nvCxnSpPr>
        <p:spPr>
          <a:xfrm>
            <a:off x="6507738" y="4059695"/>
            <a:ext cx="0" cy="224028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C02E593-34A3-6746-0630-716FE6C8F511}"/>
              </a:ext>
            </a:extLst>
          </p:cNvPr>
          <p:cNvSpPr/>
          <p:nvPr/>
        </p:nvSpPr>
        <p:spPr>
          <a:xfrm>
            <a:off x="6882642" y="4059695"/>
            <a:ext cx="1737360" cy="91440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4">
            <a:extLst>
              <a:ext uri="{FF2B5EF4-FFF2-40B4-BE49-F238E27FC236}">
                <a16:creationId xmlns:a16="http://schemas.microsoft.com/office/drawing/2014/main" id="{EFAB1738-E7EA-19E9-B189-6F8AB9EBBF62}"/>
              </a:ext>
            </a:extLst>
          </p:cNvPr>
          <p:cNvCxnSpPr/>
          <p:nvPr/>
        </p:nvCxnSpPr>
        <p:spPr>
          <a:xfrm>
            <a:off x="6882642" y="4288295"/>
            <a:ext cx="1737360" cy="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5">
            <a:extLst>
              <a:ext uri="{FF2B5EF4-FFF2-40B4-BE49-F238E27FC236}">
                <a16:creationId xmlns:a16="http://schemas.microsoft.com/office/drawing/2014/main" id="{0DD11A8B-6E59-1097-7CCD-03841613A48F}"/>
              </a:ext>
            </a:extLst>
          </p:cNvPr>
          <p:cNvCxnSpPr/>
          <p:nvPr/>
        </p:nvCxnSpPr>
        <p:spPr>
          <a:xfrm>
            <a:off x="6882642" y="4516895"/>
            <a:ext cx="1737360" cy="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16">
            <a:extLst>
              <a:ext uri="{FF2B5EF4-FFF2-40B4-BE49-F238E27FC236}">
                <a16:creationId xmlns:a16="http://schemas.microsoft.com/office/drawing/2014/main" id="{BEE1AC07-9B73-2D6E-CE2E-974DACCFADA9}"/>
              </a:ext>
            </a:extLst>
          </p:cNvPr>
          <p:cNvCxnSpPr/>
          <p:nvPr/>
        </p:nvCxnSpPr>
        <p:spPr>
          <a:xfrm>
            <a:off x="6882642" y="4745495"/>
            <a:ext cx="1737360" cy="0"/>
          </a:xfrm>
          <a:prstGeom prst="line">
            <a:avLst/>
          </a:prstGeom>
          <a:ln w="95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CE13D02-E04B-F9C7-1ADA-97867CE873B0}"/>
              </a:ext>
            </a:extLst>
          </p:cNvPr>
          <p:cNvSpPr txBox="1"/>
          <p:nvPr/>
        </p:nvSpPr>
        <p:spPr>
          <a:xfrm>
            <a:off x="3554226" y="6354839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dirty="0">
                <a:solidFill>
                  <a:srgbClr val="000000"/>
                </a:solidFill>
                <a:latin typeface="+mn-lt"/>
                <a:cs typeface="+mn-lt"/>
              </a:rPr>
              <a:t>Y  (genes × cells)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15F0EE-658E-F861-B474-B3BA39D0206D}"/>
              </a:ext>
            </a:extLst>
          </p:cNvPr>
          <p:cNvSpPr txBox="1"/>
          <p:nvPr/>
        </p:nvSpPr>
        <p:spPr>
          <a:xfrm>
            <a:off x="640080" y="7287527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1">
                <a:solidFill>
                  <a:srgbClr val="FF0000"/>
                </a:solidFill>
                <a:latin typeface="+mn-lt"/>
                <a:cs typeface="+mn-lt"/>
              </a:rPr>
              <a:t>W</a:t>
            </a:r>
            <a:r>
              <a:rPr sz="1700" b="0" i="0">
                <a:solidFill>
                  <a:srgbClr val="000000"/>
                </a:solidFill>
                <a:latin typeface="+mn-lt"/>
                <a:cs typeface="+mn-lt"/>
              </a:rPr>
              <a:t> = program definitions (gene loadings).   </a:t>
            </a:r>
            <a:r>
              <a:rPr sz="1800" b="0" i="1">
                <a:solidFill>
                  <a:srgbClr val="FF0000"/>
                </a:solidFill>
                <a:latin typeface="+mn-lt"/>
                <a:cs typeface="+mn-lt"/>
              </a:rPr>
              <a:t>H</a:t>
            </a:r>
            <a:r>
              <a:rPr sz="1700" b="0" i="0">
                <a:solidFill>
                  <a:srgbClr val="000000"/>
                </a:solidFill>
                <a:latin typeface="+mn-lt"/>
                <a:cs typeface="+mn-lt"/>
              </a:rPr>
              <a:t> = program usages per cell.   </a:t>
            </a:r>
            <a:r>
              <a:rPr sz="1800" b="0" i="1">
                <a:solidFill>
                  <a:srgbClr val="000000"/>
                </a:solidFill>
                <a:latin typeface="+mn-lt"/>
                <a:cs typeface="+mn-lt"/>
              </a:rPr>
              <a:t>K</a:t>
            </a:r>
            <a:r>
              <a:rPr sz="1700" b="0" i="0">
                <a:solidFill>
                  <a:srgbClr val="000000"/>
                </a:solidFill>
                <a:latin typeface="+mn-lt"/>
                <a:cs typeface="+mn-lt"/>
              </a:rPr>
              <a:t> = number of programs.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924276-18E0-2C4E-DEBD-CC58537A4E60}"/>
              </a:ext>
            </a:extLst>
          </p:cNvPr>
          <p:cNvCxnSpPr>
            <a:cxnSpLocks/>
          </p:cNvCxnSpPr>
          <p:nvPr/>
        </p:nvCxnSpPr>
        <p:spPr>
          <a:xfrm flipH="1" flipV="1">
            <a:off x="6873497" y="5874462"/>
            <a:ext cx="2235631" cy="59146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524D5FD-5AFF-104D-13D3-51D348E1AAB3}"/>
              </a:ext>
            </a:extLst>
          </p:cNvPr>
          <p:cNvCxnSpPr>
            <a:cxnSpLocks/>
          </p:cNvCxnSpPr>
          <p:nvPr/>
        </p:nvCxnSpPr>
        <p:spPr>
          <a:xfrm flipH="1" flipV="1">
            <a:off x="8420744" y="5204234"/>
            <a:ext cx="1017724" cy="11305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799F90C-4303-DA66-E774-A281922CDDD8}"/>
              </a:ext>
            </a:extLst>
          </p:cNvPr>
          <p:cNvSpPr txBox="1"/>
          <p:nvPr/>
        </p:nvSpPr>
        <p:spPr>
          <a:xfrm>
            <a:off x="9246287" y="6369554"/>
            <a:ext cx="2833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Restrict to be nonnegative!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Nonnegative matrix factorization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 (NMF)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5503" y="1309878"/>
            <a:ext cx="11551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Given nonnegative data </a:t>
            </a:r>
            <a:r>
              <a:rPr sz="3000" b="0" i="1" dirty="0">
                <a:solidFill>
                  <a:srgbClr val="000000"/>
                </a:solidFill>
                <a:latin typeface="+mn-lt"/>
                <a:cs typeface="+mn-lt"/>
              </a:rPr>
              <a:t>Y ≥ 0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 (genes × cells), find </a:t>
            </a:r>
            <a:r>
              <a:rPr sz="3000" b="0" i="1" dirty="0">
                <a:solidFill>
                  <a:srgbClr val="FF0000"/>
                </a:solidFill>
                <a:latin typeface="+mn-lt"/>
                <a:cs typeface="+mn-lt"/>
              </a:rPr>
              <a:t>W ≥ 0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 and </a:t>
            </a:r>
            <a:r>
              <a:rPr sz="3000" b="0" i="1" dirty="0">
                <a:solidFill>
                  <a:srgbClr val="FF0000"/>
                </a:solidFill>
                <a:latin typeface="+mn-lt"/>
                <a:cs typeface="+mn-lt"/>
              </a:rPr>
              <a:t>H ≥ 0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 with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68115EB-DB2C-FADF-12E3-0849650B4B78}"/>
              </a:ext>
            </a:extLst>
          </p:cNvPr>
          <p:cNvGrpSpPr/>
          <p:nvPr/>
        </p:nvGrpSpPr>
        <p:grpSpPr>
          <a:xfrm>
            <a:off x="3321752" y="3799332"/>
            <a:ext cx="5065776" cy="2606040"/>
            <a:chOff x="3538728" y="2926080"/>
            <a:chExt cx="5065776" cy="2606040"/>
          </a:xfrm>
        </p:grpSpPr>
        <p:sp>
          <p:nvSpPr>
            <p:cNvPr id="6" name="Rectangle 5"/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3000" b="0" i="1">
                  <a:solidFill>
                    <a:srgbClr val="000000"/>
                  </a:solidFill>
                  <a:latin typeface="Cambria Math"/>
                  <a:cs typeface="Cambria Math"/>
                </a:rPr>
                <a:t>Y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312664" y="3753612"/>
              <a:ext cx="457200" cy="5852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800" b="0" i="0">
                  <a:solidFill>
                    <a:srgbClr val="000000"/>
                  </a:solidFill>
                  <a:latin typeface="Cambria Math"/>
                  <a:cs typeface="Cambria Math"/>
                </a:rPr>
                <a:t>≈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60350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2636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4922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600" b="0" i="1">
                  <a:solidFill>
                    <a:srgbClr val="000000"/>
                  </a:solidFill>
                  <a:latin typeface="Cambria Math"/>
                  <a:cs typeface="Cambria Math"/>
                </a:rPr>
                <a:t>W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6867144" y="31546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6867144" y="33832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6867144" y="36118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600" b="0" i="1">
                  <a:solidFill>
                    <a:srgbClr val="000000"/>
                  </a:solidFill>
                  <a:latin typeface="Cambria Math"/>
                  <a:cs typeface="Cambria Math"/>
                </a:rPr>
                <a:t>H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538728" y="522122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Y  (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cells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 × 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genes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669279" y="5221224"/>
              <a:ext cx="118872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W  (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N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 × K)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867144" y="389534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H  (K × 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G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655320" y="7370064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1" dirty="0">
                <a:solidFill>
                  <a:srgbClr val="FF0000"/>
                </a:solidFill>
                <a:latin typeface="+mn-lt"/>
                <a:cs typeface="+mn-lt"/>
              </a:rPr>
              <a:t>W</a:t>
            </a:r>
            <a:r>
              <a:rPr sz="1700" b="0" i="0" dirty="0">
                <a:solidFill>
                  <a:srgbClr val="000000"/>
                </a:solidFill>
                <a:latin typeface="+mn-lt"/>
                <a:cs typeface="+mn-lt"/>
              </a:rPr>
              <a:t> = program definitions (gene loadings).   </a:t>
            </a:r>
            <a:r>
              <a:rPr sz="1800" b="0" i="1" dirty="0">
                <a:solidFill>
                  <a:srgbClr val="FF0000"/>
                </a:solidFill>
                <a:latin typeface="+mn-lt"/>
                <a:cs typeface="+mn-lt"/>
              </a:rPr>
              <a:t>H</a:t>
            </a:r>
            <a:r>
              <a:rPr sz="1700" b="0" i="0" dirty="0">
                <a:solidFill>
                  <a:srgbClr val="000000"/>
                </a:solidFill>
                <a:latin typeface="+mn-lt"/>
                <a:cs typeface="+mn-lt"/>
              </a:rPr>
              <a:t> = program usages per cell.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DE301C1-4C8D-1280-528B-E4677FA2497B}"/>
                  </a:ext>
                </a:extLst>
              </p:cNvPr>
              <p:cNvSpPr txBox="1"/>
              <p:nvPr/>
            </p:nvSpPr>
            <p:spPr>
              <a:xfrm>
                <a:off x="655320" y="1965960"/>
                <a:ext cx="1088136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US" sz="3000" b="0" i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000" b="0" i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3000" b="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𝑊𝐻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000" b="0" i="1">
                          <a:latin typeface="Cambria Math" panose="02040503050406030204" pitchFamily="18" charset="0"/>
                        </a:rPr>
                        <m:t>= 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3000" b="0" i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000" b="0" i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3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3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000" b="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3000" b="0" i="0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  <m:r>
                                    <a:rPr lang="en-US" sz="3000" b="0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en-US" sz="3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30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3000" b="0" i="1">
                                              <a:latin typeface="Cambria Math" panose="02040503050406030204" pitchFamily="18" charset="0"/>
                                            </a:rPr>
                                            <m:t>𝑊𝐻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3000" b="0" i="0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3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DE301C1-4C8D-1280-528B-E4677FA24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" y="1965960"/>
                <a:ext cx="10881360" cy="868680"/>
              </a:xfrm>
              <a:prstGeom prst="rect">
                <a:avLst/>
              </a:prstGeom>
              <a:blipFill>
                <a:blip r:embed="rId2"/>
                <a:stretch>
                  <a:fillRect t="-201449" b="-27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F0201B-F357-26D7-9B7A-08936E261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529"/>
            <a:ext cx="7772400" cy="2242782"/>
          </a:xfrm>
          <a:prstGeom prst="rect">
            <a:avLst/>
          </a:prstGeom>
        </p:spPr>
      </p:pic>
      <p:pic>
        <p:nvPicPr>
          <p:cNvPr id="2" name="Picture 1" descr="Figure 1: Non-negative matrix factorization (NMF) learns a parts-based representation of faces, whereas vector quantization (VQ) and principal components analysis (PCA) learn holistic representations.">
            <a:extLst>
              <a:ext uri="{FF2B5EF4-FFF2-40B4-BE49-F238E27FC236}">
                <a16:creationId xmlns:a16="http://schemas.microsoft.com/office/drawing/2014/main" id="{DC2438A1-5168-D851-0B0C-7CBF18BA63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598"/>
          <a:stretch>
            <a:fillRect/>
          </a:stretch>
        </p:blipFill>
        <p:spPr>
          <a:xfrm>
            <a:off x="6324448" y="2893173"/>
            <a:ext cx="5867552" cy="3275151"/>
          </a:xfrm>
          <a:prstGeom prst="rect">
            <a:avLst/>
          </a:prstGeom>
        </p:spPr>
      </p:pic>
      <p:pic>
        <p:nvPicPr>
          <p:cNvPr id="3" name="Picture 2" descr="Figure 1: Non-negative matrix factorization (NMF) learns a parts-based representation of faces, whereas vector quantization (VQ) and principal components analysis (PCA) learn holistic representations.">
            <a:extLst>
              <a:ext uri="{FF2B5EF4-FFF2-40B4-BE49-F238E27FC236}">
                <a16:creationId xmlns:a16="http://schemas.microsoft.com/office/drawing/2014/main" id="{382719FC-C44C-906A-066B-6ED2106741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667"/>
          <a:stretch>
            <a:fillRect/>
          </a:stretch>
        </p:blipFill>
        <p:spPr>
          <a:xfrm>
            <a:off x="165642" y="3159408"/>
            <a:ext cx="5930358" cy="2742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8FAAED-3D19-FDE3-2070-651427AFF1AD}"/>
              </a:ext>
            </a:extLst>
          </p:cNvPr>
          <p:cNvSpPr txBox="1"/>
          <p:nvPr/>
        </p:nvSpPr>
        <p:spPr>
          <a:xfrm>
            <a:off x="8989017" y="6370805"/>
            <a:ext cx="3041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Lee and Seung (Nature 1999)</a:t>
            </a:r>
          </a:p>
        </p:txBody>
      </p:sp>
    </p:spTree>
    <p:extLst>
      <p:ext uri="{BB962C8B-B14F-4D97-AF65-F5344CB8AC3E}">
        <p14:creationId xmlns:p14="http://schemas.microsoft.com/office/powerpoint/2010/main" val="1042591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7A2ADF-D720-C8AD-F8AC-DFC59846D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20" b="10631"/>
          <a:stretch>
            <a:fillRect/>
          </a:stretch>
        </p:blipFill>
        <p:spPr>
          <a:xfrm>
            <a:off x="148847" y="156352"/>
            <a:ext cx="10717535" cy="67016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96C08D-2E3A-6E93-3FB7-4C6740CC2719}"/>
              </a:ext>
            </a:extLst>
          </p:cNvPr>
          <p:cNvSpPr txBox="1"/>
          <p:nvPr/>
        </p:nvSpPr>
        <p:spPr>
          <a:xfrm>
            <a:off x="6096000" y="6581001"/>
            <a:ext cx="6097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Slide from </a:t>
            </a:r>
            <a:r>
              <a:rPr lang="en-US" sz="12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https://perso.telecom-paristech.fr/rioul/liesse/2015telecomups/SE-slides.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pdf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1037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3D7D5F-670A-7DCC-EF89-37B1CAF09D3D}"/>
              </a:ext>
            </a:extLst>
          </p:cNvPr>
          <p:cNvSpPr txBox="1"/>
          <p:nvPr/>
        </p:nvSpPr>
        <p:spPr>
          <a:xfrm>
            <a:off x="174003" y="321830"/>
            <a:ext cx="73133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NMF used in many fields (pre-AI)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1567D-2E05-27F8-EF5C-A081D68CBA49}"/>
              </a:ext>
            </a:extLst>
          </p:cNvPr>
          <p:cNvSpPr txBox="1"/>
          <p:nvPr/>
        </p:nvSpPr>
        <p:spPr>
          <a:xfrm>
            <a:off x="1677973" y="1602961"/>
            <a:ext cx="25837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u="sng" dirty="0"/>
              <a:t>Audio analysis</a:t>
            </a:r>
          </a:p>
        </p:txBody>
      </p:sp>
      <p:pic>
        <p:nvPicPr>
          <p:cNvPr id="4" name="Picture 3" descr="FMP_C8_F20b">
            <a:extLst>
              <a:ext uri="{FF2B5EF4-FFF2-40B4-BE49-F238E27FC236}">
                <a16:creationId xmlns:a16="http://schemas.microsoft.com/office/drawing/2014/main" id="{62CD9CF2-9E27-7568-1E82-703E1DFE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3" y="2464853"/>
            <a:ext cx="5755742" cy="1970838"/>
          </a:xfrm>
          <a:prstGeom prst="rect">
            <a:avLst/>
          </a:prstGeom>
        </p:spPr>
      </p:pic>
      <p:pic>
        <p:nvPicPr>
          <p:cNvPr id="5" name="Picture 4" descr="FMP_C8_F21c-e">
            <a:extLst>
              <a:ext uri="{FF2B5EF4-FFF2-40B4-BE49-F238E27FC236}">
                <a16:creationId xmlns:a16="http://schemas.microsoft.com/office/drawing/2014/main" id="{A748CBF8-C3C3-BA18-8EFE-CBC4D04D5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03" y="4743585"/>
            <a:ext cx="6229366" cy="1792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C7931A-578E-702C-1265-7DD8252C29AA}"/>
              </a:ext>
            </a:extLst>
          </p:cNvPr>
          <p:cNvSpPr txBox="1"/>
          <p:nvPr/>
        </p:nvSpPr>
        <p:spPr>
          <a:xfrm>
            <a:off x="8217318" y="1598703"/>
            <a:ext cx="268503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u="sng" dirty="0"/>
              <a:t>Topic modeling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5702C-A3AB-A581-53B5-2C95337FCD84}"/>
              </a:ext>
            </a:extLst>
          </p:cNvPr>
          <p:cNvSpPr txBox="1"/>
          <p:nvPr/>
        </p:nvSpPr>
        <p:spPr>
          <a:xfrm>
            <a:off x="30470" y="6567065"/>
            <a:ext cx="60428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From </a:t>
            </a:r>
            <a:r>
              <a:rPr lang="en-US" sz="1200" dirty="0">
                <a:solidFill>
                  <a:srgbClr val="46788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https://www.audiolabs-erlangen.de/resources/MIR/FMP/C8/C8S3_NMFbasic.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html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  <p:pic>
        <p:nvPicPr>
          <p:cNvPr id="8" name="Picture 7" descr="Understanding NMF for Simple Topic Modelling | by Sophia Sacatani | Medium">
            <a:extLst>
              <a:ext uri="{FF2B5EF4-FFF2-40B4-BE49-F238E27FC236}">
                <a16:creationId xmlns:a16="http://schemas.microsoft.com/office/drawing/2014/main" id="{13E420F0-71FC-0339-6EB6-7BB16F57F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174" y="2811813"/>
            <a:ext cx="5231823" cy="26514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0303EE-E322-96A1-3003-F0A4810EAE43}"/>
              </a:ext>
            </a:extLst>
          </p:cNvPr>
          <p:cNvSpPr txBox="1"/>
          <p:nvPr/>
        </p:nvSpPr>
        <p:spPr>
          <a:xfrm>
            <a:off x="7370618" y="6382480"/>
            <a:ext cx="4647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From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hlinkClick r:id="rId6"/>
              </a:rPr>
              <a:t>https://medium.com/@sophiamsac/understanding-nmf-for-simple-topic-modelling-b3d7bc4f3fc2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0376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>
                <a:solidFill>
                  <a:srgbClr val="000000"/>
                </a:solidFill>
                <a:latin typeface="+mj-lt"/>
                <a:cs typeface="+mj-lt"/>
              </a:rPr>
              <a:t>What W and H mean in single-cell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6547" y="4896612"/>
            <a:ext cx="5212080" cy="3017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1" i="0" dirty="0">
                <a:solidFill>
                  <a:srgbClr val="FF0000"/>
                </a:solidFill>
                <a:latin typeface="+mn-lt"/>
                <a:cs typeface="+mn-lt"/>
              </a:rPr>
              <a:t>W —</a:t>
            </a:r>
            <a:r>
              <a:rPr lang="en-US" sz="2000" b="1" i="0" dirty="0">
                <a:solidFill>
                  <a:srgbClr val="FF0000"/>
                </a:solidFill>
                <a:latin typeface="+mn-lt"/>
                <a:cs typeface="+mn-lt"/>
              </a:rPr>
              <a:t> program usages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lang="en-US" sz="1800" b="0" i="0" dirty="0">
                <a:solidFill>
                  <a:srgbClr val="000000"/>
                </a:solidFill>
                <a:latin typeface="+mn-lt"/>
                <a:cs typeface="+mn-lt"/>
              </a:rPr>
              <a:t>Non-negative values in a column indicate related genes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lang="en-US" b="1" u="sng" dirty="0">
                <a:solidFill>
                  <a:srgbClr val="000000"/>
                </a:solidFill>
                <a:cs typeface="+mn-lt"/>
              </a:rPr>
              <a:t>Related genes sometimes called “gene programs”, “metagenes”, …</a:t>
            </a:r>
            <a:endParaRPr lang="en-US" sz="1800" b="1" i="0" u="sng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61454" y="4983480"/>
            <a:ext cx="5486400" cy="3017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700"/>
              </a:spcAft>
            </a:pPr>
            <a:r>
              <a:rPr sz="2000" b="1" i="0" dirty="0">
                <a:solidFill>
                  <a:srgbClr val="FF0000"/>
                </a:solidFill>
                <a:latin typeface="+mn-lt"/>
                <a:cs typeface="+mn-lt"/>
              </a:rPr>
              <a:t>H — </a:t>
            </a:r>
            <a:r>
              <a:rPr lang="en-US" sz="2000" b="1" dirty="0">
                <a:solidFill>
                  <a:srgbClr val="FF0000"/>
                </a:solidFill>
                <a:cs typeface="+mn-lt"/>
              </a:rPr>
              <a:t>"gene programs" / “metagenes"</a:t>
            </a:r>
            <a:endParaRPr sz="2000" b="1" i="0" dirty="0">
              <a:solidFill>
                <a:srgbClr val="FF0000"/>
              </a:solidFill>
              <a:latin typeface="+mn-lt"/>
              <a:cs typeface="+mn-lt"/>
            </a:endParaRP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Each cell’s column = how much of each program it expresses.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Usages are soft and additive — a cell can use several programs at once.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B36067-DC6C-2AD7-C90C-9A7472FDD4FB}"/>
              </a:ext>
            </a:extLst>
          </p:cNvPr>
          <p:cNvGrpSpPr/>
          <p:nvPr/>
        </p:nvGrpSpPr>
        <p:grpSpPr>
          <a:xfrm>
            <a:off x="3210915" y="1188720"/>
            <a:ext cx="5065776" cy="3154680"/>
            <a:chOff x="3538728" y="2926080"/>
            <a:chExt cx="5065776" cy="315468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16E34F-E83A-3ECD-9889-AF42DFA45506}"/>
                </a:ext>
              </a:extLst>
            </p:cNvPr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39A24D-A5CD-DD49-30B2-69964FB9BD54}"/>
                </a:ext>
              </a:extLst>
            </p:cNvPr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3000" b="0" i="1">
                  <a:solidFill>
                    <a:srgbClr val="000000"/>
                  </a:solidFill>
                  <a:latin typeface="Cambria Math"/>
                  <a:cs typeface="Cambria Math"/>
                </a:rPr>
                <a:t>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FA9C12A-DEFB-CA4C-2F6A-8B8BE4D7718D}"/>
                </a:ext>
              </a:extLst>
            </p:cNvPr>
            <p:cNvSpPr txBox="1"/>
            <p:nvPr/>
          </p:nvSpPr>
          <p:spPr>
            <a:xfrm>
              <a:off x="5312664" y="3753612"/>
              <a:ext cx="457200" cy="5852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800" b="0" i="0">
                  <a:solidFill>
                    <a:srgbClr val="000000"/>
                  </a:solidFill>
                  <a:latin typeface="Cambria Math"/>
                  <a:cs typeface="Cambria Math"/>
                </a:rPr>
                <a:t>≈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553FF1E-0A0C-935F-8435-B57FC050E290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2" name="Connector 9">
              <a:extLst>
                <a:ext uri="{FF2B5EF4-FFF2-40B4-BE49-F238E27FC236}">
                  <a16:creationId xmlns:a16="http://schemas.microsoft.com/office/drawing/2014/main" id="{8D8C9C5E-97D2-9799-FF8E-7DB00A310B7A}"/>
                </a:ext>
              </a:extLst>
            </p:cNvPr>
            <p:cNvCxnSpPr/>
            <p:nvPr/>
          </p:nvCxnSpPr>
          <p:spPr>
            <a:xfrm>
              <a:off x="60350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0">
              <a:extLst>
                <a:ext uri="{FF2B5EF4-FFF2-40B4-BE49-F238E27FC236}">
                  <a16:creationId xmlns:a16="http://schemas.microsoft.com/office/drawing/2014/main" id="{8B9E5376-C2E6-8C28-76BA-F25FBFA37F02}"/>
                </a:ext>
              </a:extLst>
            </p:cNvPr>
            <p:cNvCxnSpPr/>
            <p:nvPr/>
          </p:nvCxnSpPr>
          <p:spPr>
            <a:xfrm>
              <a:off x="62636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1">
              <a:extLst>
                <a:ext uri="{FF2B5EF4-FFF2-40B4-BE49-F238E27FC236}">
                  <a16:creationId xmlns:a16="http://schemas.microsoft.com/office/drawing/2014/main" id="{96FFBAB4-6451-4E51-795B-86AF1FACE8E0}"/>
                </a:ext>
              </a:extLst>
            </p:cNvPr>
            <p:cNvCxnSpPr/>
            <p:nvPr/>
          </p:nvCxnSpPr>
          <p:spPr>
            <a:xfrm>
              <a:off x="64922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DE3277-0197-D3A7-E55F-2697D278571F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600" b="0" i="1">
                  <a:solidFill>
                    <a:srgbClr val="000000"/>
                  </a:solidFill>
                  <a:latin typeface="Cambria Math"/>
                  <a:cs typeface="Cambria Math"/>
                </a:rPr>
                <a:t>W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D54F043-0871-ECF2-5459-25B7825FD58C}"/>
                </a:ext>
              </a:extLst>
            </p:cNvPr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7" name="Connector 14">
              <a:extLst>
                <a:ext uri="{FF2B5EF4-FFF2-40B4-BE49-F238E27FC236}">
                  <a16:creationId xmlns:a16="http://schemas.microsoft.com/office/drawing/2014/main" id="{1F5B3CBA-3A11-0FC2-C1A7-A0D28EF7F0BF}"/>
                </a:ext>
              </a:extLst>
            </p:cNvPr>
            <p:cNvCxnSpPr/>
            <p:nvPr/>
          </p:nvCxnSpPr>
          <p:spPr>
            <a:xfrm>
              <a:off x="6867144" y="31546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5">
              <a:extLst>
                <a:ext uri="{FF2B5EF4-FFF2-40B4-BE49-F238E27FC236}">
                  <a16:creationId xmlns:a16="http://schemas.microsoft.com/office/drawing/2014/main" id="{6BD4BBA0-84EC-4AEE-4AEA-8BE3E1E75C62}"/>
                </a:ext>
              </a:extLst>
            </p:cNvPr>
            <p:cNvCxnSpPr/>
            <p:nvPr/>
          </p:nvCxnSpPr>
          <p:spPr>
            <a:xfrm>
              <a:off x="6867144" y="33832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6">
              <a:extLst>
                <a:ext uri="{FF2B5EF4-FFF2-40B4-BE49-F238E27FC236}">
                  <a16:creationId xmlns:a16="http://schemas.microsoft.com/office/drawing/2014/main" id="{C8684F01-A018-E0BF-369E-AF112F50608D}"/>
                </a:ext>
              </a:extLst>
            </p:cNvPr>
            <p:cNvCxnSpPr/>
            <p:nvPr/>
          </p:nvCxnSpPr>
          <p:spPr>
            <a:xfrm>
              <a:off x="6867144" y="36118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586B53F-F7E3-325F-4BEF-61B61F800F54}"/>
                </a:ext>
              </a:extLst>
            </p:cNvPr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600" b="0" i="1">
                  <a:solidFill>
                    <a:srgbClr val="000000"/>
                  </a:solidFill>
                  <a:latin typeface="Cambria Math"/>
                  <a:cs typeface="Cambria Math"/>
                </a:rPr>
                <a:t>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B0E28E4-4137-1681-CC0D-2180B45F32F9}"/>
                </a:ext>
              </a:extLst>
            </p:cNvPr>
            <p:cNvSpPr txBox="1"/>
            <p:nvPr/>
          </p:nvSpPr>
          <p:spPr>
            <a:xfrm>
              <a:off x="3538728" y="5221224"/>
              <a:ext cx="1737360" cy="8595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Y  (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N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 × 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G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EEBE1C4-901E-68AE-DDF8-DD07DE015E8F}"/>
                </a:ext>
              </a:extLst>
            </p:cNvPr>
            <p:cNvSpPr txBox="1"/>
            <p:nvPr/>
          </p:nvSpPr>
          <p:spPr>
            <a:xfrm>
              <a:off x="5669279" y="5221224"/>
              <a:ext cx="118872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W  (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N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 × K)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9733DD6-DF81-5248-2E36-AE98267585B6}"/>
                </a:ext>
              </a:extLst>
            </p:cNvPr>
            <p:cNvSpPr txBox="1"/>
            <p:nvPr/>
          </p:nvSpPr>
          <p:spPr>
            <a:xfrm>
              <a:off x="6867144" y="389534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H  (K × 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G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>
                <a:solidFill>
                  <a:srgbClr val="000000"/>
                </a:solidFill>
                <a:latin typeface="+mj-lt"/>
                <a:cs typeface="+mj-lt"/>
              </a:rPr>
              <a:t>NMF vs. 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554480"/>
            <a:ext cx="25968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47872" y="1554480"/>
            <a:ext cx="4059935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+mn-lt"/>
                <a:cs typeface="+mn-lt"/>
              </a:rPr>
              <a:t>PCA / SVD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54111" y="1554480"/>
            <a:ext cx="35112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1" i="0">
                <a:solidFill>
                  <a:srgbClr val="000000"/>
                </a:solidFill>
                <a:latin typeface="+mn-lt"/>
                <a:cs typeface="+mn-lt"/>
              </a:rPr>
              <a:t>NMF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157984"/>
            <a:ext cx="10607040" cy="0"/>
          </a:xfrm>
          <a:prstGeom prst="line">
            <a:avLst/>
          </a:prstGeom>
          <a:ln w="19050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04672" y="2157984"/>
            <a:ext cx="25968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2157984"/>
            <a:ext cx="4059935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orthogonal, signed (±)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1" y="2157984"/>
            <a:ext cx="35112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nonnegative (≥ 0)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2761488"/>
            <a:ext cx="1060704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2" y="2761488"/>
            <a:ext cx="25968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factors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761488"/>
            <a:ext cx="4059935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directions of max 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1" y="2761488"/>
            <a:ext cx="35112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additive parts / programs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364992"/>
            <a:ext cx="1060704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4672" y="3364991"/>
            <a:ext cx="25968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combination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364991"/>
            <a:ext cx="4059935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add and subtract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1" y="3364991"/>
            <a:ext cx="35112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add only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3968496"/>
            <a:ext cx="1060704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4672" y="3968496"/>
            <a:ext cx="25968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968496"/>
            <a:ext cx="4059935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unique, closed-form (SVD)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1" y="3968496"/>
            <a:ext cx="35112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non-unique, iterative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4572000"/>
            <a:ext cx="1060704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4672" y="4572000"/>
            <a:ext cx="25968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interpretability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572000"/>
            <a:ext cx="4059935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often hard (cancellation)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1" y="4572000"/>
            <a:ext cx="35112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parts-based, readable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5175504"/>
            <a:ext cx="1060704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4672" y="5175504"/>
            <a:ext cx="25968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best for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5175504"/>
            <a:ext cx="4059935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denoising, compression, viz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1" y="5175504"/>
            <a:ext cx="3511296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+mn-lt"/>
                <a:cs typeface="+mn-lt"/>
              </a:rPr>
              <a:t>discovering gene programs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" y="5779008"/>
            <a:ext cx="10607040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474720" y="1554480"/>
            <a:ext cx="0" cy="42245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80959" y="1554480"/>
            <a:ext cx="0" cy="4224528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>
                <a:solidFill>
                  <a:srgbClr val="000000"/>
                </a:solidFill>
                <a:latin typeface="+mj-lt"/>
                <a:cs typeface="+mj-lt"/>
              </a:rPr>
              <a:t>Objective: how good is the approximation?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+mn-lt"/>
                <a:cs typeface="+mn-lt"/>
              </a:rPr>
              <a:t>Choose W, H ≥ 0 to minimize the reconstruction error. Two standard choices: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 i="0">
                <a:solidFill>
                  <a:srgbClr val="FF0000"/>
                </a:solidFill>
                <a:latin typeface="+mn-lt"/>
                <a:cs typeface="+mn-lt"/>
              </a:rPr>
              <a:t>1.  Frobenius (squared error)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080" y="2468880"/>
                <a:ext cx="1088136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  <m:sup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 = 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0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0" i="1">
                                              <a:latin typeface="Cambria Math" panose="02040503050406030204" pitchFamily="18" charset="0"/>
                                            </a:rPr>
                                            <m:t>𝑊𝐻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468880"/>
                <a:ext cx="10881360" cy="868680"/>
              </a:xfrm>
              <a:prstGeom prst="rect">
                <a:avLst/>
              </a:prstGeom>
              <a:blipFill>
                <a:blip r:embed="rId2"/>
                <a:stretch>
                  <a:fillRect t="-117143" b="-16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40080" y="352044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1" i="0">
                <a:solidFill>
                  <a:srgbClr val="FF0000"/>
                </a:solidFill>
                <a:latin typeface="+mn-lt"/>
                <a:cs typeface="+mn-lt"/>
              </a:rPr>
              <a:t>2.  KL (Poisson) divergence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0080" y="3931920"/>
                <a:ext cx="1088136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||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𝑊𝐻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)=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200" b="0" i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200" b="0" i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 i="0">
                                      <a:latin typeface="Cambria Math" panose="02040503050406030204" pitchFamily="18" charset="0"/>
                                    </a:rPr>
                                    <m:t>ij</m:t>
                                  </m:r>
                                </m:sub>
                              </m:sSub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200" b="0" i="0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>
                                              <a:latin typeface="Cambria Math" panose="02040503050406030204" pitchFamily="18" charset="0"/>
                                            </a:rPr>
                                            <m:t>𝑊𝐻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200" b="0" i="0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 i="0">
                                      <a:latin typeface="Cambria Math" panose="02040503050406030204" pitchFamily="18" charset="0"/>
                                    </a:rPr>
                                    <m:t>ij</m:t>
                                  </m:r>
                                </m:sub>
                              </m:sSub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sSub>
                                <m:sSubPr>
                                  <m:ctrlPr>
                                    <a:rPr lang="en-US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b="0" i="1">
                                          <a:latin typeface="Cambria Math" panose="02040503050406030204" pitchFamily="18" charset="0"/>
                                        </a:rPr>
                                        <m:t>𝑊𝐻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200" b="0" i="0">
                                      <a:latin typeface="Cambria Math" panose="02040503050406030204" pitchFamily="18" charset="0"/>
                                    </a:rPr>
                                    <m:t>ij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3931920"/>
                <a:ext cx="10881360" cy="868680"/>
              </a:xfrm>
              <a:prstGeom prst="rect">
                <a:avLst/>
              </a:prstGeom>
              <a:blipFill>
                <a:blip r:embed="rId3"/>
                <a:stretch>
                  <a:fillRect t="-130000" b="-19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Frobenius is faster and standard once data are normalized (default in scikit-learn and </a:t>
            </a:r>
            <a:r>
              <a:rPr sz="1800" b="0" i="0" dirty="0" err="1">
                <a:solidFill>
                  <a:srgbClr val="000000"/>
                </a:solidFill>
                <a:latin typeface="+mn-lt"/>
                <a:cs typeface="+mn-lt"/>
              </a:rPr>
              <a:t>cNMF</a:t>
            </a: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)</a:t>
            </a:r>
            <a:endParaRPr lang="en-US" sz="18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lang="en-US" b="1" dirty="0" err="1">
                <a:solidFill>
                  <a:srgbClr val="000000"/>
                </a:solidFill>
                <a:cs typeface="+mn-lt"/>
              </a:rPr>
              <a:t>Dont</a:t>
            </a:r>
            <a:r>
              <a:rPr lang="en-US" b="1" dirty="0">
                <a:solidFill>
                  <a:srgbClr val="000000"/>
                </a:solidFill>
                <a:cs typeface="+mn-lt"/>
              </a:rPr>
              <a:t> mention Poisson until later</a:t>
            </a:r>
            <a:endParaRPr sz="1800" b="1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3EFB02-CC40-148D-E501-DFC6D8220638}"/>
              </a:ext>
            </a:extLst>
          </p:cNvPr>
          <p:cNvSpPr txBox="1"/>
          <p:nvPr/>
        </p:nvSpPr>
        <p:spPr>
          <a:xfrm>
            <a:off x="423333" y="457200"/>
            <a:ext cx="113622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Brief introduction: convex optimization / gradient descent (board)</a:t>
            </a:r>
          </a:p>
        </p:txBody>
      </p:sp>
    </p:spTree>
    <p:extLst>
      <p:ext uri="{BB962C8B-B14F-4D97-AF65-F5344CB8AC3E}">
        <p14:creationId xmlns:p14="http://schemas.microsoft.com/office/powerpoint/2010/main" val="235229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DC05F-15FC-DCC8-AD8C-16289D9D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5A055F-9A42-A991-624A-9C75F8B2883F}"/>
              </a:ext>
            </a:extLst>
          </p:cNvPr>
          <p:cNvSpPr txBox="1"/>
          <p:nvPr/>
        </p:nvSpPr>
        <p:spPr>
          <a:xfrm>
            <a:off x="423333" y="457200"/>
            <a:ext cx="113622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Brief introduction: least squares (board)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CEC1DB-2CC2-0C35-D2A9-6EF5C4ABC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67" y="1133186"/>
            <a:ext cx="7620000" cy="5267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FD3BA9-FDDC-859C-FAAF-BEB15337AD29}"/>
              </a:ext>
            </a:extLst>
          </p:cNvPr>
          <p:cNvSpPr txBox="1"/>
          <p:nvPr/>
        </p:nvSpPr>
        <p:spPr>
          <a:xfrm>
            <a:off x="0" y="6550223"/>
            <a:ext cx="51815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From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https://see.stanford.edu/materials/lsoeldsee263/05-ls.pdf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DBDE2C-B700-A8B1-DAA7-A004428366E5}"/>
              </a:ext>
            </a:extLst>
          </p:cNvPr>
          <p:cNvGrpSpPr/>
          <p:nvPr/>
        </p:nvGrpSpPr>
        <p:grpSpPr>
          <a:xfrm>
            <a:off x="8514760" y="1692147"/>
            <a:ext cx="680760" cy="1544760"/>
            <a:chOff x="8514760" y="1692147"/>
            <a:chExt cx="680760" cy="154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CE5F8A5-7DA5-3754-E3D2-F7684CB31ADB}"/>
                    </a:ext>
                  </a:extLst>
                </p14:cNvPr>
                <p14:cNvContentPartPr/>
                <p14:nvPr/>
              </p14:nvContentPartPr>
              <p14:xfrm>
                <a:off x="8514760" y="1692147"/>
                <a:ext cx="291600" cy="1544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CE5F8A5-7DA5-3754-E3D2-F7684CB31A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08640" y="1686027"/>
                  <a:ext cx="303840" cy="15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9DC3048-7167-7C40-F99A-C4567D10C511}"/>
                    </a:ext>
                  </a:extLst>
                </p14:cNvPr>
                <p14:cNvContentPartPr/>
                <p14:nvPr/>
              </p14:nvContentPartPr>
              <p14:xfrm>
                <a:off x="8576320" y="2387667"/>
                <a:ext cx="21600" cy="97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9DC3048-7167-7C40-F99A-C4567D10C51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70200" y="2381547"/>
                  <a:ext cx="338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20D5549-354E-672B-FF4C-616E2FE3F41D}"/>
                    </a:ext>
                  </a:extLst>
                </p14:cNvPr>
                <p14:cNvContentPartPr/>
                <p14:nvPr/>
              </p14:nvContentPartPr>
              <p14:xfrm>
                <a:off x="8576320" y="2402427"/>
                <a:ext cx="98640" cy="220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20D5549-354E-672B-FF4C-616E2FE3F41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70200" y="2396307"/>
                  <a:ext cx="110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E7B01C5-9227-23A3-6241-D6554E8A56D0}"/>
                    </a:ext>
                  </a:extLst>
                </p14:cNvPr>
                <p14:cNvContentPartPr/>
                <p14:nvPr/>
              </p14:nvContentPartPr>
              <p14:xfrm>
                <a:off x="8962600" y="2373627"/>
                <a:ext cx="11232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E7B01C5-9227-23A3-6241-D6554E8A56D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956480" y="2367507"/>
                  <a:ext cx="124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81A2CC9-49A9-2751-4811-DEFF158905D6}"/>
                    </a:ext>
                  </a:extLst>
                </p14:cNvPr>
                <p14:cNvContentPartPr/>
                <p14:nvPr/>
              </p14:nvContentPartPr>
              <p14:xfrm>
                <a:off x="8970880" y="2490627"/>
                <a:ext cx="2988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81A2CC9-49A9-2751-4811-DEFF158905D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964760" y="2484507"/>
                  <a:ext cx="421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A7D4EAE-A9FA-0B0B-49EC-00D51C611A6F}"/>
                    </a:ext>
                  </a:extLst>
                </p14:cNvPr>
                <p14:cNvContentPartPr/>
                <p14:nvPr/>
              </p14:nvContentPartPr>
              <p14:xfrm>
                <a:off x="8903200" y="2331147"/>
                <a:ext cx="292320" cy="70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A7D4EAE-A9FA-0B0B-49EC-00D51C611A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897080" y="2325027"/>
                  <a:ext cx="3045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8D2E96-F39A-AF7D-4945-8CD80D8C0298}"/>
                    </a:ext>
                  </a:extLst>
                </p14:cNvPr>
                <p14:cNvContentPartPr/>
                <p14:nvPr/>
              </p14:nvContentPartPr>
              <p14:xfrm>
                <a:off x="8962600" y="2440227"/>
                <a:ext cx="221760" cy="119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8D2E96-F39A-AF7D-4945-8CD80D8C02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956480" y="2434107"/>
                  <a:ext cx="23400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465C19E-FEDB-95D2-2536-25945E4FFD7A}"/>
              </a:ext>
            </a:extLst>
          </p:cNvPr>
          <p:cNvGrpSpPr/>
          <p:nvPr/>
        </p:nvGrpSpPr>
        <p:grpSpPr>
          <a:xfrm>
            <a:off x="9569560" y="1683147"/>
            <a:ext cx="750600" cy="1611720"/>
            <a:chOff x="9569560" y="1683147"/>
            <a:chExt cx="750600" cy="161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E2C1DE7-3438-2B93-68B8-EB9B327754AA}"/>
                    </a:ext>
                  </a:extLst>
                </p14:cNvPr>
                <p14:cNvContentPartPr/>
                <p14:nvPr/>
              </p14:nvContentPartPr>
              <p14:xfrm>
                <a:off x="9569560" y="1683147"/>
                <a:ext cx="750600" cy="1611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E2C1DE7-3438-2B93-68B8-EB9B327754A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63440" y="1677027"/>
                  <a:ext cx="762840" cy="162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80617DF-D710-35A9-F129-B4CCD7B5DEF6}"/>
                    </a:ext>
                  </a:extLst>
                </p14:cNvPr>
                <p14:cNvContentPartPr/>
                <p14:nvPr/>
              </p14:nvContentPartPr>
              <p14:xfrm>
                <a:off x="9843520" y="1962147"/>
                <a:ext cx="219240" cy="517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80617DF-D710-35A9-F129-B4CCD7B5DEF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837400" y="1956027"/>
                  <a:ext cx="23148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8316978-4F53-8B9E-3A35-FDCD72F55243}"/>
                    </a:ext>
                  </a:extLst>
                </p14:cNvPr>
                <p14:cNvContentPartPr/>
                <p14:nvPr/>
              </p14:nvContentPartPr>
              <p14:xfrm>
                <a:off x="9862240" y="2283627"/>
                <a:ext cx="97920" cy="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8316978-4F53-8B9E-3A35-FDCD72F5524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856120" y="2277507"/>
                  <a:ext cx="11016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91F6D8B-A6DE-7329-D9B5-BCFF5D8FC055}"/>
              </a:ext>
            </a:extLst>
          </p:cNvPr>
          <p:cNvGrpSpPr/>
          <p:nvPr/>
        </p:nvGrpSpPr>
        <p:grpSpPr>
          <a:xfrm>
            <a:off x="10558480" y="1687827"/>
            <a:ext cx="383040" cy="668160"/>
            <a:chOff x="10558480" y="1687827"/>
            <a:chExt cx="383040" cy="66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9898DC7-C14A-6193-6A3E-A162B37C144E}"/>
                    </a:ext>
                  </a:extLst>
                </p14:cNvPr>
                <p14:cNvContentPartPr/>
                <p14:nvPr/>
              </p14:nvContentPartPr>
              <p14:xfrm>
                <a:off x="10558480" y="1687827"/>
                <a:ext cx="383040" cy="668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9898DC7-C14A-6193-6A3E-A162B37C144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552360" y="1681707"/>
                  <a:ext cx="395280" cy="6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0AF9049-BDCF-1B1C-9F75-7C92814E7327}"/>
                    </a:ext>
                  </a:extLst>
                </p14:cNvPr>
                <p14:cNvContentPartPr/>
                <p14:nvPr/>
              </p14:nvContentPartPr>
              <p14:xfrm>
                <a:off x="10693480" y="1945227"/>
                <a:ext cx="84240" cy="93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0AF9049-BDCF-1B1C-9F75-7C92814E732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687360" y="1939107"/>
                  <a:ext cx="96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15D2C15-9F43-3BB5-B4D9-105380991BD4}"/>
                    </a:ext>
                  </a:extLst>
                </p14:cNvPr>
                <p14:cNvContentPartPr/>
                <p14:nvPr/>
              </p14:nvContentPartPr>
              <p14:xfrm>
                <a:off x="10698160" y="1937667"/>
                <a:ext cx="79560" cy="196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15D2C15-9F43-3BB5-B4D9-105380991BD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692040" y="1931547"/>
                  <a:ext cx="91800" cy="20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77C015-03D6-4787-841A-90C10C7434D9}"/>
                  </a:ext>
                </a:extLst>
              </p:cNvPr>
              <p:cNvSpPr txBox="1"/>
              <p:nvPr/>
            </p:nvSpPr>
            <p:spPr>
              <a:xfrm>
                <a:off x="8667053" y="3839435"/>
                <a:ext cx="2467086" cy="702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𝐴𝑥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77C015-03D6-4787-841A-90C10C743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053" y="3839435"/>
                <a:ext cx="2467086" cy="702565"/>
              </a:xfrm>
              <a:prstGeom prst="rect">
                <a:avLst/>
              </a:prstGeom>
              <a:blipFill>
                <a:blip r:embed="rId30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4298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738C8-2B4F-3464-2C29-F465B9B79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51C122-4CB9-30AF-CAB0-693A5682C6EA}"/>
              </a:ext>
            </a:extLst>
          </p:cNvPr>
          <p:cNvSpPr txBox="1"/>
          <p:nvPr/>
        </p:nvSpPr>
        <p:spPr>
          <a:xfrm>
            <a:off x="423333" y="457200"/>
            <a:ext cx="113622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Brief introduction: least squares (board)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80833-A6BB-A405-49CE-79E24595C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3186"/>
            <a:ext cx="7620000" cy="5267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82393A-9528-7E16-74BD-7149147DC51C}"/>
              </a:ext>
            </a:extLst>
          </p:cNvPr>
          <p:cNvSpPr txBox="1"/>
          <p:nvPr/>
        </p:nvSpPr>
        <p:spPr>
          <a:xfrm>
            <a:off x="0" y="6550223"/>
            <a:ext cx="51815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From 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https://see.stanford.edu/materials/lsoeldsee263/05-ls.pdf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B048C2-1E40-9662-58A4-5AFAF4A4E8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9984"/>
          <a:stretch>
            <a:fillRect/>
          </a:stretch>
        </p:blipFill>
        <p:spPr>
          <a:xfrm>
            <a:off x="5807428" y="2042975"/>
            <a:ext cx="6384572" cy="766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E23399-F677-5597-1C97-5882F3E026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5209"/>
          <a:stretch>
            <a:fillRect/>
          </a:stretch>
        </p:blipFill>
        <p:spPr>
          <a:xfrm>
            <a:off x="5807428" y="2818533"/>
            <a:ext cx="6384572" cy="18969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836539-92B0-0F82-3726-9A340D04D0BD}"/>
              </a:ext>
            </a:extLst>
          </p:cNvPr>
          <p:cNvSpPr txBox="1"/>
          <p:nvPr/>
        </p:nvSpPr>
        <p:spPr>
          <a:xfrm>
            <a:off x="6657978" y="4724636"/>
            <a:ext cx="512762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rgbClr val="C00000"/>
                </a:solidFill>
              </a:rPr>
              <a:t>Wikipedia article for matrix calculus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E22DEBE-97B7-8A70-591D-10DAE0119AD2}"/>
              </a:ext>
            </a:extLst>
          </p:cNvPr>
          <p:cNvSpPr/>
          <p:nvPr/>
        </p:nvSpPr>
        <p:spPr>
          <a:xfrm>
            <a:off x="10852879" y="2818533"/>
            <a:ext cx="932721" cy="86870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13B711A-C84D-C9D1-3E6D-D02923FF2F5F}"/>
              </a:ext>
            </a:extLst>
          </p:cNvPr>
          <p:cNvSpPr/>
          <p:nvPr/>
        </p:nvSpPr>
        <p:spPr>
          <a:xfrm>
            <a:off x="10852878" y="3771393"/>
            <a:ext cx="932721" cy="86870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18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A43D7-0110-5865-FBC1-F71F6EBE9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F014B5-DBC5-18A3-79D5-78A69D2384BF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NMF: how to solve?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B1D94-2D53-3CE6-59F4-85AABE2B9B1B}"/>
              </a:ext>
            </a:extLst>
          </p:cNvPr>
          <p:cNvSpPr txBox="1"/>
          <p:nvPr/>
        </p:nvSpPr>
        <p:spPr>
          <a:xfrm>
            <a:off x="435503" y="1309878"/>
            <a:ext cx="11551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Given nonnegative data </a:t>
            </a:r>
            <a:r>
              <a:rPr sz="3000" b="0" i="1" dirty="0">
                <a:solidFill>
                  <a:srgbClr val="000000"/>
                </a:solidFill>
                <a:latin typeface="+mn-lt"/>
                <a:cs typeface="+mn-lt"/>
              </a:rPr>
              <a:t>Y ≥ 0</a:t>
            </a:r>
            <a:r>
              <a:rPr lang="en-US" sz="3000" dirty="0">
                <a:solidFill>
                  <a:srgbClr val="000000"/>
                </a:solidFill>
                <a:cs typeface="+mn-lt"/>
              </a:rPr>
              <a:t>, 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find </a:t>
            </a:r>
            <a:r>
              <a:rPr sz="3000" b="0" i="1" dirty="0">
                <a:solidFill>
                  <a:srgbClr val="FF0000"/>
                </a:solidFill>
                <a:latin typeface="+mn-lt"/>
                <a:cs typeface="+mn-lt"/>
              </a:rPr>
              <a:t>W ≥ 0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 and </a:t>
            </a:r>
            <a:r>
              <a:rPr sz="3000" b="0" i="1" dirty="0">
                <a:solidFill>
                  <a:srgbClr val="FF0000"/>
                </a:solidFill>
                <a:latin typeface="+mn-lt"/>
                <a:cs typeface="+mn-lt"/>
              </a:rPr>
              <a:t>H ≥ 0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 with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1C09F36-DF3C-BAE2-0CF7-9233DEF1AC79}"/>
              </a:ext>
            </a:extLst>
          </p:cNvPr>
          <p:cNvGrpSpPr/>
          <p:nvPr/>
        </p:nvGrpSpPr>
        <p:grpSpPr>
          <a:xfrm>
            <a:off x="8327883" y="4799699"/>
            <a:ext cx="3659540" cy="1777954"/>
            <a:chOff x="3538728" y="2926080"/>
            <a:chExt cx="5065776" cy="260604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AE2B27-4FF7-E5A0-9824-1F58CCC4AF55}"/>
                </a:ext>
              </a:extLst>
            </p:cNvPr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50B1DE-F27F-2B59-5E92-BCCB889A6D45}"/>
                </a:ext>
              </a:extLst>
            </p:cNvPr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1500" b="0" i="1">
                  <a:solidFill>
                    <a:srgbClr val="000000"/>
                  </a:solidFill>
                  <a:latin typeface="Cambria Math"/>
                  <a:cs typeface="Cambria Math"/>
                </a:rPr>
                <a:t>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FE04E4-6D98-725E-DFC4-26744B0C6263}"/>
                </a:ext>
              </a:extLst>
            </p:cNvPr>
            <p:cNvSpPr txBox="1"/>
            <p:nvPr/>
          </p:nvSpPr>
          <p:spPr>
            <a:xfrm>
              <a:off x="5312664" y="3753612"/>
              <a:ext cx="457200" cy="5852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1500" b="0" i="0" dirty="0">
                  <a:solidFill>
                    <a:srgbClr val="000000"/>
                  </a:solidFill>
                  <a:latin typeface="Cambria Math"/>
                  <a:cs typeface="Cambria Math"/>
                </a:rPr>
                <a:t>≈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5A3ED1-6863-9C97-563C-2B359E3DF65B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0" name="Connector 9">
              <a:extLst>
                <a:ext uri="{FF2B5EF4-FFF2-40B4-BE49-F238E27FC236}">
                  <a16:creationId xmlns:a16="http://schemas.microsoft.com/office/drawing/2014/main" id="{A6B5FD56-3121-F688-86DE-EBB0A2C22CC1}"/>
                </a:ext>
              </a:extLst>
            </p:cNvPr>
            <p:cNvCxnSpPr/>
            <p:nvPr/>
          </p:nvCxnSpPr>
          <p:spPr>
            <a:xfrm>
              <a:off x="60350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>
              <a:extLst>
                <a:ext uri="{FF2B5EF4-FFF2-40B4-BE49-F238E27FC236}">
                  <a16:creationId xmlns:a16="http://schemas.microsoft.com/office/drawing/2014/main" id="{B1BBED20-DC47-C0CB-1E75-DD723467A362}"/>
                </a:ext>
              </a:extLst>
            </p:cNvPr>
            <p:cNvCxnSpPr/>
            <p:nvPr/>
          </p:nvCxnSpPr>
          <p:spPr>
            <a:xfrm>
              <a:off x="62636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>
              <a:extLst>
                <a:ext uri="{FF2B5EF4-FFF2-40B4-BE49-F238E27FC236}">
                  <a16:creationId xmlns:a16="http://schemas.microsoft.com/office/drawing/2014/main" id="{5DCF6511-9400-8671-6505-B208C3C1100F}"/>
                </a:ext>
              </a:extLst>
            </p:cNvPr>
            <p:cNvCxnSpPr/>
            <p:nvPr/>
          </p:nvCxnSpPr>
          <p:spPr>
            <a:xfrm>
              <a:off x="64922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E5BD167-C95F-B21E-CC21-F1EC052C20A0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1500" b="0" i="1">
                  <a:solidFill>
                    <a:srgbClr val="000000"/>
                  </a:solidFill>
                  <a:latin typeface="Cambria Math"/>
                  <a:cs typeface="Cambria Math"/>
                </a:rPr>
                <a:t>W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9B045FC-D978-AA84-85A7-0923A5334E45}"/>
                </a:ext>
              </a:extLst>
            </p:cNvPr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00"/>
            </a:p>
          </p:txBody>
        </p:sp>
        <p:cxnSp>
          <p:nvCxnSpPr>
            <p:cNvPr id="15" name="Connector 14">
              <a:extLst>
                <a:ext uri="{FF2B5EF4-FFF2-40B4-BE49-F238E27FC236}">
                  <a16:creationId xmlns:a16="http://schemas.microsoft.com/office/drawing/2014/main" id="{32BCFFA1-5559-7D6C-2E5A-0BDB16BD3FA9}"/>
                </a:ext>
              </a:extLst>
            </p:cNvPr>
            <p:cNvCxnSpPr/>
            <p:nvPr/>
          </p:nvCxnSpPr>
          <p:spPr>
            <a:xfrm>
              <a:off x="6867144" y="31546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>
              <a:extLst>
                <a:ext uri="{FF2B5EF4-FFF2-40B4-BE49-F238E27FC236}">
                  <a16:creationId xmlns:a16="http://schemas.microsoft.com/office/drawing/2014/main" id="{2F7B7213-EF61-9788-A9C8-D7E0335D6862}"/>
                </a:ext>
              </a:extLst>
            </p:cNvPr>
            <p:cNvCxnSpPr/>
            <p:nvPr/>
          </p:nvCxnSpPr>
          <p:spPr>
            <a:xfrm>
              <a:off x="6867144" y="33832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>
              <a:extLst>
                <a:ext uri="{FF2B5EF4-FFF2-40B4-BE49-F238E27FC236}">
                  <a16:creationId xmlns:a16="http://schemas.microsoft.com/office/drawing/2014/main" id="{2AC80758-CF12-2F64-6633-D6A98A849D37}"/>
                </a:ext>
              </a:extLst>
            </p:cNvPr>
            <p:cNvCxnSpPr/>
            <p:nvPr/>
          </p:nvCxnSpPr>
          <p:spPr>
            <a:xfrm>
              <a:off x="6867144" y="36118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C98DF7A-B618-96FC-3479-A1271161FBE5}"/>
                </a:ext>
              </a:extLst>
            </p:cNvPr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1500" b="0" i="1">
                  <a:solidFill>
                    <a:srgbClr val="000000"/>
                  </a:solidFill>
                  <a:latin typeface="Cambria Math"/>
                  <a:cs typeface="Cambria Math"/>
                </a:rPr>
                <a:t>H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E3EEDA1-4328-3C2A-724E-4F3943690837}"/>
                </a:ext>
              </a:extLst>
            </p:cNvPr>
            <p:cNvSpPr txBox="1"/>
            <p:nvPr/>
          </p:nvSpPr>
          <p:spPr>
            <a:xfrm>
              <a:off x="3538728" y="522122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Y  (</a:t>
              </a:r>
              <a:r>
                <a:rPr lang="en-US"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cells</a:t>
              </a:r>
              <a:r>
                <a:rPr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 × </a:t>
              </a:r>
              <a:r>
                <a:rPr lang="en-US"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genes</a:t>
              </a:r>
              <a:r>
                <a:rPr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B8E57F6-D230-3D01-0348-F6E3933DAE2E}"/>
                </a:ext>
              </a:extLst>
            </p:cNvPr>
            <p:cNvSpPr txBox="1"/>
            <p:nvPr/>
          </p:nvSpPr>
          <p:spPr>
            <a:xfrm>
              <a:off x="5669279" y="5221224"/>
              <a:ext cx="118872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W  (</a:t>
              </a:r>
              <a:r>
                <a:rPr lang="en-US"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N</a:t>
              </a:r>
              <a:r>
                <a:rPr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 × K)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F244E4F-8044-C80D-AA4E-1DC358B4878C}"/>
                </a:ext>
              </a:extLst>
            </p:cNvPr>
            <p:cNvSpPr txBox="1"/>
            <p:nvPr/>
          </p:nvSpPr>
          <p:spPr>
            <a:xfrm>
              <a:off x="6867144" y="389534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H  (K × </a:t>
              </a:r>
              <a:r>
                <a:rPr lang="en-US"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G</a:t>
              </a:r>
              <a:r>
                <a:rPr sz="15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8536B16-CD4A-3277-2050-20C9CEB06ABB}"/>
              </a:ext>
            </a:extLst>
          </p:cNvPr>
          <p:cNvSpPr txBox="1"/>
          <p:nvPr/>
        </p:nvSpPr>
        <p:spPr>
          <a:xfrm>
            <a:off x="655320" y="7370064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1" dirty="0">
                <a:solidFill>
                  <a:srgbClr val="FF0000"/>
                </a:solidFill>
                <a:latin typeface="+mn-lt"/>
                <a:cs typeface="+mn-lt"/>
              </a:rPr>
              <a:t>W</a:t>
            </a:r>
            <a:r>
              <a:rPr sz="1700" b="0" i="0" dirty="0">
                <a:solidFill>
                  <a:srgbClr val="000000"/>
                </a:solidFill>
                <a:latin typeface="+mn-lt"/>
                <a:cs typeface="+mn-lt"/>
              </a:rPr>
              <a:t> = program definitions (gene loadings).   </a:t>
            </a:r>
            <a:r>
              <a:rPr sz="1800" b="0" i="1" dirty="0">
                <a:solidFill>
                  <a:srgbClr val="FF0000"/>
                </a:solidFill>
                <a:latin typeface="+mn-lt"/>
                <a:cs typeface="+mn-lt"/>
              </a:rPr>
              <a:t>H</a:t>
            </a:r>
            <a:r>
              <a:rPr sz="1700" b="0" i="0" dirty="0">
                <a:solidFill>
                  <a:srgbClr val="000000"/>
                </a:solidFill>
                <a:latin typeface="+mn-lt"/>
                <a:cs typeface="+mn-lt"/>
              </a:rPr>
              <a:t> = program usages per cell. 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C1F8C1-2B39-B441-1F02-EB14DA5C7D14}"/>
                  </a:ext>
                </a:extLst>
              </p:cNvPr>
              <p:cNvSpPr txBox="1"/>
              <p:nvPr/>
            </p:nvSpPr>
            <p:spPr>
              <a:xfrm>
                <a:off x="655320" y="1965960"/>
                <a:ext cx="1088136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US" sz="3000" b="0" i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000" b="0" i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3000" b="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  <m:t>𝑊𝐻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000" b="0" i="1">
                          <a:latin typeface="Cambria Math" panose="02040503050406030204" pitchFamily="18" charset="0"/>
                        </a:rPr>
                        <m:t>= 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3000" b="0" i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3000" b="0" i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3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3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000" b="0" i="1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3000" b="0" i="0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  <m:r>
                                    <a:rPr lang="en-US" sz="3000" b="0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en-US" sz="3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sz="30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3000" b="0" i="1">
                                              <a:latin typeface="Cambria Math" panose="02040503050406030204" pitchFamily="18" charset="0"/>
                                            </a:rPr>
                                            <m:t>𝑊𝐻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3000" b="0" i="0">
                                          <a:latin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3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C1F8C1-2B39-B441-1F02-EB14DA5C7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" y="1965960"/>
                <a:ext cx="10881360" cy="868680"/>
              </a:xfrm>
              <a:prstGeom prst="rect">
                <a:avLst/>
              </a:prstGeom>
              <a:blipFill>
                <a:blip r:embed="rId2"/>
                <a:stretch>
                  <a:fillRect t="-201449" b="-27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B8BE8DE-D527-F779-67C8-F038C895F316}"/>
              </a:ext>
            </a:extLst>
          </p:cNvPr>
          <p:cNvSpPr txBox="1"/>
          <p:nvPr/>
        </p:nvSpPr>
        <p:spPr>
          <a:xfrm>
            <a:off x="655320" y="3120967"/>
            <a:ext cx="7196328" cy="21091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000" b="0" i="0" dirty="0">
                <a:solidFill>
                  <a:srgbClr val="C00000"/>
                </a:solidFill>
                <a:latin typeface="+mn-lt"/>
                <a:cs typeface="+mn-lt"/>
              </a:rPr>
              <a:t>Unfortunately, this problem is hard [board]</a:t>
            </a:r>
          </a:p>
          <a:p>
            <a:pPr marL="514350" indent="-5143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AutoNum type="arabicParenR"/>
            </a:pPr>
            <a:r>
              <a:rPr lang="en-US" sz="3000" dirty="0">
                <a:solidFill>
                  <a:srgbClr val="C00000"/>
                </a:solidFill>
                <a:cs typeface="+mn-lt"/>
              </a:rPr>
              <a:t>No unique solution</a:t>
            </a:r>
          </a:p>
          <a:p>
            <a:pPr marL="514350" indent="-5143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AutoNum type="arabicParenR"/>
            </a:pPr>
            <a:r>
              <a:rPr lang="en-US" sz="3000" b="0" i="0" dirty="0">
                <a:solidFill>
                  <a:srgbClr val="C00000"/>
                </a:solidFill>
                <a:latin typeface="+mn-lt"/>
                <a:cs typeface="+mn-lt"/>
              </a:rPr>
              <a:t>non-convex!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000" dirty="0">
                <a:solidFill>
                  <a:srgbClr val="C00000"/>
                </a:solidFill>
                <a:cs typeface="+mn-lt"/>
              </a:rPr>
              <a:t>In general cannot find optimal W, 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>
                <a:solidFill>
                  <a:srgbClr val="C00000"/>
                </a:solidFill>
                <a:cs typeface="+mn-lt"/>
              </a:rPr>
              <a:t>[Interestingly, PCA does solve a non-convex optimization problem]</a:t>
            </a:r>
            <a:endParaRPr sz="2000" b="0" i="0" dirty="0">
              <a:solidFill>
                <a:srgbClr val="C00000"/>
              </a:solidFill>
              <a:latin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2838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Optimization: non-convex, but biconvex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06040"/>
            <a:ext cx="676656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 i="0" dirty="0">
                <a:solidFill>
                  <a:srgbClr val="FF0000"/>
                </a:solidFill>
                <a:latin typeface="+mn-lt"/>
                <a:cs typeface="+mn-lt"/>
              </a:rPr>
              <a:t>The bad news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objective is not jointly convex in (W, H); NMF is NP-hard in general.</a:t>
            </a:r>
            <a:endParaRPr lang="en-US" sz="22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endParaRPr lang="en-US" sz="2200" b="1" i="0" dirty="0">
              <a:solidFill>
                <a:srgbClr val="FF0000"/>
              </a:solidFill>
              <a:latin typeface="+mn-lt"/>
              <a:cs typeface="+mn-lt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i="0" dirty="0">
                <a:solidFill>
                  <a:srgbClr val="FF0000"/>
                </a:solidFill>
                <a:latin typeface="+mn-lt"/>
                <a:cs typeface="+mn-lt"/>
              </a:rPr>
              <a:t>The good news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lang="en-US" sz="2200" b="0" i="0" dirty="0">
                <a:solidFill>
                  <a:srgbClr val="000000"/>
                </a:solidFill>
                <a:latin typeface="+mn-lt"/>
                <a:cs typeface="+mn-lt"/>
              </a:rPr>
              <a:t>objective</a:t>
            </a: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 is </a:t>
            </a:r>
            <a:r>
              <a:rPr sz="2200" b="1" i="0" dirty="0">
                <a:solidFill>
                  <a:srgbClr val="000000"/>
                </a:solidFill>
                <a:latin typeface="+mn-lt"/>
                <a:cs typeface="+mn-lt"/>
              </a:rPr>
              <a:t>biconvex</a:t>
            </a: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: convex in W for fixed H, and convex in H for fixed W.</a:t>
            </a:r>
            <a:endParaRPr lang="en-US" sz="22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endParaRPr sz="22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200" b="1" i="0" dirty="0">
                <a:solidFill>
                  <a:srgbClr val="FF0000"/>
                </a:solidFill>
                <a:latin typeface="+mn-lt"/>
                <a:cs typeface="+mn-lt"/>
              </a:rPr>
              <a:t>Strategy: alternate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2200" b="0" i="0" dirty="0">
                <a:solidFill>
                  <a:srgbClr val="000000"/>
                </a:solidFill>
                <a:latin typeface="+mn-lt"/>
                <a:cs typeface="+mn-lt"/>
              </a:rPr>
              <a:t>fix one factor, update the other; repeat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06444" y="2823556"/>
            <a:ext cx="3291840" cy="82296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fix W → update H</a:t>
            </a:r>
          </a:p>
        </p:txBody>
      </p:sp>
      <p:sp>
        <p:nvSpPr>
          <p:cNvPr id="5" name="Rectangle 4"/>
          <p:cNvSpPr/>
          <p:nvPr/>
        </p:nvSpPr>
        <p:spPr>
          <a:xfrm>
            <a:off x="8606444" y="4652356"/>
            <a:ext cx="3291840" cy="82296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500" b="0" i="0">
                <a:solidFill>
                  <a:srgbClr val="000000"/>
                </a:solidFill>
                <a:latin typeface="+mn-lt"/>
                <a:cs typeface="+mn-lt"/>
              </a:rPr>
              <a:t>fix H → update 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252365" y="3646516"/>
            <a:ext cx="0" cy="1005840"/>
          </a:xfrm>
          <a:prstGeom prst="line">
            <a:avLst/>
          </a:prstGeom>
          <a:ln w="19050">
            <a:solidFill>
              <a:srgbClr val="0E284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06444" y="5658196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200" b="0" i="1">
                <a:solidFill>
                  <a:srgbClr val="7F7F7F"/>
                </a:solidFill>
                <a:latin typeface="+mn-lt"/>
                <a:cs typeface="+mn-lt"/>
              </a:rPr>
              <a:t>repeat to convergence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03BE192-F5F3-6722-68C5-E8A72F5C99FF}"/>
              </a:ext>
            </a:extLst>
          </p:cNvPr>
          <p:cNvGrpSpPr/>
          <p:nvPr/>
        </p:nvGrpSpPr>
        <p:grpSpPr>
          <a:xfrm>
            <a:off x="986444" y="1097280"/>
            <a:ext cx="11551920" cy="1188720"/>
            <a:chOff x="435503" y="1309878"/>
            <a:chExt cx="11551920" cy="118872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003D67A-D0CC-7441-A2F2-CE00DE6DFB4A}"/>
                </a:ext>
              </a:extLst>
            </p:cNvPr>
            <p:cNvSpPr txBox="1"/>
            <p:nvPr/>
          </p:nvSpPr>
          <p:spPr>
            <a:xfrm>
              <a:off x="435503" y="1309878"/>
              <a:ext cx="11551920" cy="6400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200" b="0" i="0" dirty="0">
                  <a:solidFill>
                    <a:srgbClr val="000000"/>
                  </a:solidFill>
                  <a:cs typeface="+mn-lt"/>
                </a:rPr>
                <a:t>Given nonnegative data </a:t>
              </a:r>
              <a:r>
                <a:rPr sz="2200" b="0" i="1" dirty="0">
                  <a:solidFill>
                    <a:srgbClr val="000000"/>
                  </a:solidFill>
                  <a:cs typeface="+mn-lt"/>
                </a:rPr>
                <a:t>Y ≥ 0</a:t>
              </a:r>
              <a:r>
                <a:rPr lang="en-US" sz="2200" dirty="0">
                  <a:solidFill>
                    <a:srgbClr val="000000"/>
                  </a:solidFill>
                  <a:cs typeface="+mn-lt"/>
                </a:rPr>
                <a:t>, </a:t>
              </a:r>
              <a:r>
                <a:rPr sz="2200" b="0" i="0" dirty="0">
                  <a:solidFill>
                    <a:srgbClr val="000000"/>
                  </a:solidFill>
                  <a:cs typeface="+mn-lt"/>
                </a:rPr>
                <a:t>find </a:t>
              </a:r>
              <a:r>
                <a:rPr sz="2200" b="0" i="1" dirty="0">
                  <a:solidFill>
                    <a:srgbClr val="FF0000"/>
                  </a:solidFill>
                  <a:cs typeface="+mn-lt"/>
                </a:rPr>
                <a:t>W ≥ 0</a:t>
              </a:r>
              <a:r>
                <a:rPr sz="2200" b="0" i="0" dirty="0">
                  <a:solidFill>
                    <a:srgbClr val="000000"/>
                  </a:solidFill>
                  <a:cs typeface="+mn-lt"/>
                </a:rPr>
                <a:t> and </a:t>
              </a:r>
              <a:r>
                <a:rPr sz="2200" b="0" i="1" dirty="0">
                  <a:solidFill>
                    <a:srgbClr val="FF0000"/>
                  </a:solidFill>
                  <a:cs typeface="+mn-lt"/>
                </a:rPr>
                <a:t>H ≥ 0</a:t>
              </a:r>
              <a:r>
                <a:rPr sz="2200" b="0" i="0" dirty="0">
                  <a:solidFill>
                    <a:srgbClr val="000000"/>
                  </a:solidFill>
                  <a:cs typeface="+mn-lt"/>
                </a:rPr>
                <a:t> with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7FC2B80-34E1-35B2-266C-88EFAD9EB1C4}"/>
                    </a:ext>
                  </a:extLst>
                </p:cNvPr>
                <p:cNvSpPr txBox="1"/>
                <p:nvPr/>
              </p:nvSpPr>
              <p:spPr>
                <a:xfrm>
                  <a:off x="465983" y="1629918"/>
                  <a:ext cx="10881360" cy="8686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buNone/>
                  </a:pPr>
                  <a14:m>
                    <m:oMathPara xmlns:m="http://schemas.openxmlformats.org/officeDocument/2006/math">
                      <m:oMath>
                        <m:limLow>
                          <m:limLowPr>
                            <m:ctrlPr>
                              <a:rPr lang="en-US" sz="2200" b="0" i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 b="0" i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sz="2200" b="0" i="1">
                                <a:latin typeface="Cambria Math" panose="02040503050406030204" pitchFamily="18" charset="0"/>
                              </a:rPr>
                              <m:t> ≥ 0</m:t>
                            </m:r>
                          </m:lim>
                        </m:limLow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𝑊𝐻</m:t>
                                </m:r>
                              </m:e>
                            </m:d>
                          </m:e>
                        </m:d>
                        <m:r>
                          <a:rPr lang="en-US" sz="2200" b="0" i="1">
                            <a:latin typeface="Cambria Math" panose="02040503050406030204" pitchFamily="18" charset="0"/>
                          </a:rPr>
                          <m:t>=  </m:t>
                        </m:r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sz="2200" b="0" i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sz="2200" b="0" i="0">
                                <a:latin typeface="Cambria Math" panose="02040503050406030204" pitchFamily="18" charset="0"/>
                              </a:rPr>
                              <m:t>ij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200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2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2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b="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b="0" i="0">
                                            <a:latin typeface="Cambria Math" panose="02040503050406030204" pitchFamily="18" charset="0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  <m:r>
                                      <a:rPr lang="en-US" sz="2200" b="0" i="1">
                                        <a:latin typeface="Cambria Math" panose="02040503050406030204" pitchFamily="18" charset="0"/>
                                      </a:rPr>
                                      <m:t> − </m:t>
                                    </m:r>
                                    <m:sSub>
                                      <m:sSubPr>
                                        <m:ctrlPr>
                                          <a:rPr lang="en-US" sz="22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d>
                                          <m:dPr>
                                            <m:ctrlPr>
                                              <a:rPr lang="en-US" sz="22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200" b="0" i="1">
                                                <a:latin typeface="Cambria Math" panose="02040503050406030204" pitchFamily="18" charset="0"/>
                                              </a:rPr>
                                              <m:t>𝑊𝐻</m:t>
                                            </m:r>
                                          </m:e>
                                        </m:d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b="0" i="0">
                                            <a:latin typeface="Cambria Math" panose="02040503050406030204" pitchFamily="18" charset="0"/>
                                          </a:rPr>
                                          <m:t>ij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200" b="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22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7FC2B80-34E1-35B2-266C-88EFAD9EB1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983" y="1629918"/>
                  <a:ext cx="10881360" cy="868680"/>
                </a:xfrm>
                <a:prstGeom prst="rect">
                  <a:avLst/>
                </a:prstGeom>
                <a:blipFill>
                  <a:blip r:embed="rId2"/>
                  <a:stretch>
                    <a:fillRect t="-134783" b="-192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9" name="Connector 5">
            <a:extLst>
              <a:ext uri="{FF2B5EF4-FFF2-40B4-BE49-F238E27FC236}">
                <a16:creationId xmlns:a16="http://schemas.microsoft.com/office/drawing/2014/main" id="{85821BCE-AD24-EE0D-76FE-5F4A12BCFA9E}"/>
              </a:ext>
            </a:extLst>
          </p:cNvPr>
          <p:cNvCxnSpPr>
            <a:cxnSpLocks/>
          </p:cNvCxnSpPr>
          <p:nvPr/>
        </p:nvCxnSpPr>
        <p:spPr>
          <a:xfrm>
            <a:off x="7825046" y="3217025"/>
            <a:ext cx="781398" cy="0"/>
          </a:xfrm>
          <a:prstGeom prst="line">
            <a:avLst/>
          </a:prstGeom>
          <a:ln w="19050">
            <a:solidFill>
              <a:srgbClr val="0E284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6544DE-020F-00F9-1897-5EF56A725E92}"/>
              </a:ext>
            </a:extLst>
          </p:cNvPr>
          <p:cNvCxnSpPr/>
          <p:nvPr/>
        </p:nvCxnSpPr>
        <p:spPr>
          <a:xfrm>
            <a:off x="7827818" y="3214255"/>
            <a:ext cx="0" cy="18980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169031-DD4B-3D1A-762B-893DF6D6D106}"/>
              </a:ext>
            </a:extLst>
          </p:cNvPr>
          <p:cNvCxnSpPr>
            <a:cxnSpLocks/>
          </p:cNvCxnSpPr>
          <p:nvPr/>
        </p:nvCxnSpPr>
        <p:spPr>
          <a:xfrm>
            <a:off x="7825046" y="5115099"/>
            <a:ext cx="7813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82D4B4A-9A27-BEFD-DD2B-797883A68ED2}"/>
              </a:ext>
            </a:extLst>
          </p:cNvPr>
          <p:cNvSpPr/>
          <p:nvPr/>
        </p:nvSpPr>
        <p:spPr>
          <a:xfrm>
            <a:off x="858982" y="928255"/>
            <a:ext cx="8756073" cy="14270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 dirty="0">
                <a:solidFill>
                  <a:srgbClr val="000000"/>
                </a:solidFill>
                <a:latin typeface="+mj-lt"/>
                <a:cs typeface="+mj-lt"/>
              </a:rPr>
              <a:t>Algorithm 1: multiplicative 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6843" y="1795184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C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lassic NMF algorithm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 by Lee and Seung (Nature 1999, NIPS 2000)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. A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lternate: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751513" y="2485973"/>
                <a:ext cx="557784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← 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⊙ </m:t>
                      </m:r>
                      <m:f>
                        <m:f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513" y="2485973"/>
                <a:ext cx="5577840" cy="868680"/>
              </a:xfrm>
              <a:prstGeom prst="rect">
                <a:avLst/>
              </a:prstGeom>
              <a:blipFill>
                <a:blip r:embed="rId2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51513" y="3446093"/>
                <a:ext cx="557784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← 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⊙ </m:t>
                      </m:r>
                      <m:f>
                        <m:f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𝑌</m:t>
                          </m:r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num>
                        <m:den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513" y="3446093"/>
                <a:ext cx="5577840" cy="868680"/>
              </a:xfrm>
              <a:prstGeom prst="rect">
                <a:avLst/>
              </a:prstGeom>
              <a:blipFill>
                <a:blip r:embed="rId3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446818" y="2549980"/>
                <a:ext cx="4592782" cy="18836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b="0" i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⊙ and the fraction bar are elementwise (</a:t>
                </a:r>
                <a:r>
                  <a:rPr lang="en-US" sz="2000" b="0" i="1" dirty="0" err="1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entrywise</a:t>
                </a:r>
                <a:r>
                  <a:rPr lang="en-US" sz="2000" b="0" i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) operations.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sz="2000" i="1" dirty="0">
                  <a:solidFill>
                    <a:schemeClr val="bg1">
                      <a:lumMod val="50000"/>
                    </a:schemeClr>
                  </a:solidFill>
                  <a:cs typeface="+mn-lt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b="0" i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i.e.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a:rPr lang="en-US" sz="20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b="0" i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 is matrix with entries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  <m:t>𝐴</m:t>
                        </m:r>
                      </m:e>
                      <m:sub>
                        <m: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  <m:t>𝑖𝑗</m:t>
                        </m:r>
                      </m:sub>
                    </m:sSub>
                    <m:r>
                      <a:rPr lang="ar-AE" sz="20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+mn-lt"/>
                      </a:rPr>
                      <m:t>⋅</m:t>
                    </m:r>
                    <m:sSub>
                      <m:sSubPr>
                        <m:ctrlP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  <m:t>𝐵</m:t>
                        </m:r>
                      </m:e>
                      <m:sub>
                        <m: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  <m:t>𝑖𝑗</m:t>
                        </m:r>
                      </m:sub>
                    </m:sSub>
                  </m:oMath>
                </a14:m>
                <a:endParaRPr lang="ar-AE" sz="2000" b="0" i="1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818" y="2549980"/>
                <a:ext cx="4592782" cy="1883665"/>
              </a:xfrm>
              <a:prstGeom prst="rect">
                <a:avLst/>
              </a:prstGeom>
              <a:blipFill>
                <a:blip r:embed="rId4"/>
                <a:stretch>
                  <a:fillRect l="-3306" t="-4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02920" y="4741130"/>
            <a:ext cx="10881360" cy="22236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1" i="0" dirty="0">
                <a:solidFill>
                  <a:srgbClr val="FF0000"/>
                </a:solidFill>
                <a:latin typeface="+mn-lt"/>
                <a:cs typeface="+mn-lt"/>
              </a:rPr>
              <a:t>Two key properties: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2400" b="1" i="0" dirty="0">
                <a:solidFill>
                  <a:srgbClr val="FF0000"/>
                </a:solidFill>
                <a:latin typeface="+mn-lt"/>
                <a:cs typeface="+mn-lt"/>
              </a:rPr>
              <a:t>Nonnegativity </a:t>
            </a:r>
            <a:r>
              <a:rPr lang="en-US" sz="2400" b="1" i="0" dirty="0">
                <a:solidFill>
                  <a:srgbClr val="FF0000"/>
                </a:solidFill>
                <a:latin typeface="+mn-lt"/>
                <a:cs typeface="+mn-lt"/>
              </a:rPr>
              <a:t>preserved in each update</a:t>
            </a:r>
            <a:r>
              <a:rPr sz="2400" b="0" i="0" dirty="0">
                <a:solidFill>
                  <a:srgbClr val="000000"/>
                </a:solidFill>
                <a:latin typeface="+mn-lt"/>
                <a:cs typeface="+mn-lt"/>
              </a:rPr>
              <a:t> — nonnegative number times a ratio of nonnegative numbers stays ≥ 0</a:t>
            </a:r>
            <a:endParaRPr lang="en-US" sz="24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2400" b="1" i="0" dirty="0">
                <a:solidFill>
                  <a:srgbClr val="FF0000"/>
                </a:solidFill>
                <a:latin typeface="+mn-lt"/>
                <a:cs typeface="+mn-lt"/>
              </a:rPr>
              <a:t>Monotone descent</a:t>
            </a:r>
            <a:r>
              <a:rPr sz="2400" b="0" i="0" dirty="0">
                <a:solidFill>
                  <a:srgbClr val="000000"/>
                </a:solidFill>
                <a:latin typeface="+mn-lt"/>
                <a:cs typeface="+mn-lt"/>
              </a:rPr>
              <a:t> — each update provably never increases the objective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54BB9D-9619-BE49-190F-CB2BC6CBC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9563" y="94262"/>
            <a:ext cx="3658062" cy="162206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Where does multiplicative update rule come from? Interpretation 1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967346" y="3173903"/>
                <a:ext cx="7315200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500" b="0" i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  <m:sup>
                          <m:r>
                            <a:rPr lang="en-US" sz="25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500" b="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346" y="3173903"/>
                <a:ext cx="7315200" cy="7772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680856" y="8439634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+mn-lt"/>
                <a:cs typeface="+mn-lt"/>
              </a:rPr>
              <a:t>A gradient step H ← H − </a:t>
            </a:r>
            <a:r>
              <a:rPr lang="el-GR" sz="1800" b="0" i="0" dirty="0">
                <a:solidFill>
                  <a:srgbClr val="000000"/>
                </a:solidFill>
                <a:latin typeface="+mn-lt"/>
                <a:cs typeface="+mn-lt"/>
              </a:rPr>
              <a:t>η ∇ </a:t>
            </a:r>
            <a:r>
              <a:rPr lang="en-US" sz="1800" b="0" i="0" dirty="0">
                <a:solidFill>
                  <a:srgbClr val="000000"/>
                </a:solidFill>
                <a:latin typeface="+mn-lt"/>
                <a:cs typeface="+mn-lt"/>
              </a:rPr>
              <a:t>with the per-entry step size</a:t>
            </a:r>
            <a:endParaRPr sz="1800" b="0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03862" y="8007235"/>
                <a:ext cx="4114800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200" b="0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862" y="8007235"/>
                <a:ext cx="4114800" cy="777240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77982" y="8007235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makes the negative terms cancel and recovers the multiplicative update exactly.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7092835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The adaptive step keeps entries ≥ 0 and vanishes at a stationary point (gradient = 0 ⇒ ratio = 1).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Simple and robust, but convergence can be slow near the optimum — motivating faster solvers.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C8D375-718F-4F38-E727-BF42D7243523}"/>
                  </a:ext>
                </a:extLst>
              </p:cNvPr>
              <p:cNvSpPr txBox="1"/>
              <p:nvPr/>
            </p:nvSpPr>
            <p:spPr>
              <a:xfrm>
                <a:off x="174568" y="1537197"/>
                <a:ext cx="557784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← 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⊙ </m:t>
                      </m:r>
                      <m:f>
                        <m:f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C8D375-718F-4F38-E727-BF42D7243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68" y="1537197"/>
                <a:ext cx="5577840" cy="868680"/>
              </a:xfrm>
              <a:prstGeom prst="rect">
                <a:avLst/>
              </a:prstGeom>
              <a:blipFill>
                <a:blip r:embed="rId4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139BAB-E54F-8A92-63C2-ACB47FBBA572}"/>
                  </a:ext>
                </a:extLst>
              </p:cNvPr>
              <p:cNvSpPr txBox="1"/>
              <p:nvPr/>
            </p:nvSpPr>
            <p:spPr>
              <a:xfrm>
                <a:off x="174568" y="2541096"/>
                <a:ext cx="10372840" cy="6025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Define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𝑊𝐻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500" dirty="0"/>
                  <a:t> as the loss for a fixed W. Its </a:t>
                </a:r>
                <a:r>
                  <a:rPr lang="en-US" sz="2500" dirty="0">
                    <a:solidFill>
                      <a:srgbClr val="FF0000"/>
                    </a:solidFill>
                  </a:rPr>
                  <a:t>gradient</a:t>
                </a:r>
                <a:r>
                  <a:rPr lang="en-US" sz="2500" dirty="0">
                    <a:solidFill>
                      <a:srgbClr val="C00000"/>
                    </a:solidFill>
                  </a:rPr>
                  <a:t> </a:t>
                </a:r>
                <a:r>
                  <a:rPr lang="en-US" sz="2500" dirty="0"/>
                  <a:t>is given by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139BAB-E54F-8A92-63C2-ACB47FBBA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68" y="2541096"/>
                <a:ext cx="10372840" cy="602537"/>
              </a:xfrm>
              <a:prstGeom prst="rect">
                <a:avLst/>
              </a:prstGeom>
              <a:blipFill>
                <a:blip r:embed="rId5"/>
                <a:stretch>
                  <a:fillRect l="-978" r="-122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B7DA24-4AC8-7D40-86B8-92601F450478}"/>
                  </a:ext>
                </a:extLst>
              </p:cNvPr>
              <p:cNvSpPr txBox="1"/>
              <p:nvPr/>
            </p:nvSpPr>
            <p:spPr>
              <a:xfrm>
                <a:off x="311728" y="4147532"/>
                <a:ext cx="10881360" cy="457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500" b="0" i="0" dirty="0">
                    <a:solidFill>
                      <a:srgbClr val="FF0000"/>
                    </a:solidFill>
                    <a:latin typeface="+mn-lt"/>
                    <a:cs typeface="+mn-lt"/>
                  </a:rPr>
                  <a:t>Gradient descent </a:t>
                </a:r>
                <a:r>
                  <a:rPr lang="en-US" sz="2500" b="0" i="0" dirty="0">
                    <a:solidFill>
                      <a:srgbClr val="000000"/>
                    </a:solidFill>
                    <a:latin typeface="+mn-lt"/>
                    <a:cs typeface="+mn-lt"/>
                  </a:rPr>
                  <a:t>on H with step size </a:t>
                </a: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2500" b="0" i="0" dirty="0">
                    <a:solidFill>
                      <a:srgbClr val="000000"/>
                    </a:solidFill>
                    <a:latin typeface="+mn-lt"/>
                    <a:cs typeface="+mn-lt"/>
                  </a:rPr>
                  <a:t> has the form:</a:t>
                </a:r>
                <a:endParaRPr sz="2500" b="0" i="0" dirty="0">
                  <a:solidFill>
                    <a:srgbClr val="000000"/>
                  </a:solidFill>
                  <a:latin typeface="+mn-lt"/>
                  <a:cs typeface="+mn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B7DA24-4AC8-7D40-86B8-92601F450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28" y="4147532"/>
                <a:ext cx="10881360" cy="457200"/>
              </a:xfrm>
              <a:prstGeom prst="rect">
                <a:avLst/>
              </a:prstGeom>
              <a:blipFill>
                <a:blip r:embed="rId6"/>
                <a:stretch>
                  <a:fillRect l="-1748" t="-21622" b="-2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29231C-FE95-82D4-8D4D-86F435534592}"/>
                  </a:ext>
                </a:extLst>
              </p:cNvPr>
              <p:cNvSpPr txBox="1"/>
              <p:nvPr/>
            </p:nvSpPr>
            <p:spPr>
              <a:xfrm>
                <a:off x="1551185" y="4696172"/>
                <a:ext cx="4643001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 ←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⋅(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50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5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  <m:sup>
                          <m:r>
                            <a:rPr lang="en-US" sz="25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29231C-FE95-82D4-8D4D-86F435534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185" y="4696172"/>
                <a:ext cx="4643001" cy="477054"/>
              </a:xfrm>
              <a:prstGeom prst="rect">
                <a:avLst/>
              </a:prstGeom>
              <a:blipFill>
                <a:blip r:embed="rId7"/>
                <a:stretch>
                  <a:fillRect r="-272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386C60-9BCD-5BE7-5743-05B2FB29A251}"/>
                  </a:ext>
                </a:extLst>
              </p:cNvPr>
              <p:cNvSpPr txBox="1"/>
              <p:nvPr/>
            </p:nvSpPr>
            <p:spPr>
              <a:xfrm>
                <a:off x="311728" y="5380031"/>
                <a:ext cx="10881360" cy="4572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500" b="0" i="0" dirty="0">
                    <a:solidFill>
                      <a:schemeClr val="tx1"/>
                    </a:solidFill>
                    <a:cs typeface="+mn-lt"/>
                  </a:rPr>
                  <a:t>Set </a:t>
                </a:r>
                <a:r>
                  <a:rPr lang="en-US" sz="2500" b="0" i="0" u="sng" dirty="0">
                    <a:solidFill>
                      <a:schemeClr val="tx1"/>
                    </a:solidFill>
                    <a:cs typeface="+mn-lt"/>
                  </a:rPr>
                  <a:t>adaptive</a:t>
                </a:r>
                <a:r>
                  <a:rPr lang="en-US" sz="2500" b="0" i="0" dirty="0">
                    <a:solidFill>
                      <a:schemeClr val="tx1"/>
                    </a:solidFill>
                    <a:cs typeface="+mn-lt"/>
                  </a:rPr>
                  <a:t> step size </a:t>
                </a:r>
                <a14:m>
                  <m:oMath xmlns:m="http://schemas.openxmlformats.org/officeDocument/2006/math">
                    <m:r>
                      <a:rPr lang="en-US" sz="25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𝑊𝐻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500" b="0" i="0" dirty="0">
                  <a:solidFill>
                    <a:schemeClr val="tx1"/>
                  </a:solidFill>
                  <a:cs typeface="+mn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386C60-9BCD-5BE7-5743-05B2FB29A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28" y="5380031"/>
                <a:ext cx="10881360" cy="457200"/>
              </a:xfrm>
              <a:prstGeom prst="rect">
                <a:avLst/>
              </a:prstGeom>
              <a:blipFill>
                <a:blip r:embed="rId8"/>
                <a:stretch>
                  <a:fillRect l="-1748" b="-45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B0015A09-0267-F3F3-32B9-A27A6CA99207}"/>
              </a:ext>
            </a:extLst>
          </p:cNvPr>
          <p:cNvSpPr/>
          <p:nvPr/>
        </p:nvSpPr>
        <p:spPr>
          <a:xfrm>
            <a:off x="1357745" y="1578067"/>
            <a:ext cx="3338946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F2C719-D241-6A87-69BC-94B2FDEE86E7}"/>
              </a:ext>
            </a:extLst>
          </p:cNvPr>
          <p:cNvSpPr txBox="1"/>
          <p:nvPr/>
        </p:nvSpPr>
        <p:spPr>
          <a:xfrm>
            <a:off x="5363759" y="5499432"/>
            <a:ext cx="235243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[write on board]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946303-5DCF-8556-DE34-59F7D06AC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80" y="2638269"/>
            <a:ext cx="10097576" cy="999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866C92-BCBE-569B-4CAB-93E67FA17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79" y="3796259"/>
            <a:ext cx="9963515" cy="17800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E19674-5855-4D00-C3FA-E3DD25DAD4BA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Matrix calculus…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66214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BAE43-7392-BF92-6D9B-DE18B28F7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678F15-C83D-8509-F12C-71F8EA241E4A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Where does multiplicative update rule come from? (Interpretation 2)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8BE0B2-6F4D-8696-8AC4-27A5F904347C}"/>
                  </a:ext>
                </a:extLst>
              </p:cNvPr>
              <p:cNvSpPr txBox="1"/>
              <p:nvPr/>
            </p:nvSpPr>
            <p:spPr>
              <a:xfrm>
                <a:off x="1967346" y="2976891"/>
                <a:ext cx="7315200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500" b="0" i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  <m:sup>
                          <m:r>
                            <a:rPr lang="en-US" sz="25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500" b="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 ≔</m:t>
                      </m:r>
                      <m:sSubSup>
                        <m:sSubSupPr>
                          <m:ctrlPr>
                            <a:rPr lang="en-US" sz="2500" b="0" i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500" b="0" i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8BE0B2-6F4D-8696-8AC4-27A5F9043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346" y="2976891"/>
                <a:ext cx="7315200" cy="777240"/>
              </a:xfrm>
              <a:prstGeom prst="rect">
                <a:avLst/>
              </a:prstGeom>
              <a:blipFill>
                <a:blip r:embed="rId2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B5A181A-E760-23A8-8E1E-49EC0BB0D302}"/>
              </a:ext>
            </a:extLst>
          </p:cNvPr>
          <p:cNvSpPr txBox="1"/>
          <p:nvPr/>
        </p:nvSpPr>
        <p:spPr>
          <a:xfrm>
            <a:off x="2680856" y="8439634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+mn-lt"/>
                <a:cs typeface="+mn-lt"/>
              </a:rPr>
              <a:t>A gradient step H ← H − </a:t>
            </a:r>
            <a:r>
              <a:rPr lang="el-GR" sz="1800" b="0" i="0" dirty="0">
                <a:solidFill>
                  <a:srgbClr val="000000"/>
                </a:solidFill>
                <a:latin typeface="+mn-lt"/>
                <a:cs typeface="+mn-lt"/>
              </a:rPr>
              <a:t>η ∇ </a:t>
            </a:r>
            <a:r>
              <a:rPr lang="en-US" sz="1800" b="0" i="0" dirty="0">
                <a:solidFill>
                  <a:srgbClr val="000000"/>
                </a:solidFill>
                <a:latin typeface="+mn-lt"/>
                <a:cs typeface="+mn-lt"/>
              </a:rPr>
              <a:t>with the per-entry step size</a:t>
            </a:r>
            <a:endParaRPr sz="1800" b="0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3FAB9C-35C2-20B5-E10A-B5C2C0A4B486}"/>
                  </a:ext>
                </a:extLst>
              </p:cNvPr>
              <p:cNvSpPr txBox="1"/>
              <p:nvPr/>
            </p:nvSpPr>
            <p:spPr>
              <a:xfrm>
                <a:off x="1803862" y="8007235"/>
                <a:ext cx="4114800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200" b="0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3FAB9C-35C2-20B5-E10A-B5C2C0A4B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862" y="8007235"/>
                <a:ext cx="4114800" cy="777240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F9AAFB7-80EE-83A1-C7B0-66E9D1369C5A}"/>
              </a:ext>
            </a:extLst>
          </p:cNvPr>
          <p:cNvSpPr txBox="1"/>
          <p:nvPr/>
        </p:nvSpPr>
        <p:spPr>
          <a:xfrm>
            <a:off x="477982" y="8007235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makes the negative terms cancel and recovers the multiplicative update exactly.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528143-0EE2-504B-A83C-71E4AB11E575}"/>
              </a:ext>
            </a:extLst>
          </p:cNvPr>
          <p:cNvSpPr txBox="1"/>
          <p:nvPr/>
        </p:nvSpPr>
        <p:spPr>
          <a:xfrm>
            <a:off x="640080" y="7092835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The adaptive step keeps entries ≥ 0 and vanishes at a stationary point (gradient = 0 ⇒ ratio = 1).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Simple and robust, but convergence can be slow near the optimum — motivating faster solvers.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CCDDD4-2C63-4D7F-8183-8FAF94D7568E}"/>
                  </a:ext>
                </a:extLst>
              </p:cNvPr>
              <p:cNvSpPr txBox="1"/>
              <p:nvPr/>
            </p:nvSpPr>
            <p:spPr>
              <a:xfrm>
                <a:off x="6111240" y="1063442"/>
                <a:ext cx="557784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← 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⊙ </m:t>
                      </m:r>
                      <m:f>
                        <m:f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CCDDD4-2C63-4D7F-8183-8FAF94D75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1240" y="1063442"/>
                <a:ext cx="5577840" cy="868680"/>
              </a:xfrm>
              <a:prstGeom prst="rect">
                <a:avLst/>
              </a:prstGeom>
              <a:blipFill>
                <a:blip r:embed="rId4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18B170-80F4-CAC0-F71D-750A31BE84F7}"/>
                  </a:ext>
                </a:extLst>
              </p:cNvPr>
              <p:cNvSpPr txBox="1"/>
              <p:nvPr/>
            </p:nvSpPr>
            <p:spPr>
              <a:xfrm>
                <a:off x="177339" y="2316538"/>
                <a:ext cx="10372840" cy="6025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Define 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𝑊𝐻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500" dirty="0"/>
                  <a:t> as the loss for a fixed W. Its </a:t>
                </a:r>
                <a:r>
                  <a:rPr lang="en-US" sz="2500" dirty="0">
                    <a:solidFill>
                      <a:srgbClr val="C00000"/>
                    </a:solidFill>
                  </a:rPr>
                  <a:t>gradient </a:t>
                </a:r>
                <a:r>
                  <a:rPr lang="en-US" sz="2500" dirty="0"/>
                  <a:t>is given by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18B170-80F4-CAC0-F71D-750A31BE8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39" y="2316538"/>
                <a:ext cx="10372840" cy="602537"/>
              </a:xfrm>
              <a:prstGeom prst="rect">
                <a:avLst/>
              </a:prstGeom>
              <a:blipFill>
                <a:blip r:embed="rId5"/>
                <a:stretch>
                  <a:fillRect l="-978" r="-122" b="-22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86CE4897-CFB2-2C4E-AB1C-49E1232F6F6D}"/>
              </a:ext>
            </a:extLst>
          </p:cNvPr>
          <p:cNvSpPr/>
          <p:nvPr/>
        </p:nvSpPr>
        <p:spPr>
          <a:xfrm>
            <a:off x="7294417" y="1104312"/>
            <a:ext cx="3338946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807C68-C812-4C53-6A6D-6CD7ABAF3599}"/>
                  </a:ext>
                </a:extLst>
              </p:cNvPr>
              <p:cNvSpPr txBox="1"/>
              <p:nvPr/>
            </p:nvSpPr>
            <p:spPr>
              <a:xfrm>
                <a:off x="253540" y="3934534"/>
                <a:ext cx="6395277" cy="4621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where we define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𝑊𝐻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807C68-C812-4C53-6A6D-6CD7ABAF3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40" y="3934534"/>
                <a:ext cx="6395277" cy="462114"/>
              </a:xfrm>
              <a:prstGeom prst="rect">
                <a:avLst/>
              </a:prstGeom>
              <a:blipFill>
                <a:blip r:embed="rId6"/>
                <a:stretch>
                  <a:fillRect l="-158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504443-B57D-CF9A-829E-1B0CB1F8DC0B}"/>
                  </a:ext>
                </a:extLst>
              </p:cNvPr>
              <p:cNvSpPr txBox="1"/>
              <p:nvPr/>
            </p:nvSpPr>
            <p:spPr>
              <a:xfrm>
                <a:off x="253540" y="4677205"/>
                <a:ext cx="4394216" cy="10675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Use update rule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 ← 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 ⊙ 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𝜵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sub>
                          <m:sup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𝜵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sub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den>
                    </m:f>
                  </m:oMath>
                </a14:m>
                <a:endParaRPr lang="en-US" sz="2400" b="1" dirty="0"/>
              </a:p>
              <a:p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504443-B57D-CF9A-829E-1B0CB1F8D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40" y="4677205"/>
                <a:ext cx="4394216" cy="1067536"/>
              </a:xfrm>
              <a:prstGeom prst="rect">
                <a:avLst/>
              </a:prstGeom>
              <a:blipFill>
                <a:blip r:embed="rId7"/>
                <a:stretch>
                  <a:fillRect l="-23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0398581-1559-0A51-054B-D57D92CC75FE}"/>
              </a:ext>
            </a:extLst>
          </p:cNvPr>
          <p:cNvSpPr txBox="1"/>
          <p:nvPr/>
        </p:nvSpPr>
        <p:spPr>
          <a:xfrm>
            <a:off x="4921273" y="4767428"/>
            <a:ext cx="99738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Why?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6A1B16-FA3A-A922-7CC0-83E48D25B258}"/>
              </a:ext>
            </a:extLst>
          </p:cNvPr>
          <p:cNvSpPr/>
          <p:nvPr/>
        </p:nvSpPr>
        <p:spPr>
          <a:xfrm>
            <a:off x="317104" y="4529182"/>
            <a:ext cx="4394215" cy="9889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0DC7CB-D156-345F-94E2-935428AA93C1}"/>
                  </a:ext>
                </a:extLst>
              </p:cNvPr>
              <p:cNvSpPr txBox="1"/>
              <p:nvPr/>
            </p:nvSpPr>
            <p:spPr>
              <a:xfrm>
                <a:off x="640080" y="5558285"/>
                <a:ext cx="11386066" cy="12997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5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5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𝜵</m:t>
                                </m:r>
                              </m:e>
                              <m:sub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sub>
                              <m:sup>
                                <m: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sz="2500" b="1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5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500" b="1" i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500" b="1" i="0" smtClean="0">
                                    <a:latin typeface="Cambria Math" panose="02040503050406030204" pitchFamily="18" charset="0"/>
                                  </a:rPr>
                                  <m:t>𝛁</m:t>
                                </m:r>
                              </m:e>
                              <m:sub>
                                <m: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  <m:t>𝑯</m:t>
                                </m:r>
                              </m:sub>
                              <m:sup>
                                <m:r>
                                  <a:rPr lang="en-US" sz="25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sz="2500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sz="2500" dirty="0"/>
                  <a:t>, then gradient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500" b="0" i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500" b="0" i="0" smtClean="0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e>
                      <m:sub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500" dirty="0"/>
                  <a:t> is negative so we need to increase H</a:t>
                </a:r>
                <a:r>
                  <a:rPr lang="en-US" sz="2500" baseline="-25000" dirty="0"/>
                  <a:t>ij</a:t>
                </a:r>
              </a:p>
              <a:p>
                <a:br>
                  <a:rPr lang="en-US" sz="200" i="1" dirty="0">
                    <a:latin typeface="Cambria Math" panose="02040503050406030204" pitchFamily="18" charset="0"/>
                  </a:rPr>
                </a:br>
                <a:r>
                  <a:rPr lang="en-US" sz="2500" dirty="0">
                    <a:latin typeface="Cambria Math" panose="02040503050406030204" pitchFamily="18" charset="0"/>
                  </a:rPr>
                  <a:t>-&gt; since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5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5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500" b="1" i="1">
                                        <a:latin typeface="Cambria Math" panose="02040503050406030204" pitchFamily="18" charset="0"/>
                                      </a:rPr>
                                      <m:t>𝜵</m:t>
                                    </m:r>
                                  </m:e>
                                  <m:sub>
                                    <m:r>
                                      <a:rPr lang="en-US" sz="2500" b="1" i="1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sub>
                                  <m:sup>
                                    <m:r>
                                      <a:rPr lang="en-US" sz="25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e>
                            </m:d>
                          </m:e>
                          <m:sub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sz="25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sz="25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500" b="1" i="1">
                                        <a:latin typeface="Cambria Math" panose="02040503050406030204" pitchFamily="18" charset="0"/>
                                      </a:rPr>
                                      <m:t>𝜵</m:t>
                                    </m:r>
                                  </m:e>
                                  <m:sub>
                                    <m:r>
                                      <a:rPr lang="en-US" sz="2500" b="1" i="1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sub>
                                  <m:sup>
                                    <m:r>
                                      <a:rPr lang="en-US" sz="25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e>
                            </m:d>
                          </m:e>
                          <m:sub>
                            <m:r>
                              <a:rPr lang="en-US" sz="25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2500" dirty="0"/>
                  <a:t>, we do increase H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0DC7CB-D156-345F-94E2-935428AA9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5558285"/>
                <a:ext cx="11386066" cy="1299715"/>
              </a:xfrm>
              <a:prstGeom prst="rect">
                <a:avLst/>
              </a:prstGeom>
              <a:blipFill>
                <a:blip r:embed="rId8"/>
                <a:stretch>
                  <a:fillRect l="-891" t="-2913" b="-2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017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08709-608F-7494-D974-1A31ED9B2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33433C-7266-0D2C-70AA-C6F7B3506865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 dirty="0">
                <a:solidFill>
                  <a:srgbClr val="000000"/>
                </a:solidFill>
                <a:latin typeface="+mj-lt"/>
                <a:cs typeface="+mj-lt"/>
              </a:rPr>
              <a:t>Algorithm 1: multiplicative updates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FC0F4-995E-BCE0-5031-99C4AAD8F0C7}"/>
              </a:ext>
            </a:extLst>
          </p:cNvPr>
          <p:cNvSpPr txBox="1"/>
          <p:nvPr/>
        </p:nvSpPr>
        <p:spPr>
          <a:xfrm>
            <a:off x="376843" y="1795184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C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lassic NMF algorithm</a:t>
            </a:r>
            <a:r>
              <a:rPr lang="en-US" sz="2500" b="0" i="0" dirty="0">
                <a:solidFill>
                  <a:srgbClr val="000000"/>
                </a:solidFill>
                <a:latin typeface="+mn-lt"/>
                <a:cs typeface="+mn-lt"/>
              </a:rPr>
              <a:t> by Lee and Seung (Nature 1999, NIPS 2000)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. A</a:t>
            </a:r>
            <a:r>
              <a:rPr sz="2500" b="0" i="0" dirty="0">
                <a:solidFill>
                  <a:srgbClr val="000000"/>
                </a:solidFill>
                <a:latin typeface="+mn-lt"/>
                <a:cs typeface="+mn-lt"/>
              </a:rPr>
              <a:t>lternate: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6D9CFB-3DBC-6951-4A74-C3E833F408B4}"/>
                  </a:ext>
                </a:extLst>
              </p:cNvPr>
              <p:cNvSpPr txBox="1"/>
              <p:nvPr/>
            </p:nvSpPr>
            <p:spPr>
              <a:xfrm>
                <a:off x="2751513" y="2485973"/>
                <a:ext cx="557784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← 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⊙ </m:t>
                      </m:r>
                      <m:f>
                        <m:f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6D9CFB-3DBC-6951-4A74-C3E833F40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513" y="2485973"/>
                <a:ext cx="5577840" cy="868680"/>
              </a:xfrm>
              <a:prstGeom prst="rect">
                <a:avLst/>
              </a:prstGeom>
              <a:blipFill>
                <a:blip r:embed="rId2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A5BA4D-76DF-4D3B-53FB-7B0C9DB87B51}"/>
                  </a:ext>
                </a:extLst>
              </p:cNvPr>
              <p:cNvSpPr txBox="1"/>
              <p:nvPr/>
            </p:nvSpPr>
            <p:spPr>
              <a:xfrm>
                <a:off x="2751513" y="3446093"/>
                <a:ext cx="557784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← 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2500" b="0" i="1">
                          <a:latin typeface="Cambria Math" panose="02040503050406030204" pitchFamily="18" charset="0"/>
                        </a:rPr>
                        <m:t> ⊙ </m:t>
                      </m:r>
                      <m:f>
                        <m:fPr>
                          <m:ctrlPr>
                            <a:rPr lang="en-US" sz="25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𝑌</m:t>
                          </m:r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num>
                        <m:den>
                          <m:r>
                            <a:rPr lang="en-US" sz="25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  <m:sSup>
                            <m:sSupPr>
                              <m:ctrlPr>
                                <a:rPr lang="en-US" sz="25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A5BA4D-76DF-4D3B-53FB-7B0C9DB87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513" y="3446093"/>
                <a:ext cx="5577840" cy="868680"/>
              </a:xfrm>
              <a:prstGeom prst="rect">
                <a:avLst/>
              </a:prstGeom>
              <a:blipFill>
                <a:blip r:embed="rId3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9947C7-2DB1-98AA-A113-846D3403CC60}"/>
                  </a:ext>
                </a:extLst>
              </p:cNvPr>
              <p:cNvSpPr txBox="1"/>
              <p:nvPr/>
            </p:nvSpPr>
            <p:spPr>
              <a:xfrm>
                <a:off x="7446818" y="2549980"/>
                <a:ext cx="4592782" cy="18836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b="0" i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⊙ and the fraction bar are elementwise (</a:t>
                </a:r>
                <a:r>
                  <a:rPr lang="en-US" sz="2000" b="0" i="1" dirty="0" err="1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entrywise</a:t>
                </a:r>
                <a:r>
                  <a:rPr lang="en-US" sz="2000" b="0" i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) operations.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sz="2000" i="1" dirty="0">
                  <a:solidFill>
                    <a:schemeClr val="bg1">
                      <a:lumMod val="50000"/>
                    </a:schemeClr>
                  </a:solidFill>
                  <a:cs typeface="+mn-lt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000" b="0" i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i.e.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a:rPr lang="en-US" sz="20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b="0" i="1" dirty="0">
                    <a:solidFill>
                      <a:schemeClr val="bg1">
                        <a:lumMod val="50000"/>
                      </a:schemeClr>
                    </a:solidFill>
                    <a:latin typeface="+mn-lt"/>
                    <a:cs typeface="+mn-lt"/>
                  </a:rPr>
                  <a:t> is matrix with entries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  <m:t>𝐴</m:t>
                        </m:r>
                      </m:e>
                      <m:sub>
                        <m: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  <m:t>𝑖𝑗</m:t>
                        </m:r>
                      </m:sub>
                    </m:sSub>
                    <m:r>
                      <a:rPr lang="ar-AE" sz="2000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+mn-lt"/>
                      </a:rPr>
                      <m:t>⋅</m:t>
                    </m:r>
                    <m:sSub>
                      <m:sSubPr>
                        <m:ctrlP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  <m:t>𝐵</m:t>
                        </m:r>
                      </m:e>
                      <m:sub>
                        <m:r>
                          <a:rPr lang="ar-AE" sz="20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+mn-lt"/>
                          </a:rPr>
                          <m:t>𝑖𝑗</m:t>
                        </m:r>
                      </m:sub>
                    </m:sSub>
                  </m:oMath>
                </a14:m>
                <a:endParaRPr lang="ar-AE" sz="2000" b="0" i="1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9947C7-2DB1-98AA-A113-846D3403C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818" y="2549980"/>
                <a:ext cx="4592782" cy="1883665"/>
              </a:xfrm>
              <a:prstGeom prst="rect">
                <a:avLst/>
              </a:prstGeom>
              <a:blipFill>
                <a:blip r:embed="rId4"/>
                <a:stretch>
                  <a:fillRect l="-3306" t="-4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61E0922-32FC-EF4E-1C0D-73C949DD1433}"/>
              </a:ext>
            </a:extLst>
          </p:cNvPr>
          <p:cNvSpPr txBox="1"/>
          <p:nvPr/>
        </p:nvSpPr>
        <p:spPr>
          <a:xfrm>
            <a:off x="502920" y="4741130"/>
            <a:ext cx="10881360" cy="22236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US" sz="3000" dirty="0">
                <a:solidFill>
                  <a:srgbClr val="FF0000"/>
                </a:solidFill>
                <a:cs typeface="+mn-lt"/>
              </a:rPr>
              <a:t>Downside: for large datasets, convergence is slow near the optimal solution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04AEFF-A8D3-4E3C-9B8D-509537764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9563" y="94262"/>
            <a:ext cx="3658062" cy="162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266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0BD417-3C4C-6885-764C-E31D65382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2676E0-D25F-144F-72D3-192FBBD2E648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Where does multiplicative update rule come from?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249C1E-6644-9ECE-688B-2312C2D95061}"/>
              </a:ext>
            </a:extLst>
          </p:cNvPr>
          <p:cNvSpPr txBox="1"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+mn-lt"/>
                <a:cs typeface="+mn-lt"/>
              </a:rPr>
              <a:t>Where do they come from? Start from the gradient in H (W fixed):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0D27BED-4884-71FE-07DD-F359956D265C}"/>
                  </a:ext>
                </a:extLst>
              </p:cNvPr>
              <p:cNvSpPr txBox="1"/>
              <p:nvPr/>
            </p:nvSpPr>
            <p:spPr>
              <a:xfrm>
                <a:off x="2423160" y="1965960"/>
                <a:ext cx="7315200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  <m:sup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p>
                            <m:sSup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160" y="1965960"/>
                <a:ext cx="7315200" cy="7772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F809730-4F41-C92E-2047-F85AFEE954AE}"/>
              </a:ext>
            </a:extLst>
          </p:cNvPr>
          <p:cNvSpPr txBox="1"/>
          <p:nvPr/>
        </p:nvSpPr>
        <p:spPr>
          <a:xfrm>
            <a:off x="640080" y="27889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A gradient step H ← H − η ∇ with the per-entry step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B57AC0-9441-664D-5FE9-15EAA7C8E050}"/>
                  </a:ext>
                </a:extLst>
              </p:cNvPr>
              <p:cNvSpPr txBox="1"/>
              <p:nvPr/>
            </p:nvSpPr>
            <p:spPr>
              <a:xfrm>
                <a:off x="4023360" y="3200400"/>
                <a:ext cx="4114800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200" b="0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2200" b="0" i="1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2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sSup>
                            <m:sSupPr>
                              <m:ctrlPr>
                                <a:rPr lang="en-US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200" b="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sz="2200" b="0" i="1">
                              <a:latin typeface="Cambria Math" panose="02040503050406030204" pitchFamily="18" charset="0"/>
                            </a:rPr>
                            <m:t>𝑊𝐻</m:t>
                          </m:r>
                        </m:den>
                      </m:f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360" y="3200400"/>
                <a:ext cx="4114800" cy="777240"/>
              </a:xfrm>
              <a:prstGeom prst="rect">
                <a:avLst/>
              </a:prstGeom>
              <a:blipFill>
                <a:blip r:embed="rId3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44B5A57-B130-9169-0F09-2B77F0F9F9C0}"/>
              </a:ext>
            </a:extLst>
          </p:cNvPr>
          <p:cNvSpPr txBox="1"/>
          <p:nvPr/>
        </p:nvSpPr>
        <p:spPr>
          <a:xfrm>
            <a:off x="640080" y="40690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makes the negative terms cancel and recovers the multiplicative update exactly.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85064B-2DEE-2600-D03B-053A61D4A72E}"/>
              </a:ext>
            </a:extLst>
          </p:cNvPr>
          <p:cNvSpPr txBox="1"/>
          <p:nvPr/>
        </p:nvSpPr>
        <p:spPr>
          <a:xfrm>
            <a:off x="640080" y="4754880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The adaptive step keeps entries ≥ 0 and vanishes at a stationary point (gradient = 0 ⇒ ratio = 1).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 dirty="0">
                <a:solidFill>
                  <a:srgbClr val="000000"/>
                </a:solidFill>
                <a:latin typeface="+mn-lt"/>
                <a:cs typeface="+mn-lt"/>
              </a:rPr>
              <a:t>Simple and robust, but convergence can be slow near the optimum — motivating faster solvers.</a:t>
            </a:r>
          </a:p>
        </p:txBody>
      </p:sp>
    </p:spTree>
    <p:extLst>
      <p:ext uri="{BB962C8B-B14F-4D97-AF65-F5344CB8AC3E}">
        <p14:creationId xmlns:p14="http://schemas.microsoft.com/office/powerpoint/2010/main" val="2418501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4691" y="274320"/>
            <a:ext cx="1206730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 dirty="0">
                <a:solidFill>
                  <a:srgbClr val="000000"/>
                </a:solidFill>
                <a:latin typeface="+mj-lt"/>
                <a:cs typeface="+mj-lt"/>
              </a:rPr>
              <a:t>Algorithm 2: alternating</a:t>
            </a: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 non-negative</a:t>
            </a:r>
            <a:r>
              <a:rPr sz="4000" b="0" i="0" dirty="0">
                <a:solidFill>
                  <a:srgbClr val="000000"/>
                </a:solidFill>
                <a:latin typeface="+mj-lt"/>
                <a:cs typeface="+mj-lt"/>
              </a:rPr>
              <a:t> least squares (ANLS</a:t>
            </a: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)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0040" y="117174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Consider the subproblem:</a:t>
            </a:r>
            <a:endParaRPr sz="3000" b="0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201785" y="1133903"/>
                <a:ext cx="5235884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3000" b="0" i="0" smtClean="0">
                          <a:latin typeface="Cambria Math" panose="02040503050406030204" pitchFamily="18" charset="0"/>
                        </a:rPr>
                        <m:t>fix</m:t>
                      </m:r>
                      <m:r>
                        <a:rPr lang="en-US" sz="3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000" b="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 sz="3000" b="0" i="0">
                          <a:latin typeface="Cambria Math" panose="02040503050406030204" pitchFamily="18" charset="0"/>
                        </a:rPr>
                        <m:t>: </m:t>
                      </m:r>
                      <m:limLow>
                        <m:limLowPr>
                          <m:ctrlPr>
                            <a:rPr lang="en-US" sz="3000" b="0" i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000" b="0" i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3000" b="0" i="1"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3000" b="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3000" b="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3000" b="0" i="1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  <m:sup>
                          <m:r>
                            <a:rPr lang="en-US" sz="3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785" y="1133903"/>
                <a:ext cx="5235884" cy="777240"/>
              </a:xfrm>
              <a:prstGeom prst="rect">
                <a:avLst/>
              </a:prstGeom>
              <a:blipFill>
                <a:blip r:embed="rId2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20040" y="2259931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000" b="1" i="0" dirty="0">
                <a:solidFill>
                  <a:srgbClr val="FF0000"/>
                </a:solidFill>
                <a:latin typeface="+mn-lt"/>
                <a:cs typeface="+mn-lt"/>
              </a:rPr>
              <a:t>Alternating nonnegative least squares (ANLS) 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update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s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 one 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column of H 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at a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14945" y="6858000"/>
                <a:ext cx="8686800" cy="77724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← 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 b="0" i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residual</m:t>
                              </m:r>
                            </m:e>
                          </m:d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 ,  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</m:e>
                          </m:d>
                        </m:e>
                        <m:sub>
                          <m:r>
                            <a:rPr lang="en-US" sz="2000" b="0" i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sz="2000" b="0" i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2000" b="0" i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(·, 0)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945" y="6858000"/>
                <a:ext cx="8686800" cy="7772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40080" y="6858000"/>
            <a:ext cx="108813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Usually converges faster than multiplicative updates and avoids “stuck-at-zero” entries.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Default solver in many libraries (scikit-learn NMF; LIGER uses block-coordinate ANLS).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62451F-9602-6F0B-89D6-C1601921100F}"/>
                  </a:ext>
                </a:extLst>
              </p:cNvPr>
              <p:cNvSpPr txBox="1"/>
              <p:nvPr/>
            </p:nvSpPr>
            <p:spPr>
              <a:xfrm>
                <a:off x="5798820" y="3916294"/>
                <a:ext cx="6273208" cy="817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US" sz="30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0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3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30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30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30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𝑊ℎ</m:t>
                              </m:r>
                            </m:e>
                          </m:d>
                        </m:e>
                        <m:sup>
                          <m:r>
                            <a:rPr lang="en-US" sz="30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B62451F-9602-6F0B-89D6-C16019211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820" y="3916294"/>
                <a:ext cx="6273208" cy="817916"/>
              </a:xfrm>
              <a:prstGeom prst="rect">
                <a:avLst/>
              </a:prstGeom>
              <a:blipFill>
                <a:blip r:embed="rId4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78A17D14-9238-D08E-1690-08C30664BD32}"/>
              </a:ext>
            </a:extLst>
          </p:cNvPr>
          <p:cNvGrpSpPr/>
          <p:nvPr/>
        </p:nvGrpSpPr>
        <p:grpSpPr>
          <a:xfrm>
            <a:off x="894707" y="3328754"/>
            <a:ext cx="5264715" cy="2861641"/>
            <a:chOff x="1072289" y="3241980"/>
            <a:chExt cx="5264715" cy="2861641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4504A59-D310-E806-3B96-B65B1A7126BD}"/>
                </a:ext>
              </a:extLst>
            </p:cNvPr>
            <p:cNvGrpSpPr/>
            <p:nvPr/>
          </p:nvGrpSpPr>
          <p:grpSpPr>
            <a:xfrm>
              <a:off x="1072289" y="3843140"/>
              <a:ext cx="5264715" cy="2260481"/>
              <a:chOff x="1497592" y="4190208"/>
              <a:chExt cx="3659540" cy="1793986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896C83BA-5AB1-33EE-64BB-CB96A9154780}"/>
                  </a:ext>
                </a:extLst>
              </p:cNvPr>
              <p:cNvGrpSpPr/>
              <p:nvPr/>
            </p:nvGrpSpPr>
            <p:grpSpPr>
              <a:xfrm>
                <a:off x="1497592" y="4206240"/>
                <a:ext cx="3659540" cy="1777954"/>
                <a:chOff x="3538728" y="2926080"/>
                <a:chExt cx="5065776" cy="2606040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1DF3896C-6763-1F39-6919-426DE5FC31C1}"/>
                    </a:ext>
                  </a:extLst>
                </p:cNvPr>
                <p:cNvSpPr/>
                <p:nvPr/>
              </p:nvSpPr>
              <p:spPr>
                <a:xfrm>
                  <a:off x="3538728" y="2926080"/>
                  <a:ext cx="1737360" cy="2240281"/>
                </a:xfrm>
                <a:prstGeom prst="rect">
                  <a:avLst/>
                </a:prstGeom>
                <a:noFill/>
                <a:ln w="28575">
                  <a:solidFill>
                    <a:srgbClr val="0E284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500" dirty="0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272D674-F851-B22C-DD48-0366B504F9E9}"/>
                    </a:ext>
                  </a:extLst>
                </p:cNvPr>
                <p:cNvSpPr/>
                <p:nvPr/>
              </p:nvSpPr>
              <p:spPr>
                <a:xfrm>
                  <a:off x="3538728" y="2926080"/>
                  <a:ext cx="1737360" cy="224028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25400" tIns="25400" rIns="25400" bIns="25400" rtlCol="0" anchor="ctr"/>
                <a:lstStyle/>
                <a:p>
                  <a:pPr algn="ctr"/>
                  <a:r>
                    <a:rPr lang="en-US" sz="2500" b="0" i="1" dirty="0">
                      <a:solidFill>
                        <a:srgbClr val="000000"/>
                      </a:solidFill>
                      <a:latin typeface="Cambria Math"/>
                      <a:cs typeface="Cambria Math"/>
                    </a:rPr>
                    <a:t>Y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767EC82-7F9E-2D39-13A5-3693662DC587}"/>
                    </a:ext>
                  </a:extLst>
                </p:cNvPr>
                <p:cNvSpPr txBox="1"/>
                <p:nvPr/>
              </p:nvSpPr>
              <p:spPr>
                <a:xfrm>
                  <a:off x="5312664" y="3753612"/>
                  <a:ext cx="457200" cy="58521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sz="2500" b="0" i="0" dirty="0">
                      <a:solidFill>
                        <a:srgbClr val="000000"/>
                      </a:solidFill>
                      <a:latin typeface="Cambria Math"/>
                      <a:cs typeface="Cambria Math"/>
                    </a:rPr>
                    <a:t>≈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35CB44B-E5E0-1164-5608-246BEB82F9FD}"/>
                    </a:ext>
                  </a:extLst>
                </p:cNvPr>
                <p:cNvSpPr/>
                <p:nvPr/>
              </p:nvSpPr>
              <p:spPr>
                <a:xfrm>
                  <a:off x="5806440" y="2926080"/>
                  <a:ext cx="914400" cy="2240280"/>
                </a:xfrm>
                <a:prstGeom prst="rect">
                  <a:avLst/>
                </a:prstGeom>
                <a:noFill/>
                <a:ln w="28575">
                  <a:solidFill>
                    <a:srgbClr val="0E284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500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AAC787CE-EE92-F065-F6E3-9EC1360F0FD0}"/>
                    </a:ext>
                  </a:extLst>
                </p:cNvPr>
                <p:cNvSpPr/>
                <p:nvPr/>
              </p:nvSpPr>
              <p:spPr>
                <a:xfrm>
                  <a:off x="5806440" y="2926080"/>
                  <a:ext cx="914400" cy="22402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25400" tIns="25400" rIns="25400" bIns="25400" rtlCol="0" anchor="ctr"/>
                <a:lstStyle/>
                <a:p>
                  <a:pPr algn="ctr"/>
                  <a:r>
                    <a:rPr sz="2500" b="0" i="1">
                      <a:solidFill>
                        <a:srgbClr val="000000"/>
                      </a:solidFill>
                      <a:latin typeface="Cambria Math"/>
                      <a:cs typeface="Cambria Math"/>
                    </a:rPr>
                    <a:t>W</a:t>
                  </a: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C0216173-B591-0195-D37C-C962C82624E3}"/>
                    </a:ext>
                  </a:extLst>
                </p:cNvPr>
                <p:cNvSpPr/>
                <p:nvPr/>
              </p:nvSpPr>
              <p:spPr>
                <a:xfrm>
                  <a:off x="6867144" y="2926080"/>
                  <a:ext cx="1737360" cy="914401"/>
                </a:xfrm>
                <a:prstGeom prst="rect">
                  <a:avLst/>
                </a:prstGeom>
                <a:noFill/>
                <a:ln w="28575">
                  <a:solidFill>
                    <a:srgbClr val="0E284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500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37165138-5B03-414F-A4C7-AB807331A256}"/>
                    </a:ext>
                  </a:extLst>
                </p:cNvPr>
                <p:cNvSpPr/>
                <p:nvPr/>
              </p:nvSpPr>
              <p:spPr>
                <a:xfrm>
                  <a:off x="6867144" y="2926080"/>
                  <a:ext cx="1737360" cy="91440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25400" tIns="25400" rIns="25400" bIns="25400" rtlCol="0" anchor="ctr"/>
                <a:lstStyle/>
                <a:p>
                  <a:pPr algn="ctr"/>
                  <a:r>
                    <a:rPr sz="2500" b="0" i="1">
                      <a:solidFill>
                        <a:srgbClr val="000000"/>
                      </a:solidFill>
                      <a:latin typeface="Cambria Math"/>
                      <a:cs typeface="Cambria Math"/>
                    </a:rPr>
                    <a:t>H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F10F2E5-1F49-BC17-ABBF-391482BD723A}"/>
                    </a:ext>
                  </a:extLst>
                </p:cNvPr>
                <p:cNvSpPr txBox="1"/>
                <p:nvPr/>
              </p:nvSpPr>
              <p:spPr>
                <a:xfrm>
                  <a:off x="3538728" y="5221223"/>
                  <a:ext cx="1737360" cy="3108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lang="en-US"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Y  (cells × genes)</a:t>
                  </a:r>
                  <a:endParaRPr sz="2500" b="0" i="0" dirty="0">
                    <a:solidFill>
                      <a:srgbClr val="000000"/>
                    </a:solidFill>
                    <a:latin typeface="+mn-lt"/>
                    <a:cs typeface="+mn-lt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29CE5E5-289E-497C-0E24-D4EA55638417}"/>
                    </a:ext>
                  </a:extLst>
                </p:cNvPr>
                <p:cNvSpPr txBox="1"/>
                <p:nvPr/>
              </p:nvSpPr>
              <p:spPr>
                <a:xfrm>
                  <a:off x="5669279" y="5221226"/>
                  <a:ext cx="1385763" cy="3108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W  (</a:t>
                  </a:r>
                  <a:r>
                    <a:rPr lang="en-US"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N</a:t>
                  </a:r>
                  <a:r>
                    <a:rPr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 × K)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A6243B9-DF43-F22F-0FEE-F055650F3D98}"/>
                    </a:ext>
                  </a:extLst>
                </p:cNvPr>
                <p:cNvSpPr txBox="1"/>
                <p:nvPr/>
              </p:nvSpPr>
              <p:spPr>
                <a:xfrm>
                  <a:off x="6867144" y="3895344"/>
                  <a:ext cx="1737360" cy="31089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lang="en-US"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H  (K × G)</a:t>
                  </a:r>
                  <a:endParaRPr sz="2500" b="0" i="0" dirty="0">
                    <a:solidFill>
                      <a:srgbClr val="000000"/>
                    </a:solidFill>
                    <a:latin typeface="+mn-lt"/>
                    <a:cs typeface="+mn-lt"/>
                  </a:endParaRPr>
                </a:p>
              </p:txBody>
            </p:sp>
          </p:grp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622772F-6960-E5FA-8235-AD9333AEC608}"/>
                  </a:ext>
                </a:extLst>
              </p:cNvPr>
              <p:cNvSpPr/>
              <p:nvPr/>
            </p:nvSpPr>
            <p:spPr>
              <a:xfrm>
                <a:off x="1728510" y="4190208"/>
                <a:ext cx="317353" cy="1528417"/>
              </a:xfrm>
              <a:prstGeom prst="rect">
                <a:avLst/>
              </a:prstGeom>
              <a:noFill/>
              <a:ln w="762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50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6FC2307-B963-14DD-25E7-EF1B5BE3004B}"/>
                  </a:ext>
                </a:extLst>
              </p:cNvPr>
              <p:cNvSpPr/>
              <p:nvPr/>
            </p:nvSpPr>
            <p:spPr>
              <a:xfrm>
                <a:off x="4064653" y="4219271"/>
                <a:ext cx="277439" cy="623845"/>
              </a:xfrm>
              <a:prstGeom prst="rect">
                <a:avLst/>
              </a:prstGeom>
              <a:noFill/>
              <a:ln w="762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500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4124D1-3694-B9D7-D392-A0FFB0F8A04C}"/>
                </a:ext>
              </a:extLst>
            </p:cNvPr>
            <p:cNvSpPr txBox="1"/>
            <p:nvPr/>
          </p:nvSpPr>
          <p:spPr>
            <a:xfrm>
              <a:off x="1418297" y="3241980"/>
              <a:ext cx="44275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 err="1">
                  <a:solidFill>
                    <a:srgbClr val="C00000"/>
                  </a:solidFill>
                </a:rPr>
                <a:t>y</a:t>
              </a:r>
              <a:r>
                <a:rPr lang="en-US" sz="3000" b="1" baseline="-25000" dirty="0" err="1">
                  <a:solidFill>
                    <a:srgbClr val="C00000"/>
                  </a:solidFill>
                </a:rPr>
                <a:t>j</a:t>
              </a:r>
              <a:endParaRPr lang="en-US" sz="3000" b="1" baseline="-25000" dirty="0">
                <a:solidFill>
                  <a:srgbClr val="C00000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C2308D3-D265-1338-17B2-834904A7901E}"/>
                </a:ext>
              </a:extLst>
            </p:cNvPr>
            <p:cNvSpPr txBox="1"/>
            <p:nvPr/>
          </p:nvSpPr>
          <p:spPr>
            <a:xfrm>
              <a:off x="4726693" y="3285762"/>
              <a:ext cx="40748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solidFill>
                    <a:srgbClr val="C00000"/>
                  </a:solidFill>
                </a:rPr>
                <a:t>h</a:t>
              </a:r>
              <a:endParaRPr lang="en-US" sz="3000" b="1" baseline="-25000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F3614C-0611-54B4-924E-8A3F504F8632}"/>
              </a:ext>
            </a:extLst>
          </p:cNvPr>
          <p:cNvSpPr txBox="1"/>
          <p:nvPr/>
        </p:nvSpPr>
        <p:spPr>
          <a:xfrm>
            <a:off x="367579" y="331470"/>
            <a:ext cx="1206730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How to solve non-negative least squares (NNLS)?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0587AD-7237-AA13-436D-4A04E69CCE94}"/>
                  </a:ext>
                </a:extLst>
              </p:cNvPr>
              <p:cNvSpPr txBox="1"/>
              <p:nvPr/>
            </p:nvSpPr>
            <p:spPr>
              <a:xfrm>
                <a:off x="5121370" y="1289060"/>
                <a:ext cx="682752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Active-set approach: iteratively build up two sets</a:t>
                </a:r>
              </a:p>
              <a:p>
                <a:pPr marL="514350" indent="-514350">
                  <a:buAutoNum type="arabicPeriod"/>
                </a:pPr>
                <a:r>
                  <a:rPr lang="en-US" sz="3000" dirty="0">
                    <a:solidFill>
                      <a:srgbClr val="FF0000"/>
                    </a:solidFill>
                  </a:rPr>
                  <a:t>P = passive set =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≥0}</m:t>
                    </m:r>
                  </m:oMath>
                </a14:m>
                <a:endParaRPr lang="en-US" sz="3000" dirty="0">
                  <a:solidFill>
                    <a:srgbClr val="FF0000"/>
                  </a:solidFill>
                </a:endParaRPr>
              </a:p>
              <a:p>
                <a:pPr marL="514350" indent="-514350">
                  <a:buFontTx/>
                  <a:buAutoNum type="arabicPeriod"/>
                </a:pPr>
                <a:r>
                  <a:rPr lang="en-US" sz="3000" dirty="0">
                    <a:solidFill>
                      <a:srgbClr val="00B050"/>
                    </a:solidFill>
                  </a:rPr>
                  <a:t>Z = zero set =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0}</m:t>
                    </m:r>
                  </m:oMath>
                </a14:m>
                <a:endParaRPr lang="en-US" sz="3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0587AD-7237-AA13-436D-4A04E69CC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370" y="1289060"/>
                <a:ext cx="6827520" cy="1938992"/>
              </a:xfrm>
              <a:prstGeom prst="rect">
                <a:avLst/>
              </a:prstGeom>
              <a:blipFill>
                <a:blip r:embed="rId2"/>
                <a:stretch>
                  <a:fillRect l="-2230" t="-3247" r="-929" b="-8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FA0431-B0D6-3B10-CFDA-369359ACC233}"/>
                  </a:ext>
                </a:extLst>
              </p:cNvPr>
              <p:cNvSpPr txBox="1"/>
              <p:nvPr/>
            </p:nvSpPr>
            <p:spPr>
              <a:xfrm>
                <a:off x="-1126236" y="1051174"/>
                <a:ext cx="6273208" cy="702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US" sz="3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3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3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3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3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𝑊ℎ</m:t>
                              </m:r>
                            </m:e>
                          </m:d>
                        </m:e>
                        <m:sup>
                          <m:r>
                            <a:rPr lang="en-US" sz="3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FA0431-B0D6-3B10-CFDA-369359ACC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6236" y="1051174"/>
                <a:ext cx="6273208" cy="702949"/>
              </a:xfrm>
              <a:prstGeom prst="rect">
                <a:avLst/>
              </a:prstGeom>
              <a:blipFill>
                <a:blip r:embed="rId3"/>
                <a:stretch>
                  <a:fillRect b="-19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249370B5-56BC-5DB1-90DF-7211BCE9332D}"/>
              </a:ext>
            </a:extLst>
          </p:cNvPr>
          <p:cNvGrpSpPr/>
          <p:nvPr/>
        </p:nvGrpSpPr>
        <p:grpSpPr>
          <a:xfrm>
            <a:off x="506123" y="2473827"/>
            <a:ext cx="3053047" cy="2817858"/>
            <a:chOff x="2155975" y="3285762"/>
            <a:chExt cx="3053047" cy="281785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726B5DB-AE80-B0CE-BD14-61201A9CC186}"/>
                </a:ext>
              </a:extLst>
            </p:cNvPr>
            <p:cNvGrpSpPr/>
            <p:nvPr/>
          </p:nvGrpSpPr>
          <p:grpSpPr>
            <a:xfrm>
              <a:off x="2155975" y="3839761"/>
              <a:ext cx="3053047" cy="2263859"/>
              <a:chOff x="2250869" y="4187527"/>
              <a:chExt cx="2122194" cy="179666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ED38369-53DA-CEC1-AB0C-5B9E15E85770}"/>
                  </a:ext>
                </a:extLst>
              </p:cNvPr>
              <p:cNvGrpSpPr/>
              <p:nvPr/>
            </p:nvGrpSpPr>
            <p:grpSpPr>
              <a:xfrm>
                <a:off x="2702367" y="4206240"/>
                <a:ext cx="1335427" cy="1777954"/>
                <a:chOff x="5206456" y="2926080"/>
                <a:chExt cx="1848586" cy="2606040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8581032-70DC-6007-F755-8FBA5E793F4E}"/>
                    </a:ext>
                  </a:extLst>
                </p:cNvPr>
                <p:cNvSpPr txBox="1"/>
                <p:nvPr/>
              </p:nvSpPr>
              <p:spPr>
                <a:xfrm>
                  <a:off x="5206456" y="3730113"/>
                  <a:ext cx="457200" cy="58521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lang="en-US" sz="2500" dirty="0">
                      <a:solidFill>
                        <a:srgbClr val="000000"/>
                      </a:solidFill>
                      <a:latin typeface="Cambria Math"/>
                      <a:cs typeface="Cambria Math"/>
                    </a:rPr>
                    <a:t>=</a:t>
                  </a:r>
                  <a:endParaRPr sz="2500" b="0" i="0" dirty="0">
                    <a:solidFill>
                      <a:srgbClr val="000000"/>
                    </a:solidFill>
                    <a:latin typeface="Cambria Math"/>
                    <a:cs typeface="Cambria Math"/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477D76BA-B6CE-0597-A84D-8B9EE73E02B5}"/>
                    </a:ext>
                  </a:extLst>
                </p:cNvPr>
                <p:cNvSpPr/>
                <p:nvPr/>
              </p:nvSpPr>
              <p:spPr>
                <a:xfrm>
                  <a:off x="5806440" y="2926080"/>
                  <a:ext cx="1115269" cy="2240280"/>
                </a:xfrm>
                <a:prstGeom prst="rect">
                  <a:avLst/>
                </a:prstGeom>
                <a:noFill/>
                <a:ln w="28575">
                  <a:solidFill>
                    <a:srgbClr val="0E284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50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F28E320-F6BA-A214-FE6D-3513E1E98467}"/>
                    </a:ext>
                  </a:extLst>
                </p:cNvPr>
                <p:cNvSpPr txBox="1"/>
                <p:nvPr/>
              </p:nvSpPr>
              <p:spPr>
                <a:xfrm>
                  <a:off x="5669279" y="5221226"/>
                  <a:ext cx="1385763" cy="3108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W  (</a:t>
                  </a:r>
                  <a:r>
                    <a:rPr lang="en-US"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N</a:t>
                  </a:r>
                  <a:r>
                    <a:rPr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 × K)</a:t>
                  </a:r>
                </a:p>
              </p:txBody>
            </p:sp>
          </p:grp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5F807A3-F504-FB7E-11C1-3A7331BB242A}"/>
                  </a:ext>
                </a:extLst>
              </p:cNvPr>
              <p:cNvSpPr/>
              <p:nvPr/>
            </p:nvSpPr>
            <p:spPr>
              <a:xfrm>
                <a:off x="2250869" y="4229893"/>
                <a:ext cx="317353" cy="1528417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50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A0631FC-0572-8B10-2EAB-7214BB7B97A0}"/>
                  </a:ext>
                </a:extLst>
              </p:cNvPr>
              <p:cNvSpPr/>
              <p:nvPr/>
            </p:nvSpPr>
            <p:spPr>
              <a:xfrm>
                <a:off x="4095625" y="4187527"/>
                <a:ext cx="277438" cy="919870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50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3E8B2F-10CE-98A3-B97B-ECF9EA426332}"/>
                </a:ext>
              </a:extLst>
            </p:cNvPr>
            <p:cNvSpPr txBox="1"/>
            <p:nvPr/>
          </p:nvSpPr>
          <p:spPr>
            <a:xfrm>
              <a:off x="2169777" y="3291984"/>
              <a:ext cx="37382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solidFill>
                    <a:srgbClr val="C00000"/>
                  </a:solidFill>
                </a:rPr>
                <a:t>y</a:t>
              </a:r>
              <a:endParaRPr lang="en-US" sz="3000" b="1" baseline="-25000" dirty="0">
                <a:solidFill>
                  <a:srgbClr val="C0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E11164-7783-931D-BBF7-58F491FFBA74}"/>
                </a:ext>
              </a:extLst>
            </p:cNvPr>
            <p:cNvSpPr txBox="1"/>
            <p:nvPr/>
          </p:nvSpPr>
          <p:spPr>
            <a:xfrm>
              <a:off x="4726693" y="3285762"/>
              <a:ext cx="40748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solidFill>
                    <a:srgbClr val="C00000"/>
                  </a:solidFill>
                </a:rPr>
                <a:t>h</a:t>
              </a:r>
              <a:endParaRPr lang="en-US" sz="3000" b="1" baseline="-25000" dirty="0">
                <a:solidFill>
                  <a:srgbClr val="C00000"/>
                </a:solidFill>
              </a:endParaRPr>
            </a:p>
          </p:txBody>
        </p:sp>
      </p:grp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CCDA61D-CF79-A78F-EB79-AE55328907CE}"/>
              </a:ext>
            </a:extLst>
          </p:cNvPr>
          <p:cNvSpPr/>
          <p:nvPr/>
        </p:nvSpPr>
        <p:spPr>
          <a:xfrm>
            <a:off x="3645408" y="3051405"/>
            <a:ext cx="316992" cy="55595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2780EDE9-6DCC-9C36-7194-64EB89DDCF31}"/>
              </a:ext>
            </a:extLst>
          </p:cNvPr>
          <p:cNvSpPr/>
          <p:nvPr/>
        </p:nvSpPr>
        <p:spPr>
          <a:xfrm>
            <a:off x="3657600" y="3689717"/>
            <a:ext cx="316992" cy="555954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E0740C-FFA8-2CFA-544D-5040525AAEE3}"/>
              </a:ext>
            </a:extLst>
          </p:cNvPr>
          <p:cNvSpPr txBox="1"/>
          <p:nvPr/>
        </p:nvSpPr>
        <p:spPr>
          <a:xfrm>
            <a:off x="4008314" y="31391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C06C21-EF6A-1697-3026-5F7A149256EF}"/>
              </a:ext>
            </a:extLst>
          </p:cNvPr>
          <p:cNvSpPr txBox="1"/>
          <p:nvPr/>
        </p:nvSpPr>
        <p:spPr>
          <a:xfrm>
            <a:off x="4022742" y="37830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5320965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D04D-FEBD-2849-B1DF-3204D36F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A87876-8BF0-2DEC-CED5-F01AFA5D8458}"/>
              </a:ext>
            </a:extLst>
          </p:cNvPr>
          <p:cNvSpPr txBox="1"/>
          <p:nvPr/>
        </p:nvSpPr>
        <p:spPr>
          <a:xfrm>
            <a:off x="367579" y="331470"/>
            <a:ext cx="1206730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How to solve non-negative least squares (NNLS)?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C15523-2AD9-3C2F-44F7-40624AC8E016}"/>
                  </a:ext>
                </a:extLst>
              </p:cNvPr>
              <p:cNvSpPr txBox="1"/>
              <p:nvPr/>
            </p:nvSpPr>
            <p:spPr>
              <a:xfrm>
                <a:off x="5121370" y="1289060"/>
                <a:ext cx="682752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Active-set approach: iteratively build up two sets</a:t>
                </a:r>
              </a:p>
              <a:p>
                <a:pPr marL="514350" indent="-514350">
                  <a:buAutoNum type="arabicPeriod"/>
                </a:pPr>
                <a:r>
                  <a:rPr lang="en-US" sz="3000" dirty="0">
                    <a:solidFill>
                      <a:srgbClr val="FF0000"/>
                    </a:solidFill>
                  </a:rPr>
                  <a:t>P = passive set =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≥0}</m:t>
                    </m:r>
                  </m:oMath>
                </a14:m>
                <a:endParaRPr lang="en-US" sz="3000" dirty="0">
                  <a:solidFill>
                    <a:srgbClr val="FF0000"/>
                  </a:solidFill>
                </a:endParaRPr>
              </a:p>
              <a:p>
                <a:pPr marL="514350" indent="-514350">
                  <a:buFontTx/>
                  <a:buAutoNum type="arabicPeriod"/>
                </a:pPr>
                <a:r>
                  <a:rPr lang="en-US" sz="3000" dirty="0">
                    <a:solidFill>
                      <a:srgbClr val="00B050"/>
                    </a:solidFill>
                  </a:rPr>
                  <a:t>Z = zero set =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0}</m:t>
                    </m:r>
                  </m:oMath>
                </a14:m>
                <a:endParaRPr lang="en-US" sz="3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C15523-2AD9-3C2F-44F7-40624AC8E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370" y="1289060"/>
                <a:ext cx="6827520" cy="1938992"/>
              </a:xfrm>
              <a:prstGeom prst="rect">
                <a:avLst/>
              </a:prstGeom>
              <a:blipFill>
                <a:blip r:embed="rId3"/>
                <a:stretch>
                  <a:fillRect l="-2230" t="-3247" r="-929" b="-8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023816-54EA-2757-4C5B-54C9E52973E5}"/>
                  </a:ext>
                </a:extLst>
              </p:cNvPr>
              <p:cNvSpPr txBox="1"/>
              <p:nvPr/>
            </p:nvSpPr>
            <p:spPr>
              <a:xfrm>
                <a:off x="-1126236" y="1051174"/>
                <a:ext cx="6273208" cy="702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US" sz="3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3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3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3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3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𝑊ℎ</m:t>
                              </m:r>
                            </m:e>
                          </m:d>
                        </m:e>
                        <m:sup>
                          <m:r>
                            <a:rPr lang="en-US" sz="3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023816-54EA-2757-4C5B-54C9E5297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6236" y="1051174"/>
                <a:ext cx="6273208" cy="702949"/>
              </a:xfrm>
              <a:prstGeom prst="rect">
                <a:avLst/>
              </a:prstGeom>
              <a:blipFill>
                <a:blip r:embed="rId4"/>
                <a:stretch>
                  <a:fillRect b="-19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A7F30F9-879A-17A2-A360-609481DB7483}"/>
              </a:ext>
            </a:extLst>
          </p:cNvPr>
          <p:cNvGrpSpPr/>
          <p:nvPr/>
        </p:nvGrpSpPr>
        <p:grpSpPr>
          <a:xfrm>
            <a:off x="506123" y="2473827"/>
            <a:ext cx="3053047" cy="2817858"/>
            <a:chOff x="2155975" y="3285762"/>
            <a:chExt cx="3053047" cy="281785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251A76A-AE08-1AFE-C5E3-C4C273C19E80}"/>
                </a:ext>
              </a:extLst>
            </p:cNvPr>
            <p:cNvGrpSpPr/>
            <p:nvPr/>
          </p:nvGrpSpPr>
          <p:grpSpPr>
            <a:xfrm>
              <a:off x="2155975" y="3839761"/>
              <a:ext cx="3053047" cy="2263859"/>
              <a:chOff x="2250869" y="4187527"/>
              <a:chExt cx="2122194" cy="179666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4C1303E-BDB4-CB95-DAA7-B78FD202417F}"/>
                  </a:ext>
                </a:extLst>
              </p:cNvPr>
              <p:cNvGrpSpPr/>
              <p:nvPr/>
            </p:nvGrpSpPr>
            <p:grpSpPr>
              <a:xfrm>
                <a:off x="2702367" y="4206240"/>
                <a:ext cx="1335427" cy="1777954"/>
                <a:chOff x="5206456" y="2926080"/>
                <a:chExt cx="1848586" cy="2606040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5F3DAF7-FBDF-8D1E-276C-8DFE2E5C0487}"/>
                    </a:ext>
                  </a:extLst>
                </p:cNvPr>
                <p:cNvSpPr txBox="1"/>
                <p:nvPr/>
              </p:nvSpPr>
              <p:spPr>
                <a:xfrm>
                  <a:off x="5206456" y="3730113"/>
                  <a:ext cx="457200" cy="58521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lang="en-US" sz="2500" dirty="0">
                      <a:solidFill>
                        <a:srgbClr val="000000"/>
                      </a:solidFill>
                      <a:latin typeface="Cambria Math"/>
                      <a:cs typeface="Cambria Math"/>
                    </a:rPr>
                    <a:t>=</a:t>
                  </a:r>
                  <a:endParaRPr sz="2500" b="0" i="0" dirty="0">
                    <a:solidFill>
                      <a:srgbClr val="000000"/>
                    </a:solidFill>
                    <a:latin typeface="Cambria Math"/>
                    <a:cs typeface="Cambria Math"/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A9C5FF6B-3F06-9709-0D07-53F9A3EC6FF9}"/>
                    </a:ext>
                  </a:extLst>
                </p:cNvPr>
                <p:cNvSpPr/>
                <p:nvPr/>
              </p:nvSpPr>
              <p:spPr>
                <a:xfrm>
                  <a:off x="5806440" y="2926080"/>
                  <a:ext cx="1115269" cy="2240280"/>
                </a:xfrm>
                <a:prstGeom prst="rect">
                  <a:avLst/>
                </a:prstGeom>
                <a:noFill/>
                <a:ln w="28575">
                  <a:solidFill>
                    <a:srgbClr val="0E284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50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50118EE-8E51-9495-8F8F-FE627F41BBA0}"/>
                    </a:ext>
                  </a:extLst>
                </p:cNvPr>
                <p:cNvSpPr txBox="1"/>
                <p:nvPr/>
              </p:nvSpPr>
              <p:spPr>
                <a:xfrm>
                  <a:off x="5669279" y="5221226"/>
                  <a:ext cx="1385763" cy="3108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W  (</a:t>
                  </a:r>
                  <a:r>
                    <a:rPr lang="en-US"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N</a:t>
                  </a:r>
                  <a:r>
                    <a:rPr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 × K)</a:t>
                  </a:r>
                </a:p>
              </p:txBody>
            </p:sp>
          </p:grp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43745B3-3443-9EC5-FBD9-685A33980423}"/>
                  </a:ext>
                </a:extLst>
              </p:cNvPr>
              <p:cNvSpPr/>
              <p:nvPr/>
            </p:nvSpPr>
            <p:spPr>
              <a:xfrm>
                <a:off x="2250869" y="4229893"/>
                <a:ext cx="317353" cy="1528417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50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DB5E6D0-9878-3DB2-7153-3D3364848CE3}"/>
                  </a:ext>
                </a:extLst>
              </p:cNvPr>
              <p:cNvSpPr/>
              <p:nvPr/>
            </p:nvSpPr>
            <p:spPr>
              <a:xfrm>
                <a:off x="4095625" y="4187527"/>
                <a:ext cx="277438" cy="919870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50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42D8C2-9026-65E8-FA5F-326EC504B82A}"/>
                </a:ext>
              </a:extLst>
            </p:cNvPr>
            <p:cNvSpPr txBox="1"/>
            <p:nvPr/>
          </p:nvSpPr>
          <p:spPr>
            <a:xfrm>
              <a:off x="2169777" y="3291984"/>
              <a:ext cx="37382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solidFill>
                    <a:srgbClr val="C00000"/>
                  </a:solidFill>
                </a:rPr>
                <a:t>y</a:t>
              </a:r>
              <a:endParaRPr lang="en-US" sz="3000" b="1" baseline="-25000" dirty="0">
                <a:solidFill>
                  <a:srgbClr val="C0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3510BE8-45AC-B13C-8CDC-8600EA1721AB}"/>
                </a:ext>
              </a:extLst>
            </p:cNvPr>
            <p:cNvSpPr txBox="1"/>
            <p:nvPr/>
          </p:nvSpPr>
          <p:spPr>
            <a:xfrm>
              <a:off x="4726693" y="3285762"/>
              <a:ext cx="40748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solidFill>
                    <a:srgbClr val="C00000"/>
                  </a:solidFill>
                </a:rPr>
                <a:t>h</a:t>
              </a:r>
              <a:endParaRPr lang="en-US" sz="3000" b="1" baseline="-25000" dirty="0">
                <a:solidFill>
                  <a:srgbClr val="C00000"/>
                </a:solidFill>
              </a:endParaRPr>
            </a:p>
          </p:txBody>
        </p:sp>
      </p:grpSp>
      <p:sp>
        <p:nvSpPr>
          <p:cNvPr id="24" name="Right Brace 23">
            <a:extLst>
              <a:ext uri="{FF2B5EF4-FFF2-40B4-BE49-F238E27FC236}">
                <a16:creationId xmlns:a16="http://schemas.microsoft.com/office/drawing/2014/main" id="{9A75713B-4583-39B7-400E-80E44EB4AF72}"/>
              </a:ext>
            </a:extLst>
          </p:cNvPr>
          <p:cNvSpPr/>
          <p:nvPr/>
        </p:nvSpPr>
        <p:spPr>
          <a:xfrm>
            <a:off x="3645408" y="3051405"/>
            <a:ext cx="316992" cy="55595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632D3DA1-37E6-CEFB-D32C-0AB424550A88}"/>
              </a:ext>
            </a:extLst>
          </p:cNvPr>
          <p:cNvSpPr/>
          <p:nvPr/>
        </p:nvSpPr>
        <p:spPr>
          <a:xfrm>
            <a:off x="3657600" y="3689717"/>
            <a:ext cx="316992" cy="555954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BD9FE4-0984-B3A9-B77E-E4D598A1D784}"/>
              </a:ext>
            </a:extLst>
          </p:cNvPr>
          <p:cNvSpPr txBox="1"/>
          <p:nvPr/>
        </p:nvSpPr>
        <p:spPr>
          <a:xfrm>
            <a:off x="4008314" y="31391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F4F81-2DF2-3F35-68CA-34A6D4713855}"/>
              </a:ext>
            </a:extLst>
          </p:cNvPr>
          <p:cNvSpPr txBox="1"/>
          <p:nvPr/>
        </p:nvSpPr>
        <p:spPr>
          <a:xfrm>
            <a:off x="4022742" y="37830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1FBEBDF-625D-AC26-86EF-B0BED539793E}"/>
                  </a:ext>
                </a:extLst>
              </p:cNvPr>
              <p:cNvSpPr txBox="1"/>
              <p:nvPr/>
            </p:nvSpPr>
            <p:spPr>
              <a:xfrm>
                <a:off x="5343138" y="3905917"/>
                <a:ext cx="6594937" cy="12521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500" dirty="0"/>
                  <a:t>If you know P and Z, then optimal solution is given by least squares: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  <m:sup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5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Sup>
                        <m:sSubSup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  <m:sup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1FBEBDF-625D-AC26-86EF-B0BED5397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3138" y="3905917"/>
                <a:ext cx="6594937" cy="1252138"/>
              </a:xfrm>
              <a:prstGeom prst="rect">
                <a:avLst/>
              </a:prstGeom>
              <a:blipFill>
                <a:blip r:embed="rId5"/>
                <a:stretch>
                  <a:fillRect l="-1538" t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F6EFE77D-4A50-D672-03A5-06E7F0E4AC2C}"/>
              </a:ext>
            </a:extLst>
          </p:cNvPr>
          <p:cNvSpPr/>
          <p:nvPr/>
        </p:nvSpPr>
        <p:spPr>
          <a:xfrm>
            <a:off x="1779207" y="3081209"/>
            <a:ext cx="671385" cy="6085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B6ABBF1-E65C-369C-BB82-9F494F8CE524}"/>
                  </a:ext>
                </a:extLst>
              </p:cNvPr>
              <p:cNvSpPr txBox="1"/>
              <p:nvPr/>
            </p:nvSpPr>
            <p:spPr>
              <a:xfrm>
                <a:off x="1850354" y="3203668"/>
                <a:ext cx="542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B6ABBF1-E65C-369C-BB82-9F494F8CE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354" y="3203668"/>
                <a:ext cx="5425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479687-BA3C-0FA3-BE9A-B307614CCD89}"/>
                  </a:ext>
                </a:extLst>
              </p:cNvPr>
              <p:cNvSpPr txBox="1"/>
              <p:nvPr/>
            </p:nvSpPr>
            <p:spPr>
              <a:xfrm>
                <a:off x="5146972" y="5568940"/>
                <a:ext cx="56674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(Slight adjustments needed if entries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dirty="0"/>
                  <a:t> are negative)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479687-BA3C-0FA3-BE9A-B307614CC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6972" y="5568940"/>
                <a:ext cx="5667449" cy="369332"/>
              </a:xfrm>
              <a:prstGeom prst="rect">
                <a:avLst/>
              </a:prstGeom>
              <a:blipFill>
                <a:blip r:embed="rId7"/>
                <a:stretch>
                  <a:fillRect l="-895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31902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72D05-7677-C776-36D5-C1A3F2AEF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E998BB-1303-C8E5-D830-304B6E355889}"/>
              </a:ext>
            </a:extLst>
          </p:cNvPr>
          <p:cNvSpPr txBox="1"/>
          <p:nvPr/>
        </p:nvSpPr>
        <p:spPr>
          <a:xfrm>
            <a:off x="367579" y="331470"/>
            <a:ext cx="1206730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How to solve non-negative least squares (NNLS)?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A5ACFA2-375A-6B5F-E437-E9AAAFDE6E1A}"/>
                  </a:ext>
                </a:extLst>
              </p:cNvPr>
              <p:cNvSpPr txBox="1"/>
              <p:nvPr/>
            </p:nvSpPr>
            <p:spPr>
              <a:xfrm>
                <a:off x="5121370" y="1289060"/>
                <a:ext cx="682752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Active-set approach: iteratively build up two sets</a:t>
                </a:r>
              </a:p>
              <a:p>
                <a:pPr marL="514350" indent="-514350">
                  <a:buAutoNum type="arabicPeriod"/>
                </a:pPr>
                <a:r>
                  <a:rPr lang="en-US" sz="3000" dirty="0">
                    <a:solidFill>
                      <a:srgbClr val="FF0000"/>
                    </a:solidFill>
                  </a:rPr>
                  <a:t>P = passive set =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≥0}</m:t>
                    </m:r>
                  </m:oMath>
                </a14:m>
                <a:endParaRPr lang="en-US" sz="3000" dirty="0">
                  <a:solidFill>
                    <a:srgbClr val="FF0000"/>
                  </a:solidFill>
                </a:endParaRPr>
              </a:p>
              <a:p>
                <a:pPr marL="514350" indent="-514350">
                  <a:buFontTx/>
                  <a:buAutoNum type="arabicPeriod"/>
                </a:pPr>
                <a:r>
                  <a:rPr lang="en-US" sz="3000" dirty="0">
                    <a:solidFill>
                      <a:srgbClr val="00B050"/>
                    </a:solidFill>
                  </a:rPr>
                  <a:t>Z = zero set = </a:t>
                </a:r>
                <a14:m>
                  <m:oMath xmlns:m="http://schemas.openxmlformats.org/officeDocument/2006/math"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30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0}</m:t>
                    </m:r>
                  </m:oMath>
                </a14:m>
                <a:endParaRPr lang="en-US" sz="3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A5ACFA2-375A-6B5F-E437-E9AAAFDE6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370" y="1289060"/>
                <a:ext cx="6827520" cy="1938992"/>
              </a:xfrm>
              <a:prstGeom prst="rect">
                <a:avLst/>
              </a:prstGeom>
              <a:blipFill>
                <a:blip r:embed="rId2"/>
                <a:stretch>
                  <a:fillRect l="-2230" t="-3247" r="-929" b="-8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1D967A-246F-E4FE-DF64-187211DC18DA}"/>
                  </a:ext>
                </a:extLst>
              </p:cNvPr>
              <p:cNvSpPr txBox="1"/>
              <p:nvPr/>
            </p:nvSpPr>
            <p:spPr>
              <a:xfrm>
                <a:off x="-1126236" y="1051174"/>
                <a:ext cx="6273208" cy="702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US" sz="3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3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3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3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3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3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30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𝑊ℎ</m:t>
                              </m:r>
                            </m:e>
                          </m:d>
                        </m:e>
                        <m:sup>
                          <m:r>
                            <a:rPr lang="en-US" sz="30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1D967A-246F-E4FE-DF64-187211DC1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6236" y="1051174"/>
                <a:ext cx="6273208" cy="702949"/>
              </a:xfrm>
              <a:prstGeom prst="rect">
                <a:avLst/>
              </a:prstGeom>
              <a:blipFill>
                <a:blip r:embed="rId3"/>
                <a:stretch>
                  <a:fillRect b="-19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5E7D519B-199B-B42E-C3AE-82B4B1317321}"/>
              </a:ext>
            </a:extLst>
          </p:cNvPr>
          <p:cNvGrpSpPr/>
          <p:nvPr/>
        </p:nvGrpSpPr>
        <p:grpSpPr>
          <a:xfrm>
            <a:off x="506123" y="2473827"/>
            <a:ext cx="3053047" cy="2817858"/>
            <a:chOff x="2155975" y="3285762"/>
            <a:chExt cx="3053047" cy="281785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411660F-720F-5FF5-7D5F-A7807B23EA35}"/>
                </a:ext>
              </a:extLst>
            </p:cNvPr>
            <p:cNvGrpSpPr/>
            <p:nvPr/>
          </p:nvGrpSpPr>
          <p:grpSpPr>
            <a:xfrm>
              <a:off x="2155975" y="3839761"/>
              <a:ext cx="3053047" cy="2263859"/>
              <a:chOff x="2250869" y="4187527"/>
              <a:chExt cx="2122194" cy="179666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F7150C6-0DCC-B509-BFC7-3DD7CBFA8C1D}"/>
                  </a:ext>
                </a:extLst>
              </p:cNvPr>
              <p:cNvGrpSpPr/>
              <p:nvPr/>
            </p:nvGrpSpPr>
            <p:grpSpPr>
              <a:xfrm>
                <a:off x="2702367" y="4206240"/>
                <a:ext cx="1335427" cy="1777954"/>
                <a:chOff x="5206456" y="2926080"/>
                <a:chExt cx="1848586" cy="2606040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DBE40FF-764A-EAF5-98E6-C2C84E1F1722}"/>
                    </a:ext>
                  </a:extLst>
                </p:cNvPr>
                <p:cNvSpPr txBox="1"/>
                <p:nvPr/>
              </p:nvSpPr>
              <p:spPr>
                <a:xfrm>
                  <a:off x="5206456" y="3730113"/>
                  <a:ext cx="457200" cy="58521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lang="en-US" sz="2500" dirty="0">
                      <a:solidFill>
                        <a:srgbClr val="000000"/>
                      </a:solidFill>
                      <a:latin typeface="Cambria Math"/>
                      <a:cs typeface="Cambria Math"/>
                    </a:rPr>
                    <a:t>=</a:t>
                  </a:r>
                  <a:endParaRPr sz="2500" b="0" i="0" dirty="0">
                    <a:solidFill>
                      <a:srgbClr val="000000"/>
                    </a:solidFill>
                    <a:latin typeface="Cambria Math"/>
                    <a:cs typeface="Cambria Math"/>
                  </a:endParaRP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D0BDD453-5FFB-A83B-D1ED-CE59B8B8DF40}"/>
                    </a:ext>
                  </a:extLst>
                </p:cNvPr>
                <p:cNvSpPr/>
                <p:nvPr/>
              </p:nvSpPr>
              <p:spPr>
                <a:xfrm>
                  <a:off x="5806440" y="2926080"/>
                  <a:ext cx="1115269" cy="2240280"/>
                </a:xfrm>
                <a:prstGeom prst="rect">
                  <a:avLst/>
                </a:prstGeom>
                <a:noFill/>
                <a:ln w="28575">
                  <a:solidFill>
                    <a:srgbClr val="0E284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50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A0DE0E0-ADCC-7C43-E001-F03126A425C4}"/>
                    </a:ext>
                  </a:extLst>
                </p:cNvPr>
                <p:cNvSpPr txBox="1"/>
                <p:nvPr/>
              </p:nvSpPr>
              <p:spPr>
                <a:xfrm>
                  <a:off x="5669279" y="5221226"/>
                  <a:ext cx="1385763" cy="3108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W  (</a:t>
                  </a:r>
                  <a:r>
                    <a:rPr lang="en-US"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N</a:t>
                  </a:r>
                  <a:r>
                    <a:rPr sz="2500" b="0" i="0" dirty="0">
                      <a:solidFill>
                        <a:srgbClr val="000000"/>
                      </a:solidFill>
                      <a:latin typeface="+mn-lt"/>
                      <a:cs typeface="+mn-lt"/>
                    </a:rPr>
                    <a:t> × K)</a:t>
                  </a:r>
                </a:p>
              </p:txBody>
            </p:sp>
          </p:grp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9C7E22F-2B09-D22A-ED5B-6A0B8A922C1F}"/>
                  </a:ext>
                </a:extLst>
              </p:cNvPr>
              <p:cNvSpPr/>
              <p:nvPr/>
            </p:nvSpPr>
            <p:spPr>
              <a:xfrm>
                <a:off x="2250869" y="4229893"/>
                <a:ext cx="317353" cy="1528417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50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85D0C9-2072-7CD3-B4A1-3CA02AC5C692}"/>
                  </a:ext>
                </a:extLst>
              </p:cNvPr>
              <p:cNvSpPr/>
              <p:nvPr/>
            </p:nvSpPr>
            <p:spPr>
              <a:xfrm>
                <a:off x="4095625" y="4187527"/>
                <a:ext cx="277438" cy="919870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50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D70724-2FCE-FAFD-2D17-A83E5EED7D0E}"/>
                </a:ext>
              </a:extLst>
            </p:cNvPr>
            <p:cNvSpPr txBox="1"/>
            <p:nvPr/>
          </p:nvSpPr>
          <p:spPr>
            <a:xfrm>
              <a:off x="2169777" y="3291984"/>
              <a:ext cx="37382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solidFill>
                    <a:srgbClr val="C00000"/>
                  </a:solidFill>
                </a:rPr>
                <a:t>y</a:t>
              </a:r>
              <a:endParaRPr lang="en-US" sz="3000" b="1" baseline="-25000" dirty="0">
                <a:solidFill>
                  <a:srgbClr val="C0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3C587F3-67AA-0738-EC50-F43F19F6CD03}"/>
                </a:ext>
              </a:extLst>
            </p:cNvPr>
            <p:cNvSpPr txBox="1"/>
            <p:nvPr/>
          </p:nvSpPr>
          <p:spPr>
            <a:xfrm>
              <a:off x="4726693" y="3285762"/>
              <a:ext cx="40748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>
                  <a:solidFill>
                    <a:srgbClr val="C00000"/>
                  </a:solidFill>
                </a:rPr>
                <a:t>h</a:t>
              </a:r>
              <a:endParaRPr lang="en-US" sz="3000" b="1" baseline="-25000" dirty="0">
                <a:solidFill>
                  <a:srgbClr val="C00000"/>
                </a:solidFill>
              </a:endParaRPr>
            </a:p>
          </p:txBody>
        </p:sp>
      </p:grpSp>
      <p:sp>
        <p:nvSpPr>
          <p:cNvPr id="24" name="Right Brace 23">
            <a:extLst>
              <a:ext uri="{FF2B5EF4-FFF2-40B4-BE49-F238E27FC236}">
                <a16:creationId xmlns:a16="http://schemas.microsoft.com/office/drawing/2014/main" id="{151CE374-FF3D-CE9C-7860-3CDA8A307BE4}"/>
              </a:ext>
            </a:extLst>
          </p:cNvPr>
          <p:cNvSpPr/>
          <p:nvPr/>
        </p:nvSpPr>
        <p:spPr>
          <a:xfrm>
            <a:off x="3645408" y="3051405"/>
            <a:ext cx="316992" cy="55595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7197AA13-567A-773C-2D66-1F0B2890856B}"/>
              </a:ext>
            </a:extLst>
          </p:cNvPr>
          <p:cNvSpPr/>
          <p:nvPr/>
        </p:nvSpPr>
        <p:spPr>
          <a:xfrm>
            <a:off x="3657600" y="3689717"/>
            <a:ext cx="316992" cy="555954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6DCC43-A728-C503-41F6-556A6B94E3F2}"/>
              </a:ext>
            </a:extLst>
          </p:cNvPr>
          <p:cNvSpPr txBox="1"/>
          <p:nvPr/>
        </p:nvSpPr>
        <p:spPr>
          <a:xfrm>
            <a:off x="4008314" y="31391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82B20A-4587-E8BB-4C75-A9BC37077CA2}"/>
              </a:ext>
            </a:extLst>
          </p:cNvPr>
          <p:cNvSpPr txBox="1"/>
          <p:nvPr/>
        </p:nvSpPr>
        <p:spPr>
          <a:xfrm>
            <a:off x="4022742" y="378302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B39031-400D-3F18-E5F7-A57226AD2B50}"/>
                  </a:ext>
                </a:extLst>
              </p:cNvPr>
              <p:cNvSpPr txBox="1"/>
              <p:nvPr/>
            </p:nvSpPr>
            <p:spPr>
              <a:xfrm>
                <a:off x="4858357" y="4152360"/>
                <a:ext cx="682752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Start with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3000" dirty="0"/>
                  <a:t> and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={1,…,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3000" dirty="0"/>
                  <a:t> 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EB39031-400D-3F18-E5F7-A57226AD2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357" y="4152360"/>
                <a:ext cx="6827520" cy="553998"/>
              </a:xfrm>
              <a:prstGeom prst="rect">
                <a:avLst/>
              </a:prstGeom>
              <a:blipFill>
                <a:blip r:embed="rId4"/>
                <a:stretch>
                  <a:fillRect l="-2041" t="-11111" b="-3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891B282-DA5F-AECA-B2CF-9DB9057D7BF9}"/>
              </a:ext>
            </a:extLst>
          </p:cNvPr>
          <p:cNvSpPr txBox="1"/>
          <p:nvPr/>
        </p:nvSpPr>
        <p:spPr>
          <a:xfrm>
            <a:off x="5309281" y="4753332"/>
            <a:ext cx="64516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Find index k that, when added to P, makes loss decrease most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Add k to P</a:t>
            </a:r>
          </a:p>
          <a:p>
            <a:r>
              <a:rPr lang="en-US" sz="2500" dirty="0"/>
              <a:t>Stop when no index makes loss decrease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422697-10CB-82F9-8930-812593C26339}"/>
              </a:ext>
            </a:extLst>
          </p:cNvPr>
          <p:cNvSpPr/>
          <p:nvPr/>
        </p:nvSpPr>
        <p:spPr>
          <a:xfrm>
            <a:off x="1779207" y="3081209"/>
            <a:ext cx="671385" cy="6085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466E0CC-443E-C40B-5E89-E0C744414DA5}"/>
                  </a:ext>
                </a:extLst>
              </p:cNvPr>
              <p:cNvSpPr txBox="1"/>
              <p:nvPr/>
            </p:nvSpPr>
            <p:spPr>
              <a:xfrm>
                <a:off x="1850354" y="3203668"/>
                <a:ext cx="542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466E0CC-443E-C40B-5E89-E0C744414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354" y="3203668"/>
                <a:ext cx="5425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77495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 dirty="0">
                <a:solidFill>
                  <a:srgbClr val="000000"/>
                </a:solidFill>
                <a:latin typeface="+mj-lt"/>
                <a:cs typeface="+mj-lt"/>
              </a:rPr>
              <a:t>Initialization &amp; local minima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18" y="2286000"/>
            <a:ext cx="667512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NMF 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result </a:t>
            </a:r>
            <a:r>
              <a:rPr sz="3000" b="0" i="0" dirty="0">
                <a:solidFill>
                  <a:srgbClr val="FF0000"/>
                </a:solidFill>
                <a:latin typeface="+mn-lt"/>
                <a:cs typeface="+mn-lt"/>
              </a:rPr>
              <a:t>depends on where you start.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–"/>
            </a:pPr>
            <a:endParaRPr lang="en-US" sz="3000" b="0" i="0" dirty="0">
              <a:solidFill>
                <a:srgbClr val="000000"/>
              </a:solidFill>
              <a:latin typeface="+mn-lt"/>
              <a:cs typeface="+mn-lt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000000"/>
                </a:solidFill>
                <a:cs typeface="+mn-lt"/>
              </a:rPr>
              <a:t>Sometimes you may want to 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seed W, H 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using </a:t>
            </a:r>
            <a:r>
              <a:rPr sz="3000" b="0" i="0" dirty="0">
                <a:solidFill>
                  <a:srgbClr val="000000"/>
                </a:solidFill>
                <a:latin typeface="+mn-lt"/>
                <a:cs typeface="+mn-lt"/>
              </a:rPr>
              <a:t>the SVD of Y (clip negatives)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 or from </a:t>
            </a:r>
            <a:r>
              <a:rPr lang="en-US" sz="3000" b="1" i="0" dirty="0">
                <a:solidFill>
                  <a:srgbClr val="000000"/>
                </a:solidFill>
                <a:latin typeface="+mn-lt"/>
                <a:cs typeface="+mn-lt"/>
              </a:rPr>
              <a:t>prior knowledge</a:t>
            </a:r>
            <a:endParaRPr sz="3000" b="1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7863840" y="3200400"/>
            <a:ext cx="45720" cy="117070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909560" y="3317470"/>
            <a:ext cx="45719" cy="113705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955279" y="3431175"/>
            <a:ext cx="45721" cy="107089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001000" y="3538264"/>
            <a:ext cx="45719" cy="9745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046719" y="3635721"/>
            <a:ext cx="45721" cy="8514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92440" y="3720862"/>
            <a:ext cx="45720" cy="70573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38160" y="3791435"/>
            <a:ext cx="45719" cy="5426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83879" y="3845696"/>
            <a:ext cx="45721" cy="3677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3882467"/>
            <a:ext cx="45719" cy="18712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75319" y="3901179"/>
            <a:ext cx="45721" cy="70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321040" y="3885270"/>
            <a:ext cx="45720" cy="1661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366760" y="3852606"/>
            <a:ext cx="45720" cy="3266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412480" y="3805720"/>
            <a:ext cx="45720" cy="46886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458200" y="3746922"/>
            <a:ext cx="45719" cy="5879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503919" y="3678925"/>
            <a:ext cx="45721" cy="6799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549640" y="3604742"/>
            <a:ext cx="45720" cy="74183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595360" y="3527584"/>
            <a:ext cx="45720" cy="7715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641080" y="3450740"/>
            <a:ext cx="45720" cy="7684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686800" y="3377463"/>
            <a:ext cx="45719" cy="7327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732519" y="3310852"/>
            <a:ext cx="45721" cy="6661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778240" y="3253740"/>
            <a:ext cx="45720" cy="57112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823960" y="3208594"/>
            <a:ext cx="45720" cy="45146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869680" y="3177428"/>
            <a:ext cx="45720" cy="31166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915400" y="3161727"/>
            <a:ext cx="45719" cy="1570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961119" y="3161727"/>
            <a:ext cx="45721" cy="66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006840" y="3162395"/>
            <a:ext cx="45720" cy="17332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52560" y="3179727"/>
            <a:ext cx="45720" cy="33662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098280" y="3213389"/>
            <a:ext cx="45720" cy="49046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0" y="3262435"/>
            <a:ext cx="45719" cy="6290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189719" y="3325342"/>
            <a:ext cx="45721" cy="7471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235440" y="3400056"/>
            <a:ext cx="45720" cy="84015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81160" y="3484071"/>
            <a:ext cx="45720" cy="9044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326880" y="3574515"/>
            <a:ext cx="45720" cy="93736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372600" y="3668251"/>
            <a:ext cx="45719" cy="93739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418319" y="3761990"/>
            <a:ext cx="45721" cy="90413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464040" y="3852403"/>
            <a:ext cx="45720" cy="8384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509760" y="3936247"/>
            <a:ext cx="45720" cy="74222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555480" y="4010469"/>
            <a:ext cx="45720" cy="6185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601200" y="4072326"/>
            <a:ext cx="45719" cy="4714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646919" y="4119474"/>
            <a:ext cx="45721" cy="30579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692640" y="4150053"/>
            <a:ext cx="45719" cy="1270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738359" y="4156877"/>
            <a:ext cx="45721" cy="5880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784080" y="4132328"/>
            <a:ext cx="45720" cy="24549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829800" y="4089653"/>
            <a:ext cx="45720" cy="42675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875520" y="4030002"/>
            <a:ext cx="45720" cy="5965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921240" y="3955098"/>
            <a:ext cx="45719" cy="7490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966959" y="3867170"/>
            <a:ext cx="45721" cy="8792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0012680" y="3768879"/>
            <a:ext cx="45720" cy="9829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0058400" y="3663222"/>
            <a:ext cx="45720" cy="10565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104120" y="3553431"/>
            <a:ext cx="45720" cy="10979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149840" y="3442857"/>
            <a:ext cx="45719" cy="11057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195559" y="3334851"/>
            <a:ext cx="45721" cy="108006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241280" y="3232649"/>
            <a:ext cx="45720" cy="102202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0287000" y="3139258"/>
            <a:ext cx="45720" cy="9339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0332720" y="3057352"/>
            <a:ext cx="45720" cy="81906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0378440" y="2989175"/>
            <a:ext cx="45719" cy="6817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424159" y="2936467"/>
            <a:ext cx="45721" cy="5270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469880" y="2900403"/>
            <a:ext cx="45720" cy="36064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515600" y="2881551"/>
            <a:ext cx="45720" cy="18852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561320" y="2879853"/>
            <a:ext cx="45720" cy="169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607040" y="2879853"/>
            <a:ext cx="45719" cy="1478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652759" y="2894634"/>
            <a:ext cx="45721" cy="2998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698480" y="2924622"/>
            <a:ext cx="45720" cy="43373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744200" y="2967995"/>
            <a:ext cx="45720" cy="5445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789920" y="3022452"/>
            <a:ext cx="45720" cy="62839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835640" y="3085291"/>
            <a:ext cx="45719" cy="6821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881359" y="3153508"/>
            <a:ext cx="45721" cy="7039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927080" y="3223906"/>
            <a:ext cx="45720" cy="69306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972800" y="3293212"/>
            <a:ext cx="45720" cy="6497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1018520" y="3358189"/>
            <a:ext cx="45720" cy="57568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1064240" y="3415757"/>
            <a:ext cx="45719" cy="47345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1109959" y="3463102"/>
            <a:ext cx="45721" cy="3467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1155680" y="3497779"/>
            <a:ext cx="45720" cy="20020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201400" y="3517799"/>
            <a:ext cx="45720" cy="3900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1247120" y="3508602"/>
            <a:ext cx="45720" cy="1309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1292840" y="3478243"/>
            <a:ext cx="45719" cy="30359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338559" y="3430982"/>
            <a:ext cx="45721" cy="47261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1384280" y="3367795"/>
            <a:ext cx="45720" cy="63187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1430000" y="3290240"/>
            <a:ext cx="45720" cy="77555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1475720" y="3200400"/>
            <a:ext cx="45720" cy="89840"/>
          </a:xfrm>
          <a:prstGeom prst="line">
            <a:avLst/>
          </a:prstGeom>
          <a:ln w="22225">
            <a:solidFill>
              <a:srgbClr val="0E28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9685865" y="4097773"/>
            <a:ext cx="109728" cy="10972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9102851" y="3193011"/>
            <a:ext cx="109728" cy="109728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1146535" y="3466835"/>
            <a:ext cx="109728" cy="10972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886699" y="558744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0" i="1" dirty="0">
                <a:solidFill>
                  <a:srgbClr val="7F7F7F"/>
                </a:solidFill>
                <a:latin typeface="+mn-lt"/>
                <a:cs typeface="+mn-lt"/>
              </a:rPr>
              <a:t>different seeds settle in different minima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0BEC418-276C-AD61-1DA8-95ECD01D91D9}"/>
              </a:ext>
            </a:extLst>
          </p:cNvPr>
          <p:cNvCxnSpPr>
            <a:cxnSpLocks/>
          </p:cNvCxnSpPr>
          <p:nvPr/>
        </p:nvCxnSpPr>
        <p:spPr>
          <a:xfrm flipV="1">
            <a:off x="7720965" y="2633385"/>
            <a:ext cx="0" cy="216213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AD2439E-1193-3C79-33D8-39B42BECAE2B}"/>
              </a:ext>
            </a:extLst>
          </p:cNvPr>
          <p:cNvCxnSpPr>
            <a:cxnSpLocks/>
          </p:cNvCxnSpPr>
          <p:nvPr/>
        </p:nvCxnSpPr>
        <p:spPr>
          <a:xfrm>
            <a:off x="7720012" y="4785360"/>
            <a:ext cx="4128136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D93BA3C-115D-3683-2416-FD9365673190}"/>
                  </a:ext>
                </a:extLst>
              </p:cNvPr>
              <p:cNvSpPr txBox="1"/>
              <p:nvPr/>
            </p:nvSpPr>
            <p:spPr>
              <a:xfrm rot="16200000">
                <a:off x="6644401" y="3295774"/>
                <a:ext cx="17073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1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1800" b="0" i="1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  <m:sup>
                          <m:r>
                            <a:rPr lang="en-US" sz="18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D93BA3C-115D-3683-2416-FD9365673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644401" y="3295774"/>
                <a:ext cx="1707356" cy="369332"/>
              </a:xfrm>
              <a:prstGeom prst="rect">
                <a:avLst/>
              </a:prstGeom>
              <a:blipFill>
                <a:blip r:embed="rId2"/>
                <a:stretch>
                  <a:fillRect r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Oval 87">
            <a:extLst>
              <a:ext uri="{FF2B5EF4-FFF2-40B4-BE49-F238E27FC236}">
                <a16:creationId xmlns:a16="http://schemas.microsoft.com/office/drawing/2014/main" id="{5480C5FF-F667-1CA8-8C22-B53C0C643636}"/>
              </a:ext>
            </a:extLst>
          </p:cNvPr>
          <p:cNvSpPr/>
          <p:nvPr/>
        </p:nvSpPr>
        <p:spPr>
          <a:xfrm>
            <a:off x="10708132" y="2936467"/>
            <a:ext cx="109728" cy="109728"/>
          </a:xfrm>
          <a:prstGeom prst="ellipse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32A7666-BF8F-19C4-9346-40E3D0DC8BBA}"/>
              </a:ext>
            </a:extLst>
          </p:cNvPr>
          <p:cNvSpPr txBox="1"/>
          <p:nvPr/>
        </p:nvSpPr>
        <p:spPr>
          <a:xfrm>
            <a:off x="10061887" y="2285276"/>
            <a:ext cx="1410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Initialization 2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640A7024-32BC-CBB9-5EA2-E888E3197969}"/>
              </a:ext>
            </a:extLst>
          </p:cNvPr>
          <p:cNvCxnSpPr/>
          <p:nvPr/>
        </p:nvCxnSpPr>
        <p:spPr>
          <a:xfrm>
            <a:off x="10767060" y="3161727"/>
            <a:ext cx="297180" cy="3917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D4138158-F118-F8AD-A687-587AF5A62D56}"/>
              </a:ext>
            </a:extLst>
          </p:cNvPr>
          <p:cNvSpPr txBox="1"/>
          <p:nvPr/>
        </p:nvSpPr>
        <p:spPr>
          <a:xfrm>
            <a:off x="10496227" y="3610213"/>
            <a:ext cx="1410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inferred solution 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CB7ADED-C031-C3CC-26B1-47C80BE53907}"/>
              </a:ext>
            </a:extLst>
          </p:cNvPr>
          <p:cNvSpPr txBox="1"/>
          <p:nvPr/>
        </p:nvSpPr>
        <p:spPr>
          <a:xfrm>
            <a:off x="8206739" y="2514594"/>
            <a:ext cx="1410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Initialization 1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7ABA5CF-CF54-F172-2859-601AC2727025}"/>
              </a:ext>
            </a:extLst>
          </p:cNvPr>
          <p:cNvCxnSpPr>
            <a:cxnSpLocks/>
          </p:cNvCxnSpPr>
          <p:nvPr/>
        </p:nvCxnSpPr>
        <p:spPr>
          <a:xfrm>
            <a:off x="9121138" y="3387359"/>
            <a:ext cx="365762" cy="7236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93A0F862-22B2-1C17-92AD-F5E6E1262EE3}"/>
              </a:ext>
            </a:extLst>
          </p:cNvPr>
          <p:cNvSpPr txBox="1"/>
          <p:nvPr/>
        </p:nvSpPr>
        <p:spPr>
          <a:xfrm>
            <a:off x="8580862" y="4912291"/>
            <a:ext cx="2314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NMF parameters W,H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B951E07-012A-66E0-4232-FD90C4CCB8F1}"/>
              </a:ext>
            </a:extLst>
          </p:cNvPr>
          <p:cNvSpPr txBox="1"/>
          <p:nvPr/>
        </p:nvSpPr>
        <p:spPr>
          <a:xfrm>
            <a:off x="9398947" y="4171090"/>
            <a:ext cx="1410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inferred solution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>
                <a:solidFill>
                  <a:srgbClr val="000000"/>
                </a:solidFill>
                <a:latin typeface="+mj-lt"/>
                <a:cs typeface="+mj-lt"/>
              </a:rPr>
              <a:t>Preprocessing single-cell data for NMF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+mn-lt"/>
                <a:cs typeface="+mn-lt"/>
              </a:rPr>
              <a:t>NMF needs a nonnegative input — so the usual PCA pipeline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881360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900" b="1" i="0">
                <a:solidFill>
                  <a:srgbClr val="FF0000"/>
                </a:solidFill>
                <a:latin typeface="+mn-lt"/>
                <a:cs typeface="+mn-lt"/>
              </a:rPr>
              <a:t>Keep data nonnegative —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use raw counts or library-size–normalized counts (CP10k / TPM); do NOT mean-center (that creates negatives).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900" b="1" i="0">
                <a:solidFill>
                  <a:srgbClr val="FF0000"/>
                </a:solidFill>
                <a:latin typeface="+mn-lt"/>
                <a:cs typeface="+mn-lt"/>
              </a:rPr>
              <a:t>Select informative genes —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restrict to highly variable / over-dispersed genes (~1–2k) to focus programs and cut compute.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900" b="1" i="0">
                <a:solidFill>
                  <a:srgbClr val="FF0000"/>
                </a:solidFill>
                <a:latin typeface="+mn-lt"/>
                <a:cs typeface="+mn-lt"/>
              </a:rPr>
              <a:t>Scale carefully —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you cannot z-score (centering breaks nonnegativity); cNMF scales each gene by its std-dev only.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900" b="1" i="0">
                <a:solidFill>
                  <a:srgbClr val="FF0000"/>
                </a:solidFill>
                <a:latin typeface="+mn-lt"/>
                <a:cs typeface="+mn-lt"/>
              </a:rPr>
              <a:t>Log or not —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Frobenius-NMF often skips the log to preserve additivity; KL-NMF can run directly on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Conventions follow Kotliar et al. (2019) and Scanpy/Seurat.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How to choose K (number of NMF factors)?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No </a:t>
            </a:r>
            <a:r>
              <a:rPr lang="en-US" sz="3000" dirty="0">
                <a:solidFill>
                  <a:srgbClr val="000000"/>
                </a:solidFill>
                <a:cs typeface="+mn-lt"/>
              </a:rPr>
              <a:t>nice “variance explained” interpretation unlike PCA</a:t>
            </a:r>
            <a:endParaRPr sz="3000" b="0" i="0" dirty="0">
              <a:solidFill>
                <a:srgbClr val="FF0000"/>
              </a:solidFill>
              <a:latin typeface="+mn-lt"/>
              <a:cs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5577840" cy="365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Common heuristic: “elbow” of loss curve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0000"/>
                </a:solidFill>
                <a:cs typeface="+mn-lt"/>
              </a:rPr>
              <a:t>K for which error does not decrease much afterwards</a:t>
            </a: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Packages like “</a:t>
            </a:r>
            <a:r>
              <a:rPr lang="en-US" sz="3000" b="0" i="0" dirty="0" err="1">
                <a:solidFill>
                  <a:srgbClr val="000000"/>
                </a:solidFill>
                <a:latin typeface="+mn-lt"/>
                <a:cs typeface="+mn-lt"/>
              </a:rPr>
              <a:t>kneedle</a:t>
            </a:r>
            <a:r>
              <a:rPr lang="en-US" sz="3000" b="0" i="0" dirty="0">
                <a:solidFill>
                  <a:srgbClr val="000000"/>
                </a:solidFill>
                <a:latin typeface="+mn-lt"/>
                <a:cs typeface="+mn-lt"/>
              </a:rPr>
              <a:t>” to systematically </a:t>
            </a:r>
            <a:r>
              <a:rPr lang="en-US" sz="3000" dirty="0">
                <a:solidFill>
                  <a:srgbClr val="000000"/>
                </a:solidFill>
                <a:cs typeface="+mn-lt"/>
              </a:rPr>
              <a:t>find such K</a:t>
            </a:r>
            <a:endParaRPr sz="3000" b="0" i="0" dirty="0">
              <a:solidFill>
                <a:srgbClr val="000000"/>
              </a:solidFill>
              <a:latin typeface="+mn-lt"/>
              <a:cs typeface="+mn-lt"/>
            </a:endParaRPr>
          </a:p>
        </p:txBody>
      </p:sp>
      <p:cxnSp>
        <p:nvCxnSpPr>
          <p:cNvPr id="5" name="Connector 4"/>
          <p:cNvCxnSpPr>
            <a:cxnSpLocks/>
          </p:cNvCxnSpPr>
          <p:nvPr/>
        </p:nvCxnSpPr>
        <p:spPr>
          <a:xfrm>
            <a:off x="6766560" y="2214564"/>
            <a:ext cx="0" cy="3482723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766560" y="5697287"/>
            <a:ext cx="457200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 rot="16200000">
                <a:off x="4036541" y="3518954"/>
                <a:ext cx="4610100" cy="87394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2000" b="1" i="0" dirty="0">
                    <a:solidFill>
                      <a:srgbClr val="000000"/>
                    </a:solidFill>
                    <a:cs typeface="+mn-lt"/>
                  </a:rPr>
                  <a:t>reconstruction error</a:t>
                </a:r>
                <a:r>
                  <a:rPr lang="en-US" sz="2000" b="1" dirty="0">
                    <a:solidFill>
                      <a:srgbClr val="000000"/>
                    </a:solidFill>
                    <a:cs typeface="+mn-lt"/>
                  </a:rPr>
                  <a:t> </a:t>
                </a:r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ar-AE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ar-AE" sz="20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𝑊𝐻</m:t>
                              </m:r>
                            </m:e>
                          </m:d>
                        </m:e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2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sz="2000" b="1" i="0" dirty="0">
                  <a:solidFill>
                    <a:srgbClr val="000000"/>
                  </a:solidFill>
                  <a:cs typeface="+mn-lt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036541" y="3518954"/>
                <a:ext cx="4610100" cy="873942"/>
              </a:xfrm>
              <a:prstGeom prst="rect">
                <a:avLst/>
              </a:prstGeom>
              <a:blipFill>
                <a:blip r:embed="rId2"/>
                <a:stretch>
                  <a:fillRect l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766560" y="5787011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3000" b="0" i="0" dirty="0">
                <a:solidFill>
                  <a:srgbClr val="7F7F7F"/>
                </a:solidFill>
                <a:latin typeface="+mn-lt"/>
                <a:cs typeface="+mn-lt"/>
              </a:rPr>
              <a:t>K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6986016" y="2360867"/>
            <a:ext cx="414909" cy="882396"/>
          </a:xfrm>
          <a:prstGeom prst="line">
            <a:avLst/>
          </a:prstGeom>
          <a:ln w="28575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</p:cNvCxnSpPr>
          <p:nvPr/>
        </p:nvCxnSpPr>
        <p:spPr>
          <a:xfrm>
            <a:off x="7400925" y="3243263"/>
            <a:ext cx="792099" cy="1065278"/>
          </a:xfrm>
          <a:prstGeom prst="line">
            <a:avLst/>
          </a:prstGeom>
          <a:ln w="28575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</p:cNvCxnSpPr>
          <p:nvPr/>
        </p:nvCxnSpPr>
        <p:spPr>
          <a:xfrm>
            <a:off x="8167306" y="4308541"/>
            <a:ext cx="1013270" cy="844103"/>
          </a:xfrm>
          <a:prstGeom prst="line">
            <a:avLst/>
          </a:prstGeom>
          <a:ln w="28575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</p:cNvCxnSpPr>
          <p:nvPr/>
        </p:nvCxnSpPr>
        <p:spPr>
          <a:xfrm>
            <a:off x="9157144" y="5152644"/>
            <a:ext cx="1255586" cy="175453"/>
          </a:xfrm>
          <a:prstGeom prst="line">
            <a:avLst/>
          </a:prstGeom>
          <a:ln w="28575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</p:cNvCxnSpPr>
          <p:nvPr/>
        </p:nvCxnSpPr>
        <p:spPr>
          <a:xfrm>
            <a:off x="10412730" y="5336669"/>
            <a:ext cx="1131570" cy="0"/>
          </a:xfrm>
          <a:prstGeom prst="line">
            <a:avLst/>
          </a:prstGeom>
          <a:ln w="28575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Multiply 36">
            <a:extLst>
              <a:ext uri="{FF2B5EF4-FFF2-40B4-BE49-F238E27FC236}">
                <a16:creationId xmlns:a16="http://schemas.microsoft.com/office/drawing/2014/main" id="{451593E3-5A57-1C26-1B86-3E9758F2A97E}"/>
              </a:ext>
            </a:extLst>
          </p:cNvPr>
          <p:cNvSpPr/>
          <p:nvPr/>
        </p:nvSpPr>
        <p:spPr>
          <a:xfrm>
            <a:off x="9015412" y="5014912"/>
            <a:ext cx="356615" cy="293181"/>
          </a:xfrm>
          <a:prstGeom prst="mathMultiply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Connector 5">
            <a:extLst>
              <a:ext uri="{FF2B5EF4-FFF2-40B4-BE49-F238E27FC236}">
                <a16:creationId xmlns:a16="http://schemas.microsoft.com/office/drawing/2014/main" id="{0F6A81BC-2F0B-9A9D-8FFB-BE357428FF5E}"/>
              </a:ext>
            </a:extLst>
          </p:cNvPr>
          <p:cNvCxnSpPr>
            <a:cxnSpLocks/>
          </p:cNvCxnSpPr>
          <p:nvPr/>
        </p:nvCxnSpPr>
        <p:spPr>
          <a:xfrm>
            <a:off x="6745210" y="5162810"/>
            <a:ext cx="2304250" cy="0"/>
          </a:xfrm>
          <a:prstGeom prst="line">
            <a:avLst/>
          </a:prstGeom>
          <a:ln w="38100">
            <a:solidFill>
              <a:srgbClr val="000000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5">
            <a:extLst>
              <a:ext uri="{FF2B5EF4-FFF2-40B4-BE49-F238E27FC236}">
                <a16:creationId xmlns:a16="http://schemas.microsoft.com/office/drawing/2014/main" id="{45234D4C-1EBC-17E3-2B79-A9E20DCD6995}"/>
              </a:ext>
            </a:extLst>
          </p:cNvPr>
          <p:cNvCxnSpPr>
            <a:cxnSpLocks/>
          </p:cNvCxnSpPr>
          <p:nvPr/>
        </p:nvCxnSpPr>
        <p:spPr>
          <a:xfrm flipH="1" flipV="1">
            <a:off x="9180576" y="5151187"/>
            <a:ext cx="10616" cy="546100"/>
          </a:xfrm>
          <a:prstGeom prst="line">
            <a:avLst/>
          </a:prstGeom>
          <a:ln w="38100">
            <a:solidFill>
              <a:srgbClr val="000000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8AE5BF-3496-1486-A9AF-C5E47C6299AB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000000"/>
                </a:solidFill>
                <a:latin typeface="+mj-lt"/>
                <a:cs typeface="+mj-lt"/>
              </a:rPr>
              <a:t>Example of NMF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B0090F-D11B-C935-27A1-E4E19365EF6A}"/>
              </a:ext>
            </a:extLst>
          </p:cNvPr>
          <p:cNvSpPr txBox="1"/>
          <p:nvPr/>
        </p:nvSpPr>
        <p:spPr>
          <a:xfrm>
            <a:off x="9176022" y="74265"/>
            <a:ext cx="2901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https://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divingintogeneticsandgenomics.com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/post/matrix-factorization-for-single-cell-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rnaseq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-data/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EF0CFA-C7C3-3DEE-8D19-66C739752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886" y="1825062"/>
            <a:ext cx="3590822" cy="25648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D3E2AD-9DE4-628D-0A35-D3782F56907A}"/>
              </a:ext>
            </a:extLst>
          </p:cNvPr>
          <p:cNvSpPr txBox="1"/>
          <p:nvPr/>
        </p:nvSpPr>
        <p:spPr>
          <a:xfrm>
            <a:off x="3386188" y="1371600"/>
            <a:ext cx="318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PCA visualization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566065-2412-58F2-7627-E39804886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727" y="844501"/>
            <a:ext cx="3371663" cy="2408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0FEE7C-549E-6BD0-B4E5-0795B523E917}"/>
              </a:ext>
            </a:extLst>
          </p:cNvPr>
          <p:cNvSpPr txBox="1"/>
          <p:nvPr/>
        </p:nvSpPr>
        <p:spPr>
          <a:xfrm>
            <a:off x="0" y="1496767"/>
            <a:ext cx="2412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3k PBMC (blood) data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D050C9-AC8A-7300-F230-225088825672}"/>
              </a:ext>
            </a:extLst>
          </p:cNvPr>
          <p:cNvGrpSpPr/>
          <p:nvPr/>
        </p:nvGrpSpPr>
        <p:grpSpPr>
          <a:xfrm>
            <a:off x="0" y="1819932"/>
            <a:ext cx="1869965" cy="2431219"/>
            <a:chOff x="502921" y="3892453"/>
            <a:chExt cx="1869965" cy="24312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6A523F-38DF-887D-7870-E3BD06C4A1AA}"/>
                </a:ext>
              </a:extLst>
            </p:cNvPr>
            <p:cNvSpPr/>
            <p:nvPr/>
          </p:nvSpPr>
          <p:spPr>
            <a:xfrm>
              <a:off x="955035" y="4292890"/>
              <a:ext cx="1417851" cy="2030782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42A6250-65B5-F432-DDA6-9AAF3CF4ED30}"/>
                </a:ext>
              </a:extLst>
            </p:cNvPr>
            <p:cNvSpPr txBox="1"/>
            <p:nvPr/>
          </p:nvSpPr>
          <p:spPr>
            <a:xfrm rot="16200000">
              <a:off x="253814" y="5008184"/>
              <a:ext cx="8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cells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748A18E-3951-D9DB-C31A-41AC82710E78}"/>
                </a:ext>
              </a:extLst>
            </p:cNvPr>
            <p:cNvSpPr txBox="1"/>
            <p:nvPr/>
          </p:nvSpPr>
          <p:spPr>
            <a:xfrm>
              <a:off x="1060704" y="3892453"/>
              <a:ext cx="987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 genes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75E386-33F7-034A-43E0-1CD19AD237D0}"/>
                </a:ext>
              </a:extLst>
            </p:cNvPr>
            <p:cNvSpPr txBox="1"/>
            <p:nvPr/>
          </p:nvSpPr>
          <p:spPr>
            <a:xfrm>
              <a:off x="1458615" y="5031282"/>
              <a:ext cx="41069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b="1" dirty="0"/>
                <a:t>Y</a:t>
              </a:r>
            </a:p>
          </p:txBody>
        </p:sp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82086929-E993-E8D4-B51B-E2645AC2A15B}"/>
              </a:ext>
            </a:extLst>
          </p:cNvPr>
          <p:cNvSpPr/>
          <p:nvPr/>
        </p:nvSpPr>
        <p:spPr>
          <a:xfrm>
            <a:off x="6255749" y="2409557"/>
            <a:ext cx="1678385" cy="8262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80294D-B8EA-A415-6BC0-EB9FE0D731B4}"/>
              </a:ext>
            </a:extLst>
          </p:cNvPr>
          <p:cNvSpPr txBox="1"/>
          <p:nvPr/>
        </p:nvSpPr>
        <p:spPr>
          <a:xfrm>
            <a:off x="6223826" y="1432279"/>
            <a:ext cx="14635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Apply NMF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A5DCDDA-8474-8DAC-73B2-F59B562C6288}"/>
              </a:ext>
            </a:extLst>
          </p:cNvPr>
          <p:cNvGrpSpPr/>
          <p:nvPr/>
        </p:nvGrpSpPr>
        <p:grpSpPr>
          <a:xfrm>
            <a:off x="1414874" y="4647591"/>
            <a:ext cx="2753423" cy="1751464"/>
            <a:chOff x="5669279" y="2926080"/>
            <a:chExt cx="2935225" cy="260604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9415976-FF74-8EBB-4875-B476158606FB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ED0B876-DF43-8246-6CB6-430E9FF4AA27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000" b="0" i="1">
                  <a:solidFill>
                    <a:srgbClr val="000000"/>
                  </a:solidFill>
                  <a:latin typeface="Cambria Math"/>
                  <a:cs typeface="Cambria Math"/>
                </a:rPr>
                <a:t>W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F171CF8-28FF-98E3-A497-6C5B197BEFE6}"/>
                </a:ext>
              </a:extLst>
            </p:cNvPr>
            <p:cNvSpPr/>
            <p:nvPr/>
          </p:nvSpPr>
          <p:spPr>
            <a:xfrm>
              <a:off x="6867144" y="2926080"/>
              <a:ext cx="1737360" cy="914401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F327052-9A2B-F93E-D8BE-07E0D3BE8976}"/>
                </a:ext>
              </a:extLst>
            </p:cNvPr>
            <p:cNvSpPr/>
            <p:nvPr/>
          </p:nvSpPr>
          <p:spPr>
            <a:xfrm>
              <a:off x="6867144" y="2926080"/>
              <a:ext cx="1737360" cy="91440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000" b="0" i="1">
                  <a:solidFill>
                    <a:srgbClr val="000000"/>
                  </a:solidFill>
                  <a:latin typeface="Cambria Math"/>
                  <a:cs typeface="Cambria Math"/>
                </a:rPr>
                <a:t>H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339FD99-62EF-4486-0314-9F298D71A5E4}"/>
                </a:ext>
              </a:extLst>
            </p:cNvPr>
            <p:cNvSpPr txBox="1"/>
            <p:nvPr/>
          </p:nvSpPr>
          <p:spPr>
            <a:xfrm>
              <a:off x="5669279" y="5221226"/>
              <a:ext cx="1385763" cy="3108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W  (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N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 × K)</a:t>
              </a:r>
              <a:endParaRPr lang="en-US" sz="2000" b="0" i="0" dirty="0">
                <a:solidFill>
                  <a:srgbClr val="000000"/>
                </a:solidFill>
                <a:latin typeface="+mn-lt"/>
                <a:cs typeface="+mn-lt"/>
              </a:endParaRP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2000" dirty="0">
                  <a:solidFill>
                    <a:srgbClr val="000000"/>
                  </a:solidFill>
                  <a:cs typeface="+mn-lt"/>
                </a:rPr>
                <a:t>Loadings</a:t>
              </a:r>
              <a:endParaRPr sz="2000" b="0" i="0" dirty="0">
                <a:solidFill>
                  <a:srgbClr val="000000"/>
                </a:solidFill>
                <a:latin typeface="+mn-lt"/>
                <a:cs typeface="+mn-lt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D8E5327-5B49-5640-5979-B987E60F36A2}"/>
                </a:ext>
              </a:extLst>
            </p:cNvPr>
            <p:cNvSpPr txBox="1"/>
            <p:nvPr/>
          </p:nvSpPr>
          <p:spPr>
            <a:xfrm>
              <a:off x="6867144" y="389534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H  (K × G)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2000" dirty="0">
                  <a:solidFill>
                    <a:srgbClr val="000000"/>
                  </a:solidFill>
                  <a:cs typeface="+mn-lt"/>
                </a:rPr>
                <a:t>Factors</a:t>
              </a:r>
              <a:endParaRPr sz="2000" b="0" i="0" dirty="0">
                <a:solidFill>
                  <a:srgbClr val="000000"/>
                </a:solidFill>
                <a:latin typeface="+mn-lt"/>
                <a:cs typeface="+mn-lt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E092695-98DB-FD43-CF54-DAF6FE555E9D}"/>
              </a:ext>
            </a:extLst>
          </p:cNvPr>
          <p:cNvSpPr txBox="1"/>
          <p:nvPr/>
        </p:nvSpPr>
        <p:spPr>
          <a:xfrm>
            <a:off x="9138427" y="3184770"/>
            <a:ext cx="1086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Loadings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A9CDC2E-4CF3-5D0A-24DD-5F27A5507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669" y="3764956"/>
            <a:ext cx="3766049" cy="269003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DF26424-E820-1B58-9ECA-968E11C45303}"/>
              </a:ext>
            </a:extLst>
          </p:cNvPr>
          <p:cNvSpPr txBox="1"/>
          <p:nvPr/>
        </p:nvSpPr>
        <p:spPr>
          <a:xfrm>
            <a:off x="5549929" y="4750738"/>
            <a:ext cx="244204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Gene clustering using the factor matrix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B7E0D0-5DAA-B1C9-3E1A-EBB416DE8E93}"/>
              </a:ext>
            </a:extLst>
          </p:cNvPr>
          <p:cNvSpPr txBox="1"/>
          <p:nvPr/>
        </p:nvSpPr>
        <p:spPr>
          <a:xfrm>
            <a:off x="9367992" y="6464284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BE2C1D-9DFF-9011-A91D-64DC4B95239F}"/>
              </a:ext>
            </a:extLst>
          </p:cNvPr>
          <p:cNvSpPr txBox="1"/>
          <p:nvPr/>
        </p:nvSpPr>
        <p:spPr>
          <a:xfrm rot="16200000">
            <a:off x="7817408" y="4925306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</a:t>
            </a:r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610BC1EA-6E83-BAE1-E43A-F89514ECAF66}"/>
              </a:ext>
            </a:extLst>
          </p:cNvPr>
          <p:cNvSpPr/>
          <p:nvPr/>
        </p:nvSpPr>
        <p:spPr>
          <a:xfrm rot="1901269">
            <a:off x="5919399" y="3614996"/>
            <a:ext cx="1678385" cy="8262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904127-BD5B-7D47-E389-130ACED918C7}"/>
              </a:ext>
            </a:extLst>
          </p:cNvPr>
          <p:cNvSpPr txBox="1"/>
          <p:nvPr/>
        </p:nvSpPr>
        <p:spPr>
          <a:xfrm>
            <a:off x="355905" y="5361233"/>
            <a:ext cx="7697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NMF</a:t>
            </a:r>
          </a:p>
        </p:txBody>
      </p:sp>
    </p:spTree>
    <p:extLst>
      <p:ext uri="{BB962C8B-B14F-4D97-AF65-F5344CB8AC3E}">
        <p14:creationId xmlns:p14="http://schemas.microsoft.com/office/powerpoint/2010/main" val="23047133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F5957-399A-94A5-F8EC-D1E908868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2EE3A9-C59C-AEBC-E4C5-9C744F3632CD}"/>
              </a:ext>
            </a:extLst>
          </p:cNvPr>
          <p:cNvSpPr txBox="1"/>
          <p:nvPr/>
        </p:nvSpPr>
        <p:spPr>
          <a:xfrm>
            <a:off x="351906" y="266527"/>
            <a:ext cx="11155680" cy="15317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latin typeface="+mj-lt"/>
                <a:cs typeface="+mj-lt"/>
              </a:rPr>
              <a:t>Many different (non-negative) matrix factorization variants used in practice</a:t>
            </a:r>
            <a:endParaRPr sz="40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559FB6-EFF5-3175-33AB-A423DCDF15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75" r="39576"/>
          <a:stretch>
            <a:fillRect/>
          </a:stretch>
        </p:blipFill>
        <p:spPr>
          <a:xfrm>
            <a:off x="4813780" y="8788146"/>
            <a:ext cx="4269260" cy="49661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32BBA3-1385-A812-6813-315380B506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595"/>
          <a:stretch>
            <a:fillRect/>
          </a:stretch>
        </p:blipFill>
        <p:spPr>
          <a:xfrm>
            <a:off x="-3108960" y="8646622"/>
            <a:ext cx="7767568" cy="1945178"/>
          </a:xfrm>
          <a:prstGeom prst="rect">
            <a:avLst/>
          </a:prstGeom>
        </p:spPr>
      </p:pic>
      <p:pic>
        <p:nvPicPr>
          <p:cNvPr id="11" name="Picture 10" descr="Fig. 1">
            <a:extLst>
              <a:ext uri="{FF2B5EF4-FFF2-40B4-BE49-F238E27FC236}">
                <a16:creationId xmlns:a16="http://schemas.microsoft.com/office/drawing/2014/main" id="{CA3B8641-ED58-F0DE-2C21-0A35DD823F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7385"/>
          <a:stretch>
            <a:fillRect/>
          </a:stretch>
        </p:blipFill>
        <p:spPr>
          <a:xfrm>
            <a:off x="-2757054" y="11072375"/>
            <a:ext cx="6714572" cy="21945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D9E55A-6B32-FB85-72D9-DDE5FD4C4BC1}"/>
              </a:ext>
            </a:extLst>
          </p:cNvPr>
          <p:cNvSpPr txBox="1"/>
          <p:nvPr/>
        </p:nvSpPr>
        <p:spPr>
          <a:xfrm>
            <a:off x="1262860" y="2278896"/>
            <a:ext cx="93573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3000" dirty="0"/>
              <a:t>Consensus NMF (averaging over different initializations)</a:t>
            </a:r>
          </a:p>
          <a:p>
            <a:pPr marL="514350" indent="-514350">
              <a:buAutoNum type="arabicPeriod"/>
            </a:pPr>
            <a:endParaRPr lang="en-US" sz="3000" dirty="0"/>
          </a:p>
          <a:p>
            <a:pPr marL="514350" indent="-514350">
              <a:buAutoNum type="arabicPeriod"/>
            </a:pPr>
            <a:r>
              <a:rPr lang="en-US" sz="3000" dirty="0"/>
              <a:t>NMF for </a:t>
            </a:r>
            <a:r>
              <a:rPr lang="en-US" sz="3000" b="1" dirty="0"/>
              <a:t>data integration</a:t>
            </a:r>
            <a:r>
              <a:rPr lang="en-US" sz="3000" dirty="0"/>
              <a:t> (LIGER, </a:t>
            </a:r>
            <a:r>
              <a:rPr lang="en-US" sz="3000" dirty="0" err="1"/>
              <a:t>scINSIGHT</a:t>
            </a:r>
            <a:r>
              <a:rPr lang="en-US" sz="3000" dirty="0"/>
              <a:t>)</a:t>
            </a:r>
          </a:p>
          <a:p>
            <a:pPr marL="514350" indent="-514350">
              <a:buAutoNum type="arabicPeriod"/>
            </a:pPr>
            <a:endParaRPr lang="en-US" sz="3000" dirty="0"/>
          </a:p>
          <a:p>
            <a:pPr marL="514350" indent="-514350">
              <a:buAutoNum type="arabicPeriod"/>
            </a:pPr>
            <a:r>
              <a:rPr lang="en-US" sz="3000" dirty="0"/>
              <a:t>Probabilistic matrix factorization</a:t>
            </a:r>
          </a:p>
        </p:txBody>
      </p:sp>
    </p:spTree>
    <p:extLst>
      <p:ext uri="{BB962C8B-B14F-4D97-AF65-F5344CB8AC3E}">
        <p14:creationId xmlns:p14="http://schemas.microsoft.com/office/powerpoint/2010/main" val="11269528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Variant 1: 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consensus NMF 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(</a:t>
            </a:r>
            <a:r>
              <a:rPr lang="en-US" sz="3400" b="0" i="0" dirty="0" err="1">
                <a:solidFill>
                  <a:srgbClr val="000000"/>
                </a:solidFill>
                <a:latin typeface="+mj-lt"/>
                <a:cs typeface="+mj-lt"/>
              </a:rPr>
              <a:t>cNMF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)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1" i="0" dirty="0">
                <a:solidFill>
                  <a:srgbClr val="FF0000"/>
                </a:solidFill>
                <a:latin typeface="+mn-lt"/>
                <a:cs typeface="+mn-lt"/>
              </a:rPr>
              <a:t>Problem: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one NMF run is seed-dependent. </a:t>
            </a:r>
            <a:r>
              <a:rPr sz="1900" b="1" i="0" dirty="0">
                <a:solidFill>
                  <a:srgbClr val="FF0000"/>
                </a:solidFill>
                <a:latin typeface="+mn-lt"/>
                <a:cs typeface="+mn-lt"/>
              </a:rPr>
              <a:t>Idea: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run NMF many times and keep the programs that recur.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286000"/>
            <a:ext cx="1627632" cy="141732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2286000"/>
            <a:ext cx="1627632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450" b="1" i="0">
                <a:solidFill>
                  <a:srgbClr val="000000"/>
                </a:solidFill>
                <a:latin typeface="+mn-lt"/>
                <a:cs typeface="+mn-lt"/>
              </a:rPr>
              <a:t>1. Normalize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404040"/>
                </a:solidFill>
                <a:latin typeface="+mn-lt"/>
                <a:cs typeface="+mn-lt"/>
              </a:rPr>
              <a:t>TPM + over-dispersed genes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2994660"/>
            <a:ext cx="118872" cy="0"/>
          </a:xfrm>
          <a:prstGeom prst="line">
            <a:avLst/>
          </a:prstGeom>
          <a:ln w="15875">
            <a:solidFill>
              <a:srgbClr val="0E284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404872" y="2286000"/>
            <a:ext cx="1627632" cy="141732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04872" y="2286000"/>
            <a:ext cx="1627632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450" b="1" i="0">
                <a:solidFill>
                  <a:srgbClr val="000000"/>
                </a:solidFill>
                <a:latin typeface="+mn-lt"/>
                <a:cs typeface="+mn-lt"/>
              </a:rPr>
              <a:t>2. Run NMF × R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404040"/>
                </a:solidFill>
                <a:latin typeface="+mn-lt"/>
                <a:cs typeface="+mn-lt"/>
              </a:rPr>
              <a:t>R random seeds (≈100–200)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32504" y="2994660"/>
            <a:ext cx="118872" cy="0"/>
          </a:xfrm>
          <a:prstGeom prst="line">
            <a:avLst/>
          </a:prstGeom>
          <a:ln w="15875">
            <a:solidFill>
              <a:srgbClr val="0E284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151376" y="2286000"/>
            <a:ext cx="1627632" cy="141732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51376" y="2286000"/>
            <a:ext cx="1627632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450" b="1" i="0">
                <a:solidFill>
                  <a:srgbClr val="000000"/>
                </a:solidFill>
                <a:latin typeface="+mn-lt"/>
                <a:cs typeface="+mn-lt"/>
              </a:rPr>
              <a:t>3. Pool &amp; cluster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404040"/>
                </a:solidFill>
                <a:latin typeface="+mn-lt"/>
                <a:cs typeface="+mn-lt"/>
              </a:rPr>
              <a:t>group the R·K programs into 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79008" y="2994660"/>
            <a:ext cx="118872" cy="0"/>
          </a:xfrm>
          <a:prstGeom prst="line">
            <a:avLst/>
          </a:prstGeom>
          <a:ln w="15875">
            <a:solidFill>
              <a:srgbClr val="0E284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897880" y="2286000"/>
            <a:ext cx="1627632" cy="141732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97880" y="2286000"/>
            <a:ext cx="1627632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450" b="1" i="0">
                <a:solidFill>
                  <a:srgbClr val="000000"/>
                </a:solidFill>
                <a:latin typeface="+mn-lt"/>
                <a:cs typeface="+mn-lt"/>
              </a:rPr>
              <a:t>4. Filter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404040"/>
                </a:solidFill>
                <a:latin typeface="+mn-lt"/>
                <a:cs typeface="+mn-lt"/>
              </a:rPr>
              <a:t>drop outlier components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25512" y="2994660"/>
            <a:ext cx="118872" cy="0"/>
          </a:xfrm>
          <a:prstGeom prst="line">
            <a:avLst/>
          </a:prstGeom>
          <a:ln w="15875">
            <a:solidFill>
              <a:srgbClr val="0E284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644384" y="2286000"/>
            <a:ext cx="1627632" cy="141732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44384" y="2286000"/>
            <a:ext cx="1627632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450" b="1" i="0">
                <a:solidFill>
                  <a:srgbClr val="000000"/>
                </a:solidFill>
                <a:latin typeface="+mn-lt"/>
                <a:cs typeface="+mn-lt"/>
              </a:rPr>
              <a:t>5. Consensus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404040"/>
                </a:solidFill>
                <a:latin typeface="+mn-lt"/>
                <a:cs typeface="+mn-lt"/>
              </a:rPr>
              <a:t>median of each cluster → W*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72016" y="2994660"/>
            <a:ext cx="118872" cy="0"/>
          </a:xfrm>
          <a:prstGeom prst="line">
            <a:avLst/>
          </a:prstGeom>
          <a:ln w="15875">
            <a:solidFill>
              <a:srgbClr val="0E284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390888" y="2286000"/>
            <a:ext cx="1627632" cy="141732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90888" y="2286000"/>
            <a:ext cx="1627632" cy="1417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/>
          <a:lstStyle/>
          <a:p>
            <a:pPr algn="ctr"/>
            <a:r>
              <a:rPr sz="1450" b="1" i="0">
                <a:solidFill>
                  <a:srgbClr val="000000"/>
                </a:solidFill>
                <a:latin typeface="+mn-lt"/>
                <a:cs typeface="+mn-lt"/>
              </a:rPr>
              <a:t>6. Refit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404040"/>
                </a:solidFill>
                <a:latin typeface="+mn-lt"/>
                <a:cs typeface="+mn-lt"/>
              </a:rPr>
              <a:t>NNLS usages H given W*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1" i="0">
                <a:solidFill>
                  <a:srgbClr val="FF0000"/>
                </a:solidFill>
                <a:latin typeface="+mn-lt"/>
                <a:cs typeface="+mn-lt"/>
              </a:rPr>
              <a:t>Output: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K consensus gene expression programs (GEPs) reproducible across seeds, plus per-cell usages. It adds robustness, not a new objective.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This turns an unstable algorithm into a dependable tool — the de-facto standard for finding programs in scRNA-seq.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Kotliar, Veres, Nagy, Tabrizi, Hodgin, Eggan, Regev, eLife 8:e43803 (2019).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B8B2534-BD1E-E210-4246-FCDF0A61C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00200" y="835481"/>
            <a:ext cx="7772400" cy="164482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9EC4F-876D-BCD0-E31B-A67FC4991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06E1F-98E3-8C97-9122-3DE4445A5255}"/>
              </a:ext>
            </a:extLst>
          </p:cNvPr>
          <p:cNvSpPr txBox="1"/>
          <p:nvPr/>
        </p:nvSpPr>
        <p:spPr>
          <a:xfrm>
            <a:off x="5807961" y="117987"/>
            <a:ext cx="6271366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Variant 1: 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consensus NMF 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(</a:t>
            </a:r>
            <a:r>
              <a:rPr lang="en-US" sz="3400" b="0" i="0" dirty="0" err="1">
                <a:solidFill>
                  <a:srgbClr val="000000"/>
                </a:solidFill>
                <a:latin typeface="+mj-lt"/>
                <a:cs typeface="+mj-lt"/>
              </a:rPr>
              <a:t>cNMF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)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B68443-731F-C467-179E-5109B319FAAD}"/>
              </a:ext>
            </a:extLst>
          </p:cNvPr>
          <p:cNvSpPr txBox="1"/>
          <p:nvPr/>
        </p:nvSpPr>
        <p:spPr>
          <a:xfrm>
            <a:off x="163707" y="6565392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Kotliar, Veres, Nagy, Tabrizi, Hodgin, Eggan, Regev, eLife 8:e43803 (2019).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EF802EF-3606-E44E-5529-69618724D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66835" y="-1976191"/>
            <a:ext cx="6940387" cy="146875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2503142-3451-A00B-E398-34F208532A35}"/>
              </a:ext>
            </a:extLst>
          </p:cNvPr>
          <p:cNvSpPr txBox="1"/>
          <p:nvPr/>
        </p:nvSpPr>
        <p:spPr>
          <a:xfrm>
            <a:off x="-2533035" y="1873994"/>
            <a:ext cx="22981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NMF many times</a:t>
            </a:r>
          </a:p>
          <a:p>
            <a:r>
              <a:rPr lang="en-US" dirty="0"/>
              <a:t>….. Clustering …..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A22B31-4573-B2C4-0ABE-315B9FC2E7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21" t="4349" r="4781" b="26066"/>
          <a:stretch>
            <a:fillRect/>
          </a:stretch>
        </p:blipFill>
        <p:spPr>
          <a:xfrm>
            <a:off x="163707" y="9921"/>
            <a:ext cx="5561798" cy="49895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4019435-6379-A4C1-C4BF-2EA2B90C53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138"/>
          <a:stretch>
            <a:fillRect/>
          </a:stretch>
        </p:blipFill>
        <p:spPr>
          <a:xfrm>
            <a:off x="3699402" y="4577583"/>
            <a:ext cx="8462382" cy="2162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6E1961-282A-6765-ADD3-3BBD80801927}"/>
              </a:ext>
            </a:extLst>
          </p:cNvPr>
          <p:cNvSpPr txBox="1"/>
          <p:nvPr/>
        </p:nvSpPr>
        <p:spPr>
          <a:xfrm>
            <a:off x="6046839" y="1887793"/>
            <a:ext cx="52356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Compute NMF across many different initializations and cluster the results</a:t>
            </a:r>
          </a:p>
        </p:txBody>
      </p:sp>
    </p:spTree>
    <p:extLst>
      <p:ext uri="{BB962C8B-B14F-4D97-AF65-F5344CB8AC3E}">
        <p14:creationId xmlns:p14="http://schemas.microsoft.com/office/powerpoint/2010/main" val="41679093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>
                <a:solidFill>
                  <a:srgbClr val="000000"/>
                </a:solidFill>
                <a:latin typeface="+mj-lt"/>
                <a:cs typeface="+mj-lt"/>
              </a:rPr>
              <a:t>cNMF: identity vs. activity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+mn-lt"/>
                <a:cs typeface="+mn-lt"/>
              </a:rPr>
              <a:t>A key biological payoff: cNMF separates two kinds of programs.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5740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1" i="0">
                <a:solidFill>
                  <a:srgbClr val="FF0000"/>
                </a:solidFill>
                <a:latin typeface="+mn-lt"/>
                <a:cs typeface="+mn-lt"/>
              </a:rPr>
              <a:t>Identity programs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define a cell type (T cell, neuron).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each cell expresses essentially one.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roughly what clustering recovers.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2057400"/>
            <a:ext cx="548640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2000" b="1" i="0">
                <a:solidFill>
                  <a:srgbClr val="FF0000"/>
                </a:solidFill>
                <a:latin typeface="+mn-lt"/>
                <a:cs typeface="+mn-lt"/>
              </a:rPr>
              <a:t>Activity programs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transient, shared across cell types.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e.g. cell cycle, hypoxia, IFN response.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a cell can run several at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8813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1" i="0">
                <a:solidFill>
                  <a:srgbClr val="FF0000"/>
                </a:solidFill>
                <a:latin typeface="+mn-lt"/>
                <a:cs typeface="+mn-lt"/>
              </a:rPr>
              <a:t>Why additivity matters: 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clustering would split a cycling T cell from a resting T cell (or fold cell cycle into “identity”).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NMF’s additive usages let one cell = identity program + cell-cycle program — disentangling type from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Kotliar et al., eLife (2019).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Variant 2: 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LIGER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 (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NMF for data integration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)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448704-CC39-758F-42F1-28919B8055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367"/>
          <a:stretch>
            <a:fillRect/>
          </a:stretch>
        </p:blipFill>
        <p:spPr>
          <a:xfrm>
            <a:off x="162157" y="1298727"/>
            <a:ext cx="6947937" cy="51430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92B178-AA0F-0C3E-A199-0A6A1CD4E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350" y="-1318506"/>
            <a:ext cx="5422669" cy="1134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A1ED5B-54CA-FDB0-2526-88F6DCE70E53}"/>
              </a:ext>
            </a:extLst>
          </p:cNvPr>
          <p:cNvSpPr txBox="1"/>
          <p:nvPr/>
        </p:nvSpPr>
        <p:spPr>
          <a:xfrm>
            <a:off x="7552784" y="3656432"/>
            <a:ext cx="4993178" cy="27853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500" dirty="0"/>
              <a:t>The K x G matrix (factors) is split into two components: </a:t>
            </a:r>
          </a:p>
          <a:p>
            <a:endParaRPr lang="en-US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one shared by all datasets,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one dataset-specific (absorbs dataset-specific features, e.g.  “batch effects”)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7E4E16-A415-7018-8400-39F6AF284401}"/>
              </a:ext>
            </a:extLst>
          </p:cNvPr>
          <p:cNvSpPr txBox="1"/>
          <p:nvPr/>
        </p:nvSpPr>
        <p:spPr>
          <a:xfrm>
            <a:off x="10038196" y="112737"/>
            <a:ext cx="19768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>
                    <a:lumMod val="50000"/>
                  </a:schemeClr>
                </a:solidFill>
              </a:rPr>
              <a:t>Welch et al, Cell 2019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6B3210-6242-33A5-D505-CE8C76562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553E87-6191-2934-9128-235B16916C78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Variant 2: 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LIGER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 (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NMF for data integration</a:t>
            </a: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)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CA4D55-DFE9-8ABA-F949-8E17D8911733}"/>
              </a:ext>
            </a:extLst>
          </p:cNvPr>
          <p:cNvSpPr txBox="1"/>
          <p:nvPr/>
        </p:nvSpPr>
        <p:spPr>
          <a:xfrm>
            <a:off x="640080" y="13258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900" b="0" i="0">
                <a:solidFill>
                  <a:srgbClr val="000000"/>
                </a:solidFill>
                <a:latin typeface="+mn-lt"/>
                <a:cs typeface="+mn-lt"/>
              </a:rPr>
              <a:t>Different problem: combine multiple datasets (batches, technologies, species, modalities) into one shared space.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F77B55-D5B7-AAE8-166F-2D086B5EAF07}"/>
                  </a:ext>
                </a:extLst>
              </p:cNvPr>
              <p:cNvSpPr txBox="1"/>
              <p:nvPr/>
            </p:nvSpPr>
            <p:spPr>
              <a:xfrm>
                <a:off x="640080" y="2057400"/>
                <a:ext cx="10881360" cy="9144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>
                      <m:limLow>
                        <m:limLowPr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 ≥ 0</m:t>
                          </m:r>
                        </m:lim>
                      </m:limLow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d>
                                    <m:dPr>
                                      <m:ctrlP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  <m: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  <m:t> + 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 b="0" i="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  <m:sup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sz="2000" b="0" i="1">
                          <a:latin typeface="Cambria Math" panose="02040503050406030204" pitchFamily="18" charset="0"/>
                        </a:rPr>
                        <m:t>  +  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b="0" i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000" b="0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000" b="0" i="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  <m:sup>
                              <m:r>
                                <a:rPr lang="en-US" sz="20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F77B55-D5B7-AAE8-166F-2D086B5EA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057400"/>
                <a:ext cx="10881360" cy="914400"/>
              </a:xfrm>
              <a:prstGeom prst="rect">
                <a:avLst/>
              </a:prstGeom>
              <a:blipFill>
                <a:blip r:embed="rId2"/>
                <a:stretch>
                  <a:fillRect t="-108219" b="-1575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74E9AAB-F6DD-810F-658E-6B90450237C4}"/>
              </a:ext>
            </a:extLst>
          </p:cNvPr>
          <p:cNvSpPr txBox="1"/>
          <p:nvPr/>
        </p:nvSpPr>
        <p:spPr>
          <a:xfrm>
            <a:off x="640080" y="3291840"/>
            <a:ext cx="108813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1">
                <a:solidFill>
                  <a:srgbClr val="000000"/>
                </a:solidFill>
                <a:latin typeface="+mn-lt"/>
                <a:cs typeface="+mn-lt"/>
              </a:rPr>
              <a:t>E</a:t>
            </a:r>
            <a:r>
              <a:rPr sz="1300" b="0" i="1">
                <a:solidFill>
                  <a:srgbClr val="000000"/>
                </a:solidFill>
                <a:latin typeface="+mn-lt"/>
                <a:cs typeface="+mn-lt"/>
              </a:rPr>
              <a:t>ᵢ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— dataset i (genes × cells), nonnegative input.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1">
                <a:solidFill>
                  <a:srgbClr val="FF0000"/>
                </a:solidFill>
                <a:latin typeface="+mn-lt"/>
                <a:cs typeface="+mn-lt"/>
              </a:rPr>
              <a:t>W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— shared metagenes: programs common to every dataset (the “glue” that aligns them).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1">
                <a:solidFill>
                  <a:srgbClr val="FF0000"/>
                </a:solidFill>
                <a:latin typeface="+mn-lt"/>
                <a:cs typeface="+mn-lt"/>
              </a:rPr>
              <a:t>Vᵢ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— dataset-specific metagenes: what is unique to dataset i.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–"/>
            </a:pPr>
            <a:r>
              <a:rPr sz="1800" b="0" i="1">
                <a:solidFill>
                  <a:srgbClr val="FF0000"/>
                </a:solidFill>
                <a:latin typeface="+mn-lt"/>
                <a:cs typeface="+mn-lt"/>
              </a:rPr>
              <a:t>Hᵢ</a:t>
            </a: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 — cell loadings in the shared space; λ tunes how much dataset-specific variation is allowed.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16ACA-69FF-3696-C9B1-56D8E15EC1E7}"/>
              </a:ext>
            </a:extLst>
          </p:cNvPr>
          <p:cNvSpPr txBox="1"/>
          <p:nvPr/>
        </p:nvSpPr>
        <p:spPr>
          <a:xfrm>
            <a:off x="502920" y="645566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Welch, Kozareva, Ferreira, Vanderburg, Martin, Macosko, Cell 177:1873–1887 (2019).</a:t>
            </a:r>
          </a:p>
        </p:txBody>
      </p:sp>
    </p:spTree>
    <p:extLst>
      <p:ext uri="{BB962C8B-B14F-4D97-AF65-F5344CB8AC3E}">
        <p14:creationId xmlns:p14="http://schemas.microsoft.com/office/powerpoint/2010/main" val="7427692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 i="0">
                <a:solidFill>
                  <a:srgbClr val="000000"/>
                </a:solidFill>
                <a:latin typeface="+mj-lt"/>
                <a:cs typeface="+mj-lt"/>
              </a:rPr>
              <a:t>Why the shared/specific split integrates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000000"/>
                </a:solidFill>
                <a:latin typeface="+mn-lt"/>
                <a:cs typeface="+mn-lt"/>
              </a:rPr>
              <a:t>Dataset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325880" cy="123444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32588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800" b="0" i="1">
                <a:solidFill>
                  <a:srgbClr val="000000"/>
                </a:solidFill>
                <a:latin typeface="Cambria Math"/>
                <a:cs typeface="Cambria Math"/>
              </a:rPr>
              <a:t>E₁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22402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200" b="0" i="0">
                <a:solidFill>
                  <a:srgbClr val="000000"/>
                </a:solidFill>
                <a:latin typeface="Cambria Math"/>
                <a:cs typeface="Cambria Math"/>
              </a:rPr>
              <a:t>≈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828800"/>
            <a:ext cx="1325880" cy="123444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60320" y="1828800"/>
            <a:ext cx="132588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800" b="0" i="1">
                <a:solidFill>
                  <a:srgbClr val="000000"/>
                </a:solidFill>
                <a:latin typeface="Cambria Math"/>
                <a:cs typeface="Cambria Math"/>
              </a:rP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24028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200" b="0" i="0">
                <a:solidFill>
                  <a:srgbClr val="000000"/>
                </a:solidFill>
                <a:latin typeface="Cambria Math"/>
                <a:cs typeface="Cambria Math"/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1325880" cy="123444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132588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800" b="0" i="1">
                <a:solidFill>
                  <a:srgbClr val="000000"/>
                </a:solidFill>
                <a:latin typeface="Cambria Math"/>
                <a:cs typeface="Cambria Math"/>
              </a:rPr>
              <a:t>V₁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500" b="1" i="0">
                <a:solidFill>
                  <a:srgbClr val="000000"/>
                </a:solidFill>
                <a:latin typeface="+mn-lt"/>
                <a:cs typeface="+mn-lt"/>
              </a:rPr>
              <a:t>Dataset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94760"/>
            <a:ext cx="1325880" cy="123444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794760"/>
            <a:ext cx="132588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800" b="0" i="1">
                <a:solidFill>
                  <a:srgbClr val="000000"/>
                </a:solidFill>
                <a:latin typeface="Cambria Math"/>
                <a:cs typeface="Cambria Math"/>
              </a:rPr>
              <a:t>E₂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20624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200" b="0" i="0">
                <a:solidFill>
                  <a:srgbClr val="000000"/>
                </a:solidFill>
                <a:latin typeface="Cambria Math"/>
                <a:cs typeface="Cambria Math"/>
              </a:rPr>
              <a:t>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3794760"/>
            <a:ext cx="1325880" cy="123444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60320" y="3794760"/>
            <a:ext cx="132588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800" b="0" i="1">
                <a:solidFill>
                  <a:srgbClr val="000000"/>
                </a:solidFill>
                <a:latin typeface="Cambria Math"/>
                <a:cs typeface="Cambria Math"/>
              </a:rPr>
              <a:t>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20624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2200" b="0" i="0">
                <a:solidFill>
                  <a:srgbClr val="000000"/>
                </a:solidFill>
                <a:latin typeface="Cambria Math"/>
                <a:cs typeface="Cambria Math"/>
              </a:rPr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794760"/>
            <a:ext cx="1325880" cy="1234440"/>
          </a:xfrm>
          <a:prstGeom prst="rect">
            <a:avLst/>
          </a:prstGeom>
          <a:noFill/>
          <a:ln w="28575">
            <a:solidFill>
              <a:srgbClr val="0E28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34840" y="3794760"/>
            <a:ext cx="1325880" cy="12344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800" b="0" i="1">
                <a:solidFill>
                  <a:srgbClr val="000000"/>
                </a:solidFill>
                <a:latin typeface="Cambria Math"/>
                <a:cs typeface="Cambria Math"/>
              </a:rPr>
              <a:t>V₂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00400" y="3063240"/>
            <a:ext cx="0" cy="731520"/>
          </a:xfrm>
          <a:prstGeom prst="line">
            <a:avLst/>
          </a:prstGeom>
          <a:ln w="15875">
            <a:solidFill>
              <a:srgbClr val="0E284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52160" y="233172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00" b="0" i="1">
                <a:solidFill>
                  <a:srgbClr val="FF0000"/>
                </a:solidFill>
                <a:latin typeface="+mn-lt"/>
                <a:cs typeface="+mn-lt"/>
              </a:rPr>
              <a:t>same 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55448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900" b="1" i="0">
                <a:solidFill>
                  <a:srgbClr val="000000"/>
                </a:solidFill>
                <a:latin typeface="+mn-lt"/>
                <a:cs typeface="+mn-lt"/>
              </a:rPr>
              <a:t>Because every dataset shares the same W,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cells from different batches land on the same factor axes (the Hᵢ share a coordinate system).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Vᵢ absorbs batch-specific effects, so they don’t contaminate the shared programs.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–"/>
            </a:pPr>
            <a:r>
              <a:rPr sz="1800" b="0" i="0">
                <a:solidFill>
                  <a:srgbClr val="000000"/>
                </a:solidFill>
                <a:latin typeface="+mn-lt"/>
                <a:cs typeface="+mn-lt"/>
              </a:rPr>
              <a:t>LIGER then quantile-normalizes the Hᵢ and builds a joint neighbor graph for clustering.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00" b="0" i="1">
                <a:solidFill>
                  <a:srgbClr val="7F7F7F"/>
                </a:solidFill>
                <a:latin typeface="+mn-lt"/>
                <a:cs typeface="+mn-lt"/>
              </a:rPr>
              <a:t>Large λ → less mixing; small λ → more aggressive integration.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1">
                <a:solidFill>
                  <a:srgbClr val="7F7F7F"/>
                </a:solidFill>
                <a:latin typeface="+mn-lt"/>
                <a:cs typeface="+mn-lt"/>
              </a:rPr>
              <a:t>Welch et al., Cell (2019); rliger documentation.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EE627A-1520-0113-9E7D-E67196433D9E}"/>
              </a:ext>
            </a:extLst>
          </p:cNvPr>
          <p:cNvSpPr txBox="1"/>
          <p:nvPr/>
        </p:nvSpPr>
        <p:spPr>
          <a:xfrm>
            <a:off x="248805" y="59378"/>
            <a:ext cx="4185459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Variant 3: </a:t>
            </a:r>
            <a:r>
              <a:rPr lang="en-US" sz="3400" b="0" i="0" dirty="0" err="1">
                <a:solidFill>
                  <a:srgbClr val="000000"/>
                </a:solidFill>
                <a:latin typeface="+mj-lt"/>
                <a:cs typeface="+mj-lt"/>
              </a:rPr>
              <a:t>scINSIGHT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E3850F-9F1B-B876-0D8D-DC84DDEB1A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843"/>
          <a:stretch>
            <a:fillRect/>
          </a:stretch>
        </p:blipFill>
        <p:spPr>
          <a:xfrm>
            <a:off x="2165171" y="688400"/>
            <a:ext cx="6891828" cy="61102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27DC7E-998A-3223-B79B-CB3875BE8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830" y="5756968"/>
            <a:ext cx="3211361" cy="92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9936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3B367-942E-A0EE-94AC-C0B8A2394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A102A2-42C9-A279-C946-2CEEBA18AD65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Variants 4/5: MOFA+ and MEFISTO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pic>
        <p:nvPicPr>
          <p:cNvPr id="3" name="Picture 2" descr="Fig. 1: Overview of MEFISTO.">
            <a:extLst>
              <a:ext uri="{FF2B5EF4-FFF2-40B4-BE49-F238E27FC236}">
                <a16:creationId xmlns:a16="http://schemas.microsoft.com/office/drawing/2014/main" id="{28CCBFA2-B474-E434-5744-DA5B77E207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480"/>
          <a:stretch>
            <a:fillRect/>
          </a:stretch>
        </p:blipFill>
        <p:spPr>
          <a:xfrm>
            <a:off x="182407" y="3800997"/>
            <a:ext cx="7203248" cy="3057003"/>
          </a:xfrm>
          <a:prstGeom prst="rect">
            <a:avLst/>
          </a:prstGeom>
        </p:spPr>
      </p:pic>
      <p:pic>
        <p:nvPicPr>
          <p:cNvPr id="4" name="Picture 3" descr="Fig. 1">
            <a:extLst>
              <a:ext uri="{FF2B5EF4-FFF2-40B4-BE49-F238E27FC236}">
                <a16:creationId xmlns:a16="http://schemas.microsoft.com/office/drawing/2014/main" id="{EDA32A5B-D1B4-BB19-18BF-1CF7635B7E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385"/>
          <a:stretch>
            <a:fillRect/>
          </a:stretch>
        </p:blipFill>
        <p:spPr>
          <a:xfrm>
            <a:off x="259290" y="1049997"/>
            <a:ext cx="6714572" cy="21945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45624C-BB04-AFF1-EA40-E6E9533B9B59}"/>
              </a:ext>
            </a:extLst>
          </p:cNvPr>
          <p:cNvSpPr txBox="1"/>
          <p:nvPr/>
        </p:nvSpPr>
        <p:spPr>
          <a:xfrm>
            <a:off x="4634146" y="2853808"/>
            <a:ext cx="3229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MOFA+ (</a:t>
            </a:r>
            <a:r>
              <a:rPr lang="en-US" dirty="0" err="1"/>
              <a:t>Argelaguet</a:t>
            </a:r>
            <a:r>
              <a:rPr lang="en-US" dirty="0"/>
              <a:t> et al, Genome Biol 2022)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1B163A-2207-67AA-8B4B-115210096148}"/>
              </a:ext>
            </a:extLst>
          </p:cNvPr>
          <p:cNvSpPr txBox="1"/>
          <p:nvPr/>
        </p:nvSpPr>
        <p:spPr>
          <a:xfrm>
            <a:off x="7385655" y="6457890"/>
            <a:ext cx="5430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MEFISTO (Velten et al, Nature Methods 2022)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1D228-BFE9-B908-5C1F-94ED5DF13018}"/>
              </a:ext>
            </a:extLst>
          </p:cNvPr>
          <p:cNvSpPr txBox="1"/>
          <p:nvPr/>
        </p:nvSpPr>
        <p:spPr>
          <a:xfrm>
            <a:off x="7863350" y="2759585"/>
            <a:ext cx="447559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/>
              <a:t>Idea: use </a:t>
            </a:r>
            <a:r>
              <a:rPr lang="en-US" sz="2700" u="sng" dirty="0"/>
              <a:t>factor analysis</a:t>
            </a:r>
            <a:r>
              <a:rPr lang="en-US" sz="2700" dirty="0"/>
              <a:t> (matrix factorization + probability) </a:t>
            </a:r>
          </a:p>
        </p:txBody>
      </p:sp>
    </p:spTree>
    <p:extLst>
      <p:ext uri="{BB962C8B-B14F-4D97-AF65-F5344CB8AC3E}">
        <p14:creationId xmlns:p14="http://schemas.microsoft.com/office/powerpoint/2010/main" val="12971479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76FC-C732-73E4-E743-FA5F1542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AAEFAA-7125-EB24-2F9C-04E310AB7725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Non-negative spatial factorization (NSF)</a:t>
            </a:r>
            <a:endParaRPr sz="3400" b="0" i="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692F53-7C9B-15DD-641D-F4B2C6B80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28" y="972589"/>
            <a:ext cx="10226809" cy="46800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4970A4-6D52-F469-4F6F-C0AF8FBCB8BC}"/>
              </a:ext>
            </a:extLst>
          </p:cNvPr>
          <p:cNvSpPr txBox="1"/>
          <p:nvPr/>
        </p:nvSpPr>
        <p:spPr>
          <a:xfrm>
            <a:off x="149628" y="6304002"/>
            <a:ext cx="45965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NSF: Townes and Engelhardt, Nature Methods 2023</a:t>
            </a:r>
          </a:p>
          <a:p>
            <a:r>
              <a:rPr lang="en-US" sz="1500" b="1" dirty="0" err="1"/>
              <a:t>mNSF</a:t>
            </a:r>
            <a:r>
              <a:rPr lang="en-US" sz="1500" b="1" dirty="0"/>
              <a:t>: Wang et al, Genome Biol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E6F584-D696-0AB9-5DE7-4EBFAF3FA0DE}"/>
              </a:ext>
            </a:extLst>
          </p:cNvPr>
          <p:cNvSpPr txBox="1"/>
          <p:nvPr/>
        </p:nvSpPr>
        <p:spPr>
          <a:xfrm>
            <a:off x="5743468" y="5889299"/>
            <a:ext cx="629890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Idea: Impose spatial coherence on factors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Will briefly discuss next class</a:t>
            </a:r>
          </a:p>
        </p:txBody>
      </p:sp>
    </p:spTree>
    <p:extLst>
      <p:ext uri="{BB962C8B-B14F-4D97-AF65-F5344CB8AC3E}">
        <p14:creationId xmlns:p14="http://schemas.microsoft.com/office/powerpoint/2010/main" val="9852059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4F497-BB40-11B5-41E8-9A433466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16FF6C-A3A2-CC70-ED92-E0A8BBDA70EF}"/>
              </a:ext>
            </a:extLst>
          </p:cNvPr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dirty="0">
                <a:solidFill>
                  <a:srgbClr val="000000"/>
                </a:solidFill>
                <a:latin typeface="+mj-lt"/>
                <a:cs typeface="+mj-lt"/>
              </a:rPr>
              <a:t>Non-negative matrix factorization (NMF) </a:t>
            </a:r>
            <a:r>
              <a:rPr lang="en-US" sz="3400" dirty="0">
                <a:solidFill>
                  <a:srgbClr val="000000"/>
                </a:solidFill>
                <a:latin typeface="+mj-lt"/>
                <a:cs typeface="+mj-lt"/>
              </a:rPr>
              <a:t>s</a:t>
            </a:r>
            <a:r>
              <a:rPr sz="3400" b="0" i="0" dirty="0">
                <a:solidFill>
                  <a:srgbClr val="000000"/>
                </a:solidFill>
                <a:latin typeface="+mj-lt"/>
                <a:cs typeface="+mj-lt"/>
              </a:rPr>
              <a:t>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F53F81-5A5B-4B4F-D439-04B4F3F166CB}"/>
              </a:ext>
            </a:extLst>
          </p:cNvPr>
          <p:cNvSpPr txBox="1"/>
          <p:nvPr/>
        </p:nvSpPr>
        <p:spPr>
          <a:xfrm>
            <a:off x="141316" y="7614458"/>
            <a:ext cx="10881360" cy="4754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NMF factorizes Y ≈ WH with W, H ≥ 0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additive, parts-based, interpretable gene programs.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Objective: Frobenius or KL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same nonnegativity, different noise model.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Algorithms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multiplicative updates (simple, monotone) and ANLS / HALS (faster); alternating, non-convex.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Initialization &amp; K matter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seed-dependent → use NNDSVD and consensus; choose K by stability.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 err="1">
                <a:solidFill>
                  <a:srgbClr val="000000"/>
                </a:solidFill>
                <a:latin typeface="+mn-lt"/>
                <a:cs typeface="+mn-lt"/>
              </a:rPr>
              <a:t>cNMF</a:t>
            </a: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robust programs; separates cell-type identity from cellular activity.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LIGER / </a:t>
            </a:r>
            <a:r>
              <a:rPr sz="1900" b="1" i="0" dirty="0" err="1">
                <a:solidFill>
                  <a:srgbClr val="000000"/>
                </a:solidFill>
                <a:latin typeface="+mn-lt"/>
                <a:cs typeface="+mn-lt"/>
              </a:rPr>
              <a:t>iNMF</a:t>
            </a: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shared + dataset-specific factors integrate batches, species, and modalities.</a:t>
            </a:r>
          </a:p>
          <a:p>
            <a:pPr marL="274320" indent="-27432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sz="1900" b="1" i="0" dirty="0">
                <a:solidFill>
                  <a:srgbClr val="000000"/>
                </a:solidFill>
                <a:latin typeface="+mn-lt"/>
                <a:cs typeface="+mn-lt"/>
              </a:rPr>
              <a:t>Big picture — </a:t>
            </a:r>
            <a:r>
              <a:rPr sz="1900" b="0" i="0" dirty="0">
                <a:solidFill>
                  <a:srgbClr val="000000"/>
                </a:solidFill>
                <a:latin typeface="+mn-lt"/>
                <a:cs typeface="+mn-lt"/>
              </a:rPr>
              <a:t>NMF is one constrained factor model — a gateway to factor analysis and GLM-PCA.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533AA6C-0A47-07D9-303F-420B14AD7A02}"/>
              </a:ext>
            </a:extLst>
          </p:cNvPr>
          <p:cNvGrpSpPr/>
          <p:nvPr/>
        </p:nvGrpSpPr>
        <p:grpSpPr>
          <a:xfrm>
            <a:off x="519531" y="2936195"/>
            <a:ext cx="5065776" cy="2606040"/>
            <a:chOff x="3538728" y="2926080"/>
            <a:chExt cx="5065776" cy="260604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43E8E5-1954-DF95-5E3E-027063FFAC69}"/>
                </a:ext>
              </a:extLst>
            </p:cNvPr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79A6F0-B0D2-D961-7587-ACCC26DAD674}"/>
                </a:ext>
              </a:extLst>
            </p:cNvPr>
            <p:cNvSpPr/>
            <p:nvPr/>
          </p:nvSpPr>
          <p:spPr>
            <a:xfrm>
              <a:off x="3538728" y="2926080"/>
              <a:ext cx="173736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3000" b="0" i="1">
                  <a:solidFill>
                    <a:srgbClr val="000000"/>
                  </a:solidFill>
                  <a:latin typeface="Cambria Math"/>
                  <a:cs typeface="Cambria Math"/>
                </a:rPr>
                <a:t>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953793-8850-A01D-7E2E-61BCADEB70D3}"/>
                </a:ext>
              </a:extLst>
            </p:cNvPr>
            <p:cNvSpPr txBox="1"/>
            <p:nvPr/>
          </p:nvSpPr>
          <p:spPr>
            <a:xfrm>
              <a:off x="5312664" y="3753612"/>
              <a:ext cx="457200" cy="5852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800" b="0" i="0">
                  <a:solidFill>
                    <a:srgbClr val="000000"/>
                  </a:solidFill>
                  <a:latin typeface="Cambria Math"/>
                  <a:cs typeface="Cambria Math"/>
                </a:rPr>
                <a:t>≈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C0DEA01-087F-72E2-DDFA-76C2BAC460F0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9" name="Connector 9">
              <a:extLst>
                <a:ext uri="{FF2B5EF4-FFF2-40B4-BE49-F238E27FC236}">
                  <a16:creationId xmlns:a16="http://schemas.microsoft.com/office/drawing/2014/main" id="{FB794A8A-4D2E-FDFF-DAF2-29D938998831}"/>
                </a:ext>
              </a:extLst>
            </p:cNvPr>
            <p:cNvCxnSpPr/>
            <p:nvPr/>
          </p:nvCxnSpPr>
          <p:spPr>
            <a:xfrm>
              <a:off x="60350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10">
              <a:extLst>
                <a:ext uri="{FF2B5EF4-FFF2-40B4-BE49-F238E27FC236}">
                  <a16:creationId xmlns:a16="http://schemas.microsoft.com/office/drawing/2014/main" id="{2D2A90CB-23C6-D2D2-74AF-2A1D5D7A3B20}"/>
                </a:ext>
              </a:extLst>
            </p:cNvPr>
            <p:cNvCxnSpPr/>
            <p:nvPr/>
          </p:nvCxnSpPr>
          <p:spPr>
            <a:xfrm>
              <a:off x="62636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1">
              <a:extLst>
                <a:ext uri="{FF2B5EF4-FFF2-40B4-BE49-F238E27FC236}">
                  <a16:creationId xmlns:a16="http://schemas.microsoft.com/office/drawing/2014/main" id="{C5E83DFA-F8C5-DF2E-126E-628AF03C2BD4}"/>
                </a:ext>
              </a:extLst>
            </p:cNvPr>
            <p:cNvCxnSpPr/>
            <p:nvPr/>
          </p:nvCxnSpPr>
          <p:spPr>
            <a:xfrm>
              <a:off x="6492240" y="2926080"/>
              <a:ext cx="0" cy="224028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6F2A884-2CEB-C1EA-A20C-E5EDCCC81A17}"/>
                </a:ext>
              </a:extLst>
            </p:cNvPr>
            <p:cNvSpPr/>
            <p:nvPr/>
          </p:nvSpPr>
          <p:spPr>
            <a:xfrm>
              <a:off x="5806440" y="2926080"/>
              <a:ext cx="914400" cy="224028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600" b="0" i="1">
                  <a:solidFill>
                    <a:srgbClr val="000000"/>
                  </a:solidFill>
                  <a:latin typeface="Cambria Math"/>
                  <a:cs typeface="Cambria Math"/>
                </a:rPr>
                <a:t>W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4D2F8BC-EA26-A7C2-7E1A-75806479E815}"/>
                </a:ext>
              </a:extLst>
            </p:cNvPr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 w="28575">
              <a:solidFill>
                <a:srgbClr val="0E284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4" name="Connector 14">
              <a:extLst>
                <a:ext uri="{FF2B5EF4-FFF2-40B4-BE49-F238E27FC236}">
                  <a16:creationId xmlns:a16="http://schemas.microsoft.com/office/drawing/2014/main" id="{E54CD695-EEEA-982A-A04D-418F23131AEB}"/>
                </a:ext>
              </a:extLst>
            </p:cNvPr>
            <p:cNvCxnSpPr/>
            <p:nvPr/>
          </p:nvCxnSpPr>
          <p:spPr>
            <a:xfrm>
              <a:off x="6867144" y="31546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5">
              <a:extLst>
                <a:ext uri="{FF2B5EF4-FFF2-40B4-BE49-F238E27FC236}">
                  <a16:creationId xmlns:a16="http://schemas.microsoft.com/office/drawing/2014/main" id="{1951D08B-A2BF-1CCB-0CD1-A78939F53511}"/>
                </a:ext>
              </a:extLst>
            </p:cNvPr>
            <p:cNvCxnSpPr/>
            <p:nvPr/>
          </p:nvCxnSpPr>
          <p:spPr>
            <a:xfrm>
              <a:off x="6867144" y="33832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6">
              <a:extLst>
                <a:ext uri="{FF2B5EF4-FFF2-40B4-BE49-F238E27FC236}">
                  <a16:creationId xmlns:a16="http://schemas.microsoft.com/office/drawing/2014/main" id="{61F6B4EE-0CE1-5AD4-3EF0-3568E46423B3}"/>
                </a:ext>
              </a:extLst>
            </p:cNvPr>
            <p:cNvCxnSpPr/>
            <p:nvPr/>
          </p:nvCxnSpPr>
          <p:spPr>
            <a:xfrm>
              <a:off x="6867144" y="3611880"/>
              <a:ext cx="1737360" cy="0"/>
            </a:xfrm>
            <a:prstGeom prst="line">
              <a:avLst/>
            </a:prstGeom>
            <a:ln w="9525">
              <a:solidFill>
                <a:srgbClr val="0E284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A8E6B3-68BB-CCCE-D1FC-257728624E69}"/>
                </a:ext>
              </a:extLst>
            </p:cNvPr>
            <p:cNvSpPr/>
            <p:nvPr/>
          </p:nvSpPr>
          <p:spPr>
            <a:xfrm>
              <a:off x="6867144" y="2926080"/>
              <a:ext cx="173736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5400" tIns="25400" rIns="25400" bIns="25400" rtlCol="0" anchor="ctr"/>
            <a:lstStyle/>
            <a:p>
              <a:pPr algn="ctr"/>
              <a:r>
                <a:rPr sz="2600" b="0" i="1">
                  <a:solidFill>
                    <a:srgbClr val="000000"/>
                  </a:solidFill>
                  <a:latin typeface="Cambria Math"/>
                  <a:cs typeface="Cambria Math"/>
                </a:rPr>
                <a:t>H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0CA1F9-ECF3-F7F6-26B1-5AD779539CB8}"/>
                </a:ext>
              </a:extLst>
            </p:cNvPr>
            <p:cNvSpPr txBox="1"/>
            <p:nvPr/>
          </p:nvSpPr>
          <p:spPr>
            <a:xfrm>
              <a:off x="3538728" y="522122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Y  (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cells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 × 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genes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0688488-25EE-468C-BAFE-2347C577937C}"/>
                </a:ext>
              </a:extLst>
            </p:cNvPr>
            <p:cNvSpPr txBox="1"/>
            <p:nvPr/>
          </p:nvSpPr>
          <p:spPr>
            <a:xfrm>
              <a:off x="5669279" y="5221224"/>
              <a:ext cx="118872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W  (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N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 × K)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E621089-B861-3B84-0C10-BC9849020FF5}"/>
                </a:ext>
              </a:extLst>
            </p:cNvPr>
            <p:cNvSpPr txBox="1"/>
            <p:nvPr/>
          </p:nvSpPr>
          <p:spPr>
            <a:xfrm>
              <a:off x="6867144" y="3895344"/>
              <a:ext cx="1737360" cy="31089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H  (K × </a:t>
              </a:r>
              <a:r>
                <a:rPr lang="en-US"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G</a:t>
              </a:r>
              <a:r>
                <a:rPr sz="2000" b="0" i="0" dirty="0">
                  <a:solidFill>
                    <a:srgbClr val="000000"/>
                  </a:solidFill>
                  <a:latin typeface="+mn-lt"/>
                  <a:cs typeface="+mn-lt"/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D710BDE-22D9-C808-DA67-637C3230E1D4}"/>
                  </a:ext>
                </a:extLst>
              </p:cNvPr>
              <p:cNvSpPr txBox="1"/>
              <p:nvPr/>
            </p:nvSpPr>
            <p:spPr>
              <a:xfrm>
                <a:off x="-724593" y="934974"/>
                <a:ext cx="10881360" cy="86868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buNone/>
                </a:pPr>
                <a:r>
                  <a:rPr lang="en-US" sz="2500" b="1" dirty="0"/>
                  <a:t>NMF problem</a:t>
                </a:r>
                <a:r>
                  <a:rPr lang="en-US" sz="2500" b="0" dirty="0"/>
                  <a:t>: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sz="2500" b="0" i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2500" b="0" i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500" b="0" i="1">
                            <a:latin typeface="Cambria Math" panose="02040503050406030204" pitchFamily="18" charset="0"/>
                          </a:rPr>
                          <m:t> ≥ 0</m:t>
                        </m:r>
                      </m:lim>
                    </m:limLow>
                    <m:r>
                      <a:rPr lang="en-US" sz="2500" b="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𝑊𝐻</m:t>
                            </m:r>
                          </m:e>
                        </m:d>
                      </m:e>
                    </m:d>
                    <m:r>
                      <a:rPr lang="en-US" sz="2500" b="0" i="1">
                        <a:latin typeface="Cambria Math" panose="02040503050406030204" pitchFamily="18" charset="0"/>
                      </a:rPr>
                      <m:t>=  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500" b="0" i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2500" b="0" i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5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5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5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500" b="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500" b="0" i="0">
                                        <a:latin typeface="Cambria Math" panose="02040503050406030204" pitchFamily="18" charset="0"/>
                                      </a:rPr>
                                      <m:t>ij</m:t>
                                    </m:r>
                                  </m:sub>
                                </m:sSub>
                                <m:r>
                                  <a:rPr lang="en-US" sz="2500" b="0" i="1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sSub>
                                  <m:sSubPr>
                                    <m:ctrlPr>
                                      <a:rPr lang="en-US" sz="25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ctrlPr>
                                          <a:rPr lang="en-US" sz="25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500" b="0" i="1">
                                            <a:latin typeface="Cambria Math" panose="02040503050406030204" pitchFamily="18" charset="0"/>
                                          </a:rPr>
                                          <m:t>𝑊𝐻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500" b="0" i="0">
                                        <a:latin typeface="Cambria Math" panose="02040503050406030204" pitchFamily="18" charset="0"/>
                                      </a:rPr>
                                      <m:t>ij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500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D710BDE-22D9-C808-DA67-637C3230E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24593" y="934974"/>
                <a:ext cx="10881360" cy="868680"/>
              </a:xfrm>
              <a:prstGeom prst="rect">
                <a:avLst/>
              </a:prstGeom>
              <a:blipFill>
                <a:blip r:embed="rId2"/>
                <a:stretch>
                  <a:fillRect t="-48571" b="-8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4996E788-58EE-4300-22F4-8618286F70EA}"/>
              </a:ext>
            </a:extLst>
          </p:cNvPr>
          <p:cNvSpPr txBox="1"/>
          <p:nvPr/>
        </p:nvSpPr>
        <p:spPr>
          <a:xfrm>
            <a:off x="6096000" y="2136709"/>
            <a:ext cx="6003919" cy="4311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cs typeface="+mn-lt"/>
              </a:rPr>
              <a:t>Difficult to solve: 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No unique </a:t>
            </a:r>
            <a:r>
              <a:rPr lang="en-US" sz="2500" dirty="0" err="1">
                <a:solidFill>
                  <a:srgbClr val="000000"/>
                </a:solidFill>
                <a:cs typeface="+mn-lt"/>
              </a:rPr>
              <a:t>soln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, nonconvex</a:t>
            </a:r>
          </a:p>
          <a:p>
            <a:pPr marL="274320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cs typeface="+mn-lt"/>
              </a:rPr>
              <a:t>Algorithms: (1) 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multiplicative updates (simple, monotone) and </a:t>
            </a:r>
            <a:r>
              <a:rPr lang="en-US" sz="2500" b="1" dirty="0">
                <a:solidFill>
                  <a:srgbClr val="000000"/>
                </a:solidFill>
                <a:cs typeface="+mn-lt"/>
              </a:rPr>
              <a:t>(2)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 alternating non-negative least squares (faster) </a:t>
            </a:r>
          </a:p>
          <a:p>
            <a:pPr marL="731520" lvl="1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cs typeface="+mn-lt"/>
              </a:rPr>
              <a:t>Often want to use many initializations</a:t>
            </a:r>
          </a:p>
          <a:p>
            <a:pPr marL="274320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cs typeface="+mn-lt"/>
              </a:rPr>
              <a:t>Many variants used in practice!</a:t>
            </a:r>
            <a:r>
              <a:rPr lang="en-US" sz="2500" dirty="0">
                <a:solidFill>
                  <a:srgbClr val="000000"/>
                </a:solidFill>
                <a:cs typeface="+mn-lt"/>
              </a:rPr>
              <a:t> </a:t>
            </a:r>
          </a:p>
          <a:p>
            <a:pPr marL="731520" lvl="1" indent="-274320">
              <a:lnSpc>
                <a:spcPct val="105000"/>
              </a:lnSpc>
              <a:spcAft>
                <a:spcPts val="1000"/>
              </a:spcAft>
              <a:buClr>
                <a:srgbClr val="FF0000"/>
              </a:buCl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cs typeface="+mn-lt"/>
              </a:rPr>
              <a:t>consensus (</a:t>
            </a:r>
            <a:r>
              <a:rPr lang="en-US" sz="2000" dirty="0" err="1">
                <a:solidFill>
                  <a:srgbClr val="000000"/>
                </a:solidFill>
                <a:cs typeface="+mn-lt"/>
              </a:rPr>
              <a:t>cNMF</a:t>
            </a:r>
            <a:r>
              <a:rPr lang="en-US" sz="2000" dirty="0">
                <a:solidFill>
                  <a:srgbClr val="000000"/>
                </a:solidFill>
                <a:cs typeface="+mn-lt"/>
              </a:rPr>
              <a:t>; many initializations); multiple samples/data modalities (LIGER, </a:t>
            </a:r>
            <a:r>
              <a:rPr lang="en-US" sz="2000" dirty="0" err="1">
                <a:solidFill>
                  <a:srgbClr val="000000"/>
                </a:solidFill>
                <a:cs typeface="+mn-lt"/>
              </a:rPr>
              <a:t>scINSIGHT</a:t>
            </a:r>
            <a:r>
              <a:rPr lang="en-US" sz="2000" dirty="0">
                <a:solidFill>
                  <a:srgbClr val="000000"/>
                </a:solidFill>
                <a:cs typeface="+mn-lt"/>
              </a:rPr>
              <a:t>, …)</a:t>
            </a:r>
            <a:endParaRPr lang="en-US" sz="2000" b="1" dirty="0">
              <a:solidFill>
                <a:srgbClr val="000000"/>
              </a:solidFill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22413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16291</TotalTime>
  <Words>3403</Words>
  <Application>Microsoft Macintosh PowerPoint</Application>
  <PresentationFormat>Widescreen</PresentationFormat>
  <Paragraphs>474</Paragraphs>
  <Slides>46</Slides>
  <Notes>1</Notes>
  <HiddenSlides>8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Dimensionality reduction</vt:lpstr>
      <vt:lpstr>Principal Components Analysis (PCA)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Uthsav Chitra</dc:creator>
  <cp:lastModifiedBy>Uthsav Chitra</cp:lastModifiedBy>
  <cp:revision>52</cp:revision>
  <dcterms:created xsi:type="dcterms:W3CDTF">2026-01-18T19:39:29Z</dcterms:created>
  <dcterms:modified xsi:type="dcterms:W3CDTF">2026-09-11T00:20:55Z</dcterms:modified>
</cp:coreProperties>
</file>
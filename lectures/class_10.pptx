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59" r:id="rId10"/>
    <p:sldId id="274" r:id="rId11"/>
    <p:sldId id="275" r:id="rId12"/>
    <p:sldId id="277" r:id="rId13"/>
    <p:sldId id="279" r:id="rId14"/>
    <p:sldId id="280" r:id="rId15"/>
    <p:sldId id="260" r:id="rId16"/>
    <p:sldId id="278" r:id="rId17"/>
    <p:sldId id="261" r:id="rId18"/>
    <p:sldId id="262" r:id="rId19"/>
    <p:sldId id="287" r:id="rId20"/>
    <p:sldId id="288" r:id="rId21"/>
    <p:sldId id="289" r:id="rId22"/>
    <p:sldId id="291" r:id="rId23"/>
    <p:sldId id="286" r:id="rId24"/>
    <p:sldId id="263" r:id="rId25"/>
    <p:sldId id="29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21"/>
    <p:restoredTop sz="94630"/>
  </p:normalViewPr>
  <p:slideViewPr>
    <p:cSldViewPr snapToGrid="0">
      <p:cViewPr>
        <p:scale>
          <a:sx n="67" d="100"/>
          <a:sy n="67" d="100"/>
        </p:scale>
        <p:origin x="1136" y="1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4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24575,'0'29'0,"0"18"0,0 30 0,0 22-1823,0-33 0,0 4 1823,0 8 0,0 3 0,0 15 0,0 4-874,0-27 0,0 1 0,0 2 874,0 2 0,0 2 0,0 0 0,0 4 0,0 2 0,0 0 0,0 1 0,0 0 0,0-1 0,0 1 0,0-1 0,0-1 0,0-5 0,0-1 0,0-1-98,0-5 1,0-2 0,0-2 97,0 19 0,0-4 0,0-14 0,0-3 0,0-6 0,0-3-227,0-5 1,0 0 226,0 2 0,0 0 0,0 2 0,0-1 0,0-2 0,0-1 0,0-2 0,0 0 0,0-1 0,0 0 0,0 49 0,0-5 0,0-2 0,0-5 0,-4-6 1288,-5-3-1288,-1-12 0,-2-7 0,2-11 2840,2-6-2840,-3 0 2086,4-3-2086,1 5 663,1-4-663,1-3 136,0-5-136,0-7 0,0-6 0,4-4 0,-1-1 0,1 0 0,0-1 0,2 0 0,6-4 0,13-3 0,22-4 0,22-1 0,27 3 0,-35-2 0,3 1-1162,13 0 0,5 0 1162,12 0 0,4-1-970,-23-2 1,2 1-1,1-1 970,6 0 0,2 0 0,1 0 0,5 0 0,2 0 0,0 0 0,3 0 0,0 0 0,0 0-990,0 0 0,-1 0 1,0 0 989,-1 0 0,-1 0 0,0 0-1356,-3 0 0,0 0 1,-2 0 1355,-6 0 0,-1 0 0,-1 0 0,-2 0 0,-1 0 0,-2 0 66,24 0 1,-2 0-67,-8 0 0,0 0 0,0 0 0,-1 0 0,-8 0 0,-1 0 518,-1 0 1,-2 0-519,-9 0 0,-2 0 1055,-8 0 0,-2 0-1055,38 0 0,-10 0 0,-10 0 5692,-8 0-5692,-11 0 1890,-7 0-1890,0 0 1129,-5 0-1129,-1 0 278,-4 0-278,-4 0 0,0 0 0,1 0 0,-1 0 0,-2 0 0,-1 0 0,-1 0 0,-3 0 0,3 0 0,0 0 0,0 0 0,4 0 0,4 0 0,0 0 0,0 0 0,-1 0 0,-3 0 0,3 0 0,-1 0 0,1 0 0,-3 0 0,-5 0 0,-2 0 0,-4 0 0,-11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1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24575,'-3'0'0,"14"0"0,19 0 0,16 0 0,12 0 0,5 0 0,6 0 0,-1 0 0,-10 0 0,-7 0 0,-16 0 0,-10 8 0,-9 19 0,-13 12 0,-8 11 0,-5 10 0,-13 3 0,-12 14 0,-7 10-490,-4-1 490,8-4 0,4-12 0,7-12 0,4-5 0,6-6 0,7-10 0,5-6 0,5-9 490,0-4-490,7-4 0,11-7 0,15-4 0,14-3 0,8 0 0,8 0 0,-1 0 0,-2 0 0,-8 0 0,-9 0 0,-6 0 0,-9 0 0,-5 0 0,-5 0 0,-11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24575,'5'-6'0,"19"3"0,13 0 0,21 3 0,3 0 0,29 0 0,-18 0 0,-11 0 0,-34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2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24575,'0'9'0,"0"0"0,0 6 0,0 4 0,0 4 0,0 9 0,0 2 0,0 6 0,0 1 0,0-1 0,0-4 0,0-6 0,0-4 0,0-4 0,0 3 0,0-11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3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24575,'21'0'0,"6"0"0,9 0 0,11 0 0,-5 0 0,-1 0 0,-5 0 0,-10 0 0,-8 9 0,-6 22 0,-8 21 0,-3 29 0,-5-28 0,-2 1-214,-3-2 1,-1-1 213,-2 2 0,-1-1 0,-3-4 0,-1-1 0,-16 38 0,0 6 0,0-5 0,11-10 0,10-12 0,5-15 0,5-11 0,2-6 0,0-7 0,3-3 0,7-4 0,8-3 427,12-4-427,4-4 0,0-4 0,2-3 0,2 0 0,5 0 0,5 0 0,1 0 0,1 0 0,-3 0 0,-6 3 0,-5 1 0,-8 0 0,-5-1 0,-5-3 0,-10 0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24575,'14'0'0,"12"0"0,15 0 0,6 0 0,17 0 0,-3 0 0,-1 0 0,14 0 0,-30 0 0,10 0 0,-24 0 0,-5 0 0,-5 0 0,-4 0 0,-6 0 0,-5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 24575,'6'-3'0,"-7"6"0,10 10 0,-9 13 0,0 15 0,0 10 0,0 5 0,-8 9 0,-2 2 0,-4 1 0,-3-3 0,7-11 0,0-8 0,1-11 0,2-9 0,0-6 0,2-2 0,3-3 0,4-2 0,7-5 0,5-4 0,7-3 0,0-1 0,-2 0 0,1 0 0,2 0 0,4 0 0,3 0 0,1 0 0,1 0 0,-1 0 0,1 0 0,-1 0 0,0 0 0,-3 0 0,-4 0 0,-6 0 0,-6 3 0,-5 2 0,-3-2 0,-3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24575,'0'26'0,"0"10"0,0 13 0,0 12 0,0 4 0,0 10 0,0 4 0,0-2 0,0-14 0,0 0 0,0-13 0,0-12 0,0-15 0,0-21 0,0-13 0,0-14 0,0-6 0,0-7 0,0-4 0,0-3 0,0-9 0,0-1 0,0-1 0,0 5 0,0 6 0,0 0 0,0 5 0,0 1 0,1 10 0,2 7 0,2 4 0,4 2 0,1-4 0,3 1 0,0 1 0,1 2 0,3 5 0,1 2 0,3 4 0,0 1 0,1 4 0,4-1 0,-4 1 0,3 0 0,0 0 0,-2 0 0,2 0 0,-2 2 0,-1 4 0,1 6 0,-4 4 0,0 5 0,-4 0 0,-3-3 0,-4 0 0,-4-1 0,-3 2 0,-4 2 0,-12 5 0,-13 1 0,-12 1 0,-8-4 0,7-6 0,3-4 0,4-1 0,6-2 0,1-3 0,7-3 0,3-3 0,8-2 0,2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0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28 21020,'-3'-13'0,"-3"5"1693,-7 2-1693,-5 6 0,0 0 601,-7 0-601,-11 3 0,-8 4 308,0 3-308,1 11 953,12 2-953,1 4 0,5 7 0,6-5 0,0 2 0,5 0 0,3-8 0,8 2 0,3-1 0,0 2 0,0-2 0,0-2 0,0-3 0,0 0 0,0 1 0,2-1 0,7-1 0,4-6 0,7-3 0,4-5 0,3-3 0,2-4 0,2-12 0,0-13 0,-3-12 0,-4-1 0,-4 6 0,-3 5 0,-1 4 0,0 0 0,-2 3 0,1 5 0,-3 11 0,-5 13 0,-3 15 0,-4 17 0,0 21 0,0 5 0,0 6 0,0 0 0,0 3 0,0 10 0,0 3 0,0 4 0,0-11 0,0-11 0,0-14 0,0-18 0,0-9 0,0-8 0,0-4 0,0 0 0,3-3 0,3-6 0,4-20 0,5-18 0,4-19 0,7-12 0,9-4 0,6-4 0,-1 6 0,1 0 0,-2 5 0,2 0 0,4-4 0,-1 5 0,-7 6 0,-3 9 0,-9 10 0,-5 9 0,-2 6 0,-7 5 0,-4 6 0,-3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50 24575,'0'-4'0,"0"7"0,0 8 0,0 6 0,0 0 0,3-3 0,5-8 0,5-3 0,3-6 0,-3-7 0,-6-5 0,-4-2 0,-3-4 0,-3 6 0,-2 4 0,-6 5 0,-10 6 0,-6 0 0,-9 0 0,-2 0 0,5 0 0,4 2 0,9 7 0,7 7 0,4 5 0,5 1 0,3-5 0,0-2 0,4-2 0,7-2 0,8-4 0,8-5 0,0-2 0,-3 0 0,-4 0 0,-4 0 0,0 0 0,-4-2 0,-3-7 0,-3-7 0,-4-9 0,-1 0 0,-2 2 0,-5 5 0,0 4 0,-3 3 0,1 4 0,4 4 0,-1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3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45 240 24575,'-6'5'0,"2"11"0,2 17 0,2 13 0,0 11 0,0 13 0,0-6 0,0 14 0,0-5 0,0-16 0,0-9 0,0-25 0,0-7 0,0-9 0,0-15 0,0-19 0,0-19 0,0-19 0,0 0 0,0-7 0,0-1 0,0 3 0,0-5 0,0 7 0,0 5 0,3 6 0,3 11 0,5 11 0,2 11 0,1 8 0,-1 4 0,1 5 0,3 4 0,0 3 0,0 0 0,0 0 0,-2 0 0,1 0 0,1 0 0,-3 2 0,0 3 0,0 5 0,-3 2 0,-3 4 0,-4 2 0,-4 0 0,1-1 0,-12-2 0,-9-1 0,-12 1 0,-11 1 0,7-2 0,1-1 0,5-3 0,7-3 0,0-2 0,4-3 0,10-2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5835 24575,'0'-26'0,"0"-30"0,9-40-3177,5 29 1,5-4 3176,9-16 0,4-4 0,5-1 0,2-1 0,-9 28 0,0 0 0,1-1 0,0-1 0,0-1 0,0 0 0,3-2 0,0 1 0,1-2 0,2-6 0,2-3 0,-1 1 0,-2 1 0,0 0 0,-1 0 0,-1 4 0,1 0 0,-1 2-399,-2 3 1,0 2-1,-1 0 399,-3 4 0,0 0 0,0 2 361,8-19 1,-1 2-362,-3 4 0,-2 2 0,-5 8 0,0 3 0,1 2 0,1 0 0,-2-1 0,1 1 0,-1 6 0,0 0 0,5-7 0,1-2 0,-2 2 0,0 1 0,-1 3 0,0 2 0,-3 1 0,-1 3-159,13-29 159,4 0 0,-18 33 0,1-1 1112,2 1 0,0-1-1112,1-4 0,0-1 0,1 1 0,-1 0 0,-1 2 0,-1 1 0,0 0 0,0 0 0,0 3 0,-1 0 0,21-43 0,3 0 0,-5 3 0,3 1 0,0 2 0,-5 0 0,-4 10 2713,-7 9-2713,0 5 1150,-3 9-1150,1-4 231,-2 3-231,-1 0 667,4-5-667,1-1 0,4 0 0,-1 0 0,-3 10 0,-1 0 0,-5 6 0,-5 8 0,-1 7 0,-4 8 0,-4 5 0,-4 0 0,-1 0 0,-1 0 0,1-2 0,-1 7 0,-2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5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24575,'0'11'0,"0"5"0,0 8 0,0 4 0,0 2 0,0-3 0,5-7 0,9-9 0,12-8 0,8-3 0,-3 0 0,-4 0 0,-6-3 0,-1-5 0,-3-8 0,-2-8 0,-5-4 0,-5 2 0,-1 3 0,-3 1 0,0 2 0,-4 4 0,-7 2 0,-8 6 0,-3 4 0,2 1 0,4 3 0,3 0 0,1 0 0,-3 0 0,5 0 0,2 0 0,5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6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13 24575,'1'-6'0,"-13"2"0,-14 2 0,-14 2 0,-7 0 0,-11 7 0,-1 10 0,2 8 0,10 7 0,11-1 0,7-1 0,11 0 0,4 0 0,9 0 0,2-2 0,1 2 0,1-2 0,1-3 0,0-2 0,0-8 0,2-3 0,7-4 0,6-4 0,6-4 0,4-3 0,1-7 0,3-9 0,-3-7 0,0-1 0,-2 0 0,-4 3 0,-1 3 0,-3 4 0,-1 8 0,-1 3 0,0 5 0,0 9 0,0 14 0,0 14 0,2 15 0,1 7 0,-4 4 0,-4 4 0,-3 5 0,-1 4 0,0 4 0,-1-1 0,-3-10 0,-1-10 0,0-13 0,3-11 0,1-6 0,3-11 0,3-6 0,0-8 0,11-6 0,6-12 0,5-13 0,8-14 0,7-13 0,8-8 0,5-4 0,0 1 0,-4 5 0,-5 9 0,-8 11 0,-9 11 0,-10 9 0,-6 9 0,-3 1 0,-1 4 0,-1 0 0,-1-1 0,-1-1 0,3-3 0,4-3 0,6-3 0,-9 7 0,-3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7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0 961 24575,'0'-13'0,"0"-8"0,0-14 0,0-16 0,0-6 0,0-12 0,0-5 0,0 4 0,0 0 0,0 8 0,0-2 0,0 2 0,0-4 0,0 6 0,0 9 0,0 8 0,0 12 0,5 8 0,4 6 0,10 6 0,7 5 0,8 3 0,3 2 0,3 1 0,3 0 0,-5-1 0,1 1 0,-3 0 0,-7 0 0,-2 3 0,-16-2 0,-5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24575,'28'0'0,"20"0"0,9 0 0,5 0 0,14 0 0,-11 0 0,3 0 0,-11 0 0,-25 0 0,-14 0 0,-7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9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24575,'-12'0'0,"-9"0"0,-9 0 0,-8 0 0,-5 0 0,4 0 0,8 5 0,13 5 0,12 6 0,6 6 0,0 1 0,0 3 0,0 0 0,0-3 0,3-7 0,6-7 0,9-5 0,4-4 0,-1-3 0,-1-4 0,-5-3 0,-2-3 0,-2 1 0,-2 3 0,4 2 0,0 2 0,1 6 0,-1 9 0,1 7 0,3 8 0,2 5 0,4 4 0,3 0 0,-3-3 0,-1-5 0,-3-8 0,-4-2 0,1-1 0,-8-6 0,-2-3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14 318 24575,'-3'7'0,"-1"-1"0,1 12 0,0-5 0,3-1 0,0-5 0,0-10 0,0-16 0,0-11 0,0-8 0,0 2 0,0 3 0,0-1 0,5 4 0,10-2 0,6 4 0,11 3 0,5 3 0,4 4 0,3 5 0,0 4 0,-3 4 0,0 1 0,-1 3 0,-5 1 0,-4 0 0,-10 0 0,-6 0 0,-1 0 0,-7 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1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92 24575,'0'-17'0,"0"3"0,0-1 0,0 2 0,0 0 0,-5 3 0,-7 4 0,-8 3 0,-7 3 0,-2 10 0,1 13 0,3 13 0,4 17 0,7 6 0,5 2 0,6-2 0,3-14 0,0-10 0,0-8 0,5-7 0,6-3 0,9-8 0,10-4 0,3-4 0,6 0 0,0-4 0,-2-8 0,-6-7 0,-5-5 0,-3 1 0,-5 5 0,-1 3 0,-7 1 0,-1 3 0,0 4 0,0 6 0,4 9 0,0 5 0,-3 7 0,0 4 0,0-3 0,0-2 0,2-5 0,-1-3 0,1 0 0,2 1 0,-3 0 0,-5-5 0,-2-2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2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24575,'0'24'0,"0"5"0,0 11 0,0-1 0,0 4 0,0-5 0,0-6 0,0-5 0,0-8 0,0-8 0,0-19 0,8-28 0,10-25 0,5-15 0,7 4 0,-8 7 0,-2 5 0,-4 15 0,-2 14 0,1 17 0,1 10 0,4 8 0,-1 20 0,3 20 0,3 19 0,6 6 0,-1-7 0,-1-10 0,-5-13 0,-5-12 0,-1-9 0,-8-4 0,0-1 0,-1-3 0,-2-6 0,-1-7 0,0-11 0,-2-7 0,0-2 0,1-2 0,-1 2 0,2 7 0,0 1 0,-2 3 0,0 1 0,-4-2 0,3-1 0,1-3 0,-1 9 0,0-2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3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93 176 24575,'0'-8'0,"0"-6"0,0-3 0,0-9 0,0 0 0,0 4 0,0-4 0,0 6 0,-3 4 0,-4 20 0,-5 24 0,-3 12 0,1 6 0,-2-3 0,4-5 0,4-2 0,3-6 0,5-7 0,0-1 0,0-2 0,3-5 0,3-7 0,7-4 0,4-7 0,1-4 0,-3-4 0,-2-7 0,-1-4 0,-1-2 0,-3 1 0,-3 5 0,-4 2 0,2 4 0,4 4 0,2 4 0,4 3 0,1 7 0,-1 9 0,0 4 0,0 7 0,0-1 0,-1-1 0,2-2 0,0-3 0,0-4 0,-3 0 0,-4-8 0,-4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3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24575,'0'28'0,"0"-2"0,7 6 0,4-4 0,8 2 0,4 1 0,-3-4 0,-1-5 0,-4-10 0,-7-4 0,-1-4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4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0 24575,'-33'4'0,"-28"29"0,17-5 0,-4 5 0,-12 16 0,-1 5-1690,-4 7 1,2 2 1689,6-7 0,2-1 0,1 0 0,1-1 0,8-7 0,1-1 134,0 0 1,1 0-135,3-2 0,2-2 0,-22 31 730,14-18-730,16-17 0,9-7 0,10-9 0,8-10 0,3-2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5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5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7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8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9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9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1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1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2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3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4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5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7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8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0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4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6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7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8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9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0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0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1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2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2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6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8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24575,'-5'6'0,"3"11"0,0 20 0,2 24 0,0 7 0,0 31 0,-2 0 0,2-47 0,2 0 0,2 3 0,4-1 0,21 32 0,23-12 0,13-25 0,3-19 0,6-17 0,-3-5 0,3-13 0,-7-14 0,-9-18 0,-11-18 0,-14-9 0,-11-10 0,-12 0 0,-4 0 0,-7 9 0,-6 12 0,-13 9 0,-15 8 0,-10 5 0,-8 8 0,-3 5 0,1 6 0,5 3 0,6 4 0,9 5 0,6 0 0,11-1 0,6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1919 24575,'-4'1'0,"11"-8"0,18-19 0,40-40 0,-11 11 0,6-6-1028,-11 10 1,2-2-1,1-1 1028,4-6 0,3 0 0,0-2-839,4-5 1,2-1-1,1 0 839,3-3 0,1-1 0,-1 2 0,-6 3 0,0 2 0,-1 0-515,-2 3 0,0 1 0,-3 2 515,-6 8 0,-3 2 0,-1 1-336,13-16 1,-3 3 335,0 3 0,-3 3 824,-15 13 0,-3 4-824,11-14 3116,-21 28-3116,-12 8 0,-5 9 0,-5 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6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204 293 24575,'-19'-9'0,"5"4"0,-5 1 0,-8 4 0,-6 3 0,-6 14 0,10 10 0,15 16 0,6 11 0,8 1 0,-1 0 0,0-10 0,3-11 0,6-9 0,19-12 0,18-7 0,20-16 0,11-23 0,3-26 0,-9-12 0,-16-6 0,-16-3 0,-18 6 0,-5 5 0,-13 10 0,-15 19 0,-20 8 0,-11 10 0,-9 9 0,-5 6 0,4 4 0,4 1 0,10 3 0,10 2 0,6 6 0,5 4 0,8-4 0,4-1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7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24575,'-1'-4'0,"15"2"0,37 0 0,48 2 0,-23 0 0,7 0-1032,-15 0 1,2 0-1,2 0 1032,5 0 0,2 0 0,1 0 0,6 0 0,2 0 0,0 0 0,2 0 0,0 0 0,-2 0 0,-9 0 0,-3 0 0,-1 0-119,26 0 0,-6 0 119,-19 0 0,-6 0 0,-16 0 0,-4 0 0,41 0 0,-35 0 0,-22 0 0,-23 0 0,-5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7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35 244 24575,'0'14'0,"0"8"0,0 19 0,0 14 0,2 2 0,9 1 0,14-6 0,13-9 0,8-12 0,4-14 0,7-15 0,0-3 0,-7-10 0,-13-14 0,-17-16 0,-8-26 0,-4-3 0,-6-5 0,-7 4 0,-15 7 0,-14 2 0,-12 10 0,-2 11 0,0 16 0,-1 9 0,5 6 0,0 6 0,6 3 0,7 1 0,6 0 0,13 0 0,7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1149 21666,'-2'4'0,"13"-1"1399,32-11-1399,1-8 0,7-4 0,19-11 0,6-6-824,-11 4 0,4-4 0,0-1 824,4-4 0,1-1 0,2 0-496,6-3 1,2-1 0,-2 2 495,-7 4 0,0 1 0,-3 1 0,-6 5 0,-2 1 0,-1 1-199,24-11 1,-4 2 198,-17 10 0,-4 1 0,-7 4 0,-4 2 0,15-6 1927,-29 16-1927,-21 9 2647,-8 1-2647,-10 3 1291,-7 1-1291,-2 0 0,1 19 0,2 8 0,3 25 0,7 6 0,11 4 0,22 0 0,26-7 0,13-16 0,11-16 0,2-14 0,6-13 0,-7-14 0,-15-17 0,-19-18 0,-26-24 0,-7 4 0,-15-3 0,-14 9 0,-15 15 0,-20-1 0,-14 13 0,-13 11 0,-2 12 0,5 8 0,8 5 0,13 3 0,11 1 0,10 0 0,12 0 0,5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9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24575,'0'5'0,"16"23"0,33 38 0,-5-12 0,8 3-1652,-7-11 1,4 0 0,2 2 1651,12 8 0,4 2 0,1-1 0,3 2 0,3-1 0,1 0-570,-14-11 1,0 0 0,1 0 0,0 0 569,17 13 0,-1 1 0,-1-2 0,-5-3 0,-1 0 0,-1-1-22,-1 1 0,-1-1 0,-3-1 22,-10-8 0,-2 0 0,-2-2-285,22 19 1,-5-3 284,-16-14 0,-5-3 1873,21 20-1873,-17-15 2999,-16-16-2999,-11-10 2110,-10-9-2110,-9-9 884,-3-5-884,-2-4 0,1-7 0,-1-8 0,0-9 0,0-7 0,0-5 0,0 0 0,0 1 0,0 8 0,0 7 0,-2 9 0,-1 8 0,-6 6 0,-6 18 0,-3 26 0,3 26 0,6 18 0,5 12 0,7-1 0,16-4 0,20-10 0,19-18 0,20-16 0,2-18 0,-2-14 0,-6-11 0,-17-15 0,-10-25 0,-14-18 0,-14-23 0,-21-10 0,-20 6 0,-15 6 0,-17 15 0,-7 12 0,-5 9 0,7 12 0,8 11 0,11 10 0,8 4 0,14-1 0,6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1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24575,'-9'7'0,"14"38"0,11 7 0,8 8 0,3 1 0,6 6 0,3 3-2301,0-3 0,3 2 1,2 3-1,4 3 2301,0-3 0,4 3 0,2 2 0,1 0 0,1 0-519,3 3 0,1 0 0,1 1 0,1-1 0,0-1 519,0 0 0,1 0 0,0-1 0,0 0 0,2-1 0,-1 0 0,1-1 0,0 0 0,1-1 0,-2-2 0,-3-4 0,0-1 0,0-2 0,-1 0 0,-1 0-12,-1-4 1,-1 0 0,0-1-1,-1 0 1,-1-2 11,9 9 0,0-1 0,-2-2 0,-2-2-325,8 8 0,-2-2 0,-4-4 325,-9-11 0,-3-2 0,-1-2 1165,16 19 1,-5-4-1166,-13-15 0,-5-4 4118,13 9-4118,-22-23 3489,-13-18-3489,-7-5 2241,-8-9-2241,-7-9 651,-8-5-651,-4-5 0,-4 1 0,-4 0 0,-4-1 0,-3 2 0,-6-1 0,-3 5 0,-4 6 0,-2 4 0,-3 3 0,5 10 0,10 10 0,12 14 0,12 14 0,5-4 0,12-1 0,20-4 0,16-7 0,23-2 0,11-8 0,2-7 0,1-6 0,-12-2 0,-16-3 0,-16-6 0,-11-9 0,-9-15 0,-6-8 0,-5-5 0,-3 0 0,-1 6 0,-3 3 0,-6 6 0,-11 6 0,-10 3 0,-7 2 0,-4 3 0,18 5 0,5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2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103 436 24575,'-14'-1'0,"2"1"0,-3 12 0,1 15 0,1 19 0,-2 19 0,5 12 0,4 14 0,4-41 0,1 1 0,0 44 0,7-9 0,14-13 0,26-18 0,27-15 0,-21-26 0,4-5-425,9-4 0,1-3 425,6-6 0,0-3 0,4-6 0,-3-5 0,-9-3 0,-4-5-96,-7-3 0,-5-3 96,-8-5 0,-5-4 0,-7-4 0,-5-3 0,-2-7 0,-5-2 0,-5 1 0,-7-1 0,-8 1 0,-7 0 0,-9 0 0,-8 1-354,-11 0 1,-5 3 353,0 1 0,-3 5 0,-2 5 0,-2 5 0,1 5 0,-1 3-105,1 4 0,-1 3 105,0 1 0,1 1 801,-31-5-801,18 12 48,21 9 0,19 3 0,6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3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24575,'-11'1'0,"27"20"0,47 36 0,3-2 0,11 8-2415,-8-8 1,6 3 0,2 2 2414,-7-6 0,3 1 0,1 1 0,1 0-629,2 2 1,0 0 0,2 0 0,-1 0 628,2 0 0,0 0 0,0-1 0,-3-2 0,-9-7 0,-1-1 0,-1-1 0,-3-2 199,11 6 0,-3-1 0,-1-4-199,-7-4 0,-1-3 0,-3-2-224,11 5 0,-3-2 224,-4-3 0,-3-2 1326,-13-8 0,-5-2-1326,21 14 4139,-18-12-4139,-11-2 0,-16-14 0,-10-3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3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24575,'-3'-4'0,"13"3"0,38 19 0,39 15 0,-20-10 0,7 3-845,14 5 1,3-2 844,-2-6 0,1-2 0,1-2 0,-1-1 0,-7-5 0,-1-2 0,-5-2 0,-3-2 204,-9 1 1,-4-1-205,33 2 0,-36-4 0,-25-5 0,-13 1 0,-9-1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66 24575,'-6'0'0,"7"0"0,11 0 0,25 0 0,26 0 0,26 0 0,-31 0 0,4 0-740,11 0 0,4 0 740,12-2 0,3 0 0,2-2 0,1-1 0,3-1 0,-2-2 0,-12 0 0,-2 0 0,-1 1 0,-2 1-221,-9 2 1,-3 1 220,-11 2 0,-1 0 0,-3 1 0,-3-1 0,20 1 0,-15 0 0,-22 0 361,-13 0 0,-13 0 1,0 0-1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1279 24575,'48'-37'0,"17"-8"0,-8 3 0,7-4-1457,-9 6 1,5-2 0,0 0 1456,3-1 0,1 1 0,2-2-575,9-6 0,2-2 1,-1 2 574,-3 5 0,0 2 0,-1 0 0,-1 2 0,-1 1 0,0 0-54,-4 1 1,-1 2 0,-1 0 53,22-12 0,-3 3-222,-14 6 1,-5 1 221,-14 10 0,-3 2 1757,32-16-1757,-29 15 2422,-14 7-2422,-15 10 0,-15 5 0,-3 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6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2649 24575,'13'-20'0,"22"-28"0,-2 3 0,6-5-2143,17-19 1,6-6 2142,-14 18 0,3-2 0,2-1-1032,10-11 1,4-2-1,0-1 1032,-11 14 0,1-1 0,1 0 0,-1 0 0,0 1 0,0 0 0,0 1 0,0-1 0,2-1 0,1 0 0,0 0 0,-1 1-142,-5 6 1,0 0 0,-1 2 0,0-1 141,15-15 0,1 1 0,-2 2 0,-5 5 0,-1 1 0,-2 3-316,-5 5 0,-1 2 0,-2 2 316,16-14 0,-3 3 579,-14 13 1,-3 3-580,-2 3 0,-3 1 3101,19-15-3101,-13 9 2672,-14 13-2672,-11 10 1515,-6 4-1515,-2 1 111,-5 4 1,-5 5-1,-3 3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47E25-34C9-024C-91D9-518047A7BF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DE2EF-CC46-AE46-ACD5-EBA2BE638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41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DE2EF-CC46-AE46-ACD5-EBA2BE63899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24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6CA1-6B87-3AEE-4C17-B045FA05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B6FC2-B352-0591-1893-A8923BAEC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B593D-735A-7206-879A-054BB5BE8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0234A-CC7C-43EE-1AEA-800E71BCB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DE2EF-CC46-AE46-ACD5-EBA2BE63899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06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6010-0E98-920D-5301-1DD08CCD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CD398-2EC8-61BC-B079-0CD30E88A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4EC4B-3404-E0FE-75B0-87B69EFD8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8715E-E041-A22B-F4C1-37939C237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DE2EF-CC46-AE46-ACD5-EBA2BE63899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15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214B-11CC-5210-84F5-39469C91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AE58C-1A07-6D86-EC7E-071E24036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68854-147B-C5EF-06A5-5CC4A02D6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F2065-C873-26A8-330A-1FF053EF3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DE2EF-CC46-AE46-ACD5-EBA2BE63899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80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5B2A-971F-DB48-2E05-9E34BF6D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71C6D-2B92-57D5-DA2A-B84346128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575C2-51E7-9C06-E2DB-F28499B8A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9DD04-F2F8-AFD5-8446-73A314F24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DE2EF-CC46-AE46-ACD5-EBA2BE63899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01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F3910-A10C-3645-8545-E8E4559CF05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94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C11C-58F1-F0AA-FA68-CF468BC6B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C688F-0EB9-E476-4C91-0EF267BB3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C8896-6EE2-D6A3-B497-A11E645E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05313-6BDA-A4C8-261B-ADBFFA61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63909-7F74-A79D-FA1D-8050ADB2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8A39-55FF-3A42-AEA7-FA6B834E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DA0DE-6FC7-4240-24AD-DF49A17A0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2F25-68EE-991F-23F5-F3E38038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B7AC6-687A-BAF1-CBF2-03B88103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ED8E8-425E-E38A-E5D3-292E8D27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8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CF3A-6045-7185-6D84-23E0D175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12C5B-AC19-3254-9329-E121CE1F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4EF01-2AE4-69C8-B663-03E81F16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AC5C7-F58E-FFEB-86B5-287C0A22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8D7CF-B4CA-E77F-B851-5854EF62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0734-7226-398A-0235-825A21EF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2FECC-8463-AC4D-1688-E03B9E06A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DC626-50C8-2951-5EFD-43F61B43A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D6CB1-F888-6985-9A7F-E4623FFE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D987C-FF73-BAA2-3D86-8E0153ED3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2AA3B-C2D4-413E-7FDE-B4863D15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74B1-64B4-7ACD-F2E9-ACCFC694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B39D-36ED-333C-DF8B-77CE2EA5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BAAC1-EC2D-CA19-3075-7EDAABF5C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A0798-81E8-F96D-B19C-438435AF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C37BC-818F-51C4-65EC-283914D7A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01A424-DB17-6722-1BF6-18681D7D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4B323-4537-138F-0FE7-AEE148C8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07740-F2A1-01B5-C11F-5E298320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4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B0043-75F2-DAEE-016C-D388717E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C2E64-1AB6-09E2-959B-B9F2671B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E1679-5E69-C3A1-212E-59E3905E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C8E35-6A9B-FD36-0C9D-9D356D6A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4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7A0F9-6B87-8EE4-BE2B-4BC487F6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30E67-0822-9059-0EF7-FE88ECAC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9A3AE-1D8D-E98F-6473-91E34742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6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4864-A6AA-5B95-9DD4-ED12E4D20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35DC-0417-73AC-3717-6BA6378D8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C100A-CCE1-277F-C159-DEB707881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68B9A-688F-FC26-A684-83C53E91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7B69D-2131-898B-0A5D-1E9BE70A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A41B0-EAF0-D3D7-33AC-9A58ABFD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3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9B99-2AD0-D033-5181-6C5104FC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567FB-C37C-A805-BC23-C7A2A7E66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85D9C-638A-F832-0A14-C58E845A7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A9609-F02E-6525-F63B-06C19236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101B2-26C6-F49A-B6D5-7A10FDB4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5FB45-488A-70F6-F158-A4CB2268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7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1916-BB86-00C8-45C0-89BD5DF5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E9F93-3BE8-AE06-7B8E-91B53A1C8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823D4-8F76-594A-4AC5-69A8D6A7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677CB-DAFC-EA83-4B4F-9E4A021B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CDD71-F524-A276-9C51-BB5F196A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8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5BAFF-C8D6-434B-E697-3EE722230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1546A-5DA4-A3B0-DF27-8B6C4B5FB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8B01F-04E9-029B-40B1-022D6AE0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9FB1-AFB6-BDEF-7CF2-9537FDF8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BCDEB-A739-5CD7-321E-AD8CB7AA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9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D814DE-C8FB-0FB2-9078-D033B0B3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3A060-53EC-E084-66DA-33792D4EC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5698C-1427-8B7B-44AE-120E0CEEE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C62CA-1E0E-9F4A-BC70-890CC39684E0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BF162-4254-77AC-DA98-8586A5555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DFAA2-96D4-02A3-155E-2151A45B1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75C84-7BFE-8B4A-8229-715D94ED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8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40.png"/><Relationship Id="rId42" Type="http://schemas.openxmlformats.org/officeDocument/2006/relationships/image" Target="../media/image44.png"/><Relationship Id="rId47" Type="http://schemas.openxmlformats.org/officeDocument/2006/relationships/customXml" Target="../ink/ink22.xml"/><Relationship Id="rId50" Type="http://schemas.openxmlformats.org/officeDocument/2006/relationships/image" Target="../media/image48.png"/><Relationship Id="rId7" Type="http://schemas.openxmlformats.org/officeDocument/2006/relationships/customXml" Target="../ink/ink2.xml"/><Relationship Id="rId2" Type="http://schemas.openxmlformats.org/officeDocument/2006/relationships/image" Target="../media/image21.png"/><Relationship Id="rId16" Type="http://schemas.openxmlformats.org/officeDocument/2006/relationships/image" Target="../media/image31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17.xml"/><Relationship Id="rId40" Type="http://schemas.openxmlformats.org/officeDocument/2006/relationships/image" Target="../media/image43.png"/><Relationship Id="rId45" Type="http://schemas.openxmlformats.org/officeDocument/2006/relationships/customXml" Target="../ink/ink21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23.xml"/><Relationship Id="rId10" Type="http://schemas.openxmlformats.org/officeDocument/2006/relationships/image" Target="../media/image28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45.png"/><Relationship Id="rId4" Type="http://schemas.openxmlformats.org/officeDocument/2006/relationships/image" Target="../media/image16.emf"/><Relationship Id="rId9" Type="http://schemas.openxmlformats.org/officeDocument/2006/relationships/customXml" Target="../ink/ink3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12.xml"/><Relationship Id="rId30" Type="http://schemas.openxmlformats.org/officeDocument/2006/relationships/image" Target="../media/image3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47.png"/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12" Type="http://schemas.openxmlformats.org/officeDocument/2006/relationships/image" Target="../media/image2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20" Type="http://schemas.openxmlformats.org/officeDocument/2006/relationships/image" Target="../media/image33.png"/><Relationship Id="rId41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.png"/><Relationship Id="rId21" Type="http://schemas.openxmlformats.org/officeDocument/2006/relationships/customXml" Target="../ink/ink33.xml"/><Relationship Id="rId42" Type="http://schemas.openxmlformats.org/officeDocument/2006/relationships/image" Target="../media/image500.png"/><Relationship Id="rId47" Type="http://schemas.openxmlformats.org/officeDocument/2006/relationships/customXml" Target="../ink/ink46.xml"/><Relationship Id="rId63" Type="http://schemas.openxmlformats.org/officeDocument/2006/relationships/customXml" Target="../ink/ink54.xml"/><Relationship Id="rId68" Type="http://schemas.openxmlformats.org/officeDocument/2006/relationships/image" Target="../media/image63.png"/><Relationship Id="rId84" Type="http://schemas.openxmlformats.org/officeDocument/2006/relationships/image" Target="../media/image71.png"/><Relationship Id="rId89" Type="http://schemas.openxmlformats.org/officeDocument/2006/relationships/customXml" Target="../ink/ink67.xml"/><Relationship Id="rId112" Type="http://schemas.openxmlformats.org/officeDocument/2006/relationships/image" Target="../media/image85.png"/><Relationship Id="rId16" Type="http://schemas.openxmlformats.org/officeDocument/2006/relationships/image" Target="../media/image11.png"/><Relationship Id="rId107" Type="http://schemas.openxmlformats.org/officeDocument/2006/relationships/customXml" Target="../ink/ink76.xml"/><Relationship Id="rId11" Type="http://schemas.openxmlformats.org/officeDocument/2006/relationships/customXml" Target="../ink/ink28.xml"/><Relationship Id="rId32" Type="http://schemas.openxmlformats.org/officeDocument/2006/relationships/image" Target="../media/image200.png"/><Relationship Id="rId37" Type="http://schemas.openxmlformats.org/officeDocument/2006/relationships/customXml" Target="../ink/ink41.xml"/><Relationship Id="rId53" Type="http://schemas.openxmlformats.org/officeDocument/2006/relationships/customXml" Target="../ink/ink49.xml"/><Relationship Id="rId58" Type="http://schemas.openxmlformats.org/officeDocument/2006/relationships/image" Target="../media/image580.png"/><Relationship Id="rId74" Type="http://schemas.openxmlformats.org/officeDocument/2006/relationships/image" Target="../media/image66.png"/><Relationship Id="rId79" Type="http://schemas.openxmlformats.org/officeDocument/2006/relationships/customXml" Target="../ink/ink62.xml"/><Relationship Id="rId102" Type="http://schemas.openxmlformats.org/officeDocument/2006/relationships/image" Target="../media/image80.png"/><Relationship Id="rId5" Type="http://schemas.openxmlformats.org/officeDocument/2006/relationships/customXml" Target="../ink/ink25.xml"/><Relationship Id="rId90" Type="http://schemas.openxmlformats.org/officeDocument/2006/relationships/image" Target="../media/image74.png"/><Relationship Id="rId95" Type="http://schemas.openxmlformats.org/officeDocument/2006/relationships/customXml" Target="../ink/ink70.xml"/><Relationship Id="rId22" Type="http://schemas.openxmlformats.org/officeDocument/2006/relationships/image" Target="../media/image14.png"/><Relationship Id="rId27" Type="http://schemas.openxmlformats.org/officeDocument/2006/relationships/customXml" Target="../ink/ink36.xml"/><Relationship Id="rId43" Type="http://schemas.openxmlformats.org/officeDocument/2006/relationships/customXml" Target="../ink/ink44.xml"/><Relationship Id="rId48" Type="http://schemas.openxmlformats.org/officeDocument/2006/relationships/image" Target="../media/image530.png"/><Relationship Id="rId64" Type="http://schemas.openxmlformats.org/officeDocument/2006/relationships/image" Target="../media/image61.png"/><Relationship Id="rId69" Type="http://schemas.openxmlformats.org/officeDocument/2006/relationships/customXml" Target="../ink/ink57.xml"/><Relationship Id="rId80" Type="http://schemas.openxmlformats.org/officeDocument/2006/relationships/image" Target="../media/image69.png"/><Relationship Id="rId85" Type="http://schemas.openxmlformats.org/officeDocument/2006/relationships/customXml" Target="../ink/ink65.xml"/><Relationship Id="rId12" Type="http://schemas.openxmlformats.org/officeDocument/2006/relationships/image" Target="../media/image90.png"/><Relationship Id="rId17" Type="http://schemas.openxmlformats.org/officeDocument/2006/relationships/customXml" Target="../ink/ink31.xml"/><Relationship Id="rId33" Type="http://schemas.openxmlformats.org/officeDocument/2006/relationships/customXml" Target="../ink/ink39.xml"/><Relationship Id="rId38" Type="http://schemas.openxmlformats.org/officeDocument/2006/relationships/image" Target="../media/image240.png"/><Relationship Id="rId59" Type="http://schemas.openxmlformats.org/officeDocument/2006/relationships/customXml" Target="../ink/ink52.xml"/><Relationship Id="rId103" Type="http://schemas.openxmlformats.org/officeDocument/2006/relationships/customXml" Target="../ink/ink74.xml"/><Relationship Id="rId108" Type="http://schemas.openxmlformats.org/officeDocument/2006/relationships/image" Target="../media/image83.png"/><Relationship Id="rId54" Type="http://schemas.openxmlformats.org/officeDocument/2006/relationships/image" Target="../media/image560.png"/><Relationship Id="rId70" Type="http://schemas.openxmlformats.org/officeDocument/2006/relationships/image" Target="../media/image64.png"/><Relationship Id="rId75" Type="http://schemas.openxmlformats.org/officeDocument/2006/relationships/customXml" Target="../ink/ink60.xml"/><Relationship Id="rId91" Type="http://schemas.openxmlformats.org/officeDocument/2006/relationships/customXml" Target="../ink/ink68.xml"/><Relationship Id="rId9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5" Type="http://schemas.openxmlformats.org/officeDocument/2006/relationships/customXml" Target="../ink/ink30.xml"/><Relationship Id="rId23" Type="http://schemas.openxmlformats.org/officeDocument/2006/relationships/customXml" Target="../ink/ink34.xml"/><Relationship Id="rId28" Type="http://schemas.openxmlformats.org/officeDocument/2006/relationships/image" Target="../media/image170.png"/><Relationship Id="rId36" Type="http://schemas.openxmlformats.org/officeDocument/2006/relationships/image" Target="../media/image230.png"/><Relationship Id="rId49" Type="http://schemas.openxmlformats.org/officeDocument/2006/relationships/customXml" Target="../ink/ink47.xml"/><Relationship Id="rId57" Type="http://schemas.openxmlformats.org/officeDocument/2006/relationships/customXml" Target="../ink/ink51.xml"/><Relationship Id="rId106" Type="http://schemas.openxmlformats.org/officeDocument/2006/relationships/image" Target="../media/image82.png"/><Relationship Id="rId10" Type="http://schemas.openxmlformats.org/officeDocument/2006/relationships/image" Target="../media/image86.png"/><Relationship Id="rId31" Type="http://schemas.openxmlformats.org/officeDocument/2006/relationships/customXml" Target="../ink/ink38.xml"/><Relationship Id="rId44" Type="http://schemas.openxmlformats.org/officeDocument/2006/relationships/image" Target="../media/image511.png"/><Relationship Id="rId52" Type="http://schemas.openxmlformats.org/officeDocument/2006/relationships/image" Target="../media/image550.png"/><Relationship Id="rId60" Type="http://schemas.openxmlformats.org/officeDocument/2006/relationships/image" Target="../media/image590.png"/><Relationship Id="rId65" Type="http://schemas.openxmlformats.org/officeDocument/2006/relationships/customXml" Target="../ink/ink55.xml"/><Relationship Id="rId73" Type="http://schemas.openxmlformats.org/officeDocument/2006/relationships/customXml" Target="../ink/ink59.xml"/><Relationship Id="rId78" Type="http://schemas.openxmlformats.org/officeDocument/2006/relationships/image" Target="../media/image68.png"/><Relationship Id="rId81" Type="http://schemas.openxmlformats.org/officeDocument/2006/relationships/customXml" Target="../ink/ink63.xml"/><Relationship Id="rId86" Type="http://schemas.openxmlformats.org/officeDocument/2006/relationships/image" Target="../media/image72.png"/><Relationship Id="rId94" Type="http://schemas.openxmlformats.org/officeDocument/2006/relationships/image" Target="../media/image76.png"/><Relationship Id="rId99" Type="http://schemas.openxmlformats.org/officeDocument/2006/relationships/customXml" Target="../ink/ink72.xml"/><Relationship Id="rId101" Type="http://schemas.openxmlformats.org/officeDocument/2006/relationships/customXml" Target="../ink/ink73.xml"/><Relationship Id="rId4" Type="http://schemas.openxmlformats.org/officeDocument/2006/relationships/image" Target="../media/image510.png"/><Relationship Id="rId9" Type="http://schemas.openxmlformats.org/officeDocument/2006/relationships/customXml" Target="../ink/ink27.xml"/><Relationship Id="rId13" Type="http://schemas.openxmlformats.org/officeDocument/2006/relationships/customXml" Target="../ink/ink29.xml"/><Relationship Id="rId18" Type="http://schemas.openxmlformats.org/officeDocument/2006/relationships/image" Target="../media/image120.png"/><Relationship Id="rId39" Type="http://schemas.openxmlformats.org/officeDocument/2006/relationships/customXml" Target="../ink/ink42.xml"/><Relationship Id="rId109" Type="http://schemas.openxmlformats.org/officeDocument/2006/relationships/customXml" Target="../ink/ink77.xml"/><Relationship Id="rId34" Type="http://schemas.openxmlformats.org/officeDocument/2006/relationships/image" Target="../media/image220.png"/><Relationship Id="rId50" Type="http://schemas.openxmlformats.org/officeDocument/2006/relationships/image" Target="../media/image540.png"/><Relationship Id="rId55" Type="http://schemas.openxmlformats.org/officeDocument/2006/relationships/customXml" Target="../ink/ink50.xml"/><Relationship Id="rId76" Type="http://schemas.openxmlformats.org/officeDocument/2006/relationships/image" Target="../media/image67.png"/><Relationship Id="rId97" Type="http://schemas.openxmlformats.org/officeDocument/2006/relationships/customXml" Target="../ink/ink71.xml"/><Relationship Id="rId104" Type="http://schemas.openxmlformats.org/officeDocument/2006/relationships/image" Target="../media/image81.png"/><Relationship Id="rId7" Type="http://schemas.openxmlformats.org/officeDocument/2006/relationships/customXml" Target="../ink/ink26.xml"/><Relationship Id="rId71" Type="http://schemas.openxmlformats.org/officeDocument/2006/relationships/customXml" Target="../ink/ink58.xml"/><Relationship Id="rId92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37.xml"/><Relationship Id="rId24" Type="http://schemas.openxmlformats.org/officeDocument/2006/relationships/image" Target="../media/image15.png"/><Relationship Id="rId40" Type="http://schemas.openxmlformats.org/officeDocument/2006/relationships/image" Target="../media/image490.png"/><Relationship Id="rId45" Type="http://schemas.openxmlformats.org/officeDocument/2006/relationships/customXml" Target="../ink/ink45.xml"/><Relationship Id="rId66" Type="http://schemas.openxmlformats.org/officeDocument/2006/relationships/image" Target="../media/image62.png"/><Relationship Id="rId87" Type="http://schemas.openxmlformats.org/officeDocument/2006/relationships/customXml" Target="../ink/ink66.xml"/><Relationship Id="rId110" Type="http://schemas.openxmlformats.org/officeDocument/2006/relationships/image" Target="../media/image84.png"/><Relationship Id="rId61" Type="http://schemas.openxmlformats.org/officeDocument/2006/relationships/customXml" Target="../ink/ink53.xml"/><Relationship Id="rId82" Type="http://schemas.openxmlformats.org/officeDocument/2006/relationships/image" Target="../media/image70.png"/><Relationship Id="rId19" Type="http://schemas.openxmlformats.org/officeDocument/2006/relationships/customXml" Target="../ink/ink32.xml"/><Relationship Id="rId14" Type="http://schemas.openxmlformats.org/officeDocument/2006/relationships/image" Target="../media/image100.png"/><Relationship Id="rId30" Type="http://schemas.openxmlformats.org/officeDocument/2006/relationships/image" Target="../media/image18.png"/><Relationship Id="rId35" Type="http://schemas.openxmlformats.org/officeDocument/2006/relationships/customXml" Target="../ink/ink40.xml"/><Relationship Id="rId56" Type="http://schemas.openxmlformats.org/officeDocument/2006/relationships/image" Target="../media/image570.png"/><Relationship Id="rId77" Type="http://schemas.openxmlformats.org/officeDocument/2006/relationships/customXml" Target="../ink/ink61.xml"/><Relationship Id="rId100" Type="http://schemas.openxmlformats.org/officeDocument/2006/relationships/image" Target="../media/image79.png"/><Relationship Id="rId105" Type="http://schemas.openxmlformats.org/officeDocument/2006/relationships/customXml" Target="../ink/ink75.xml"/><Relationship Id="rId8" Type="http://schemas.openxmlformats.org/officeDocument/2006/relationships/image" Target="../media/image710.png"/><Relationship Id="rId51" Type="http://schemas.openxmlformats.org/officeDocument/2006/relationships/customXml" Target="../ink/ink48.xml"/><Relationship Id="rId72" Type="http://schemas.openxmlformats.org/officeDocument/2006/relationships/image" Target="../media/image65.png"/><Relationship Id="rId93" Type="http://schemas.openxmlformats.org/officeDocument/2006/relationships/customXml" Target="../ink/ink69.xml"/><Relationship Id="rId98" Type="http://schemas.openxmlformats.org/officeDocument/2006/relationships/image" Target="../media/image78.png"/><Relationship Id="rId3" Type="http://schemas.openxmlformats.org/officeDocument/2006/relationships/customXml" Target="../ink/ink24.xml"/><Relationship Id="rId25" Type="http://schemas.openxmlformats.org/officeDocument/2006/relationships/customXml" Target="../ink/ink35.xml"/><Relationship Id="rId46" Type="http://schemas.openxmlformats.org/officeDocument/2006/relationships/image" Target="../media/image520.png"/><Relationship Id="rId67" Type="http://schemas.openxmlformats.org/officeDocument/2006/relationships/customXml" Target="../ink/ink56.xml"/><Relationship Id="rId20" Type="http://schemas.openxmlformats.org/officeDocument/2006/relationships/image" Target="../media/image13.png"/><Relationship Id="rId41" Type="http://schemas.openxmlformats.org/officeDocument/2006/relationships/customXml" Target="../ink/ink43.xml"/><Relationship Id="rId62" Type="http://schemas.openxmlformats.org/officeDocument/2006/relationships/image" Target="../media/image600.png"/><Relationship Id="rId83" Type="http://schemas.openxmlformats.org/officeDocument/2006/relationships/customXml" Target="../ink/ink64.xml"/><Relationship Id="rId88" Type="http://schemas.openxmlformats.org/officeDocument/2006/relationships/image" Target="../media/image73.png"/><Relationship Id="rId111" Type="http://schemas.openxmlformats.org/officeDocument/2006/relationships/customXml" Target="../ink/ink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A30D-F42F-B27F-85A6-5D8340FBC0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Manifold learning +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4554B-67AF-556F-1272-F89C110498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Uthsav Chitra</a:t>
            </a:r>
          </a:p>
        </p:txBody>
      </p:sp>
    </p:spTree>
    <p:extLst>
      <p:ext uri="{BB962C8B-B14F-4D97-AF65-F5344CB8AC3E}">
        <p14:creationId xmlns:p14="http://schemas.microsoft.com/office/powerpoint/2010/main" val="95046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7C89-C8FF-D305-EF2F-E238FB76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88" y="229658"/>
            <a:ext cx="1163602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 far: dimensionality reduction methods to uncover </a:t>
            </a:r>
            <a:r>
              <a:rPr lang="en-US" sz="4000" u="sng" dirty="0"/>
              <a:t>“low-dimensional structure”</a:t>
            </a:r>
            <a:r>
              <a:rPr lang="en-US" sz="4000" dirty="0"/>
              <a:t> in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36843-0EFA-6A30-7112-CDE2338D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31" t="31207" r="50709" b="15055"/>
          <a:stretch>
            <a:fillRect/>
          </a:stretch>
        </p:blipFill>
        <p:spPr>
          <a:xfrm>
            <a:off x="914401" y="2539668"/>
            <a:ext cx="4337801" cy="40886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1D1B56-364A-FEC3-651E-E5E192313CC1}"/>
              </a:ext>
            </a:extLst>
          </p:cNvPr>
          <p:cNvSpPr txBox="1"/>
          <p:nvPr/>
        </p:nvSpPr>
        <p:spPr>
          <a:xfrm>
            <a:off x="362826" y="1896835"/>
            <a:ext cx="57331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Linear dimensionality reduction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8C5D1-6607-463D-92FA-351CE243B0E4}"/>
              </a:ext>
            </a:extLst>
          </p:cNvPr>
          <p:cNvSpPr txBox="1"/>
          <p:nvPr/>
        </p:nvSpPr>
        <p:spPr>
          <a:xfrm>
            <a:off x="6939800" y="1802679"/>
            <a:ext cx="4736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Non-linear dimensionality reduction</a:t>
            </a:r>
          </a:p>
        </p:txBody>
      </p:sp>
      <p:pic>
        <p:nvPicPr>
          <p:cNvPr id="7" name="Picture 6" descr="Introduction to autoencoders.">
            <a:extLst>
              <a:ext uri="{FF2B5EF4-FFF2-40B4-BE49-F238E27FC236}">
                <a16:creationId xmlns:a16="http://schemas.microsoft.com/office/drawing/2014/main" id="{7CB19555-DAFA-79E7-D9B3-07892DC64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2818342"/>
            <a:ext cx="55118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5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816D-E85B-60CD-36A8-F0D7170E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3EF9-F055-55AC-5311-D080E126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263"/>
            <a:ext cx="12192000" cy="1325563"/>
          </a:xfrm>
        </p:spPr>
        <p:txBody>
          <a:bodyPr>
            <a:normAutofit/>
          </a:bodyPr>
          <a:lstStyle/>
          <a:p>
            <a:r>
              <a:rPr lang="en-US" sz="3700" dirty="0"/>
              <a:t>Manifolds: mathematical framework for modeling “low dimensional structure”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C1C08-9653-E989-9F85-19351847C68B}"/>
              </a:ext>
            </a:extLst>
          </p:cNvPr>
          <p:cNvSpPr txBox="1"/>
          <p:nvPr/>
        </p:nvSpPr>
        <p:spPr>
          <a:xfrm>
            <a:off x="655864" y="1344650"/>
            <a:ext cx="10580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Informally: A manifold M is </a:t>
            </a:r>
            <a:r>
              <a:rPr lang="en-US" sz="3000" dirty="0">
                <a:solidFill>
                  <a:srgbClr val="FF0000"/>
                </a:solidFill>
              </a:rPr>
              <a:t>an object in a high-dimensional space </a:t>
            </a:r>
            <a:r>
              <a:rPr lang="en-US" sz="3000" dirty="0"/>
              <a:t>that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“locally” is low-dimensional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F17BD-88CC-6B5B-15B9-D4A4AF587D1A}"/>
              </a:ext>
            </a:extLst>
          </p:cNvPr>
          <p:cNvSpPr txBox="1"/>
          <p:nvPr/>
        </p:nvSpPr>
        <p:spPr>
          <a:xfrm>
            <a:off x="518776" y="2460340"/>
            <a:ext cx="46741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Example: a sphere (globe)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0F5167-F252-73CB-806E-83E7E5995F18}"/>
              </a:ext>
            </a:extLst>
          </p:cNvPr>
          <p:cNvGrpSpPr/>
          <p:nvPr/>
        </p:nvGrpSpPr>
        <p:grpSpPr>
          <a:xfrm>
            <a:off x="2113825" y="3114365"/>
            <a:ext cx="7376886" cy="3759292"/>
            <a:chOff x="1584235" y="2936557"/>
            <a:chExt cx="7376886" cy="375929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12649A0-B524-A165-53AE-E62476764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867" b="13015"/>
            <a:stretch>
              <a:fillRect/>
            </a:stretch>
          </p:blipFill>
          <p:spPr>
            <a:xfrm>
              <a:off x="1584235" y="3373150"/>
              <a:ext cx="7376886" cy="332269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FB85FC-D878-E654-72D2-5E0A6BC9DA40}"/>
                </a:ext>
              </a:extLst>
            </p:cNvPr>
            <p:cNvSpPr txBox="1"/>
            <p:nvPr/>
          </p:nvSpPr>
          <p:spPr>
            <a:xfrm>
              <a:off x="1584235" y="2936557"/>
              <a:ext cx="2581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Lives in 3-D space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6C83DA-11A5-E0C6-8995-D45CC7C5B9B4}"/>
                </a:ext>
              </a:extLst>
            </p:cNvPr>
            <p:cNvSpPr txBox="1"/>
            <p:nvPr/>
          </p:nvSpPr>
          <p:spPr>
            <a:xfrm>
              <a:off x="5965370" y="2967335"/>
              <a:ext cx="26472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“locally” looks 2-D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7522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9AA-B929-7F99-B9FC-0D22134A5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10" y="189791"/>
            <a:ext cx="10515600" cy="1325563"/>
          </a:xfrm>
        </p:spPr>
        <p:txBody>
          <a:bodyPr/>
          <a:lstStyle/>
          <a:p>
            <a:r>
              <a:rPr lang="en-US" dirty="0"/>
              <a:t>Distances are preserved “locally” in manifold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AC8951-D72A-B541-FF22-D92DC90EE8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8" b="13403"/>
          <a:stretch>
            <a:fillRect/>
          </a:stretch>
        </p:blipFill>
        <p:spPr>
          <a:xfrm>
            <a:off x="-3886200" y="8920117"/>
            <a:ext cx="7772400" cy="361795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EAB118D-F798-72B8-09B4-42EBAC62FDE6}"/>
              </a:ext>
            </a:extLst>
          </p:cNvPr>
          <p:cNvGrpSpPr/>
          <p:nvPr/>
        </p:nvGrpSpPr>
        <p:grpSpPr>
          <a:xfrm>
            <a:off x="1345475" y="1546110"/>
            <a:ext cx="7376886" cy="3759292"/>
            <a:chOff x="1584235" y="2936557"/>
            <a:chExt cx="7376886" cy="375929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FD5329E-FF97-6643-DDD1-1EA99BA1E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867" b="13015"/>
            <a:stretch>
              <a:fillRect/>
            </a:stretch>
          </p:blipFill>
          <p:spPr>
            <a:xfrm>
              <a:off x="1584235" y="3373150"/>
              <a:ext cx="7376886" cy="332269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B28140-32CC-ABFF-4D54-3A38801CCE52}"/>
                </a:ext>
              </a:extLst>
            </p:cNvPr>
            <p:cNvSpPr txBox="1"/>
            <p:nvPr/>
          </p:nvSpPr>
          <p:spPr>
            <a:xfrm>
              <a:off x="1584235" y="2936557"/>
              <a:ext cx="37332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Manifold lives in 3-D space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1AF93D-71BE-BC7D-619A-1BD0955D3D0C}"/>
                </a:ext>
              </a:extLst>
            </p:cNvPr>
            <p:cNvSpPr txBox="1"/>
            <p:nvPr/>
          </p:nvSpPr>
          <p:spPr>
            <a:xfrm>
              <a:off x="5965370" y="2967335"/>
              <a:ext cx="26472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“locally” looks 2-D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00A89E8-FBE4-355A-2B19-CA5D50450939}"/>
              </a:ext>
            </a:extLst>
          </p:cNvPr>
          <p:cNvSpPr txBox="1"/>
          <p:nvPr/>
        </p:nvSpPr>
        <p:spPr>
          <a:xfrm>
            <a:off x="3223812" y="345640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1F8192-18E2-2F45-3F37-356AB1A83579}"/>
              </a:ext>
            </a:extLst>
          </p:cNvPr>
          <p:cNvSpPr/>
          <p:nvPr/>
        </p:nvSpPr>
        <p:spPr>
          <a:xfrm>
            <a:off x="3223812" y="351206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FF88380-717D-8F5F-999F-2B8B7438C392}"/>
              </a:ext>
            </a:extLst>
          </p:cNvPr>
          <p:cNvCxnSpPr>
            <a:stCxn id="15" idx="0"/>
          </p:cNvCxnSpPr>
          <p:nvPr/>
        </p:nvCxnSpPr>
        <p:spPr>
          <a:xfrm flipV="1">
            <a:off x="3246672" y="3307743"/>
            <a:ext cx="108778" cy="2043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5A6D8B-749B-EA29-C395-AB5973B7B36A}"/>
              </a:ext>
            </a:extLst>
          </p:cNvPr>
          <p:cNvCxnSpPr/>
          <p:nvPr/>
        </p:nvCxnSpPr>
        <p:spPr>
          <a:xfrm flipV="1">
            <a:off x="6844533" y="3641586"/>
            <a:ext cx="108778" cy="2043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A9262C-64B5-0771-CD43-E6D97EE34DFF}"/>
              </a:ext>
            </a:extLst>
          </p:cNvPr>
          <p:cNvSpPr txBox="1"/>
          <p:nvPr/>
        </p:nvSpPr>
        <p:spPr>
          <a:xfrm>
            <a:off x="6584412" y="374374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91AB76-19F0-7892-14AA-753EFF471EDA}"/>
              </a:ext>
            </a:extLst>
          </p:cNvPr>
          <p:cNvSpPr/>
          <p:nvPr/>
        </p:nvSpPr>
        <p:spPr>
          <a:xfrm>
            <a:off x="6801943" y="3853232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19F6EC-C4EF-8A97-81FE-DA2FF509A31D}"/>
                  </a:ext>
                </a:extLst>
              </p:cNvPr>
              <p:cNvSpPr txBox="1"/>
              <p:nvPr/>
            </p:nvSpPr>
            <p:spPr>
              <a:xfrm>
                <a:off x="216624" y="5491235"/>
                <a:ext cx="11969046" cy="774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If points p, q are “close”, then the distance </a:t>
                </a:r>
                <a:r>
                  <a:rPr lang="en-US" sz="2200" dirty="0" err="1"/>
                  <a:t>d</a:t>
                </a:r>
                <a:r>
                  <a:rPr lang="en-US" sz="2200" baseline="-25000" dirty="0" err="1"/>
                  <a:t>M</a:t>
                </a:r>
                <a:r>
                  <a:rPr lang="en-US" sz="2200" dirty="0"/>
                  <a:t>(</a:t>
                </a:r>
                <a:r>
                  <a:rPr lang="en-US" sz="2200" dirty="0" err="1"/>
                  <a:t>p,q</a:t>
                </a:r>
                <a:r>
                  <a:rPr lang="en-US" sz="2200" dirty="0"/>
                  <a:t>) on manifold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200" dirty="0"/>
                  <a:t> “local” distance in 2-D space: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19F6EC-C4EF-8A97-81FE-DA2FF509A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24" y="5491235"/>
                <a:ext cx="11969046" cy="774058"/>
              </a:xfrm>
              <a:prstGeom prst="rect">
                <a:avLst/>
              </a:prstGeom>
              <a:blipFill>
                <a:blip r:embed="rId4"/>
                <a:stretch>
                  <a:fillRect l="-636" t="-4839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84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301D5C-3C40-DB42-3559-D266753EC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17" y="1705850"/>
            <a:ext cx="4244851" cy="4244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5733A2-2297-B99F-35F9-5F8B6A31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14" y="209491"/>
            <a:ext cx="11667979" cy="1325563"/>
          </a:xfrm>
        </p:spPr>
        <p:txBody>
          <a:bodyPr/>
          <a:lstStyle/>
          <a:p>
            <a:r>
              <a:rPr lang="en-US" dirty="0"/>
              <a:t>In a manifold, distances are </a:t>
            </a:r>
            <a:r>
              <a:rPr lang="en-US" b="1" dirty="0"/>
              <a:t>not</a:t>
            </a:r>
            <a:r>
              <a:rPr lang="en-US" dirty="0"/>
              <a:t> preserved globally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88656-DF44-FA06-1B79-E380B34E2E8C}"/>
              </a:ext>
            </a:extLst>
          </p:cNvPr>
          <p:cNvSpPr txBox="1"/>
          <p:nvPr/>
        </p:nvSpPr>
        <p:spPr>
          <a:xfrm>
            <a:off x="4285846" y="4468470"/>
            <a:ext cx="4010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1D8D7-9304-B756-80AA-8B06E847EA9D}"/>
              </a:ext>
            </a:extLst>
          </p:cNvPr>
          <p:cNvSpPr txBox="1"/>
          <p:nvPr/>
        </p:nvSpPr>
        <p:spPr>
          <a:xfrm>
            <a:off x="494714" y="3828276"/>
            <a:ext cx="4010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5CD58B-B53D-A883-B857-17500320EE62}"/>
                  </a:ext>
                </a:extLst>
              </p:cNvPr>
              <p:cNvSpPr txBox="1"/>
              <p:nvPr/>
            </p:nvSpPr>
            <p:spPr>
              <a:xfrm>
                <a:off x="5649258" y="2509067"/>
                <a:ext cx="5813570" cy="2638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300" dirty="0"/>
                  <a:t>If points p, q are “far”, then the </a:t>
                </a:r>
                <a:r>
                  <a:rPr lang="en-US" sz="3300" dirty="0">
                    <a:solidFill>
                      <a:schemeClr val="accent6">
                        <a:lumMod val="50000"/>
                      </a:schemeClr>
                    </a:solidFill>
                  </a:rPr>
                  <a:t>distance </a:t>
                </a:r>
                <a:r>
                  <a:rPr lang="en-US" sz="3300" dirty="0" err="1">
                    <a:solidFill>
                      <a:schemeClr val="accent6">
                        <a:lumMod val="50000"/>
                      </a:schemeClr>
                    </a:solidFill>
                  </a:rPr>
                  <a:t>d</a:t>
                </a:r>
                <a:r>
                  <a:rPr lang="en-US" sz="3300" baseline="-25000" dirty="0" err="1">
                    <a:solidFill>
                      <a:schemeClr val="accent6">
                        <a:lumMod val="50000"/>
                      </a:schemeClr>
                    </a:solidFill>
                  </a:rPr>
                  <a:t>M</a:t>
                </a:r>
                <a:r>
                  <a:rPr lang="en-US" sz="3300" dirty="0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en-US" sz="3300" dirty="0" err="1">
                    <a:solidFill>
                      <a:schemeClr val="accent6">
                        <a:lumMod val="50000"/>
                      </a:schemeClr>
                    </a:solidFill>
                  </a:rPr>
                  <a:t>p,q</a:t>
                </a:r>
                <a:r>
                  <a:rPr lang="en-US" sz="3300" dirty="0">
                    <a:solidFill>
                      <a:schemeClr val="accent6">
                        <a:lumMod val="50000"/>
                      </a:schemeClr>
                    </a:solidFill>
                  </a:rPr>
                  <a:t>) on manifold</a:t>
                </a:r>
                <a:r>
                  <a:rPr lang="en-US" sz="33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3300" dirty="0"/>
                  <a:t> </a:t>
                </a:r>
                <a:r>
                  <a:rPr lang="en-US" sz="3300" dirty="0">
                    <a:solidFill>
                      <a:srgbClr val="FF0000"/>
                    </a:solidFill>
                  </a:rPr>
                  <a:t>“local” distance in 2-D space</a:t>
                </a:r>
                <a:r>
                  <a:rPr lang="en-US" sz="33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3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3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3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33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3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3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3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3300" b="0" i="1" smtClean="0">
                          <a:latin typeface="Cambria Math" panose="02040503050406030204" pitchFamily="18" charset="0"/>
                        </a:rPr>
                        <m:t>≠</m:t>
                      </m:r>
                      <m:sSubSup>
                        <m:sSubSupPr>
                          <m:ctrlPr>
                            <a:rPr lang="en-US" sz="3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b>
                          <m:r>
                            <a:rPr lang="en-US" sz="3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3300" dirty="0"/>
              </a:p>
              <a:p>
                <a:endParaRPr lang="en-US" sz="33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5CD58B-B53D-A883-B857-17500320E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258" y="2509067"/>
                <a:ext cx="5813570" cy="2638415"/>
              </a:xfrm>
              <a:prstGeom prst="rect">
                <a:avLst/>
              </a:prstGeom>
              <a:blipFill>
                <a:blip r:embed="rId3"/>
                <a:stretch>
                  <a:fillRect l="-2614" t="-2871" r="-1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34146533-E583-AF2F-EE10-8F2885BB6503}"/>
              </a:ext>
            </a:extLst>
          </p:cNvPr>
          <p:cNvSpPr/>
          <p:nvPr/>
        </p:nvSpPr>
        <p:spPr>
          <a:xfrm>
            <a:off x="892096" y="3629529"/>
            <a:ext cx="389689" cy="39749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52D167-BCE6-97BF-3809-6FF9B5AD4368}"/>
              </a:ext>
            </a:extLst>
          </p:cNvPr>
          <p:cNvSpPr/>
          <p:nvPr/>
        </p:nvSpPr>
        <p:spPr>
          <a:xfrm>
            <a:off x="4190652" y="4070978"/>
            <a:ext cx="389689" cy="39749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E6E15C-F747-1448-B2D3-3C876DEDB8FF}"/>
                  </a:ext>
                </a:extLst>
              </p:cNvPr>
              <p:cNvSpPr txBox="1"/>
              <p:nvPr/>
            </p:nvSpPr>
            <p:spPr>
              <a:xfrm>
                <a:off x="2277308" y="4560803"/>
                <a:ext cx="16937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- distance along sphere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E6E15C-F747-1448-B2D3-3C876DEDB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308" y="4560803"/>
                <a:ext cx="1693701" cy="923330"/>
              </a:xfrm>
              <a:prstGeom prst="rect">
                <a:avLst/>
              </a:prstGeom>
              <a:blipFill>
                <a:blip r:embed="rId4"/>
                <a:stretch>
                  <a:fillRect l="-2985" t="-2703" r="-1493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3E9EF7-3592-FD01-BECA-AF706D287946}"/>
                  </a:ext>
                </a:extLst>
              </p:cNvPr>
              <p:cNvSpPr txBox="1"/>
              <p:nvPr/>
            </p:nvSpPr>
            <p:spPr>
              <a:xfrm>
                <a:off x="2627966" y="3289912"/>
                <a:ext cx="2409986" cy="711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00B050"/>
                    </a:solidFill>
                  </a:rPr>
                  <a:t>Euclidean dist.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3E9EF7-3592-FD01-BECA-AF706D287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66" y="3289912"/>
                <a:ext cx="2409986" cy="711990"/>
              </a:xfrm>
              <a:prstGeom prst="rect">
                <a:avLst/>
              </a:prstGeom>
              <a:blipFill>
                <a:blip r:embed="rId5"/>
                <a:stretch>
                  <a:fillRect l="-2094" t="-5357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28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6&quot; Diameter Globe - Huge Inflatable World Globe">
            <a:extLst>
              <a:ext uri="{FF2B5EF4-FFF2-40B4-BE49-F238E27FC236}">
                <a16:creationId xmlns:a16="http://schemas.microsoft.com/office/drawing/2014/main" id="{5790AF49-6AFA-918C-81EB-E6C68192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0400"/>
            <a:ext cx="4504195" cy="4504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665C7F-4A75-56F9-9C3F-BC7BC994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12" y="184042"/>
            <a:ext cx="10515600" cy="1325563"/>
          </a:xfrm>
        </p:spPr>
        <p:txBody>
          <a:bodyPr/>
          <a:lstStyle/>
          <a:p>
            <a:r>
              <a:rPr lang="en-US" dirty="0"/>
              <a:t>Another way to think about manifolds: maps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1A8E84-35F4-ED14-2C2C-9C2AB8D11908}"/>
              </a:ext>
            </a:extLst>
          </p:cNvPr>
          <p:cNvSpPr/>
          <p:nvPr/>
        </p:nvSpPr>
        <p:spPr>
          <a:xfrm>
            <a:off x="1813302" y="2708786"/>
            <a:ext cx="278969" cy="2208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C5D938-66A2-16DD-E9A9-7050A314A502}"/>
              </a:ext>
            </a:extLst>
          </p:cNvPr>
          <p:cNvCxnSpPr/>
          <p:nvPr/>
        </p:nvCxnSpPr>
        <p:spPr>
          <a:xfrm flipV="1">
            <a:off x="2045776" y="1670400"/>
            <a:ext cx="3502617" cy="10228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59364B-39E3-2597-2CAD-CB44F83482BC}"/>
              </a:ext>
            </a:extLst>
          </p:cNvPr>
          <p:cNvCxnSpPr>
            <a:cxnSpLocks/>
          </p:cNvCxnSpPr>
          <p:nvPr/>
        </p:nvCxnSpPr>
        <p:spPr>
          <a:xfrm>
            <a:off x="1952786" y="2947476"/>
            <a:ext cx="3595607" cy="1915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ow to Use Google Maps to Plan an Awesome Vacation | WIRED">
            <a:extLst>
              <a:ext uri="{FF2B5EF4-FFF2-40B4-BE49-F238E27FC236}">
                <a16:creationId xmlns:a16="http://schemas.microsoft.com/office/drawing/2014/main" id="{9D51FABC-C0E5-C558-F514-BC72E800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93" y="1509605"/>
            <a:ext cx="5063087" cy="33728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25C9CB-E2C5-1331-7820-EEE8AB3DBB50}"/>
              </a:ext>
            </a:extLst>
          </p:cNvPr>
          <p:cNvSpPr txBox="1"/>
          <p:nvPr/>
        </p:nvSpPr>
        <p:spPr>
          <a:xfrm>
            <a:off x="5377912" y="4998241"/>
            <a:ext cx="61683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For small trips, we can approximate the distance on a globe with a 2-D map</a:t>
            </a:r>
          </a:p>
        </p:txBody>
      </p:sp>
    </p:spTree>
    <p:extLst>
      <p:ext uri="{BB962C8B-B14F-4D97-AF65-F5344CB8AC3E}">
        <p14:creationId xmlns:p14="http://schemas.microsoft.com/office/powerpoint/2010/main" val="3637565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736B-A91A-01FC-2926-D51E277C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6&quot; Diameter Globe - Huge Inflatable World Globe">
            <a:extLst>
              <a:ext uri="{FF2B5EF4-FFF2-40B4-BE49-F238E27FC236}">
                <a16:creationId xmlns:a16="http://schemas.microsoft.com/office/drawing/2014/main" id="{826FEEDC-B28D-C435-BEA9-CA2A8EE88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763"/>
            <a:ext cx="4504195" cy="4504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194683-83C0-7D87-AE7C-5AD2607E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93" y="113824"/>
            <a:ext cx="10515600" cy="1325563"/>
          </a:xfrm>
        </p:spPr>
        <p:txBody>
          <a:bodyPr/>
          <a:lstStyle/>
          <a:p>
            <a:r>
              <a:rPr lang="en-US" dirty="0"/>
              <a:t>Another way to think about manifolds: maps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D4457-5D00-453F-51C7-4C14C6559E21}"/>
              </a:ext>
            </a:extLst>
          </p:cNvPr>
          <p:cNvSpPr txBox="1"/>
          <p:nvPr/>
        </p:nvSpPr>
        <p:spPr>
          <a:xfrm>
            <a:off x="4676172" y="5465251"/>
            <a:ext cx="7419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For long trips, 2-D map is </a:t>
            </a:r>
            <a:r>
              <a:rPr lang="en-US" sz="3000" b="1" dirty="0"/>
              <a:t>not</a:t>
            </a:r>
            <a:r>
              <a:rPr lang="en-US" sz="3000" dirty="0"/>
              <a:t> good for calculating distances</a:t>
            </a:r>
          </a:p>
        </p:txBody>
      </p:sp>
      <p:pic>
        <p:nvPicPr>
          <p:cNvPr id="3" name="Picture 2" descr="World Map: A clickable map of world countries :-)">
            <a:extLst>
              <a:ext uri="{FF2B5EF4-FFF2-40B4-BE49-F238E27FC236}">
                <a16:creationId xmlns:a16="http://schemas.microsoft.com/office/drawing/2014/main" id="{2FB3D3A9-9412-E60E-00E1-07BFCF63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292" y="1501237"/>
            <a:ext cx="6479876" cy="385552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09D34B5-9C8B-AF59-9ACA-A4FD13843BA8}"/>
              </a:ext>
            </a:extLst>
          </p:cNvPr>
          <p:cNvSpPr/>
          <p:nvPr/>
        </p:nvSpPr>
        <p:spPr>
          <a:xfrm>
            <a:off x="5197098" y="2430651"/>
            <a:ext cx="180814" cy="216976"/>
          </a:xfrm>
          <a:prstGeom prst="ellipse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4AB2AB-5A35-0BC3-5C93-7F2284941269}"/>
              </a:ext>
            </a:extLst>
          </p:cNvPr>
          <p:cNvSpPr/>
          <p:nvPr/>
        </p:nvSpPr>
        <p:spPr>
          <a:xfrm>
            <a:off x="10806193" y="2430651"/>
            <a:ext cx="180814" cy="216976"/>
          </a:xfrm>
          <a:prstGeom prst="ellipse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A733E6-D61F-7A3B-7986-1F834C88F0CC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5377912" y="2539139"/>
            <a:ext cx="542828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38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blind men and the elephant: Is perception reality?">
            <a:extLst>
              <a:ext uri="{FF2B5EF4-FFF2-40B4-BE49-F238E27FC236}">
                <a16:creationId xmlns:a16="http://schemas.microsoft.com/office/drawing/2014/main" id="{4C7D4ED7-3D48-4A65-8335-2B5960F93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04" y="667512"/>
            <a:ext cx="10290048" cy="578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9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5F34-9AAD-E579-9FCD-ED3A380B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83" y="352062"/>
            <a:ext cx="6571447" cy="2050841"/>
          </a:xfrm>
        </p:spPr>
        <p:txBody>
          <a:bodyPr>
            <a:normAutofit/>
          </a:bodyPr>
          <a:lstStyle/>
          <a:p>
            <a:r>
              <a:rPr lang="en-US" sz="4800" dirty="0"/>
              <a:t>“Canonical” example: Swiss roll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7FE8A1-40EB-727B-D51A-38FDB49A4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497532" y="3782441"/>
            <a:ext cx="5801784" cy="435133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979F236-5068-E2F7-D066-5632AFFCB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82" t="38638" r="39492" b="26478"/>
          <a:stretch>
            <a:fillRect/>
          </a:stretch>
        </p:blipFill>
        <p:spPr>
          <a:xfrm>
            <a:off x="434537" y="3359173"/>
            <a:ext cx="3062369" cy="3434819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C411B16-68C2-7AAD-913F-CE17723B42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75" t="38717" r="72776" b="30900"/>
          <a:stretch>
            <a:fillRect/>
          </a:stretch>
        </p:blipFill>
        <p:spPr>
          <a:xfrm>
            <a:off x="6949441" y="3103306"/>
            <a:ext cx="2871215" cy="3434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634C09-3F96-F928-CAA9-0E04D19BD0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24" b="22699"/>
          <a:stretch>
            <a:fillRect/>
          </a:stretch>
        </p:blipFill>
        <p:spPr>
          <a:xfrm>
            <a:off x="6782630" y="15025"/>
            <a:ext cx="4740923" cy="27249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D0995F-CC04-B284-D140-76DE21DBA5D2}"/>
              </a:ext>
            </a:extLst>
          </p:cNvPr>
          <p:cNvSpPr txBox="1"/>
          <p:nvPr/>
        </p:nvSpPr>
        <p:spPr>
          <a:xfrm>
            <a:off x="211183" y="2501411"/>
            <a:ext cx="37713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2-D manifold in 3-D space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53BD0DC-FF10-B2D9-216D-50976B2C10B0}"/>
              </a:ext>
            </a:extLst>
          </p:cNvPr>
          <p:cNvSpPr/>
          <p:nvPr/>
        </p:nvSpPr>
        <p:spPr>
          <a:xfrm>
            <a:off x="3496906" y="4370832"/>
            <a:ext cx="2599094" cy="1188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928F71-AAC3-B6EE-17FA-22ED7014BE3A}"/>
              </a:ext>
            </a:extLst>
          </p:cNvPr>
          <p:cNvSpPr txBox="1"/>
          <p:nvPr/>
        </p:nvSpPr>
        <p:spPr>
          <a:xfrm>
            <a:off x="6096000" y="2766271"/>
            <a:ext cx="521360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Data comes from points on manifold</a:t>
            </a:r>
          </a:p>
        </p:txBody>
      </p:sp>
    </p:spTree>
    <p:extLst>
      <p:ext uri="{BB962C8B-B14F-4D97-AF65-F5344CB8AC3E}">
        <p14:creationId xmlns:p14="http://schemas.microsoft.com/office/powerpoint/2010/main" val="3716120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FFC91C-7DED-E590-B06D-B6E64B828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" y="0"/>
            <a:ext cx="1217930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F37DA6-E9A2-2853-BD5C-6AAC52F842CE}"/>
              </a:ext>
            </a:extLst>
          </p:cNvPr>
          <p:cNvSpPr txBox="1"/>
          <p:nvPr/>
        </p:nvSpPr>
        <p:spPr>
          <a:xfrm>
            <a:off x="5632704" y="6635865"/>
            <a:ext cx="40009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ubc-cs.github.io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/cpsc340/lectures/L27.pdf?raw=1</a:t>
            </a:r>
          </a:p>
        </p:txBody>
      </p:sp>
    </p:spTree>
    <p:extLst>
      <p:ext uri="{BB962C8B-B14F-4D97-AF65-F5344CB8AC3E}">
        <p14:creationId xmlns:p14="http://schemas.microsoft.com/office/powerpoint/2010/main" val="2769031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7553C3-3992-76CB-5654-74E79292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11734546" cy="66075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808B97-A988-1CA7-479E-0389A40EEDF4}"/>
              </a:ext>
            </a:extLst>
          </p:cNvPr>
          <p:cNvSpPr/>
          <p:nvPr/>
        </p:nvSpPr>
        <p:spPr>
          <a:xfrm>
            <a:off x="4733882" y="1933787"/>
            <a:ext cx="73152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93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CDDF3C-2F2B-1939-CEAC-4C5E5EFE7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4592"/>
            <a:ext cx="11659648" cy="65653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868138-3A5D-138E-05BE-BF35208093B3}"/>
              </a:ext>
            </a:extLst>
          </p:cNvPr>
          <p:cNvSpPr/>
          <p:nvPr/>
        </p:nvSpPr>
        <p:spPr>
          <a:xfrm>
            <a:off x="4700016" y="2103120"/>
            <a:ext cx="73152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41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7209-98A8-1E54-6C44-66D3222BA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CC09-8666-9279-7CF3-5FAB2DB9E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91973"/>
            <a:ext cx="11353800" cy="1325563"/>
          </a:xfrm>
        </p:spPr>
        <p:txBody>
          <a:bodyPr/>
          <a:lstStyle/>
          <a:p>
            <a:r>
              <a:rPr lang="en-US" dirty="0"/>
              <a:t>Graphs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C82797C-6E21-4176-B306-2FBE81D97EEA}"/>
              </a:ext>
            </a:extLst>
          </p:cNvPr>
          <p:cNvGrpSpPr/>
          <p:nvPr/>
        </p:nvGrpSpPr>
        <p:grpSpPr>
          <a:xfrm>
            <a:off x="9213811" y="1566278"/>
            <a:ext cx="1765033" cy="4263997"/>
            <a:chOff x="758711" y="2997376"/>
            <a:chExt cx="1109936" cy="2663658"/>
          </a:xfrm>
        </p:grpSpPr>
        <p:cxnSp>
          <p:nvCxnSpPr>
            <p:cNvPr id="5" name="Google Shape;140;p13">
              <a:extLst>
                <a:ext uri="{FF2B5EF4-FFF2-40B4-BE49-F238E27FC236}">
                  <a16:creationId xmlns:a16="http://schemas.microsoft.com/office/drawing/2014/main" id="{8D9E787D-3D46-929B-9C21-BC970A0B84BF}"/>
                </a:ext>
              </a:extLst>
            </p:cNvPr>
            <p:cNvCxnSpPr/>
            <p:nvPr/>
          </p:nvCxnSpPr>
          <p:spPr>
            <a:xfrm>
              <a:off x="1047458" y="3718927"/>
              <a:ext cx="629565" cy="13933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57;p13">
              <a:extLst>
                <a:ext uri="{FF2B5EF4-FFF2-40B4-BE49-F238E27FC236}">
                  <a16:creationId xmlns:a16="http://schemas.microsoft.com/office/drawing/2014/main" id="{CBE331A4-E42E-2192-C58F-93F7EAB89BE2}"/>
                </a:ext>
              </a:extLst>
            </p:cNvPr>
            <p:cNvCxnSpPr/>
            <p:nvPr/>
          </p:nvCxnSpPr>
          <p:spPr>
            <a:xfrm rot="10800000">
              <a:off x="1338407" y="3191294"/>
              <a:ext cx="324573" cy="54166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58;p13">
              <a:extLst>
                <a:ext uri="{FF2B5EF4-FFF2-40B4-BE49-F238E27FC236}">
                  <a16:creationId xmlns:a16="http://schemas.microsoft.com/office/drawing/2014/main" id="{03C73127-A737-6013-67CE-AFF416D04E2C}"/>
                </a:ext>
              </a:extLst>
            </p:cNvPr>
            <p:cNvCxnSpPr/>
            <p:nvPr/>
          </p:nvCxnSpPr>
          <p:spPr>
            <a:xfrm rot="10800000">
              <a:off x="1667776" y="3728120"/>
              <a:ext cx="4747" cy="863876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164;p13">
              <a:extLst>
                <a:ext uri="{FF2B5EF4-FFF2-40B4-BE49-F238E27FC236}">
                  <a16:creationId xmlns:a16="http://schemas.microsoft.com/office/drawing/2014/main" id="{379E169A-ACF4-B060-ED40-2482A06103F3}"/>
                </a:ext>
              </a:extLst>
            </p:cNvPr>
            <p:cNvCxnSpPr/>
            <p:nvPr/>
          </p:nvCxnSpPr>
          <p:spPr>
            <a:xfrm rot="10800000" flipH="1">
              <a:off x="953911" y="4585147"/>
              <a:ext cx="725690" cy="27867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165;p13">
              <a:extLst>
                <a:ext uri="{FF2B5EF4-FFF2-40B4-BE49-F238E27FC236}">
                  <a16:creationId xmlns:a16="http://schemas.microsoft.com/office/drawing/2014/main" id="{81E6E192-48F1-A43E-E30B-44F1D06EB445}"/>
                </a:ext>
              </a:extLst>
            </p:cNvPr>
            <p:cNvCxnSpPr/>
            <p:nvPr/>
          </p:nvCxnSpPr>
          <p:spPr>
            <a:xfrm flipH="1">
              <a:off x="1412669" y="4585317"/>
              <a:ext cx="267016" cy="895226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168;p13">
              <a:extLst>
                <a:ext uri="{FF2B5EF4-FFF2-40B4-BE49-F238E27FC236}">
                  <a16:creationId xmlns:a16="http://schemas.microsoft.com/office/drawing/2014/main" id="{5C2FA15A-FF27-4B1E-CCF0-F4D6EC8412E2}"/>
                </a:ext>
              </a:extLst>
            </p:cNvPr>
            <p:cNvCxnSpPr/>
            <p:nvPr/>
          </p:nvCxnSpPr>
          <p:spPr>
            <a:xfrm>
              <a:off x="955165" y="4870822"/>
              <a:ext cx="462828" cy="600301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Google Shape;169;p13">
              <a:extLst>
                <a:ext uri="{FF2B5EF4-FFF2-40B4-BE49-F238E27FC236}">
                  <a16:creationId xmlns:a16="http://schemas.microsoft.com/office/drawing/2014/main" id="{23D66F3B-5916-01D7-1416-E7AF5846B743}"/>
                </a:ext>
              </a:extLst>
            </p:cNvPr>
            <p:cNvSpPr/>
            <p:nvPr/>
          </p:nvSpPr>
          <p:spPr>
            <a:xfrm>
              <a:off x="758711" y="4659790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2</a:t>
              </a:r>
              <a:endParaRPr sz="3000" dirty="0"/>
            </a:p>
          </p:txBody>
        </p:sp>
        <p:sp>
          <p:nvSpPr>
            <p:cNvPr id="32" name="Google Shape;170;p13">
              <a:extLst>
                <a:ext uri="{FF2B5EF4-FFF2-40B4-BE49-F238E27FC236}">
                  <a16:creationId xmlns:a16="http://schemas.microsoft.com/office/drawing/2014/main" id="{86751355-A7E8-DE10-4DE1-2698A074190E}"/>
                </a:ext>
              </a:extLst>
            </p:cNvPr>
            <p:cNvSpPr/>
            <p:nvPr/>
          </p:nvSpPr>
          <p:spPr>
            <a:xfrm>
              <a:off x="1478210" y="4394190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3</a:t>
              </a:r>
              <a:endParaRPr sz="3000" dirty="0"/>
            </a:p>
          </p:txBody>
        </p:sp>
        <p:sp>
          <p:nvSpPr>
            <p:cNvPr id="34" name="Google Shape;172;p13">
              <a:extLst>
                <a:ext uri="{FF2B5EF4-FFF2-40B4-BE49-F238E27FC236}">
                  <a16:creationId xmlns:a16="http://schemas.microsoft.com/office/drawing/2014/main" id="{3A7C8E7E-A353-EFC9-81A8-C00B876331D4}"/>
                </a:ext>
              </a:extLst>
            </p:cNvPr>
            <p:cNvSpPr/>
            <p:nvPr/>
          </p:nvSpPr>
          <p:spPr>
            <a:xfrm>
              <a:off x="1222355" y="5279024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1</a:t>
              </a:r>
              <a:endParaRPr sz="3000" dirty="0"/>
            </a:p>
          </p:txBody>
        </p:sp>
        <p:sp>
          <p:nvSpPr>
            <p:cNvPr id="51" name="Google Shape;189;p13">
              <a:extLst>
                <a:ext uri="{FF2B5EF4-FFF2-40B4-BE49-F238E27FC236}">
                  <a16:creationId xmlns:a16="http://schemas.microsoft.com/office/drawing/2014/main" id="{C81006C0-E4F1-CBE6-BBF8-5F97F07FF8AB}"/>
                </a:ext>
              </a:extLst>
            </p:cNvPr>
            <p:cNvSpPr/>
            <p:nvPr/>
          </p:nvSpPr>
          <p:spPr>
            <a:xfrm>
              <a:off x="1461879" y="3543629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4</a:t>
              </a:r>
              <a:endParaRPr sz="3000" dirty="0"/>
            </a:p>
          </p:txBody>
        </p:sp>
        <p:sp>
          <p:nvSpPr>
            <p:cNvPr id="52" name="Google Shape;191;p13">
              <a:extLst>
                <a:ext uri="{FF2B5EF4-FFF2-40B4-BE49-F238E27FC236}">
                  <a16:creationId xmlns:a16="http://schemas.microsoft.com/office/drawing/2014/main" id="{37763BCC-2E28-18AD-A19A-9A4C03195D3D}"/>
                </a:ext>
              </a:extLst>
            </p:cNvPr>
            <p:cNvSpPr/>
            <p:nvPr/>
          </p:nvSpPr>
          <p:spPr>
            <a:xfrm>
              <a:off x="1138477" y="2997376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5</a:t>
              </a:r>
              <a:endParaRPr sz="3000" dirty="0"/>
            </a:p>
          </p:txBody>
        </p:sp>
        <p:sp>
          <p:nvSpPr>
            <p:cNvPr id="56" name="Google Shape;195;p13">
              <a:extLst>
                <a:ext uri="{FF2B5EF4-FFF2-40B4-BE49-F238E27FC236}">
                  <a16:creationId xmlns:a16="http://schemas.microsoft.com/office/drawing/2014/main" id="{BD19EA38-D181-B58B-EC5B-E0202529DE88}"/>
                </a:ext>
              </a:extLst>
            </p:cNvPr>
            <p:cNvSpPr/>
            <p:nvPr/>
          </p:nvSpPr>
          <p:spPr>
            <a:xfrm>
              <a:off x="844931" y="3510206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6</a:t>
              </a:r>
              <a:endParaRPr sz="3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70F006-5B9E-FAC6-FB17-F3A7C2C8B476}"/>
                  </a:ext>
                </a:extLst>
              </p:cNvPr>
              <p:cNvSpPr txBox="1"/>
              <p:nvPr/>
            </p:nvSpPr>
            <p:spPr>
              <a:xfrm>
                <a:off x="632114" y="1566278"/>
                <a:ext cx="7787641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 (undirected) graph G = (V, E) consists of</a:t>
                </a:r>
              </a:p>
              <a:p>
                <a:endParaRPr lang="en-US" sz="3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Vertex (node) set 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Edges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3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Each edge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is a pair of vertices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70F006-5B9E-FAC6-FB17-F3A7C2C8B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14" y="1566278"/>
                <a:ext cx="7787641" cy="2400657"/>
              </a:xfrm>
              <a:prstGeom prst="rect">
                <a:avLst/>
              </a:prstGeom>
              <a:blipFill>
                <a:blip r:embed="rId2"/>
                <a:stretch>
                  <a:fillRect l="-1792" t="-3158" b="-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A5AD3B00-6EAF-B842-0EE7-DD53B867C863}"/>
              </a:ext>
            </a:extLst>
          </p:cNvPr>
          <p:cNvSpPr txBox="1"/>
          <p:nvPr/>
        </p:nvSpPr>
        <p:spPr>
          <a:xfrm>
            <a:off x="894301" y="5209217"/>
            <a:ext cx="641316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chemeClr val="bg1">
                    <a:lumMod val="50000"/>
                  </a:schemeClr>
                </a:solidFill>
              </a:rPr>
              <a:t>Example graph with</a:t>
            </a:r>
          </a:p>
          <a:p>
            <a:endParaRPr lang="en-US" sz="25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500" dirty="0">
                <a:solidFill>
                  <a:schemeClr val="bg1">
                    <a:lumMod val="50000"/>
                  </a:schemeClr>
                </a:solidFill>
              </a:rPr>
              <a:t>Vertices V = {1,2,3,4,5,6}</a:t>
            </a:r>
          </a:p>
          <a:p>
            <a:r>
              <a:rPr lang="en-US" sz="2500" dirty="0">
                <a:solidFill>
                  <a:schemeClr val="bg1">
                    <a:lumMod val="50000"/>
                  </a:schemeClr>
                </a:solidFill>
              </a:rPr>
              <a:t>Edges E = { (1,2), (1,3), (2,3), (3,4), (4,5), (4,6) }</a:t>
            </a:r>
          </a:p>
        </p:txBody>
      </p:sp>
      <p:sp>
        <p:nvSpPr>
          <p:cNvPr id="65" name="Right Arrow 64">
            <a:extLst>
              <a:ext uri="{FF2B5EF4-FFF2-40B4-BE49-F238E27FC236}">
                <a16:creationId xmlns:a16="http://schemas.microsoft.com/office/drawing/2014/main" id="{A587675E-CF9E-8302-3D6A-72DE6F32B899}"/>
              </a:ext>
            </a:extLst>
          </p:cNvPr>
          <p:cNvSpPr/>
          <p:nvPr/>
        </p:nvSpPr>
        <p:spPr>
          <a:xfrm rot="8540281">
            <a:off x="6263695" y="4903455"/>
            <a:ext cx="2916487" cy="6115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60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503E1-B43D-B2BC-C816-48FC4B95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EFFD-6E8C-2ADA-FAE4-78AA6C80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91973"/>
            <a:ext cx="11353800" cy="1325563"/>
          </a:xfrm>
        </p:spPr>
        <p:txBody>
          <a:bodyPr/>
          <a:lstStyle/>
          <a:p>
            <a:r>
              <a:rPr lang="en-US" dirty="0"/>
              <a:t>Useful definitions for graphs </a:t>
            </a:r>
            <a:r>
              <a:rPr lang="en-US" b="1" dirty="0">
                <a:solidFill>
                  <a:srgbClr val="C00000"/>
                </a:solidFill>
              </a:rPr>
              <a:t>[see board]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B7F144C-43EA-13C5-9389-562B72154714}"/>
              </a:ext>
            </a:extLst>
          </p:cNvPr>
          <p:cNvGrpSpPr/>
          <p:nvPr/>
        </p:nvGrpSpPr>
        <p:grpSpPr>
          <a:xfrm>
            <a:off x="9634435" y="485799"/>
            <a:ext cx="1765033" cy="4263997"/>
            <a:chOff x="758711" y="2997376"/>
            <a:chExt cx="1109936" cy="2663658"/>
          </a:xfrm>
        </p:grpSpPr>
        <p:cxnSp>
          <p:nvCxnSpPr>
            <p:cNvPr id="5" name="Google Shape;140;p13">
              <a:extLst>
                <a:ext uri="{FF2B5EF4-FFF2-40B4-BE49-F238E27FC236}">
                  <a16:creationId xmlns:a16="http://schemas.microsoft.com/office/drawing/2014/main" id="{5B22E788-6F14-FB51-7224-575A804AF620}"/>
                </a:ext>
              </a:extLst>
            </p:cNvPr>
            <p:cNvCxnSpPr/>
            <p:nvPr/>
          </p:nvCxnSpPr>
          <p:spPr>
            <a:xfrm>
              <a:off x="1047458" y="3718927"/>
              <a:ext cx="629565" cy="13933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57;p13">
              <a:extLst>
                <a:ext uri="{FF2B5EF4-FFF2-40B4-BE49-F238E27FC236}">
                  <a16:creationId xmlns:a16="http://schemas.microsoft.com/office/drawing/2014/main" id="{82F29FEC-2879-710B-4845-129F163AED5C}"/>
                </a:ext>
              </a:extLst>
            </p:cNvPr>
            <p:cNvCxnSpPr/>
            <p:nvPr/>
          </p:nvCxnSpPr>
          <p:spPr>
            <a:xfrm rot="10800000">
              <a:off x="1338407" y="3191294"/>
              <a:ext cx="324573" cy="54166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58;p13">
              <a:extLst>
                <a:ext uri="{FF2B5EF4-FFF2-40B4-BE49-F238E27FC236}">
                  <a16:creationId xmlns:a16="http://schemas.microsoft.com/office/drawing/2014/main" id="{38DFD034-B770-5473-DCFC-CFDF9CAF6911}"/>
                </a:ext>
              </a:extLst>
            </p:cNvPr>
            <p:cNvCxnSpPr/>
            <p:nvPr/>
          </p:nvCxnSpPr>
          <p:spPr>
            <a:xfrm rot="10800000">
              <a:off x="1667776" y="3728120"/>
              <a:ext cx="4747" cy="863876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164;p13">
              <a:extLst>
                <a:ext uri="{FF2B5EF4-FFF2-40B4-BE49-F238E27FC236}">
                  <a16:creationId xmlns:a16="http://schemas.microsoft.com/office/drawing/2014/main" id="{EF980A82-9578-4C6E-945D-0AAC09BE918E}"/>
                </a:ext>
              </a:extLst>
            </p:cNvPr>
            <p:cNvCxnSpPr/>
            <p:nvPr/>
          </p:nvCxnSpPr>
          <p:spPr>
            <a:xfrm rot="10800000" flipH="1">
              <a:off x="953911" y="4585147"/>
              <a:ext cx="725690" cy="27867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165;p13">
              <a:extLst>
                <a:ext uri="{FF2B5EF4-FFF2-40B4-BE49-F238E27FC236}">
                  <a16:creationId xmlns:a16="http://schemas.microsoft.com/office/drawing/2014/main" id="{4FE5891E-EA6C-2AFA-E266-443891E33F6C}"/>
                </a:ext>
              </a:extLst>
            </p:cNvPr>
            <p:cNvCxnSpPr/>
            <p:nvPr/>
          </p:nvCxnSpPr>
          <p:spPr>
            <a:xfrm flipH="1">
              <a:off x="1412669" y="4585317"/>
              <a:ext cx="267016" cy="895226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168;p13">
              <a:extLst>
                <a:ext uri="{FF2B5EF4-FFF2-40B4-BE49-F238E27FC236}">
                  <a16:creationId xmlns:a16="http://schemas.microsoft.com/office/drawing/2014/main" id="{5D43C0AC-F8E5-6631-B879-2D0D078B94EB}"/>
                </a:ext>
              </a:extLst>
            </p:cNvPr>
            <p:cNvCxnSpPr/>
            <p:nvPr/>
          </p:nvCxnSpPr>
          <p:spPr>
            <a:xfrm>
              <a:off x="955165" y="4870822"/>
              <a:ext cx="462828" cy="600301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Google Shape;169;p13">
              <a:extLst>
                <a:ext uri="{FF2B5EF4-FFF2-40B4-BE49-F238E27FC236}">
                  <a16:creationId xmlns:a16="http://schemas.microsoft.com/office/drawing/2014/main" id="{8539EBA3-2F89-83B0-B097-9C74BDCF7A5E}"/>
                </a:ext>
              </a:extLst>
            </p:cNvPr>
            <p:cNvSpPr/>
            <p:nvPr/>
          </p:nvSpPr>
          <p:spPr>
            <a:xfrm>
              <a:off x="758711" y="4659790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2</a:t>
              </a:r>
              <a:endParaRPr sz="3000" dirty="0"/>
            </a:p>
          </p:txBody>
        </p:sp>
        <p:sp>
          <p:nvSpPr>
            <p:cNvPr id="32" name="Google Shape;170;p13">
              <a:extLst>
                <a:ext uri="{FF2B5EF4-FFF2-40B4-BE49-F238E27FC236}">
                  <a16:creationId xmlns:a16="http://schemas.microsoft.com/office/drawing/2014/main" id="{3FC745DE-CA94-736F-0030-FEA0D57F0757}"/>
                </a:ext>
              </a:extLst>
            </p:cNvPr>
            <p:cNvSpPr/>
            <p:nvPr/>
          </p:nvSpPr>
          <p:spPr>
            <a:xfrm>
              <a:off x="1478210" y="4394190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3</a:t>
              </a:r>
              <a:endParaRPr sz="3000" dirty="0"/>
            </a:p>
          </p:txBody>
        </p:sp>
        <p:sp>
          <p:nvSpPr>
            <p:cNvPr id="34" name="Google Shape;172;p13">
              <a:extLst>
                <a:ext uri="{FF2B5EF4-FFF2-40B4-BE49-F238E27FC236}">
                  <a16:creationId xmlns:a16="http://schemas.microsoft.com/office/drawing/2014/main" id="{D373D50B-1A7E-E657-DF73-9F28F7D8580A}"/>
                </a:ext>
              </a:extLst>
            </p:cNvPr>
            <p:cNvSpPr/>
            <p:nvPr/>
          </p:nvSpPr>
          <p:spPr>
            <a:xfrm>
              <a:off x="1222355" y="5279024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1</a:t>
              </a:r>
              <a:endParaRPr sz="3000" dirty="0"/>
            </a:p>
          </p:txBody>
        </p:sp>
        <p:sp>
          <p:nvSpPr>
            <p:cNvPr id="51" name="Google Shape;189;p13">
              <a:extLst>
                <a:ext uri="{FF2B5EF4-FFF2-40B4-BE49-F238E27FC236}">
                  <a16:creationId xmlns:a16="http://schemas.microsoft.com/office/drawing/2014/main" id="{CAF9BF17-E64C-9A5D-68EB-832D4BA03358}"/>
                </a:ext>
              </a:extLst>
            </p:cNvPr>
            <p:cNvSpPr/>
            <p:nvPr/>
          </p:nvSpPr>
          <p:spPr>
            <a:xfrm>
              <a:off x="1461879" y="3543629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4</a:t>
              </a:r>
              <a:endParaRPr sz="3000" dirty="0"/>
            </a:p>
          </p:txBody>
        </p:sp>
        <p:sp>
          <p:nvSpPr>
            <p:cNvPr id="52" name="Google Shape;191;p13">
              <a:extLst>
                <a:ext uri="{FF2B5EF4-FFF2-40B4-BE49-F238E27FC236}">
                  <a16:creationId xmlns:a16="http://schemas.microsoft.com/office/drawing/2014/main" id="{CE99B25C-FA65-A12D-D24C-BA6DA8CFFEAC}"/>
                </a:ext>
              </a:extLst>
            </p:cNvPr>
            <p:cNvSpPr/>
            <p:nvPr/>
          </p:nvSpPr>
          <p:spPr>
            <a:xfrm>
              <a:off x="1138477" y="2997376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5</a:t>
              </a:r>
              <a:endParaRPr sz="3000" dirty="0"/>
            </a:p>
          </p:txBody>
        </p:sp>
        <p:sp>
          <p:nvSpPr>
            <p:cNvPr id="56" name="Google Shape;195;p13">
              <a:extLst>
                <a:ext uri="{FF2B5EF4-FFF2-40B4-BE49-F238E27FC236}">
                  <a16:creationId xmlns:a16="http://schemas.microsoft.com/office/drawing/2014/main" id="{CD74891D-6CC3-EADD-F9B5-7C801D18DBA2}"/>
                </a:ext>
              </a:extLst>
            </p:cNvPr>
            <p:cNvSpPr/>
            <p:nvPr/>
          </p:nvSpPr>
          <p:spPr>
            <a:xfrm>
              <a:off x="844931" y="3510206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r>
                <a:rPr lang="en-US" sz="3000" dirty="0"/>
                <a:t>6</a:t>
              </a:r>
              <a:endParaRPr sz="3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AC8114-9907-FD22-2AD7-AC95413ACE85}"/>
                  </a:ext>
                </a:extLst>
              </p:cNvPr>
              <p:cNvSpPr txBox="1"/>
              <p:nvPr/>
            </p:nvSpPr>
            <p:spPr>
              <a:xfrm>
                <a:off x="632114" y="1566278"/>
                <a:ext cx="778764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 (undirected) graph G = (V, E) consists of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Vertex (node) set 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Edges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3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Each edge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is a pair of vertices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AC8114-9907-FD22-2AD7-AC95413AC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14" y="1566278"/>
                <a:ext cx="7787641" cy="1938992"/>
              </a:xfrm>
              <a:prstGeom prst="rect">
                <a:avLst/>
              </a:prstGeom>
              <a:blipFill>
                <a:blip r:embed="rId2"/>
                <a:stretch>
                  <a:fillRect l="-1792" t="-3922" b="-8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993CC0B-39A1-5BFB-54A3-28008AB19743}"/>
              </a:ext>
            </a:extLst>
          </p:cNvPr>
          <p:cNvSpPr txBox="1"/>
          <p:nvPr/>
        </p:nvSpPr>
        <p:spPr>
          <a:xfrm>
            <a:off x="9500229" y="5088699"/>
            <a:ext cx="2628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Example graph with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Vertices V = {1,2,3,4,5,6}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Edges E = { (1,2), (1,3), (2,3), (3,4), (4,5), (4,6)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20EDD-EAE8-4264-F137-3B3FFF0F501F}"/>
              </a:ext>
            </a:extLst>
          </p:cNvPr>
          <p:cNvSpPr txBox="1"/>
          <p:nvPr/>
        </p:nvSpPr>
        <p:spPr>
          <a:xfrm>
            <a:off x="144780" y="7201008"/>
            <a:ext cx="70408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</a:t>
            </a:r>
            <a:r>
              <a:rPr lang="en-US" sz="3000" b="1" dirty="0"/>
              <a:t>degree</a:t>
            </a:r>
            <a:r>
              <a:rPr lang="en-US" sz="3000" dirty="0"/>
              <a:t> d</a:t>
            </a:r>
            <a:r>
              <a:rPr lang="en-US" sz="3000" baseline="-25000" dirty="0"/>
              <a:t>v</a:t>
            </a:r>
            <a:r>
              <a:rPr lang="en-US" sz="3000" dirty="0"/>
              <a:t> of a vertex v = the number of edges that v is 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e.g. d</a:t>
            </a:r>
            <a:r>
              <a:rPr lang="en-US" sz="2200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=2 and d</a:t>
            </a:r>
            <a:r>
              <a:rPr lang="en-US" sz="2200" baseline="-250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=3 in graph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859C3E-14ED-86C0-DF3B-C5E2B236A895}"/>
              </a:ext>
            </a:extLst>
          </p:cNvPr>
          <p:cNvSpPr txBox="1"/>
          <p:nvPr/>
        </p:nvSpPr>
        <p:spPr>
          <a:xfrm>
            <a:off x="484471" y="3579246"/>
            <a:ext cx="778764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[On board]</a:t>
            </a:r>
            <a:r>
              <a:rPr lang="en-US" sz="3000" dirty="0"/>
              <a:t> define </a:t>
            </a:r>
          </a:p>
          <a:p>
            <a:pPr marL="514350" indent="-514350">
              <a:buAutoNum type="arabicPeriod"/>
            </a:pPr>
            <a:r>
              <a:rPr lang="en-US" sz="3000" dirty="0"/>
              <a:t>Degree</a:t>
            </a:r>
          </a:p>
          <a:p>
            <a:pPr marL="514350" indent="-514350">
              <a:buAutoNum type="arabicPeriod"/>
            </a:pPr>
            <a:r>
              <a:rPr lang="en-US" sz="3000" dirty="0"/>
              <a:t>Path</a:t>
            </a:r>
          </a:p>
          <a:p>
            <a:pPr marL="514350" indent="-514350">
              <a:buAutoNum type="arabicPeriod"/>
            </a:pPr>
            <a:r>
              <a:rPr lang="en-US" sz="3000" dirty="0"/>
              <a:t>Adjacency/connected</a:t>
            </a:r>
          </a:p>
          <a:p>
            <a:pPr marL="514350" indent="-514350">
              <a:buAutoNum type="arabicPeriod"/>
            </a:pPr>
            <a:r>
              <a:rPr lang="en-US" sz="3000" dirty="0"/>
              <a:t>Distance between nodes</a:t>
            </a:r>
          </a:p>
          <a:p>
            <a:pPr marL="514350" indent="-514350">
              <a:buAutoNum type="arabicPeriod"/>
            </a:pPr>
            <a:r>
              <a:rPr lang="en-US" sz="3000" dirty="0"/>
              <a:t>Adjacency matrix &lt;-&gt; distance </a:t>
            </a:r>
            <a:r>
              <a:rPr lang="en-US" sz="3000" dirty="0" err="1"/>
              <a:t>btwn</a:t>
            </a:r>
            <a:r>
              <a:rPr lang="en-US" sz="3000" dirty="0"/>
              <a:t> nodes</a:t>
            </a:r>
          </a:p>
          <a:p>
            <a:pPr marL="514350" indent="-514350">
              <a:buAutoNum type="arabicPeriod"/>
            </a:pPr>
            <a:r>
              <a:rPr lang="en-US" sz="3000" dirty="0"/>
              <a:t>Generalization to weighted graphs</a:t>
            </a:r>
          </a:p>
        </p:txBody>
      </p:sp>
    </p:spTree>
    <p:extLst>
      <p:ext uri="{BB962C8B-B14F-4D97-AF65-F5344CB8AC3E}">
        <p14:creationId xmlns:p14="http://schemas.microsoft.com/office/powerpoint/2010/main" val="423367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DB82-B759-2872-0628-E5897004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96" y="-43313"/>
            <a:ext cx="11353800" cy="1325563"/>
          </a:xfrm>
        </p:spPr>
        <p:txBody>
          <a:bodyPr/>
          <a:lstStyle/>
          <a:p>
            <a:r>
              <a:rPr lang="en-US" dirty="0"/>
              <a:t>Graphs are used to represent manifold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66813-36A8-85D4-67EC-64A8E6894D51}"/>
              </a:ext>
            </a:extLst>
          </p:cNvPr>
          <p:cNvSpPr txBox="1"/>
          <p:nvPr/>
        </p:nvSpPr>
        <p:spPr>
          <a:xfrm>
            <a:off x="100584" y="1102943"/>
            <a:ext cx="120914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Given data x</a:t>
            </a:r>
            <a:r>
              <a:rPr lang="en-US" sz="2500" baseline="-25000" dirty="0"/>
              <a:t>1</a:t>
            </a:r>
            <a:r>
              <a:rPr lang="en-US" sz="2500" dirty="0"/>
              <a:t>, …, </a:t>
            </a:r>
            <a:r>
              <a:rPr lang="en-US" sz="2500" dirty="0" err="1"/>
              <a:t>x</a:t>
            </a:r>
            <a:r>
              <a:rPr lang="en-US" sz="2500" baseline="-25000" dirty="0" err="1"/>
              <a:t>N</a:t>
            </a:r>
            <a:r>
              <a:rPr lang="en-US" sz="2500" dirty="0"/>
              <a:t> lying on (unknown) manifold:</a:t>
            </a:r>
          </a:p>
          <a:p>
            <a:r>
              <a:rPr lang="en-US" sz="2500" dirty="0"/>
              <a:t>      form graph G=(V,E) with vertices V={x</a:t>
            </a:r>
            <a:r>
              <a:rPr lang="en-US" sz="2500" baseline="-25000" dirty="0"/>
              <a:t>1</a:t>
            </a:r>
            <a:r>
              <a:rPr lang="en-US" sz="2500" dirty="0"/>
              <a:t>, …, </a:t>
            </a:r>
            <a:r>
              <a:rPr lang="en-US" sz="2500" dirty="0" err="1"/>
              <a:t>x</a:t>
            </a:r>
            <a:r>
              <a:rPr lang="en-US" sz="2500" baseline="-25000" dirty="0" err="1"/>
              <a:t>N</a:t>
            </a:r>
            <a:r>
              <a:rPr lang="en-US" sz="2500" dirty="0"/>
              <a:t>} and edges connecting “nearby” points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7F152E-805A-36A3-182B-F569FA435260}"/>
              </a:ext>
            </a:extLst>
          </p:cNvPr>
          <p:cNvGrpSpPr/>
          <p:nvPr/>
        </p:nvGrpSpPr>
        <p:grpSpPr>
          <a:xfrm>
            <a:off x="638835" y="2099322"/>
            <a:ext cx="10914330" cy="3357921"/>
            <a:chOff x="0" y="2815395"/>
            <a:chExt cx="12853607" cy="3901951"/>
          </a:xfrm>
        </p:grpSpPr>
        <p:pic>
          <p:nvPicPr>
            <p:cNvPr id="4" name="Content Placeholder 4">
              <a:extLst>
                <a:ext uri="{FF2B5EF4-FFF2-40B4-BE49-F238E27FC236}">
                  <a16:creationId xmlns:a16="http://schemas.microsoft.com/office/drawing/2014/main" id="{040BC1C7-E1B0-A678-95B8-9C4AAABAF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94" t="45125" r="52789" b="8423"/>
            <a:stretch>
              <a:fillRect/>
            </a:stretch>
          </p:blipFill>
          <p:spPr>
            <a:xfrm>
              <a:off x="0" y="3254020"/>
              <a:ext cx="5522976" cy="331200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5BA10F8-B8C0-CB1D-5470-9A4B374E6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212" t="58083"/>
            <a:stretch>
              <a:fillRect/>
            </a:stretch>
          </p:blipFill>
          <p:spPr>
            <a:xfrm>
              <a:off x="7296912" y="3268676"/>
              <a:ext cx="4206240" cy="3448670"/>
            </a:xfrm>
            <a:prstGeom prst="rect">
              <a:avLst/>
            </a:prstGeom>
          </p:spPr>
        </p:pic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0FB7BBC6-03EE-B819-9A7D-E7EF5D504F0C}"/>
                </a:ext>
              </a:extLst>
            </p:cNvPr>
            <p:cNvSpPr/>
            <p:nvPr/>
          </p:nvSpPr>
          <p:spPr>
            <a:xfrm>
              <a:off x="5650992" y="4466540"/>
              <a:ext cx="1371600" cy="88696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DB93B6-FDB2-23FF-E9CA-62DEF269E01E}"/>
                </a:ext>
              </a:extLst>
            </p:cNvPr>
            <p:cNvSpPr txBox="1"/>
            <p:nvPr/>
          </p:nvSpPr>
          <p:spPr>
            <a:xfrm>
              <a:off x="1121904" y="2899344"/>
              <a:ext cx="470911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Datapoints in original 3D space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142002-1FF9-16EE-4B9D-6285C4E8073B}"/>
                </a:ext>
              </a:extLst>
            </p:cNvPr>
            <p:cNvSpPr txBox="1"/>
            <p:nvPr/>
          </p:nvSpPr>
          <p:spPr>
            <a:xfrm>
              <a:off x="6952919" y="2815395"/>
              <a:ext cx="5900688" cy="930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 dirty="0"/>
                <a:t>Graph G formed by connecting “nearby” datapoints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72D5EE6-F513-9650-4F4C-C9EA1030B82F}"/>
              </a:ext>
            </a:extLst>
          </p:cNvPr>
          <p:cNvSpPr txBox="1"/>
          <p:nvPr/>
        </p:nvSpPr>
        <p:spPr>
          <a:xfrm>
            <a:off x="118956" y="5996226"/>
            <a:ext cx="115076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For certain graph constructions, distances </a:t>
            </a:r>
            <a:r>
              <a:rPr lang="en-US" sz="2500" dirty="0" err="1"/>
              <a:t>d</a:t>
            </a:r>
            <a:r>
              <a:rPr lang="en-US" sz="2500" baseline="-25000" dirty="0" err="1"/>
              <a:t>G</a:t>
            </a:r>
            <a:r>
              <a:rPr lang="en-US" sz="2500" dirty="0"/>
              <a:t> in graph approximate distances </a:t>
            </a:r>
            <a:r>
              <a:rPr lang="en-US" sz="2500" dirty="0" err="1"/>
              <a:t>d</a:t>
            </a:r>
            <a:r>
              <a:rPr lang="en-US" sz="2500" baseline="-25000" dirty="0" err="1"/>
              <a:t>M</a:t>
            </a:r>
            <a:r>
              <a:rPr lang="en-US" sz="2500" dirty="0"/>
              <a:t> on manifold!</a:t>
            </a:r>
          </a:p>
        </p:txBody>
      </p:sp>
    </p:spTree>
    <p:extLst>
      <p:ext uri="{BB962C8B-B14F-4D97-AF65-F5344CB8AC3E}">
        <p14:creationId xmlns:p14="http://schemas.microsoft.com/office/powerpoint/2010/main" val="1678824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947B-92CB-25EC-BD05-D1233706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167717"/>
            <a:ext cx="10515600" cy="1325563"/>
          </a:xfrm>
        </p:spPr>
        <p:txBody>
          <a:bodyPr/>
          <a:lstStyle/>
          <a:p>
            <a:r>
              <a:rPr lang="en-US" dirty="0"/>
              <a:t>Common graph constructions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1E2ED-9409-0170-56E3-9689814F4729}"/>
              </a:ext>
            </a:extLst>
          </p:cNvPr>
          <p:cNvSpPr txBox="1"/>
          <p:nvPr/>
        </p:nvSpPr>
        <p:spPr>
          <a:xfrm>
            <a:off x="693276" y="1493280"/>
            <a:ext cx="49821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k-NN (k nearest neighbors) graph</a:t>
            </a:r>
          </a:p>
          <a:p>
            <a:r>
              <a:rPr lang="en-US" sz="2500" dirty="0"/>
              <a:t>Draw an edge between vertex v and its k nearest neighbors</a:t>
            </a:r>
          </a:p>
        </p:txBody>
      </p:sp>
      <p:pic>
        <p:nvPicPr>
          <p:cNvPr id="5" name="Picture 4" descr="Should we use k-nearest neighbor graphs for node classification? | by  Federico Errica | Medium">
            <a:extLst>
              <a:ext uri="{FF2B5EF4-FFF2-40B4-BE49-F238E27FC236}">
                <a16:creationId xmlns:a16="http://schemas.microsoft.com/office/drawing/2014/main" id="{19BF41EE-5825-91F2-23DD-BB592A312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86" y="2818843"/>
            <a:ext cx="4372499" cy="34608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52DD3-9C46-195E-4D6A-B27AE09C8827}"/>
              </a:ext>
            </a:extLst>
          </p:cNvPr>
          <p:cNvSpPr txBox="1"/>
          <p:nvPr/>
        </p:nvSpPr>
        <p:spPr>
          <a:xfrm>
            <a:off x="6956915" y="1493279"/>
            <a:ext cx="49821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b="1" dirty="0"/>
              <a:t>ε</a:t>
            </a:r>
            <a:r>
              <a:rPr lang="en-US" sz="2500" b="1" dirty="0"/>
              <a:t>-ball graph</a:t>
            </a:r>
          </a:p>
          <a:p>
            <a:r>
              <a:rPr lang="en-US" sz="2500" dirty="0"/>
              <a:t>Draw an edge between vertex v and all vertices w within distance </a:t>
            </a:r>
            <a:r>
              <a:rPr lang="el-GR" sz="2500" dirty="0"/>
              <a:t>ε</a:t>
            </a:r>
            <a:endParaRPr lang="en-US" sz="2500" dirty="0"/>
          </a:p>
        </p:txBody>
      </p:sp>
      <p:pic>
        <p:nvPicPr>
          <p:cNvPr id="7" name="Picture 6" descr="Methods for graph creation from point clouds - Complex Objects">
            <a:extLst>
              <a:ext uri="{FF2B5EF4-FFF2-40B4-BE49-F238E27FC236}">
                <a16:creationId xmlns:a16="http://schemas.microsoft.com/office/drawing/2014/main" id="{0B8BCB44-6264-481A-50F6-71EE10488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17" y="2615012"/>
            <a:ext cx="4372498" cy="3685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75F00D-7CD5-FCAA-4B2B-16B0BB69767B}"/>
              </a:ext>
            </a:extLst>
          </p:cNvPr>
          <p:cNvSpPr txBox="1"/>
          <p:nvPr/>
        </p:nvSpPr>
        <p:spPr>
          <a:xfrm>
            <a:off x="2778072" y="6380946"/>
            <a:ext cx="663585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Should these graphs be weighted? Directed? …</a:t>
            </a:r>
          </a:p>
        </p:txBody>
      </p:sp>
    </p:spTree>
    <p:extLst>
      <p:ext uri="{BB962C8B-B14F-4D97-AF65-F5344CB8AC3E}">
        <p14:creationId xmlns:p14="http://schemas.microsoft.com/office/powerpoint/2010/main" val="3844268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F3D-03FE-6FB5-D635-89F4D37F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328549"/>
            <a:ext cx="10515600" cy="1325563"/>
          </a:xfrm>
        </p:spPr>
        <p:txBody>
          <a:bodyPr/>
          <a:lstStyle/>
          <a:p>
            <a:r>
              <a:rPr lang="en-US" dirty="0"/>
              <a:t>Multidimensional scaling (MDS)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CFA26-10F4-919D-4847-A6F62BB5E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between every pair of datapoints v, w : find K-dimensional embeddings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such that: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CFA26-10F4-919D-4847-A6F62BB5E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8EBA11D-9642-B977-217B-D232B35E3FD2}"/>
              </a:ext>
            </a:extLst>
          </p:cNvPr>
          <p:cNvSpPr/>
          <p:nvPr/>
        </p:nvSpPr>
        <p:spPr>
          <a:xfrm>
            <a:off x="620508" y="4001294"/>
            <a:ext cx="3054096" cy="2798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DDDC8-B042-2150-1910-10FABF714911}"/>
                  </a:ext>
                </a:extLst>
              </p:cNvPr>
              <p:cNvSpPr txBox="1"/>
              <p:nvPr/>
            </p:nvSpPr>
            <p:spPr>
              <a:xfrm>
                <a:off x="911352" y="5000216"/>
                <a:ext cx="254508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Distance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DDDC8-B042-2150-1910-10FABF714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52" y="5000216"/>
                <a:ext cx="2545080" cy="800219"/>
              </a:xfrm>
              <a:prstGeom prst="rect">
                <a:avLst/>
              </a:prstGeom>
              <a:blipFill>
                <a:blip r:embed="rId3"/>
                <a:stretch>
                  <a:fillRect l="-3483" t="-4688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B0FE64C-9164-4B35-E7AE-F246FDF7A366}"/>
              </a:ext>
            </a:extLst>
          </p:cNvPr>
          <p:cNvSpPr txBox="1"/>
          <p:nvPr/>
        </p:nvSpPr>
        <p:spPr>
          <a:xfrm rot="16200000">
            <a:off x="-446261" y="5215660"/>
            <a:ext cx="1685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observations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E18D1-692D-9EDB-E953-B59BD98E09DB}"/>
              </a:ext>
            </a:extLst>
          </p:cNvPr>
          <p:cNvSpPr txBox="1"/>
          <p:nvPr/>
        </p:nvSpPr>
        <p:spPr>
          <a:xfrm>
            <a:off x="1304697" y="3631962"/>
            <a:ext cx="1685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observations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51368E-DA32-D350-B733-5725173136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12" t="58083"/>
          <a:stretch>
            <a:fillRect/>
          </a:stretch>
        </p:blipFill>
        <p:spPr>
          <a:xfrm>
            <a:off x="4768288" y="3858951"/>
            <a:ext cx="3571627" cy="2967839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18253349-3DC2-E34D-899F-DFC6623D675A}"/>
              </a:ext>
            </a:extLst>
          </p:cNvPr>
          <p:cNvSpPr/>
          <p:nvPr/>
        </p:nvSpPr>
        <p:spPr>
          <a:xfrm>
            <a:off x="8339915" y="5000216"/>
            <a:ext cx="932101" cy="342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20A926-910D-24BD-A6B8-91D08C50C448}"/>
              </a:ext>
            </a:extLst>
          </p:cNvPr>
          <p:cNvGrpSpPr/>
          <p:nvPr/>
        </p:nvGrpSpPr>
        <p:grpSpPr>
          <a:xfrm>
            <a:off x="9597384" y="4381128"/>
            <a:ext cx="2027160" cy="2474640"/>
            <a:chOff x="9597384" y="4381128"/>
            <a:chExt cx="2027160" cy="247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09701B-557A-76AE-3C87-B6F0E735D10F}"/>
                    </a:ext>
                  </a:extLst>
                </p14:cNvPr>
                <p14:cNvContentPartPr/>
                <p14:nvPr/>
              </p14:nvContentPartPr>
              <p14:xfrm>
                <a:off x="9597384" y="4381128"/>
                <a:ext cx="1901520" cy="166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09701B-557A-76AE-3C87-B6F0E735D10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91264" y="4375008"/>
                  <a:ext cx="1913760" cy="16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055B29-F29F-1F3E-2716-8C255E8FC3FB}"/>
                    </a:ext>
                  </a:extLst>
                </p14:cNvPr>
                <p14:cNvContentPartPr/>
                <p14:nvPr/>
              </p14:nvContentPartPr>
              <p14:xfrm>
                <a:off x="11236824" y="6311448"/>
                <a:ext cx="280440" cy="338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055B29-F29F-1F3E-2716-8C255E8FC3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30704" y="6305328"/>
                  <a:ext cx="292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3AEB98-9313-D37C-5150-2FBE7B0C10A5}"/>
                    </a:ext>
                  </a:extLst>
                </p14:cNvPr>
                <p14:cNvContentPartPr/>
                <p14:nvPr/>
              </p14:nvContentPartPr>
              <p14:xfrm>
                <a:off x="11276064" y="6451848"/>
                <a:ext cx="156600" cy="4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3AEB98-9313-D37C-5150-2FBE7B0C10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69944" y="6445728"/>
                  <a:ext cx="1688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0E1203F-0224-F418-5AEA-16B22F4AA594}"/>
                    </a:ext>
                  </a:extLst>
                </p14:cNvPr>
                <p14:cNvContentPartPr/>
                <p14:nvPr/>
              </p14:nvContentPartPr>
              <p14:xfrm>
                <a:off x="11624184" y="6701688"/>
                <a:ext cx="360" cy="15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0E1203F-0224-F418-5AEA-16B22F4AA59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18064" y="6695568"/>
                  <a:ext cx="1260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D99EEA-B458-B78E-FD5B-6D65E085349D}"/>
              </a:ext>
            </a:extLst>
          </p:cNvPr>
          <p:cNvGrpSpPr/>
          <p:nvPr/>
        </p:nvGrpSpPr>
        <p:grpSpPr>
          <a:xfrm>
            <a:off x="9181224" y="3909528"/>
            <a:ext cx="456480" cy="620640"/>
            <a:chOff x="9181224" y="3909528"/>
            <a:chExt cx="456480" cy="6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EDE30B2-8CB7-C381-2861-751E226892E0}"/>
                    </a:ext>
                  </a:extLst>
                </p14:cNvPr>
                <p14:cNvContentPartPr/>
                <p14:nvPr/>
              </p14:nvContentPartPr>
              <p14:xfrm>
                <a:off x="9223344" y="3909528"/>
                <a:ext cx="245880" cy="439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EDE30B2-8CB7-C381-2861-751E226892E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17224" y="3903408"/>
                  <a:ext cx="2581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255085-B936-714B-8D7A-7F591990E168}"/>
                    </a:ext>
                  </a:extLst>
                </p14:cNvPr>
                <p14:cNvContentPartPr/>
                <p14:nvPr/>
              </p14:nvContentPartPr>
              <p14:xfrm>
                <a:off x="9181224" y="4165848"/>
                <a:ext cx="21312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255085-B936-714B-8D7A-7F591990E1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75104" y="4159728"/>
                  <a:ext cx="22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978BE01-0E57-9D0F-A3F0-2684C94068F5}"/>
                    </a:ext>
                  </a:extLst>
                </p14:cNvPr>
                <p14:cNvContentPartPr/>
                <p14:nvPr/>
              </p14:nvContentPartPr>
              <p14:xfrm>
                <a:off x="9474624" y="4274208"/>
                <a:ext cx="163080" cy="255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978BE01-0E57-9D0F-A3F0-2684C94068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68504" y="4268088"/>
                  <a:ext cx="17532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2D08D73-75B8-BD52-9A36-EC7E5C2E4792}"/>
                  </a:ext>
                </a:extLst>
              </p14:cNvPr>
              <p14:cNvContentPartPr/>
              <p14:nvPr/>
            </p14:nvContentPartPr>
            <p14:xfrm>
              <a:off x="6452784" y="5016528"/>
              <a:ext cx="165600" cy="27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2D08D73-75B8-BD52-9A36-EC7E5C2E47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46664" y="5010408"/>
                <a:ext cx="1778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D3BFDDF-6294-F268-7B59-B6E40DC751EE}"/>
                  </a:ext>
                </a:extLst>
              </p14:cNvPr>
              <p14:cNvContentPartPr/>
              <p14:nvPr/>
            </p14:nvContentPartPr>
            <p14:xfrm>
              <a:off x="7703784" y="4603608"/>
              <a:ext cx="331560" cy="425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D3BFDDF-6294-F268-7B59-B6E40DC751E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97664" y="4597488"/>
                <a:ext cx="343800" cy="43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D181EAE4-0BCA-9249-4ECB-C2E017A8F0DB}"/>
              </a:ext>
            </a:extLst>
          </p:cNvPr>
          <p:cNvGrpSpPr/>
          <p:nvPr/>
        </p:nvGrpSpPr>
        <p:grpSpPr>
          <a:xfrm>
            <a:off x="9969264" y="3459528"/>
            <a:ext cx="1865520" cy="2393280"/>
            <a:chOff x="9969264" y="3459528"/>
            <a:chExt cx="1865520" cy="23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A2A3BEB-4215-4EB2-E2BE-21F64067FFB7}"/>
                    </a:ext>
                  </a:extLst>
                </p14:cNvPr>
                <p14:cNvContentPartPr/>
                <p14:nvPr/>
              </p14:nvContentPartPr>
              <p14:xfrm>
                <a:off x="9969264" y="5629968"/>
                <a:ext cx="90720" cy="55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A2A3BEB-4215-4EB2-E2BE-21F64067FFB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63144" y="5623848"/>
                  <a:ext cx="102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0AE6C4-7DB5-3AAD-F990-4E21D2892F98}"/>
                    </a:ext>
                  </a:extLst>
                </p14:cNvPr>
                <p14:cNvContentPartPr/>
                <p14:nvPr/>
              </p14:nvContentPartPr>
              <p14:xfrm>
                <a:off x="10239624" y="5552568"/>
                <a:ext cx="104040" cy="300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0AE6C4-7DB5-3AAD-F990-4E21D2892F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33504" y="5546448"/>
                  <a:ext cx="11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420BE1-122D-6401-3145-1B7C08A6C6FC}"/>
                    </a:ext>
                  </a:extLst>
                </p14:cNvPr>
                <p14:cNvContentPartPr/>
                <p14:nvPr/>
              </p14:nvContentPartPr>
              <p14:xfrm>
                <a:off x="10029744" y="3507768"/>
                <a:ext cx="984600" cy="2100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420BE1-122D-6401-3145-1B7C08A6C6F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23624" y="3501648"/>
                  <a:ext cx="996840" cy="21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731592-5583-C2E4-9CE6-E8D3F5754E1C}"/>
                    </a:ext>
                  </a:extLst>
                </p14:cNvPr>
                <p14:cNvContentPartPr/>
                <p14:nvPr/>
              </p14:nvContentPartPr>
              <p14:xfrm>
                <a:off x="11083464" y="3461688"/>
                <a:ext cx="83520" cy="77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731592-5583-C2E4-9CE6-E8D3F5754E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77344" y="3455568"/>
                  <a:ext cx="95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4D4828D-FC53-532A-6DFF-51B475F3ED71}"/>
                    </a:ext>
                  </a:extLst>
                </p14:cNvPr>
                <p14:cNvContentPartPr/>
                <p14:nvPr/>
              </p14:nvContentPartPr>
              <p14:xfrm>
                <a:off x="11132784" y="3459528"/>
                <a:ext cx="421560" cy="39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4D4828D-FC53-532A-6DFF-51B475F3ED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126664" y="3453408"/>
                  <a:ext cx="4338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605DE1F-2C8F-7634-1D1E-246E763C2DAA}"/>
                    </a:ext>
                  </a:extLst>
                </p14:cNvPr>
                <p14:cNvContentPartPr/>
                <p14:nvPr/>
              </p14:nvContentPartPr>
              <p14:xfrm>
                <a:off x="10950624" y="4460328"/>
                <a:ext cx="144000" cy="346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605DE1F-2C8F-7634-1D1E-246E763C2D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944504" y="4454208"/>
                  <a:ext cx="1562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C1A190-BB00-5DE7-712E-3F4E31AE0058}"/>
                    </a:ext>
                  </a:extLst>
                </p14:cNvPr>
                <p14:cNvContentPartPr/>
                <p14:nvPr/>
              </p14:nvContentPartPr>
              <p14:xfrm>
                <a:off x="10870344" y="4713048"/>
                <a:ext cx="18792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2C1A190-BB00-5DE7-712E-3F4E31AE005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64224" y="4706928"/>
                  <a:ext cx="200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15982B-E162-1CFB-8098-23E0F34AF47E}"/>
                    </a:ext>
                  </a:extLst>
                </p14:cNvPr>
                <p14:cNvContentPartPr/>
                <p14:nvPr/>
              </p14:nvContentPartPr>
              <p14:xfrm>
                <a:off x="11190744" y="4709088"/>
                <a:ext cx="145080" cy="139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15982B-E162-1CFB-8098-23E0F34AF4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184624" y="4702968"/>
                  <a:ext cx="157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D350A3-902C-6374-B7A2-750E425E3E8F}"/>
                    </a:ext>
                  </a:extLst>
                </p14:cNvPr>
                <p14:cNvContentPartPr/>
                <p14:nvPr/>
              </p14:nvContentPartPr>
              <p14:xfrm>
                <a:off x="11361384" y="4642488"/>
                <a:ext cx="177120" cy="137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D350A3-902C-6374-B7A2-750E425E3E8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355264" y="4636368"/>
                  <a:ext cx="189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7C1FC3-4AC6-4B10-505E-DB42E26F1540}"/>
                    </a:ext>
                  </a:extLst>
                </p14:cNvPr>
                <p14:cNvContentPartPr/>
                <p14:nvPr/>
              </p14:nvContentPartPr>
              <p14:xfrm>
                <a:off x="10921464" y="5127768"/>
                <a:ext cx="181080" cy="185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7C1FC3-4AC6-4B10-505E-DB42E26F154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915344" y="5121648"/>
                  <a:ext cx="193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37DE25-11D1-3C4E-B1BA-A35511CE09CE}"/>
                    </a:ext>
                  </a:extLst>
                </p14:cNvPr>
                <p14:cNvContentPartPr/>
                <p14:nvPr/>
              </p14:nvContentPartPr>
              <p14:xfrm>
                <a:off x="11196144" y="5079168"/>
                <a:ext cx="186120" cy="169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37DE25-11D1-3C4E-B1BA-A35511CE09C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90024" y="5073048"/>
                  <a:ext cx="1983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37FC3C2-F429-1F4D-9588-511A010854F2}"/>
                    </a:ext>
                  </a:extLst>
                </p14:cNvPr>
                <p14:cNvContentPartPr/>
                <p14:nvPr/>
              </p14:nvContentPartPr>
              <p14:xfrm>
                <a:off x="11542824" y="5138928"/>
                <a:ext cx="106560" cy="140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37FC3C2-F429-1F4D-9588-511A010854F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536704" y="5132808"/>
                  <a:ext cx="118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3672898-5134-526D-1124-2082A94050A3}"/>
                    </a:ext>
                  </a:extLst>
                </p14:cNvPr>
                <p14:cNvContentPartPr/>
                <p14:nvPr/>
              </p14:nvContentPartPr>
              <p14:xfrm>
                <a:off x="11667384" y="5118408"/>
                <a:ext cx="46440" cy="8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3672898-5134-526D-1124-2082A94050A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61264" y="5112288"/>
                  <a:ext cx="58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CF7006-C3C5-3FF7-1A3D-C056A1C2CEF3}"/>
                    </a:ext>
                  </a:extLst>
                </p14:cNvPr>
                <p14:cNvContentPartPr/>
                <p14:nvPr/>
              </p14:nvContentPartPr>
              <p14:xfrm>
                <a:off x="11445984" y="5110128"/>
                <a:ext cx="388800" cy="380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CF7006-C3C5-3FF7-1A3D-C056A1C2CEF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439864" y="5104008"/>
                  <a:ext cx="401040" cy="39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0848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90C6D5-79BE-56AC-9DC9-68360E8D98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MDS: Given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500" dirty="0"/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500" dirty="0"/>
                  <a:t> such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90C6D5-79BE-56AC-9DC9-68360E8D9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blipFill>
                <a:blip r:embed="rId3"/>
                <a:stretch>
                  <a:fillRect l="-843" t="-101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509DE49-E9F2-F9FA-3877-80E0420353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2024" y="1401762"/>
                <a:ext cx="10739645" cy="2749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Insight: Suppose </a:t>
                </a:r>
                <a:r>
                  <a:rPr lang="en-US" b="1" dirty="0"/>
                  <a:t>z</a:t>
                </a:r>
                <a:r>
                  <a:rPr lang="en-US" dirty="0"/>
                  <a:t> exist so that equality holds,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Then we have the following [homework]: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509DE49-E9F2-F9FA-3877-80E042035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24" y="1401762"/>
                <a:ext cx="10739645" cy="2749592"/>
              </a:xfrm>
              <a:prstGeom prst="rect">
                <a:avLst/>
              </a:prstGeom>
              <a:blipFill>
                <a:blip r:embed="rId4"/>
                <a:stretch>
                  <a:fillRect l="-1181" t="-3687" r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7A0E71A-CCDF-BFFC-C28A-FA6F7EF06B24}"/>
              </a:ext>
            </a:extLst>
          </p:cNvPr>
          <p:cNvGrpSpPr/>
          <p:nvPr/>
        </p:nvGrpSpPr>
        <p:grpSpPr>
          <a:xfrm>
            <a:off x="2100840" y="4265006"/>
            <a:ext cx="1866118" cy="1832840"/>
            <a:chOff x="402336" y="4265436"/>
            <a:chExt cx="3054096" cy="27980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700F12-B7BF-CC5C-EB96-DEDF0C1DBA3D}"/>
                </a:ext>
              </a:extLst>
            </p:cNvPr>
            <p:cNvSpPr/>
            <p:nvPr/>
          </p:nvSpPr>
          <p:spPr>
            <a:xfrm>
              <a:off x="402336" y="4265436"/>
              <a:ext cx="3054096" cy="27980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26A2AEA-7250-54BE-2174-D6B36A75C296}"/>
                    </a:ext>
                  </a:extLst>
                </p:cNvPr>
                <p:cNvSpPr txBox="1"/>
                <p:nvPr/>
              </p:nvSpPr>
              <p:spPr>
                <a:xfrm>
                  <a:off x="646985" y="4560297"/>
                  <a:ext cx="2545079" cy="2208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Squared distance matrix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=[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𝑣𝑤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26A2AEA-7250-54BE-2174-D6B36A75C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985" y="4560297"/>
                  <a:ext cx="2545079" cy="2208343"/>
                </a:xfrm>
                <a:prstGeom prst="rect">
                  <a:avLst/>
                </a:prstGeom>
                <a:blipFill>
                  <a:blip r:embed="rId5"/>
                  <a:stretch>
                    <a:fillRect l="-4878" t="-1724" r="-2439" b="-4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EECA73-3D37-4FA9-27FB-19B0832841CF}"/>
              </a:ext>
            </a:extLst>
          </p:cNvPr>
          <p:cNvGrpSpPr/>
          <p:nvPr/>
        </p:nvGrpSpPr>
        <p:grpSpPr>
          <a:xfrm>
            <a:off x="4320164" y="4247472"/>
            <a:ext cx="1866118" cy="1832840"/>
            <a:chOff x="486558" y="3164705"/>
            <a:chExt cx="1866118" cy="18328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F9AB6CA-0358-96D8-6D83-B705C3C725C9}"/>
                </a:ext>
              </a:extLst>
            </p:cNvPr>
            <p:cNvSpPr/>
            <p:nvPr/>
          </p:nvSpPr>
          <p:spPr>
            <a:xfrm>
              <a:off x="486558" y="3164705"/>
              <a:ext cx="1866118" cy="18328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604DE93-2703-2FD5-C027-B538DD6E1E31}"/>
                    </a:ext>
                  </a:extLst>
                </p:cNvPr>
                <p:cNvSpPr txBox="1"/>
                <p:nvPr/>
              </p:nvSpPr>
              <p:spPr>
                <a:xfrm>
                  <a:off x="694063" y="3451882"/>
                  <a:ext cx="1555098" cy="12584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Centering matrix </a:t>
                  </a:r>
                  <a14:m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sz="22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604DE93-2703-2FD5-C027-B538DD6E1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063" y="3451882"/>
                  <a:ext cx="1555098" cy="1258486"/>
                </a:xfrm>
                <a:prstGeom prst="rect">
                  <a:avLst/>
                </a:prstGeom>
                <a:blipFill>
                  <a:blip r:embed="rId6"/>
                  <a:stretch>
                    <a:fillRect l="-4839" t="-4000" r="-8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5769F8-5F20-2E66-4E7B-22C75F666180}"/>
              </a:ext>
            </a:extLst>
          </p:cNvPr>
          <p:cNvGrpSpPr/>
          <p:nvPr/>
        </p:nvGrpSpPr>
        <p:grpSpPr>
          <a:xfrm>
            <a:off x="6701022" y="4247472"/>
            <a:ext cx="1866118" cy="2017149"/>
            <a:chOff x="486558" y="3164705"/>
            <a:chExt cx="1866118" cy="20171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4186C08-3FF9-29C5-4A81-943E0EEADEDE}"/>
                </a:ext>
              </a:extLst>
            </p:cNvPr>
            <p:cNvSpPr/>
            <p:nvPr/>
          </p:nvSpPr>
          <p:spPr>
            <a:xfrm>
              <a:off x="486558" y="3164705"/>
              <a:ext cx="1866118" cy="18328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48A9C27-6363-B51D-A39C-D5958BEE7BAF}"/>
                    </a:ext>
                  </a:extLst>
                </p:cNvPr>
                <p:cNvSpPr txBox="1"/>
                <p:nvPr/>
              </p:nvSpPr>
              <p:spPr>
                <a:xfrm>
                  <a:off x="504366" y="3390658"/>
                  <a:ext cx="1848310" cy="1791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Gram matrix </a:t>
                  </a:r>
                  <a14:m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𝒗𝒘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200" b="1" dirty="0"/>
                    <a:t> </a:t>
                  </a:r>
                  <a:r>
                    <a:rPr lang="en-US" sz="2200" dirty="0"/>
                    <a:t>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vw</m:t>
                          </m:r>
                        </m:sub>
                      </m:sSub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</m:oMath>
                  </a14:m>
                  <a:endParaRPr lang="en-US" sz="2200" b="1" dirty="0"/>
                </a:p>
                <a:p>
                  <a:endParaRPr lang="en-US" sz="2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48A9C27-6363-B51D-A39C-D5958BEE7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366" y="3390658"/>
                  <a:ext cx="1848310" cy="1791196"/>
                </a:xfrm>
                <a:prstGeom prst="rect">
                  <a:avLst/>
                </a:prstGeom>
                <a:blipFill>
                  <a:blip r:embed="rId7"/>
                  <a:stretch>
                    <a:fillRect l="-3401" t="-2817" r="-20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6113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06F97-EB10-E87B-4220-E3221C93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A3BDB4-8A77-8BFF-6C7D-9689DE5524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MDS: Given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500" dirty="0"/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500" dirty="0"/>
                  <a:t> such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A3BDB4-8A77-8BFF-6C7D-9689DE552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blipFill>
                <a:blip r:embed="rId3"/>
                <a:stretch>
                  <a:fillRect l="-843" t="-101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631F336-99AF-1D5F-3ACB-BF36D5B63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004" y="1206521"/>
                <a:ext cx="11902995" cy="34714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500" dirty="0"/>
                  <a:t>Insight: Suppose </a:t>
                </a:r>
                <a:r>
                  <a:rPr lang="en-US" sz="2500" b="1" dirty="0"/>
                  <a:t>z</a:t>
                </a:r>
                <a:r>
                  <a:rPr lang="en-US" sz="2500" dirty="0"/>
                  <a:t> exist </a:t>
                </a:r>
                <a:r>
                  <a:rPr lang="en-US" sz="2500" dirty="0" err="1"/>
                  <a:t>s.t.</a:t>
                </a:r>
                <a:r>
                  <a:rPr lang="en-US" sz="2500" dirty="0"/>
                  <a:t> equality holds,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500" b="1" dirty="0"/>
                  <a:t>. </a:t>
                </a:r>
                <a:r>
                  <a:rPr lang="en-US" sz="2500" dirty="0"/>
                  <a:t>Then: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500" dirty="0"/>
                  <a:t> 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r>
                  <a:rPr lang="en-US" sz="2500" dirty="0"/>
                  <a:t>Two facts: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By definition,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Gram matrix is positive semi-definite (PSD) so has </a:t>
                </a:r>
                <a:r>
                  <a:rPr lang="en-US" sz="2500" dirty="0" err="1"/>
                  <a:t>eigendecomposition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500" b="0" i="0" smtClean="0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sz="25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5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5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sz="2500" dirty="0"/>
              </a:p>
              <a:p>
                <a:pPr marL="0" indent="0">
                  <a:buNone/>
                </a:pPr>
                <a:r>
                  <a:rPr lang="en-US" sz="2500" b="1" dirty="0"/>
                  <a:t> -&gt;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500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1" i="0" smtClean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  <m:sup>
                        <m:r>
                          <a:rPr lang="en-US" sz="25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500" b="1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5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5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500" i="1" dirty="0">
                    <a:highlight>
                      <a:srgbClr val="FFFF00"/>
                    </a:highlight>
                  </a:rPr>
                  <a:t>[Proof: homework]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631F336-99AF-1D5F-3ACB-BF36D5B63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4" y="1206521"/>
                <a:ext cx="11902995" cy="3471496"/>
              </a:xfrm>
              <a:prstGeom prst="rect">
                <a:avLst/>
              </a:prstGeom>
              <a:blipFill>
                <a:blip r:embed="rId4"/>
                <a:stretch>
                  <a:fillRect l="-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7DABC54-AC5A-A1E2-0BAD-17DCA4BAA4DE}"/>
              </a:ext>
            </a:extLst>
          </p:cNvPr>
          <p:cNvGrpSpPr/>
          <p:nvPr/>
        </p:nvGrpSpPr>
        <p:grpSpPr>
          <a:xfrm>
            <a:off x="139518" y="5102086"/>
            <a:ext cx="7745525" cy="1678955"/>
            <a:chOff x="139518" y="4840851"/>
            <a:chExt cx="8829350" cy="192874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BE9DC9B-F094-8F91-9A97-3888E71DA21B}"/>
                </a:ext>
              </a:extLst>
            </p:cNvPr>
            <p:cNvGrpSpPr/>
            <p:nvPr/>
          </p:nvGrpSpPr>
          <p:grpSpPr>
            <a:xfrm>
              <a:off x="139518" y="4858385"/>
              <a:ext cx="1866118" cy="1832840"/>
              <a:chOff x="402336" y="4265436"/>
              <a:chExt cx="3054096" cy="279806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D661BE8-6601-EF38-8A12-D48155388839}"/>
                  </a:ext>
                </a:extLst>
              </p:cNvPr>
              <p:cNvSpPr/>
              <p:nvPr/>
            </p:nvSpPr>
            <p:spPr>
              <a:xfrm>
                <a:off x="402336" y="4265436"/>
                <a:ext cx="3054096" cy="27980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4B6DDEF-F4FB-9085-AA17-D0BF9DA6F7D9}"/>
                      </a:ext>
                    </a:extLst>
                  </p:cNvPr>
                  <p:cNvSpPr txBox="1"/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Squared distance matrix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𝑣𝑤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4B6DDEF-F4FB-9085-AA17-D0BF9DA6F7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04" t="-2105" b="-4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333507-CA3B-985D-28C8-8A681BE62211}"/>
                </a:ext>
              </a:extLst>
            </p:cNvPr>
            <p:cNvGrpSpPr/>
            <p:nvPr/>
          </p:nvGrpSpPr>
          <p:grpSpPr>
            <a:xfrm>
              <a:off x="2358842" y="4840851"/>
              <a:ext cx="1866118" cy="1832840"/>
              <a:chOff x="486558" y="3164705"/>
              <a:chExt cx="1866118" cy="183284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51D517-9796-203C-D4FB-8B6AC95FE1BC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A971AD5-43B8-53F2-BE27-2CEE58B494B1}"/>
                      </a:ext>
                    </a:extLst>
                  </p:cNvPr>
                  <p:cNvSpPr txBox="1"/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Centering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A971AD5-43B8-53F2-BE27-2CEE58B494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670" t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5888663-F376-25CA-26D9-3BDF0DC5E1D3}"/>
                </a:ext>
              </a:extLst>
            </p:cNvPr>
            <p:cNvGrpSpPr/>
            <p:nvPr/>
          </p:nvGrpSpPr>
          <p:grpSpPr>
            <a:xfrm>
              <a:off x="4739700" y="4840851"/>
              <a:ext cx="1866118" cy="1928742"/>
              <a:chOff x="486558" y="3164705"/>
              <a:chExt cx="1866118" cy="1928742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B71C0C6-A432-83C2-C454-A9A8C62E66F4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4F710E-0C32-1E64-52AC-7BF9AAA2A351}"/>
                      </a:ext>
                    </a:extLst>
                  </p:cNvPr>
                  <p:cNvSpPr txBox="1"/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Gram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𝒗𝒘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US" b="1" dirty="0"/>
                      <a:t> </a:t>
                    </a:r>
                    <a:r>
                      <a:rPr lang="en-US" dirty="0"/>
                      <a:t>where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vw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bSup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oMath>
                    </a14:m>
                    <a:endParaRPr lang="en-US" b="1" dirty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4F710E-0C32-1E64-52AC-7BF9AAA2A3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101" t="-17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D88B4DD-C1FB-EC09-244A-0A6C2F349F0B}"/>
                </a:ext>
              </a:extLst>
            </p:cNvPr>
            <p:cNvGrpSpPr/>
            <p:nvPr/>
          </p:nvGrpSpPr>
          <p:grpSpPr>
            <a:xfrm>
              <a:off x="7120558" y="5618555"/>
              <a:ext cx="1848310" cy="897340"/>
              <a:chOff x="486558" y="3164705"/>
              <a:chExt cx="1848310" cy="89734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5E3A861-2103-8E19-13C1-9CCC004AB9FD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48310" cy="897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7FD08D-DBF7-4434-7662-373452A9333B}"/>
                  </a:ext>
                </a:extLst>
              </p:cNvPr>
              <p:cNvSpPr txBox="1"/>
              <p:nvPr/>
            </p:nvSpPr>
            <p:spPr>
              <a:xfrm>
                <a:off x="504366" y="3228654"/>
                <a:ext cx="167433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Embedding matrix Z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305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9546-567C-2F13-0CAF-9D988BD1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8DDCE29-1DF2-6367-AB07-BB1898E649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MDS: Given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500" dirty="0"/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500" dirty="0"/>
                  <a:t> such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8DDCE29-1DF2-6367-AB07-BB1898E64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blipFill>
                <a:blip r:embed="rId3"/>
                <a:stretch>
                  <a:fillRect l="-843" t="-101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0CCD131-9F2E-8862-9B67-98A4651FFA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004" y="1206521"/>
                <a:ext cx="11902995" cy="34714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500" dirty="0"/>
                  <a:t>Suppose </a:t>
                </a:r>
                <a:r>
                  <a:rPr lang="en-US" sz="2500" b="1" dirty="0"/>
                  <a:t>z</a:t>
                </a:r>
                <a:r>
                  <a:rPr lang="en-US" sz="2500" dirty="0"/>
                  <a:t> exist </a:t>
                </a:r>
                <a:r>
                  <a:rPr lang="en-US" sz="2500" dirty="0" err="1"/>
                  <a:t>s.t.</a:t>
                </a:r>
                <a:r>
                  <a:rPr lang="en-US" sz="2500" dirty="0"/>
                  <a:t> equality holds,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500" b="1" dirty="0"/>
                  <a:t>. </a:t>
                </a:r>
                <a:r>
                  <a:rPr lang="en-US" sz="2500" dirty="0"/>
                  <a:t>Then: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500" dirty="0"/>
                  <a:t> 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r>
                  <a:rPr lang="en-US" sz="2500" dirty="0"/>
                  <a:t>Algorithm: 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500" b="0" i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5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Compute </a:t>
                </a:r>
                <a:r>
                  <a:rPr lang="en-US" sz="2500" dirty="0" err="1"/>
                  <a:t>eigendecomposition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sz="25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5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5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 of G 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Return </a:t>
                </a:r>
                <a14:m>
                  <m:oMath xmlns:m="http://schemas.openxmlformats.org/officeDocument/2006/math">
                    <m:r>
                      <a:rPr lang="en-US" sz="2500" b="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5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500" b="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5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500" b="0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500" b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0CCD131-9F2E-8862-9B67-98A4651FF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4" y="1206521"/>
                <a:ext cx="11902995" cy="3471496"/>
              </a:xfrm>
              <a:prstGeom prst="rect">
                <a:avLst/>
              </a:prstGeom>
              <a:blipFill>
                <a:blip r:embed="rId4"/>
                <a:stretch>
                  <a:fillRect l="-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60036BDD-41C0-28B5-1CEA-9799E184C0D8}"/>
              </a:ext>
            </a:extLst>
          </p:cNvPr>
          <p:cNvGrpSpPr/>
          <p:nvPr/>
        </p:nvGrpSpPr>
        <p:grpSpPr>
          <a:xfrm>
            <a:off x="139518" y="5102086"/>
            <a:ext cx="7745525" cy="1678955"/>
            <a:chOff x="139518" y="4840851"/>
            <a:chExt cx="8829350" cy="192874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56866BD-102F-5592-96E8-1FBFDBA7D893}"/>
                </a:ext>
              </a:extLst>
            </p:cNvPr>
            <p:cNvGrpSpPr/>
            <p:nvPr/>
          </p:nvGrpSpPr>
          <p:grpSpPr>
            <a:xfrm>
              <a:off x="139518" y="4858385"/>
              <a:ext cx="1866118" cy="1832840"/>
              <a:chOff x="402336" y="4265436"/>
              <a:chExt cx="3054096" cy="279806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3CBADF9-7BE1-A417-84CA-3147A1ED277F}"/>
                  </a:ext>
                </a:extLst>
              </p:cNvPr>
              <p:cNvSpPr/>
              <p:nvPr/>
            </p:nvSpPr>
            <p:spPr>
              <a:xfrm>
                <a:off x="402336" y="4265436"/>
                <a:ext cx="3054096" cy="27980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C8A4147-DAFC-03AF-B1D1-AC8A1F09B02F}"/>
                      </a:ext>
                    </a:extLst>
                  </p:cNvPr>
                  <p:cNvSpPr txBox="1"/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Squared distance matrix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𝑣𝑤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C8A4147-DAFC-03AF-B1D1-AC8A1F09B0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04" t="-2105" b="-4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6899F8-8A14-CA0D-1DE2-419AF169DF21}"/>
                </a:ext>
              </a:extLst>
            </p:cNvPr>
            <p:cNvGrpSpPr/>
            <p:nvPr/>
          </p:nvGrpSpPr>
          <p:grpSpPr>
            <a:xfrm>
              <a:off x="2358842" y="4840851"/>
              <a:ext cx="1866118" cy="1832840"/>
              <a:chOff x="486558" y="3164705"/>
              <a:chExt cx="1866118" cy="183284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D210B69-B08A-C724-98B9-C52132BEF455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4A7C6EC-FEE0-CEEE-0412-5474C8C744E4}"/>
                      </a:ext>
                    </a:extLst>
                  </p:cNvPr>
                  <p:cNvSpPr txBox="1"/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Centering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4A7C6EC-FEE0-CEEE-0412-5474C8C744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670" t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EF7A267-EF8F-9E8B-4AF9-C1DD5DEB92CC}"/>
                </a:ext>
              </a:extLst>
            </p:cNvPr>
            <p:cNvGrpSpPr/>
            <p:nvPr/>
          </p:nvGrpSpPr>
          <p:grpSpPr>
            <a:xfrm>
              <a:off x="4739700" y="4840851"/>
              <a:ext cx="1866118" cy="1928742"/>
              <a:chOff x="486558" y="3164705"/>
              <a:chExt cx="1866118" cy="1928742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3196BA8-5A5F-3324-4736-5E8C99B2B6B3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25E0D52-1A48-E7DA-19FF-0305E18DED09}"/>
                      </a:ext>
                    </a:extLst>
                  </p:cNvPr>
                  <p:cNvSpPr txBox="1"/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Gram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𝒗𝒘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US" b="1" dirty="0"/>
                      <a:t> </a:t>
                    </a:r>
                    <a:r>
                      <a:rPr lang="en-US" dirty="0"/>
                      <a:t>where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vw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bSup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oMath>
                    </a14:m>
                    <a:endParaRPr lang="en-US" b="1" dirty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25E0D52-1A48-E7DA-19FF-0305E18DE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101" t="-17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271CC2A-39BC-E28B-54FC-7C33AEAF5CB3}"/>
                </a:ext>
              </a:extLst>
            </p:cNvPr>
            <p:cNvGrpSpPr/>
            <p:nvPr/>
          </p:nvGrpSpPr>
          <p:grpSpPr>
            <a:xfrm>
              <a:off x="7120558" y="5618555"/>
              <a:ext cx="1848310" cy="897340"/>
              <a:chOff x="486558" y="3164705"/>
              <a:chExt cx="1848310" cy="89734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B8F0C6-2888-92E5-BC25-CBF28CFDD464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48310" cy="897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091ADE-BB90-D6F4-CBF0-7C23A8F65EE5}"/>
                  </a:ext>
                </a:extLst>
              </p:cNvPr>
              <p:cNvSpPr txBox="1"/>
              <p:nvPr/>
            </p:nvSpPr>
            <p:spPr>
              <a:xfrm>
                <a:off x="504366" y="3228654"/>
                <a:ext cx="167433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Embedding matrix Z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2955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B7DF-6976-CDB3-24CD-07050F95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C5092EE-4164-4F61-A5E4-A59CF5D6F9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MDS: Given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500" dirty="0"/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500" dirty="0"/>
                  <a:t> such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C5092EE-4164-4F61-A5E4-A59CF5D6F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blipFill>
                <a:blip r:embed="rId3"/>
                <a:stretch>
                  <a:fillRect l="-843" t="-101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9F865E1-DC38-441A-423B-C5A50CD4F9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004" y="1206521"/>
                <a:ext cx="11902995" cy="34714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500" dirty="0"/>
                  <a:t>Suppose </a:t>
                </a:r>
                <a:r>
                  <a:rPr lang="en-US" sz="2500" b="1" dirty="0"/>
                  <a:t>z</a:t>
                </a:r>
                <a:r>
                  <a:rPr lang="en-US" sz="2500" dirty="0"/>
                  <a:t> exist </a:t>
                </a:r>
                <a:r>
                  <a:rPr lang="en-US" sz="2500" dirty="0" err="1"/>
                  <a:t>s.t.</a:t>
                </a:r>
                <a:r>
                  <a:rPr lang="en-US" sz="2500" dirty="0"/>
                  <a:t> equality holds,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500" b="1" dirty="0"/>
                  <a:t>. </a:t>
                </a:r>
                <a:r>
                  <a:rPr lang="en-US" sz="2500" dirty="0"/>
                  <a:t>Then: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500" dirty="0"/>
                  <a:t> 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r>
                  <a:rPr lang="en-US" sz="2500" dirty="0"/>
                  <a:t>Algorithm: 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500" b="0" i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5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Compute </a:t>
                </a:r>
                <a:r>
                  <a:rPr lang="en-US" sz="2500" dirty="0" err="1"/>
                  <a:t>eigendecomposition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sz="25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5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5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 of G 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Return </a:t>
                </a:r>
                <a14:m>
                  <m:oMath xmlns:m="http://schemas.openxmlformats.org/officeDocument/2006/math">
                    <m:r>
                      <a:rPr lang="en-US" sz="2500" b="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5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500" b="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5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500" b="0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500" b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9F865E1-DC38-441A-423B-C5A50CD4F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4" y="1206521"/>
                <a:ext cx="11902995" cy="3471496"/>
              </a:xfrm>
              <a:prstGeom prst="rect">
                <a:avLst/>
              </a:prstGeom>
              <a:blipFill>
                <a:blip r:embed="rId4"/>
                <a:stretch>
                  <a:fillRect l="-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9A35BC5-8FA6-A220-A463-1858537924AA}"/>
              </a:ext>
            </a:extLst>
          </p:cNvPr>
          <p:cNvGrpSpPr/>
          <p:nvPr/>
        </p:nvGrpSpPr>
        <p:grpSpPr>
          <a:xfrm>
            <a:off x="139518" y="5102086"/>
            <a:ext cx="7745525" cy="1678955"/>
            <a:chOff x="139518" y="4840851"/>
            <a:chExt cx="8829350" cy="192874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3F047DF-9D89-9A18-1DC7-CE370DB72900}"/>
                </a:ext>
              </a:extLst>
            </p:cNvPr>
            <p:cNvGrpSpPr/>
            <p:nvPr/>
          </p:nvGrpSpPr>
          <p:grpSpPr>
            <a:xfrm>
              <a:off x="139518" y="4858385"/>
              <a:ext cx="1866118" cy="1832840"/>
              <a:chOff x="402336" y="4265436"/>
              <a:chExt cx="3054096" cy="279806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077E6A-4D50-29B6-DC46-ABBC0C32636E}"/>
                  </a:ext>
                </a:extLst>
              </p:cNvPr>
              <p:cNvSpPr/>
              <p:nvPr/>
            </p:nvSpPr>
            <p:spPr>
              <a:xfrm>
                <a:off x="402336" y="4265436"/>
                <a:ext cx="3054096" cy="27980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4F770426-D1A4-52C4-E4E1-B79424861F92}"/>
                      </a:ext>
                    </a:extLst>
                  </p:cNvPr>
                  <p:cNvSpPr txBox="1"/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Squared distance matrix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𝑣𝑤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4F770426-D1A4-52C4-E4E1-B79424861F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04" t="-2105" b="-4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9D20BE3-26A1-471E-CF0C-559660F75AF3}"/>
                </a:ext>
              </a:extLst>
            </p:cNvPr>
            <p:cNvGrpSpPr/>
            <p:nvPr/>
          </p:nvGrpSpPr>
          <p:grpSpPr>
            <a:xfrm>
              <a:off x="2358842" y="4840851"/>
              <a:ext cx="1866118" cy="1832840"/>
              <a:chOff x="486558" y="3164705"/>
              <a:chExt cx="1866118" cy="183284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FD9E905-D18F-1E90-FAE4-F7D1C49E3B80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ACA869C-12C9-07D8-DE53-3E8C4825538B}"/>
                      </a:ext>
                    </a:extLst>
                  </p:cNvPr>
                  <p:cNvSpPr txBox="1"/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Centering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ACA869C-12C9-07D8-DE53-3E8C482553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670" t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6CDA5F7-FF22-9E43-CC0D-0C0E0C15DE09}"/>
                </a:ext>
              </a:extLst>
            </p:cNvPr>
            <p:cNvGrpSpPr/>
            <p:nvPr/>
          </p:nvGrpSpPr>
          <p:grpSpPr>
            <a:xfrm>
              <a:off x="4739700" y="4840851"/>
              <a:ext cx="1866118" cy="1928742"/>
              <a:chOff x="486558" y="3164705"/>
              <a:chExt cx="1866118" cy="1928742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5FEB5BF-8134-6452-A785-A25AC783553C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DD121E4-FD5D-E43E-63F5-09655668E6F6}"/>
                      </a:ext>
                    </a:extLst>
                  </p:cNvPr>
                  <p:cNvSpPr txBox="1"/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Gram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𝒗𝒘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US" b="1" dirty="0"/>
                      <a:t> </a:t>
                    </a:r>
                    <a:r>
                      <a:rPr lang="en-US" dirty="0"/>
                      <a:t>where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vw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bSup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oMath>
                    </a14:m>
                    <a:endParaRPr lang="en-US" b="1" dirty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DD121E4-FD5D-E43E-63F5-09655668E6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101" t="-17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27B2C1E-F9CD-FEEF-4FDB-6E6FC5C5E9D1}"/>
                </a:ext>
              </a:extLst>
            </p:cNvPr>
            <p:cNvGrpSpPr/>
            <p:nvPr/>
          </p:nvGrpSpPr>
          <p:grpSpPr>
            <a:xfrm>
              <a:off x="7120558" y="5618555"/>
              <a:ext cx="1848310" cy="897340"/>
              <a:chOff x="486558" y="3164705"/>
              <a:chExt cx="1848310" cy="89734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EC3169-DBE0-483F-731D-D08924D3E483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48310" cy="897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99135A-D663-3B2A-BBE5-9BDD1856F304}"/>
                  </a:ext>
                </a:extLst>
              </p:cNvPr>
              <p:cNvSpPr txBox="1"/>
              <p:nvPr/>
            </p:nvSpPr>
            <p:spPr>
              <a:xfrm>
                <a:off x="504366" y="3228654"/>
                <a:ext cx="167433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Embedding matrix Z</a:t>
                </a:r>
                <a:endParaRPr lang="en-US" dirty="0"/>
              </a:p>
            </p:txBody>
          </p:sp>
        </p:grp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A361C9-4970-AE90-88CD-2AE7BC6A420A}"/>
              </a:ext>
            </a:extLst>
          </p:cNvPr>
          <p:cNvCxnSpPr>
            <a:cxnSpLocks/>
          </p:cNvCxnSpPr>
          <p:nvPr/>
        </p:nvCxnSpPr>
        <p:spPr>
          <a:xfrm flipH="1" flipV="1">
            <a:off x="6356563" y="1653208"/>
            <a:ext cx="932133" cy="128906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71DDA5-DB4D-C7BD-1C05-D6D6F36BC3CF}"/>
              </a:ext>
            </a:extLst>
          </p:cNvPr>
          <p:cNvSpPr txBox="1"/>
          <p:nvPr/>
        </p:nvSpPr>
        <p:spPr>
          <a:xfrm>
            <a:off x="7288696" y="2850347"/>
            <a:ext cx="3885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What if this does not hold??</a:t>
            </a:r>
          </a:p>
        </p:txBody>
      </p:sp>
    </p:spTree>
    <p:extLst>
      <p:ext uri="{BB962C8B-B14F-4D97-AF65-F5344CB8AC3E}">
        <p14:creationId xmlns:p14="http://schemas.microsoft.com/office/powerpoint/2010/main" val="4096944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8181-73C2-9EAB-EB68-E90E4596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7BB400F-6E0C-DF98-2838-14B2B98C6B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MDS: Given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500" dirty="0"/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500" dirty="0"/>
                  <a:t> such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i="1" smtClean="0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5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5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7BB400F-6E0C-DF98-2838-14B2B98C6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42105"/>
                <a:ext cx="10515600" cy="722313"/>
              </a:xfrm>
              <a:prstGeom prst="rect">
                <a:avLst/>
              </a:prstGeom>
              <a:blipFill>
                <a:blip r:embed="rId3"/>
                <a:stretch>
                  <a:fillRect l="-843" t="-101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70A0C76-C9EA-566F-E642-764B1D46AF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004" y="1206521"/>
                <a:ext cx="11902995" cy="28602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500" dirty="0"/>
                  <a:t>MDS algorithm: 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500" b="0" i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5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500" dirty="0"/>
                  <a:t> be matrix of top m eigenvectors of G,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50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5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500" dirty="0"/>
                  <a:t> be diagonal matrix of top m eigenvalues of G</a:t>
                </a:r>
              </a:p>
              <a:p>
                <a:pPr lvl="1"/>
                <a:r>
                  <a:rPr lang="en-US" sz="2100" dirty="0"/>
                  <a:t>m is number of embedding dimensions (i.e. number of entries in each </a:t>
                </a:r>
                <a:r>
                  <a:rPr lang="en-US" sz="2100" b="1" dirty="0" err="1"/>
                  <a:t>z</a:t>
                </a:r>
                <a:r>
                  <a:rPr lang="en-US" sz="2100" baseline="-25000" dirty="0" err="1"/>
                  <a:t>v</a:t>
                </a:r>
                <a:r>
                  <a:rPr lang="en-US" sz="2100" dirty="0"/>
                  <a:t>)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Return </a:t>
                </a:r>
                <a14:m>
                  <m:oMath xmlns:m="http://schemas.openxmlformats.org/officeDocument/2006/math">
                    <m:r>
                      <a:rPr lang="en-US" sz="2500" b="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5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5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5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500" b="0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500" b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70A0C76-C9EA-566F-E642-764B1D46A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4" y="1206521"/>
                <a:ext cx="11902995" cy="2860215"/>
              </a:xfrm>
              <a:prstGeom prst="rect">
                <a:avLst/>
              </a:prstGeom>
              <a:blipFill>
                <a:blip r:embed="rId4"/>
                <a:stretch>
                  <a:fillRect l="-852" t="-3540" b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F171A9B-8D4B-9B24-7068-FFD43B13DA97}"/>
              </a:ext>
            </a:extLst>
          </p:cNvPr>
          <p:cNvSpPr txBox="1">
            <a:spLocks/>
          </p:cNvSpPr>
          <p:nvPr/>
        </p:nvSpPr>
        <p:spPr>
          <a:xfrm>
            <a:off x="270654" y="4278485"/>
            <a:ext cx="11902995" cy="6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dirty="0">
                <a:solidFill>
                  <a:srgbClr val="C00000"/>
                </a:solidFill>
              </a:rPr>
              <a:t>Number m of embedding dimensions is hyperparameter – chosen by user!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3CED02E-2065-E6DC-27D3-1CDB89B604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0654" y="7041831"/>
                <a:ext cx="11902995" cy="6118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500" dirty="0">
                    <a:solidFill>
                      <a:srgbClr val="C00000"/>
                    </a:solidFill>
                  </a:rPr>
                  <a:t>Homework: MDS with Euclidean distances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en-US" sz="2500" dirty="0">
                    <a:solidFill>
                      <a:srgbClr val="C00000"/>
                    </a:solidFill>
                  </a:rPr>
                  <a:t>) = PCA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3CED02E-2065-E6DC-27D3-1CDB89B60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54" y="7041831"/>
                <a:ext cx="11902995" cy="611852"/>
              </a:xfrm>
              <a:prstGeom prst="rect">
                <a:avLst/>
              </a:prstGeom>
              <a:blipFill>
                <a:blip r:embed="rId5"/>
                <a:stretch>
                  <a:fillRect l="-853" t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F1AE34F-7E88-F7B8-A0AA-A672C6F1F394}"/>
              </a:ext>
            </a:extLst>
          </p:cNvPr>
          <p:cNvGrpSpPr/>
          <p:nvPr/>
        </p:nvGrpSpPr>
        <p:grpSpPr>
          <a:xfrm>
            <a:off x="139518" y="5102086"/>
            <a:ext cx="7745525" cy="1678955"/>
            <a:chOff x="139518" y="4840851"/>
            <a:chExt cx="8829350" cy="19287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066F00-1E2B-63DD-F662-0915DCFFBD35}"/>
                </a:ext>
              </a:extLst>
            </p:cNvPr>
            <p:cNvGrpSpPr/>
            <p:nvPr/>
          </p:nvGrpSpPr>
          <p:grpSpPr>
            <a:xfrm>
              <a:off x="139518" y="4858385"/>
              <a:ext cx="1866118" cy="1832840"/>
              <a:chOff x="402336" y="4265436"/>
              <a:chExt cx="3054096" cy="2798064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E434E1F-52EB-13A5-E170-79A1BF9E1D0A}"/>
                  </a:ext>
                </a:extLst>
              </p:cNvPr>
              <p:cNvSpPr/>
              <p:nvPr/>
            </p:nvSpPr>
            <p:spPr>
              <a:xfrm>
                <a:off x="402336" y="4265436"/>
                <a:ext cx="3054096" cy="27980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A4CCAC4-3381-FD2C-0BE4-B687A9913388}"/>
                      </a:ext>
                    </a:extLst>
                  </p:cNvPr>
                  <p:cNvSpPr txBox="1"/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Squared distance matrix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𝑣𝑤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A4CCAC4-3381-FD2C-0BE4-B687A99133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985" y="4560298"/>
                    <a:ext cx="2545078" cy="210507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704" t="-2105" b="-4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C8C23E9-8832-4251-8FCB-BD348A5AFA47}"/>
                </a:ext>
              </a:extLst>
            </p:cNvPr>
            <p:cNvGrpSpPr/>
            <p:nvPr/>
          </p:nvGrpSpPr>
          <p:grpSpPr>
            <a:xfrm>
              <a:off x="2358842" y="4840851"/>
              <a:ext cx="1866118" cy="1832840"/>
              <a:chOff x="486558" y="3164705"/>
              <a:chExt cx="1866118" cy="183284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13C90D3-9EE6-2FF6-1790-EC664546F4F9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6941CE9-4007-DD05-205E-60BDDB13F34D}"/>
                      </a:ext>
                    </a:extLst>
                  </p:cNvPr>
                  <p:cNvSpPr txBox="1"/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Centering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6941CE9-4007-DD05-205E-60BDDB13F3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063" y="3451882"/>
                    <a:ext cx="1555099" cy="12021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670" t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CAD6B70-DCFC-0BF7-95D0-80866CF8B352}"/>
                </a:ext>
              </a:extLst>
            </p:cNvPr>
            <p:cNvGrpSpPr/>
            <p:nvPr/>
          </p:nvGrpSpPr>
          <p:grpSpPr>
            <a:xfrm>
              <a:off x="4739700" y="4840851"/>
              <a:ext cx="1866118" cy="1928742"/>
              <a:chOff x="486558" y="3164705"/>
              <a:chExt cx="1866118" cy="192874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997C16F-5949-D67F-C1EF-6EBCEED133FB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66118" cy="183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D990628-0650-BB6B-4C6F-0C9D87B77365}"/>
                      </a:ext>
                    </a:extLst>
                  </p:cNvPr>
                  <p:cNvSpPr txBox="1"/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Gram matrix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𝒗𝒘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US" b="1" dirty="0"/>
                      <a:t> </a:t>
                    </a:r>
                    <a:r>
                      <a:rPr lang="en-US" dirty="0"/>
                      <a:t>where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vw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bSup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oMath>
                    </a14:m>
                    <a:endParaRPr lang="en-US" b="1" dirty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D990628-0650-BB6B-4C6F-0C9D87B773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366" y="3390658"/>
                    <a:ext cx="1848310" cy="170278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101" t="-17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165CF0A-F49A-7C05-E6B1-94ABEB62D288}"/>
                </a:ext>
              </a:extLst>
            </p:cNvPr>
            <p:cNvGrpSpPr/>
            <p:nvPr/>
          </p:nvGrpSpPr>
          <p:grpSpPr>
            <a:xfrm>
              <a:off x="7120558" y="5618555"/>
              <a:ext cx="1848310" cy="897340"/>
              <a:chOff x="486558" y="3164705"/>
              <a:chExt cx="1848310" cy="89734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7499BD9-F279-57C0-FD84-31851108BA0C}"/>
                  </a:ext>
                </a:extLst>
              </p:cNvPr>
              <p:cNvSpPr/>
              <p:nvPr/>
            </p:nvSpPr>
            <p:spPr>
              <a:xfrm>
                <a:off x="486558" y="3164705"/>
                <a:ext cx="1848310" cy="897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C8C582-724A-0E64-6D56-5F28B7007CA5}"/>
                  </a:ext>
                </a:extLst>
              </p:cNvPr>
              <p:cNvSpPr txBox="1"/>
              <p:nvPr/>
            </p:nvSpPr>
            <p:spPr>
              <a:xfrm>
                <a:off x="504366" y="3228654"/>
                <a:ext cx="167433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Embedding matrix Z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0564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DFD2-C48E-6498-992D-C304976D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is special case of MDS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B20926-1BAF-A414-C1F7-CD8392784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PCA = MDS with Euclidean distances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sz="12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Why?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i.e. the matrix you take the top eigenvectors of in PCA</a:t>
                </a:r>
              </a:p>
              <a:p>
                <a:pPr marL="0" indent="0">
                  <a:buNone/>
                </a:pPr>
                <a:r>
                  <a:rPr lang="en-US" i="1" dirty="0"/>
                  <a:t>Proof: homework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B20926-1BAF-A414-C1F7-CD8392784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20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3A44D0-BD2F-AF70-42BC-82BE7F58A1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011" y="4076700"/>
                <a:ext cx="10965977" cy="25527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200" dirty="0"/>
                  <a:t>MDS algorithm: </a:t>
                </a:r>
              </a:p>
              <a:p>
                <a:pPr marL="457200" indent="-457200">
                  <a:buAutoNum type="arabicPeriod"/>
                </a:pPr>
                <a:r>
                  <a:rPr lang="en-US" sz="2200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marL="457200" indent="-457200">
                  <a:buAutoNum type="arabicPeriod"/>
                </a:pPr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200" dirty="0"/>
                  <a:t> be matrix of top m eigenvectors of G,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200" dirty="0"/>
                  <a:t> be diagonal matrix of top m eigenvalues of G</a:t>
                </a:r>
              </a:p>
              <a:p>
                <a:pPr lvl="1"/>
                <a:r>
                  <a:rPr lang="en-US" sz="2200" dirty="0"/>
                  <a:t>m is number of embedding dimensions (i.e. number of entries in each </a:t>
                </a:r>
                <a:r>
                  <a:rPr lang="en-US" sz="2200" b="1" dirty="0" err="1"/>
                  <a:t>z</a:t>
                </a:r>
                <a:r>
                  <a:rPr lang="en-US" sz="2200" baseline="-25000" dirty="0" err="1"/>
                  <a:t>v</a:t>
                </a:r>
                <a:r>
                  <a:rPr lang="en-US" sz="2200" dirty="0"/>
                  <a:t>)</a:t>
                </a:r>
              </a:p>
              <a:p>
                <a:pPr marL="457200" indent="-457200">
                  <a:buAutoNum type="arabicPeriod"/>
                </a:pPr>
                <a:r>
                  <a:rPr lang="en-US" sz="2200" dirty="0"/>
                  <a:t>Return </a:t>
                </a:r>
                <a14:m>
                  <m:oMath xmlns:m="http://schemas.openxmlformats.org/officeDocument/2006/math">
                    <m:r>
                      <a:rPr lang="en-US" sz="2200" b="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200" b="0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200" b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3A44D0-BD2F-AF70-42BC-82BE7F58A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11" y="4076700"/>
                <a:ext cx="10965977" cy="2552700"/>
              </a:xfrm>
              <a:prstGeom prst="rect">
                <a:avLst/>
              </a:prstGeom>
              <a:blipFill>
                <a:blip r:embed="rId3"/>
                <a:stretch>
                  <a:fillRect l="-809" t="-2463" b="-39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340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F372-F4C1-4F45-8979-E7BF827F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ISOMAP = MDS with graph-based distances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CA667-73A7-F338-5A4A-F684766E4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558" y="1325563"/>
            <a:ext cx="5885295" cy="53867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181D30-FDDB-37EF-D7C2-F96E8F36962C}"/>
              </a:ext>
            </a:extLst>
          </p:cNvPr>
          <p:cNvSpPr txBox="1"/>
          <p:nvPr/>
        </p:nvSpPr>
        <p:spPr>
          <a:xfrm>
            <a:off x="457200" y="1884219"/>
            <a:ext cx="20496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BF2A8-EAD9-1D89-53CA-66E62DBB444F}"/>
              </a:ext>
            </a:extLst>
          </p:cNvPr>
          <p:cNvSpPr txBox="1"/>
          <p:nvPr/>
        </p:nvSpPr>
        <p:spPr>
          <a:xfrm>
            <a:off x="329295" y="3498732"/>
            <a:ext cx="20781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PCA 2-D projection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CF858-C856-7DDA-D99B-3A79D4702485}"/>
              </a:ext>
            </a:extLst>
          </p:cNvPr>
          <p:cNvSpPr txBox="1"/>
          <p:nvPr/>
        </p:nvSpPr>
        <p:spPr>
          <a:xfrm>
            <a:off x="309562" y="5159412"/>
            <a:ext cx="23347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ISOMAP  2-D projection</a:t>
            </a:r>
          </a:p>
        </p:txBody>
      </p:sp>
    </p:spTree>
    <p:extLst>
      <p:ext uri="{BB962C8B-B14F-4D97-AF65-F5344CB8AC3E}">
        <p14:creationId xmlns:p14="http://schemas.microsoft.com/office/powerpoint/2010/main" val="3207655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0B65-16BA-0ED1-9963-0F9B2317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099"/>
            <a:ext cx="12191999" cy="1325563"/>
          </a:xfrm>
        </p:spPr>
        <p:txBody>
          <a:bodyPr/>
          <a:lstStyle/>
          <a:p>
            <a:r>
              <a:rPr lang="en-US" dirty="0"/>
              <a:t>Major challenge of MDS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66A9-8BBE-7F50-F6E6-F20C5C048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23" y="1451226"/>
            <a:ext cx="11200191" cy="7625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i="1" dirty="0"/>
              <a:t>What if graph distances (shortest path distance) don’t show the full picture?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0D914-BEFA-F5B7-B72F-8CFF0B2CE654}"/>
              </a:ext>
            </a:extLst>
          </p:cNvPr>
          <p:cNvSpPr txBox="1"/>
          <p:nvPr/>
        </p:nvSpPr>
        <p:spPr>
          <a:xfrm>
            <a:off x="396739" y="2027365"/>
            <a:ext cx="54237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Case 1:</a:t>
            </a:r>
            <a:r>
              <a:rPr lang="en-US" sz="2500" dirty="0"/>
              <a:t> A and B </a:t>
            </a:r>
            <a:r>
              <a:rPr lang="en-US" sz="2500" i="1" dirty="0"/>
              <a:t>are</a:t>
            </a:r>
            <a:r>
              <a:rPr lang="en-US" sz="2500" dirty="0"/>
              <a:t> connected… but likely not that related </a:t>
            </a:r>
          </a:p>
          <a:p>
            <a:r>
              <a:rPr lang="en-US" sz="2500" dirty="0"/>
              <a:t>Few paths from A -&gt; 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70D75C-EEAD-6B4D-6BF0-AE7B425D5D75}"/>
              </a:ext>
            </a:extLst>
          </p:cNvPr>
          <p:cNvSpPr txBox="1"/>
          <p:nvPr/>
        </p:nvSpPr>
        <p:spPr>
          <a:xfrm>
            <a:off x="2582398" y="3656574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1116A99-B09F-CE57-7FC5-CEC0081E0CAE}"/>
              </a:ext>
            </a:extLst>
          </p:cNvPr>
          <p:cNvGrpSpPr/>
          <p:nvPr/>
        </p:nvGrpSpPr>
        <p:grpSpPr>
          <a:xfrm>
            <a:off x="686509" y="3263814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E7FD46C3-F0D1-CB32-ECF8-89FE63F2A5E8}"/>
              </a:ext>
            </a:extLst>
          </p:cNvPr>
          <p:cNvSpPr txBox="1"/>
          <p:nvPr/>
        </p:nvSpPr>
        <p:spPr>
          <a:xfrm>
            <a:off x="3720615" y="3656574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06842A-6D52-D7A6-9C0C-42950EEA4992}"/>
              </a:ext>
            </a:extLst>
          </p:cNvPr>
          <p:cNvGrpSpPr/>
          <p:nvPr/>
        </p:nvGrpSpPr>
        <p:grpSpPr>
          <a:xfrm>
            <a:off x="8416087" y="3438935"/>
            <a:ext cx="2838240" cy="26348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388033F-DD6A-87C2-15ED-B6FA93BA2308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388033F-DD6A-87C2-15ED-B6FA93BA230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E577E5-400F-96DC-D596-0D107A39472B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E577E5-400F-96DC-D596-0D107A39472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AAC60F-8D47-D7E4-0081-8A9614B6B7BC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AAC60F-8D47-D7E4-0081-8A9614B6B7B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A8425E-BCB3-E59B-12F0-BD95EF75FDE5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A8425E-BCB3-E59B-12F0-BD95EF75FDE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579162-A63D-D8A7-4E5F-2B2BAECAB3E1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579162-A63D-D8A7-4E5F-2B2BAECAB3E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25875B-B13E-22EE-9F25-FD28D0F1CF6B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25875B-B13E-22EE-9F25-FD28D0F1CF6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68F6D1-87F4-C54D-7A1B-7C249C333825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68F6D1-87F4-C54D-7A1B-7C249C33382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7BC211-CC6A-4C26-0958-C3F557979C7B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7BC211-CC6A-4C26-0958-C3F557979C7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C2CA3F-6824-84BB-1960-E8908F11CB7F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C2CA3F-6824-84BB-1960-E8908F11CB7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88E551-0D36-A681-99E0-94281745C110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88E551-0D36-A681-99E0-94281745C11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FE408E-7597-3B98-EF38-F6BA455850F0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FE408E-7597-3B98-EF38-F6BA455850F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3BFB33-9757-5DFD-742F-3AD4A2EBCE7B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3BFB33-9757-5DFD-742F-3AD4A2EBCE7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E2C48ED-2B5D-3231-B311-CF7E55F3F5B9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E2C48ED-2B5D-3231-B311-CF7E55F3F5B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E45CFE-5F9C-D198-205F-8E586452EB42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E45CFE-5F9C-D198-205F-8E586452EB4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AD5B3D6-EB2D-8B38-2890-9DDFE0C55E7C}"/>
              </a:ext>
            </a:extLst>
          </p:cNvPr>
          <p:cNvSpPr txBox="1"/>
          <p:nvPr/>
        </p:nvSpPr>
        <p:spPr>
          <a:xfrm>
            <a:off x="8077405" y="3638417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A2FA96-8C30-DFA8-B347-A81FAA200CFC}"/>
              </a:ext>
            </a:extLst>
          </p:cNvPr>
          <p:cNvSpPr txBox="1"/>
          <p:nvPr/>
        </p:nvSpPr>
        <p:spPr>
          <a:xfrm>
            <a:off x="11059747" y="348805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7729DE-BFE2-7CD3-0EED-59E63488964C}"/>
              </a:ext>
            </a:extLst>
          </p:cNvPr>
          <p:cNvSpPr txBox="1"/>
          <p:nvPr/>
        </p:nvSpPr>
        <p:spPr>
          <a:xfrm>
            <a:off x="6612142" y="1971400"/>
            <a:ext cx="54237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Case 2:</a:t>
            </a:r>
            <a:r>
              <a:rPr lang="en-US" sz="2500" dirty="0"/>
              <a:t> A and B </a:t>
            </a:r>
            <a:r>
              <a:rPr lang="en-US" sz="2500" i="1" dirty="0"/>
              <a:t>are not </a:t>
            </a:r>
            <a:r>
              <a:rPr lang="en-US" sz="2500" dirty="0"/>
              <a:t>connected… but likely related</a:t>
            </a:r>
          </a:p>
          <a:p>
            <a:r>
              <a:rPr lang="en-US" sz="2500" dirty="0"/>
              <a:t>Many paths from A -&gt; 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03F31B-00BF-B024-9CA4-11761450798E}"/>
              </a:ext>
            </a:extLst>
          </p:cNvPr>
          <p:cNvSpPr txBox="1"/>
          <p:nvPr/>
        </p:nvSpPr>
        <p:spPr>
          <a:xfrm>
            <a:off x="2291323" y="6341848"/>
            <a:ext cx="68728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i="1" dirty="0"/>
              <a:t>Next time: using “random walks” instead</a:t>
            </a:r>
          </a:p>
        </p:txBody>
      </p:sp>
    </p:spTree>
    <p:extLst>
      <p:ext uri="{BB962C8B-B14F-4D97-AF65-F5344CB8AC3E}">
        <p14:creationId xmlns:p14="http://schemas.microsoft.com/office/powerpoint/2010/main" val="262749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1350</Words>
  <Application>Microsoft Macintosh PowerPoint</Application>
  <PresentationFormat>Widescreen</PresentationFormat>
  <Paragraphs>177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Office Theme</vt:lpstr>
      <vt:lpstr>Manifold learning + graphs</vt:lpstr>
      <vt:lpstr>So far: dimensionality reduction methods to uncover “low-dimensional structure” in data</vt:lpstr>
      <vt:lpstr>Manifolds: mathematical framework for modeling “low dimensional structure”</vt:lpstr>
      <vt:lpstr>Distances are preserved “locally” in manifold</vt:lpstr>
      <vt:lpstr>In a manifold, distances are not preserved globally</vt:lpstr>
      <vt:lpstr>Another way to think about manifolds: maps</vt:lpstr>
      <vt:lpstr>Another way to think about manifolds: maps</vt:lpstr>
      <vt:lpstr>PowerPoint Presentation</vt:lpstr>
      <vt:lpstr>“Canonical” example: Swiss roll</vt:lpstr>
      <vt:lpstr>PowerPoint Presentation</vt:lpstr>
      <vt:lpstr>PowerPoint Presentation</vt:lpstr>
      <vt:lpstr>PowerPoint Presentation</vt:lpstr>
      <vt:lpstr>Graphs</vt:lpstr>
      <vt:lpstr>Useful definitions for graphs [see board]</vt:lpstr>
      <vt:lpstr>Graphs are used to represent manifold structure</vt:lpstr>
      <vt:lpstr>Common graph constructions</vt:lpstr>
      <vt:lpstr>Multidimensional scaling (MDS)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PCA is special case of MDS</vt:lpstr>
      <vt:lpstr>ISOMAP = MDS with graph-based distances</vt:lpstr>
      <vt:lpstr>Major challenge of MDS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11</cp:revision>
  <dcterms:created xsi:type="dcterms:W3CDTF">2026-08-18T14:46:36Z</dcterms:created>
  <dcterms:modified xsi:type="dcterms:W3CDTF">2026-10-06T19:11:03Z</dcterms:modified>
</cp:coreProperties>
</file>
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420" r:id="rId3"/>
    <p:sldId id="530" r:id="rId4"/>
    <p:sldId id="502" r:id="rId5"/>
    <p:sldId id="504" r:id="rId6"/>
    <p:sldId id="489" r:id="rId7"/>
    <p:sldId id="505" r:id="rId8"/>
    <p:sldId id="490" r:id="rId9"/>
    <p:sldId id="492" r:id="rId10"/>
    <p:sldId id="493" r:id="rId11"/>
    <p:sldId id="494" r:id="rId12"/>
    <p:sldId id="495" r:id="rId13"/>
    <p:sldId id="491" r:id="rId14"/>
    <p:sldId id="496" r:id="rId15"/>
    <p:sldId id="531" r:id="rId16"/>
    <p:sldId id="534" r:id="rId17"/>
    <p:sldId id="532" r:id="rId18"/>
    <p:sldId id="533" r:id="rId19"/>
    <p:sldId id="535" r:id="rId20"/>
    <p:sldId id="536" r:id="rId21"/>
    <p:sldId id="543" r:id="rId22"/>
    <p:sldId id="537" r:id="rId23"/>
    <p:sldId id="49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6C10A64-33BA-DC4E-9A12-ACAAB8FB002E}">
          <p14:sldIdLst>
            <p14:sldId id="256"/>
            <p14:sldId id="420"/>
            <p14:sldId id="530"/>
          </p14:sldIdLst>
        </p14:section>
        <p14:section name="kmeans" id="{936FC964-9353-304A-A177-C7B9B16DA880}">
          <p14:sldIdLst>
            <p14:sldId id="502"/>
            <p14:sldId id="504"/>
            <p14:sldId id="489"/>
            <p14:sldId id="505"/>
            <p14:sldId id="490"/>
            <p14:sldId id="492"/>
            <p14:sldId id="493"/>
            <p14:sldId id="494"/>
            <p14:sldId id="495"/>
            <p14:sldId id="491"/>
            <p14:sldId id="496"/>
            <p14:sldId id="531"/>
            <p14:sldId id="534"/>
            <p14:sldId id="532"/>
            <p14:sldId id="533"/>
            <p14:sldId id="535"/>
            <p14:sldId id="536"/>
            <p14:sldId id="543"/>
            <p14:sldId id="537"/>
            <p14:sldId id="497"/>
          </p14:sldIdLst>
        </p14:section>
        <p14:section name="Untitled Section" id="{CA58BFA8-793F-114C-9710-FDC6CEBFD28E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69"/>
  </p:normalViewPr>
  <p:slideViewPr>
    <p:cSldViewPr snapToGrid="0">
      <p:cViewPr varScale="1">
        <p:scale>
          <a:sx n="100" d="100"/>
          <a:sy n="100" d="100"/>
        </p:scale>
        <p:origin x="1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5FB8C-E482-023E-0088-EF220B309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DF6C0-8A0F-05D5-5245-0B299EF4D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21075-37C7-46AF-E22C-CD297E97C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D3270-33E4-78CF-B2A7-1C671D339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30CD7-C428-D8F0-62E6-4809B66D4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73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66C42-BB29-52C3-3EB5-FAD9EB237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24076-65F3-92B1-7B72-136D9DAA3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3F003-A1BF-30AE-39C6-9224C5DC3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67F93-ABF6-910D-2741-E662BF80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8F2D3-4F70-A780-3557-BE4111A88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98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913F-ABDC-559D-0F01-CD067233B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123F3-BBCF-90E4-3AEC-6B477AE13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A347D-2BDE-1340-F91B-BAA8B8EBC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8B123-9334-A701-BC8D-0864571E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19F42-42A8-BF72-41E7-27FA96F5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94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AC983-C78A-445F-DDF0-A2D1552AF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2A4C9-6793-AE96-AFF4-86B7E72D1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8BD0F-8187-4868-055E-17147B6CF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8C207-9BDD-434A-CA0F-2ED76B909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D4E41-4E9C-FBC4-7A6D-3A31CF92D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6DCAB-D4D9-6F16-499E-AC7CB8670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42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E959-5E64-F6C0-F67A-690E5444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78FE6-A41F-66E0-D8EC-326CBBFDB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E8BB1-2D1D-8CAF-55C9-24186D3DD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26353D-8E65-DE2F-03B6-0E118A30D7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0AE9F-02BA-3C9C-3B3D-2B20E7471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ACD8A3-3219-015E-9255-8C0840CB7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9332BC-8F2B-A869-5984-9E8440EE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86E279-7227-5FA4-6186-7E96BD470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99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00E72-538E-611B-5B92-AC61B2004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7C5E6B-0D9C-5934-9366-79BA6211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0D5A2-9FEE-892E-20B5-329DF51D9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68E71-2D9B-C1D6-DAAC-5A465DE66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4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8AB35F-B22D-D6A0-81D0-F3DD0C620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9E946-33C4-5D01-D9E2-56D1DD542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43E27-0224-A091-65AB-81F3893B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2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5DEA-E81E-3677-5C8B-A23595655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E7127-2B0C-A497-023F-6182EA0DF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8AC2C-E5FB-3690-153F-A72ADDB88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DB268-D089-CD93-1888-2392371F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206CE-4DD5-FDBB-9A0C-688E5F066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12AB2-61B9-C0EB-B320-54F467D5B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4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21E05-CDB1-99CD-C306-EDF3B92AE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2150A-1A75-A9FE-6285-9BD73990AA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6CE73-9ADA-F812-1A90-F98F3FFC1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663AB-7DD8-4A56-BEB5-EC3AD2D2A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24889-4009-4985-7E51-284F4A2B2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E04F4-B481-2686-F70E-CB238CD5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8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089B3-01AB-E3CB-6130-CDEABFABD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0DB2A-9F46-8FB5-BF99-6F1EE8E77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2CC48-FC88-219B-3A5C-A8CDDE1F4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2F297-8464-B9AA-E3DA-796A37D6F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89E6C-5558-FB9C-DAC9-6F984816B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55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483B3A-3755-8FB8-30F0-8288B1FFBD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8FFE4-EDFB-A67E-1743-304FE98A5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427EB-A5A2-287D-8EF1-599D3C43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B435C-705C-601E-E94C-932C203F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41A8F-C4CC-A578-829A-C807FE3A0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0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6D0CC3-158A-0084-1D43-6DD4D6521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4CBE8-26E2-DE7D-A80C-B2C0B1346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17F1C-14AD-448E-42F8-40BE5EB66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590E4-D9E5-09F2-3B79-C52E688D8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FDBC3-448C-61BC-764A-F631F7991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61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788F-A189-8CAD-3740-DB70F5110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100" y="1122363"/>
            <a:ext cx="11671300" cy="2387600"/>
          </a:xfrm>
        </p:spPr>
        <p:txBody>
          <a:bodyPr>
            <a:normAutofit/>
          </a:bodyPr>
          <a:lstStyle/>
          <a:p>
            <a:r>
              <a:rPr lang="en-US" sz="5500" dirty="0"/>
              <a:t>(Graph) 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8001F-C2EB-BB4D-D453-D8DC762AA3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Uthsav Chitra</a:t>
            </a:r>
          </a:p>
        </p:txBody>
      </p:sp>
    </p:spTree>
    <p:extLst>
      <p:ext uri="{BB962C8B-B14F-4D97-AF65-F5344CB8AC3E}">
        <p14:creationId xmlns:p14="http://schemas.microsoft.com/office/powerpoint/2010/main" val="1179972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9188B-2607-2FEF-FF43-0D2F4D36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3780C-B63D-926D-8A28-7E8C41E4E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322262"/>
            <a:ext cx="10515600" cy="1325563"/>
          </a:xfrm>
        </p:spPr>
        <p:txBody>
          <a:bodyPr/>
          <a:lstStyle/>
          <a:p>
            <a:r>
              <a:rPr lang="en-US" dirty="0"/>
              <a:t>Past few classes: random walks on graph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78D902-F850-8C44-270C-319D9B01E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987" y="1972734"/>
            <a:ext cx="4151257" cy="415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37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9B278-97C5-7EAC-4F2B-1848CABCA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BAF-4864-9D5F-6822-73E2A41C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02" y="11492"/>
            <a:ext cx="10515600" cy="1325563"/>
          </a:xfrm>
        </p:spPr>
        <p:txBody>
          <a:bodyPr/>
          <a:lstStyle/>
          <a:p>
            <a:r>
              <a:rPr lang="en-US" dirty="0"/>
              <a:t>Today: (graph) clustering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F16C6A-AD5C-3EE8-7AF3-4A0EE7DCE249}"/>
              </a:ext>
            </a:extLst>
          </p:cNvPr>
          <p:cNvSpPr txBox="1"/>
          <p:nvPr/>
        </p:nvSpPr>
        <p:spPr>
          <a:xfrm>
            <a:off x="419646" y="1368467"/>
            <a:ext cx="55627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Clustering:</a:t>
            </a:r>
            <a:r>
              <a:rPr lang="en-US" sz="2400" dirty="0">
                <a:solidFill>
                  <a:srgbClr val="FF0000"/>
                </a:solidFill>
              </a:rPr>
              <a:t> finding groups (</a:t>
            </a:r>
            <a:r>
              <a:rPr lang="en-US" sz="2400" u="sng" dirty="0">
                <a:solidFill>
                  <a:srgbClr val="FF0000"/>
                </a:solidFill>
              </a:rPr>
              <a:t>clusters</a:t>
            </a:r>
            <a:r>
              <a:rPr lang="en-US" sz="2400" dirty="0">
                <a:solidFill>
                  <a:srgbClr val="FF0000"/>
                </a:solidFill>
              </a:rPr>
              <a:t>) of datapoints (</a:t>
            </a:r>
            <a:r>
              <a:rPr lang="en-US" sz="2400" u="sng" dirty="0">
                <a:solidFill>
                  <a:srgbClr val="FF0000"/>
                </a:solidFill>
              </a:rPr>
              <a:t>cells</a:t>
            </a:r>
            <a:r>
              <a:rPr lang="en-US" sz="2400" dirty="0">
                <a:solidFill>
                  <a:srgbClr val="FF0000"/>
                </a:solidFill>
              </a:rPr>
              <a:t>) with similar features (</a:t>
            </a:r>
            <a:r>
              <a:rPr lang="en-US" sz="2400" u="sng" dirty="0">
                <a:solidFill>
                  <a:srgbClr val="FF0000"/>
                </a:solidFill>
              </a:rPr>
              <a:t>gene expression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5" name="Picture 4" descr="Clustering in Machine Learning - GeeksforGeeks">
            <a:extLst>
              <a:ext uri="{FF2B5EF4-FFF2-40B4-BE49-F238E27FC236}">
                <a16:creationId xmlns:a16="http://schemas.microsoft.com/office/drawing/2014/main" id="{16F999CF-2BCC-9FB3-9C14-DC54FB4A0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93" y="3071446"/>
            <a:ext cx="4057658" cy="31824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EA4816-A739-25A1-CA67-292BC20B74B6}"/>
              </a:ext>
            </a:extLst>
          </p:cNvPr>
          <p:cNvSpPr txBox="1"/>
          <p:nvPr/>
        </p:nvSpPr>
        <p:spPr>
          <a:xfrm>
            <a:off x="927326" y="6260971"/>
            <a:ext cx="35739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Feature 1 (e.g. gene 1, PC 1, …)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AADB76-050A-06BA-4087-BB7D6758475F}"/>
              </a:ext>
            </a:extLst>
          </p:cNvPr>
          <p:cNvSpPr txBox="1"/>
          <p:nvPr/>
        </p:nvSpPr>
        <p:spPr>
          <a:xfrm rot="16200000">
            <a:off x="-1367350" y="4219621"/>
            <a:ext cx="35739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Feature 2 (e.g. gene 2, PC 2, …)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6C25F62-0466-C8D5-100D-923BA1AA20E8}"/>
              </a:ext>
            </a:extLst>
          </p:cNvPr>
          <p:cNvGrpSpPr/>
          <p:nvPr/>
        </p:nvGrpSpPr>
        <p:grpSpPr>
          <a:xfrm>
            <a:off x="4765874" y="2585003"/>
            <a:ext cx="2218813" cy="3766386"/>
            <a:chOff x="5649292" y="2541669"/>
            <a:chExt cx="2218813" cy="376638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A4E0EA6-3C0F-39B6-6EF7-466468E41CBA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l="73975" t="22048" r="882" b="37207"/>
            <a:stretch/>
          </p:blipFill>
          <p:spPr>
            <a:xfrm rot="5400000">
              <a:off x="5345679" y="3785629"/>
              <a:ext cx="3296262" cy="174859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0BBF3A-C9B9-6349-BC33-836839DCCC27}"/>
                </a:ext>
              </a:extLst>
            </p:cNvPr>
            <p:cNvSpPr/>
            <p:nvPr/>
          </p:nvSpPr>
          <p:spPr>
            <a:xfrm>
              <a:off x="6096000" y="5207199"/>
              <a:ext cx="1772105" cy="1046724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  <a:alpha val="99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8D5986-406C-5123-63AA-F9335A3C199D}"/>
                </a:ext>
              </a:extLst>
            </p:cNvPr>
            <p:cNvSpPr/>
            <p:nvPr/>
          </p:nvSpPr>
          <p:spPr>
            <a:xfrm>
              <a:off x="6096000" y="4090857"/>
              <a:ext cx="1772105" cy="1046724"/>
            </a:xfrm>
            <a:prstGeom prst="rect">
              <a:avLst/>
            </a:prstGeom>
            <a:noFill/>
            <a:ln w="381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6DE6330-E470-CC27-7FFC-FB007EB534FA}"/>
                </a:ext>
              </a:extLst>
            </p:cNvPr>
            <p:cNvSpPr/>
            <p:nvPr/>
          </p:nvSpPr>
          <p:spPr>
            <a:xfrm>
              <a:off x="6096000" y="2980619"/>
              <a:ext cx="1772105" cy="1046725"/>
            </a:xfrm>
            <a:prstGeom prst="rect">
              <a:avLst/>
            </a:prstGeom>
            <a:noFill/>
            <a:ln w="381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0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F9AE788-5903-941A-8712-D0823D76A258}"/>
                </a:ext>
              </a:extLst>
            </p:cNvPr>
            <p:cNvSpPr txBox="1"/>
            <p:nvPr/>
          </p:nvSpPr>
          <p:spPr>
            <a:xfrm>
              <a:off x="6566713" y="2541669"/>
              <a:ext cx="1080745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Genes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F3EFC3-A13E-2C6D-BE02-1A41F5EAB217}"/>
                </a:ext>
              </a:extLst>
            </p:cNvPr>
            <p:cNvSpPr txBox="1"/>
            <p:nvPr/>
          </p:nvSpPr>
          <p:spPr>
            <a:xfrm rot="16200000">
              <a:off x="5439619" y="4117407"/>
              <a:ext cx="896399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Cells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1B60F99-3F12-5775-A41E-A1193DD5477C}"/>
              </a:ext>
            </a:extLst>
          </p:cNvPr>
          <p:cNvSpPr txBox="1"/>
          <p:nvPr/>
        </p:nvSpPr>
        <p:spPr>
          <a:xfrm>
            <a:off x="6566713" y="1293416"/>
            <a:ext cx="55627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Graph clustering:</a:t>
            </a:r>
            <a:r>
              <a:rPr lang="en-US" sz="2200" dirty="0">
                <a:solidFill>
                  <a:srgbClr val="FF0000"/>
                </a:solidFill>
              </a:rPr>
              <a:t> vertices the same group are more densely connected to each other than to other vertices</a:t>
            </a:r>
          </a:p>
        </p:txBody>
      </p:sp>
      <p:pic>
        <p:nvPicPr>
          <p:cNvPr id="16" name="Picture 15" descr="Graph Clustering Algorithms: Unveiling Network Patterns">
            <a:extLst>
              <a:ext uri="{FF2B5EF4-FFF2-40B4-BE49-F238E27FC236}">
                <a16:creationId xmlns:a16="http://schemas.microsoft.com/office/drawing/2014/main" id="{E2E4CEAD-744F-B0AC-3217-3AB84901A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1396" y="2632680"/>
            <a:ext cx="4445141" cy="380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484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40D2DE-C737-67AB-1C7E-611763A432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07"/>
          <a:stretch>
            <a:fillRect/>
          </a:stretch>
        </p:blipFill>
        <p:spPr>
          <a:xfrm>
            <a:off x="595086" y="0"/>
            <a:ext cx="9942286" cy="65539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02D9B0-195F-2A73-2752-518E8C726F8C}"/>
              </a:ext>
            </a:extLst>
          </p:cNvPr>
          <p:cNvSpPr txBox="1"/>
          <p:nvPr/>
        </p:nvSpPr>
        <p:spPr>
          <a:xfrm>
            <a:off x="0" y="6550223"/>
            <a:ext cx="6707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Slides from https://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web.stanford.edu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/class/cs102/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lectureslides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ClusteringSlides.pdf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642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432393-61F1-2EB3-D7EF-72C0DC540D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609"/>
          <a:stretch>
            <a:fillRect/>
          </a:stretch>
        </p:blipFill>
        <p:spPr>
          <a:xfrm>
            <a:off x="246742" y="0"/>
            <a:ext cx="9608457" cy="636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7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2351A0-F1F0-1F9F-8883-0352CCF02E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4364" y="126458"/>
            <a:ext cx="8975389" cy="673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43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0D673F-68C0-0110-119B-B815FD5EDA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360"/>
          <a:stretch>
            <a:fillRect/>
          </a:stretch>
        </p:blipFill>
        <p:spPr>
          <a:xfrm>
            <a:off x="188686" y="-1"/>
            <a:ext cx="10189028" cy="67736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2BC054-99F9-9416-EC0D-05C5C172167A}"/>
              </a:ext>
            </a:extLst>
          </p:cNvPr>
          <p:cNvSpPr txBox="1"/>
          <p:nvPr/>
        </p:nvSpPr>
        <p:spPr>
          <a:xfrm>
            <a:off x="9131968" y="1913021"/>
            <a:ext cx="2971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SSE = sum of squared errors (see next slide)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37C139-4D84-CF9D-2B08-BD0274D2F876}"/>
              </a:ext>
            </a:extLst>
          </p:cNvPr>
          <p:cNvSpPr txBox="1"/>
          <p:nvPr/>
        </p:nvSpPr>
        <p:spPr>
          <a:xfrm>
            <a:off x="9829832" y="2682462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d(</a:t>
            </a:r>
            <a:r>
              <a:rPr lang="en-US" dirty="0" err="1">
                <a:solidFill>
                  <a:srgbClr val="C00000"/>
                </a:solidFill>
              </a:rPr>
              <a:t>x,y</a:t>
            </a:r>
            <a:r>
              <a:rPr lang="en-US" dirty="0">
                <a:solidFill>
                  <a:srgbClr val="C00000"/>
                </a:solidFill>
              </a:rPr>
              <a:t>) = ||x-y||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74826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D9109A-8BE6-0164-8D4D-AEEC8E4E5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6610"/>
          <a:stretch>
            <a:fillRect/>
          </a:stretch>
        </p:blipFill>
        <p:spPr>
          <a:xfrm>
            <a:off x="246743" y="-35637"/>
            <a:ext cx="11698514" cy="68936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A22CD14-8D4C-10C3-E4E8-E336815E29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952" t="51852" r="4514" b="14857"/>
          <a:stretch>
            <a:fillRect/>
          </a:stretch>
        </p:blipFill>
        <p:spPr>
          <a:xfrm>
            <a:off x="8604738" y="3012831"/>
            <a:ext cx="2907323" cy="25439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298390-0E6A-69A9-1515-8F6D4A27D2F2}"/>
              </a:ext>
            </a:extLst>
          </p:cNvPr>
          <p:cNvSpPr txBox="1"/>
          <p:nvPr/>
        </p:nvSpPr>
        <p:spPr>
          <a:xfrm>
            <a:off x="9296400" y="3982887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4A23C-7F39-543F-5906-51008337E3FC}"/>
              </a:ext>
            </a:extLst>
          </p:cNvPr>
          <p:cNvSpPr txBox="1"/>
          <p:nvPr/>
        </p:nvSpPr>
        <p:spPr>
          <a:xfrm>
            <a:off x="10380162" y="4167553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3F059BD-F03B-FF9A-00A8-DB4DED3DF554}"/>
              </a:ext>
            </a:extLst>
          </p:cNvPr>
          <p:cNvCxnSpPr>
            <a:cxnSpLocks/>
          </p:cNvCxnSpPr>
          <p:nvPr/>
        </p:nvCxnSpPr>
        <p:spPr>
          <a:xfrm flipV="1">
            <a:off x="9296400" y="4129453"/>
            <a:ext cx="54500" cy="407432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194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AD691D-6F1D-0ECE-5405-8436D4F5A1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322"/>
          <a:stretch>
            <a:fillRect/>
          </a:stretch>
        </p:blipFill>
        <p:spPr>
          <a:xfrm>
            <a:off x="-1" y="-1"/>
            <a:ext cx="11742057" cy="719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13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0A6154-60AD-54C5-FAE4-E5D6DCDD6E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493"/>
          <a:stretch>
            <a:fillRect/>
          </a:stretch>
        </p:blipFill>
        <p:spPr>
          <a:xfrm>
            <a:off x="-1" y="-1"/>
            <a:ext cx="11640457" cy="686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93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C78E15-EF5E-2D09-D33C-B21D66D6BA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379"/>
          <a:stretch>
            <a:fillRect/>
          </a:stretch>
        </p:blipFill>
        <p:spPr>
          <a:xfrm>
            <a:off x="-1" y="0"/>
            <a:ext cx="11916229" cy="720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95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5112A2-AF9F-0978-EAD7-9EF755534E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006"/>
          <a:stretch>
            <a:fillRect/>
          </a:stretch>
        </p:blipFill>
        <p:spPr>
          <a:xfrm>
            <a:off x="0" y="1"/>
            <a:ext cx="12546872" cy="656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6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AB7639-1ABE-32F7-6B39-7A2059066B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685"/>
          <a:stretch>
            <a:fillRect/>
          </a:stretch>
        </p:blipFill>
        <p:spPr>
          <a:xfrm>
            <a:off x="-106296" y="0"/>
            <a:ext cx="12435841" cy="661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537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A379B7-5498-D84D-8325-79D049027E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415"/>
          <a:stretch>
            <a:fillRect/>
          </a:stretch>
        </p:blipFill>
        <p:spPr>
          <a:xfrm>
            <a:off x="-1" y="0"/>
            <a:ext cx="11234057" cy="711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448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94A0F-881B-0016-8593-8DC4BD5A7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58" y="377157"/>
            <a:ext cx="10515600" cy="1325563"/>
          </a:xfrm>
        </p:spPr>
        <p:txBody>
          <a:bodyPr/>
          <a:lstStyle/>
          <a:p>
            <a:r>
              <a:rPr lang="en-US" dirty="0"/>
              <a:t>What’s used in practice?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A4E69-5C11-6FD0-3CB4-8BC0B5151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1290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Modern implementations follow Lloyd’s algorithm with specific to:</a:t>
            </a:r>
          </a:p>
          <a:p>
            <a:pPr marL="514350" indent="-514350">
              <a:buAutoNum type="arabicPeriod"/>
            </a:pPr>
            <a:r>
              <a:rPr lang="en-US" dirty="0"/>
              <a:t>How to choose the number K of clusters?</a:t>
            </a:r>
          </a:p>
          <a:p>
            <a:pPr marL="514350" indent="-514350">
              <a:buAutoNum type="arabicPeriod"/>
            </a:pPr>
            <a:r>
              <a:rPr lang="en-US" dirty="0"/>
              <a:t>How to </a:t>
            </a:r>
            <a:r>
              <a:rPr lang="en-US" b="1" dirty="0"/>
              <a:t>initialize</a:t>
            </a:r>
            <a:r>
              <a:rPr lang="en-US" dirty="0"/>
              <a:t> the cluster centroids </a:t>
            </a:r>
            <a:r>
              <a:rPr lang="en-US" dirty="0" err="1"/>
              <a:t>w</a:t>
            </a:r>
            <a:r>
              <a:rPr lang="en-US" baseline="-25000" dirty="0" err="1"/>
              <a:t>k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r>
              <a:rPr lang="en-US" dirty="0"/>
              <a:t>What about when your data is </a:t>
            </a:r>
            <a:r>
              <a:rPr lang="en-US" b="1" dirty="0"/>
              <a:t>really large</a:t>
            </a:r>
            <a:r>
              <a:rPr lang="en-US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5A89B-9F33-A93D-0005-54CBDAC4A4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49" t="20775" r="14101" b="29710"/>
          <a:stretch>
            <a:fillRect/>
          </a:stretch>
        </p:blipFill>
        <p:spPr>
          <a:xfrm>
            <a:off x="6918158" y="4475747"/>
            <a:ext cx="5083958" cy="223060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75179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ADCA-E605-16A6-C504-93C17DA04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060D9-45E2-95D5-EC36-15313BEC7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number K of clusters?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CEB3D-8893-8AE7-D793-D560B0FBC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252" y="1597025"/>
            <a:ext cx="11000874" cy="5648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 rigorous way – choose K that maximizes/minimizes some quantity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69EA64A-522C-006A-B3EA-C1AF31EDD77E}"/>
              </a:ext>
            </a:extLst>
          </p:cNvPr>
          <p:cNvGrpSpPr/>
          <p:nvPr/>
        </p:nvGrpSpPr>
        <p:grpSpPr>
          <a:xfrm>
            <a:off x="3326353" y="2364859"/>
            <a:ext cx="5302671" cy="3280990"/>
            <a:chOff x="344542" y="2159000"/>
            <a:chExt cx="4436006" cy="2711420"/>
          </a:xfrm>
        </p:grpSpPr>
        <p:pic>
          <p:nvPicPr>
            <p:cNvPr id="4" name="Picture 3" descr="elbow_method">
              <a:extLst>
                <a:ext uri="{FF2B5EF4-FFF2-40B4-BE49-F238E27FC236}">
                  <a16:creationId xmlns:a16="http://schemas.microsoft.com/office/drawing/2014/main" id="{3B862395-07EC-0392-CFBE-7D60E32C0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947" r="13001" b="6288"/>
            <a:stretch>
              <a:fillRect/>
            </a:stretch>
          </p:blipFill>
          <p:spPr>
            <a:xfrm>
              <a:off x="713874" y="2159000"/>
              <a:ext cx="4066674" cy="238026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9B19F80-AC59-7F16-4890-D86F1F40CFD4}"/>
                </a:ext>
              </a:extLst>
            </p:cNvPr>
            <p:cNvSpPr txBox="1"/>
            <p:nvPr/>
          </p:nvSpPr>
          <p:spPr>
            <a:xfrm rot="16200000">
              <a:off x="-660926" y="3324200"/>
              <a:ext cx="2380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Sum of squared errors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6C652A-F643-799E-F5F3-AB4E1DB23951}"/>
                </a:ext>
              </a:extLst>
            </p:cNvPr>
            <p:cNvSpPr txBox="1"/>
            <p:nvPr/>
          </p:nvSpPr>
          <p:spPr>
            <a:xfrm>
              <a:off x="2185481" y="4514334"/>
              <a:ext cx="288585" cy="3560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K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1B497CC-453B-5105-0B6F-AC0D6C31E733}"/>
              </a:ext>
            </a:extLst>
          </p:cNvPr>
          <p:cNvSpPr txBox="1"/>
          <p:nvPr/>
        </p:nvSpPr>
        <p:spPr>
          <a:xfrm>
            <a:off x="2344485" y="5661878"/>
            <a:ext cx="7266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Elbow method:</a:t>
            </a:r>
            <a:r>
              <a:rPr lang="en-US" sz="2400" dirty="0"/>
              <a:t> find a “elbow” where increasing K leads to </a:t>
            </a:r>
            <a:r>
              <a:rPr lang="en-US" sz="2400" u="sng" dirty="0"/>
              <a:t>diminishing returns</a:t>
            </a:r>
          </a:p>
        </p:txBody>
      </p:sp>
    </p:spTree>
    <p:extLst>
      <p:ext uri="{BB962C8B-B14F-4D97-AF65-F5344CB8AC3E}">
        <p14:creationId xmlns:p14="http://schemas.microsoft.com/office/powerpoint/2010/main" val="262072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C7762-C2D8-1471-025A-E837C7DD5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95" y="0"/>
            <a:ext cx="10515600" cy="1325563"/>
          </a:xfrm>
        </p:spPr>
        <p:txBody>
          <a:bodyPr/>
          <a:lstStyle/>
          <a:p>
            <a:r>
              <a:rPr lang="en-US" dirty="0"/>
              <a:t>How to choose number K of clusters?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C06E1E-EB61-0A22-3347-C8ACE8151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16" y="2852869"/>
            <a:ext cx="5014355" cy="32044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82AF34-7A93-08B9-2ECC-069C4AF2CDB6}"/>
              </a:ext>
            </a:extLst>
          </p:cNvPr>
          <p:cNvSpPr txBox="1"/>
          <p:nvPr/>
        </p:nvSpPr>
        <p:spPr>
          <a:xfrm>
            <a:off x="925626" y="1148656"/>
            <a:ext cx="108093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Silhouette score:</a:t>
            </a:r>
            <a:r>
              <a:rPr lang="en-US" sz="2400" dirty="0"/>
              <a:t> find K that maximizes silhouette 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Intuition: want each vertex to be closer to vertices in same cluster, far from vertices in different clusters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9B871F-191C-B544-D149-DA995E5E7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95" y="2672151"/>
            <a:ext cx="5966231" cy="24833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B4E64CE-79BD-34EE-7904-CFE381F4CF45}"/>
                  </a:ext>
                </a:extLst>
              </p:cNvPr>
              <p:cNvSpPr txBox="1"/>
              <p:nvPr/>
            </p:nvSpPr>
            <p:spPr>
              <a:xfrm>
                <a:off x="5666014" y="5771288"/>
                <a:ext cx="2516395" cy="792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num>
                            <m:den>
                              <m:func>
                                <m:funcPr>
                                  <m:ctrlPr>
                                    <a:rPr lang="en-US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den>
                          </m:f>
                        </m:e>
                      </m:border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B4E64CE-79BD-34EE-7904-CFE381F4C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014" y="5771288"/>
                <a:ext cx="2516395" cy="7923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C004A04-7CBE-AA56-3438-1097278FEE1D}"/>
              </a:ext>
            </a:extLst>
          </p:cNvPr>
          <p:cNvSpPr txBox="1"/>
          <p:nvPr/>
        </p:nvSpPr>
        <p:spPr>
          <a:xfrm>
            <a:off x="5491607" y="5457899"/>
            <a:ext cx="2865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Silhouette score for vertex </a:t>
            </a:r>
            <a:r>
              <a:rPr lang="en-US" dirty="0" err="1"/>
              <a:t>i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ACE532-62BA-F24C-2018-AE89F015A0D5}"/>
              </a:ext>
            </a:extLst>
          </p:cNvPr>
          <p:cNvSpPr txBox="1"/>
          <p:nvPr/>
        </p:nvSpPr>
        <p:spPr>
          <a:xfrm>
            <a:off x="8894686" y="5363103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Silhouette score averaged over vertices </a:t>
            </a:r>
            <a:r>
              <a:rPr lang="en-US" b="1" dirty="0" err="1"/>
              <a:t>i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F7D1480-BC90-C804-6EC8-957577D5371A}"/>
                  </a:ext>
                </a:extLst>
              </p:cNvPr>
              <p:cNvSpPr txBox="1"/>
              <p:nvPr/>
            </p:nvSpPr>
            <p:spPr>
              <a:xfrm>
                <a:off x="9307286" y="6009434"/>
                <a:ext cx="1615635" cy="8485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F7D1480-BC90-C804-6EC8-957577D53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7286" y="6009434"/>
                <a:ext cx="1615635" cy="848566"/>
              </a:xfrm>
              <a:prstGeom prst="rect">
                <a:avLst/>
              </a:prstGeom>
              <a:blipFill>
                <a:blip r:embed="rId5"/>
                <a:stretch>
                  <a:fillRect l="-5426" t="-101493" r="-1550" b="-156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6819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D774-07E0-07FA-EC1E-402D947BD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386" y="0"/>
            <a:ext cx="10515600" cy="1325563"/>
          </a:xfrm>
        </p:spPr>
        <p:txBody>
          <a:bodyPr/>
          <a:lstStyle/>
          <a:p>
            <a:r>
              <a:rPr lang="en-US" dirty="0"/>
              <a:t>How to initialize cluster centroids </a:t>
            </a:r>
            <a:r>
              <a:rPr lang="en-US" dirty="0" err="1"/>
              <a:t>w</a:t>
            </a:r>
            <a:r>
              <a:rPr lang="en-US" baseline="-25000" dirty="0" err="1"/>
              <a:t>k</a:t>
            </a:r>
            <a:r>
              <a:rPr lang="en-US" dirty="0"/>
              <a:t>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5C7392-F670-6CA2-47A8-210045BE3C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3061" y="3454700"/>
            <a:ext cx="5978939" cy="13255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D96180-07DE-3252-A993-13CCD4D21A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49" t="20775" r="14101" b="29710"/>
          <a:stretch>
            <a:fillRect/>
          </a:stretch>
        </p:blipFill>
        <p:spPr>
          <a:xfrm>
            <a:off x="7662406" y="4780263"/>
            <a:ext cx="4455206" cy="19547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B885DB-26E9-8585-E5F3-DF896C52A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34" y="1316802"/>
            <a:ext cx="5915695" cy="54181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45D9BF-CF2F-6E60-A4E9-ECF2C4EBBA51}"/>
              </a:ext>
            </a:extLst>
          </p:cNvPr>
          <p:cNvSpPr txBox="1"/>
          <p:nvPr/>
        </p:nvSpPr>
        <p:spPr>
          <a:xfrm>
            <a:off x="6361580" y="1316802"/>
            <a:ext cx="5629034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Initial k-means algorithm chose centroids uniformly at random from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K-means++ instead chooses centroids that are most “spread out”</a:t>
            </a:r>
          </a:p>
        </p:txBody>
      </p:sp>
    </p:spTree>
    <p:extLst>
      <p:ext uri="{BB962C8B-B14F-4D97-AF65-F5344CB8AC3E}">
        <p14:creationId xmlns:p14="http://schemas.microsoft.com/office/powerpoint/2010/main" val="1204307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AEF29-CDD5-5797-1B0C-5E15BBF56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204445"/>
            <a:ext cx="11811000" cy="1325563"/>
          </a:xfrm>
        </p:spPr>
        <p:txBody>
          <a:bodyPr>
            <a:normAutofit/>
          </a:bodyPr>
          <a:lstStyle/>
          <a:p>
            <a:r>
              <a:rPr lang="en-US" dirty="0"/>
              <a:t>Mini-batch K-means updates parameters from random sample of datapoints (“mini-batch”)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AAEF3-207E-3D25-81C2-112CA43517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49" t="20775" r="14101" b="29710"/>
          <a:stretch>
            <a:fillRect/>
          </a:stretch>
        </p:blipFill>
        <p:spPr>
          <a:xfrm>
            <a:off x="190500" y="1705805"/>
            <a:ext cx="8792068" cy="3857552"/>
          </a:xfrm>
          <a:prstGeom prst="rect">
            <a:avLst/>
          </a:prstGeom>
          <a:ln>
            <a:noFill/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90BE53-5BBC-72EA-0FC9-A55C1272D62F}"/>
              </a:ext>
            </a:extLst>
          </p:cNvPr>
          <p:cNvCxnSpPr/>
          <p:nvPr/>
        </p:nvCxnSpPr>
        <p:spPr>
          <a:xfrm>
            <a:off x="909884" y="4653643"/>
            <a:ext cx="7425911" cy="3429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88C119F-B0F7-B936-572A-5713E7AAB13B}"/>
              </a:ext>
            </a:extLst>
          </p:cNvPr>
          <p:cNvSpPr txBox="1"/>
          <p:nvPr/>
        </p:nvSpPr>
        <p:spPr>
          <a:xfrm>
            <a:off x="8465693" y="4140082"/>
            <a:ext cx="30352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Update centroids incrementally – running average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EC5C58-945C-3550-D560-4048B6788C1E}"/>
                  </a:ext>
                </a:extLst>
              </p:cNvPr>
              <p:cNvSpPr txBox="1"/>
              <p:nvPr/>
            </p:nvSpPr>
            <p:spPr>
              <a:xfrm>
                <a:off x="7198009" y="5327077"/>
                <a:ext cx="4038926" cy="8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EC5C58-945C-3550-D560-4048B6788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009" y="5327077"/>
                <a:ext cx="4038926" cy="869277"/>
              </a:xfrm>
              <a:prstGeom prst="rect">
                <a:avLst/>
              </a:prstGeom>
              <a:blipFill>
                <a:blip r:embed="rId3"/>
                <a:stretch>
                  <a:fillRect t="-62319" b="-4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079626-699C-DEDB-BE1D-90655FCBE642}"/>
              </a:ext>
            </a:extLst>
          </p:cNvPr>
          <p:cNvCxnSpPr>
            <a:cxnSpLocks/>
          </p:cNvCxnSpPr>
          <p:nvPr/>
        </p:nvCxnSpPr>
        <p:spPr>
          <a:xfrm>
            <a:off x="877226" y="3441849"/>
            <a:ext cx="454016" cy="22539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A628AC5-3FBD-6A90-DECD-2394288406CE}"/>
              </a:ext>
            </a:extLst>
          </p:cNvPr>
          <p:cNvSpPr txBox="1"/>
          <p:nvPr/>
        </p:nvSpPr>
        <p:spPr>
          <a:xfrm>
            <a:off x="1525254" y="2708866"/>
            <a:ext cx="1667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mini-batch B</a:t>
            </a:r>
            <a:endParaRPr lang="en-US" sz="2000" b="1" baseline="-25000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81C92B-1BD8-F17A-2576-D05CA1BC5D86}"/>
              </a:ext>
            </a:extLst>
          </p:cNvPr>
          <p:cNvSpPr txBox="1"/>
          <p:nvPr/>
        </p:nvSpPr>
        <p:spPr>
          <a:xfrm>
            <a:off x="33460" y="3667239"/>
            <a:ext cx="2141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For datapoints </a:t>
            </a:r>
            <a:r>
              <a:rPr lang="en-US" dirty="0" err="1">
                <a:solidFill>
                  <a:srgbClr val="C00000"/>
                </a:solidFill>
              </a:rPr>
              <a:t>i</a:t>
            </a:r>
            <a:r>
              <a:rPr lang="en-US" dirty="0">
                <a:solidFill>
                  <a:srgbClr val="C00000"/>
                </a:solidFill>
              </a:rPr>
              <a:t> in 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236AD7-4AEC-D0B9-6CBD-073226B358A5}"/>
              </a:ext>
            </a:extLst>
          </p:cNvPr>
          <p:cNvCxnSpPr>
            <a:cxnSpLocks/>
          </p:cNvCxnSpPr>
          <p:nvPr/>
        </p:nvCxnSpPr>
        <p:spPr>
          <a:xfrm>
            <a:off x="5351780" y="3441849"/>
            <a:ext cx="2497747" cy="22539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7C2CE3B-D9AC-2C53-9A94-3D382437C6B3}"/>
              </a:ext>
            </a:extLst>
          </p:cNvPr>
          <p:cNvSpPr/>
          <p:nvPr/>
        </p:nvSpPr>
        <p:spPr>
          <a:xfrm>
            <a:off x="4975699" y="3108976"/>
            <a:ext cx="3360096" cy="9275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BDCD76-5FD9-3564-02BC-08492AC4D642}"/>
              </a:ext>
            </a:extLst>
          </p:cNvPr>
          <p:cNvSpPr txBox="1"/>
          <p:nvPr/>
        </p:nvSpPr>
        <p:spPr>
          <a:xfrm>
            <a:off x="5551309" y="2771816"/>
            <a:ext cx="37546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Don’t re-assign all points but only a small random sample of data points (“mini-batch”)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298E2C11-8A92-3E91-603F-8A5F88800DCB}"/>
              </a:ext>
            </a:extLst>
          </p:cNvPr>
          <p:cNvSpPr/>
          <p:nvPr/>
        </p:nvSpPr>
        <p:spPr>
          <a:xfrm>
            <a:off x="4992953" y="2852608"/>
            <a:ext cx="469939" cy="1028701"/>
          </a:xfrm>
          <a:prstGeom prst="rightBrace">
            <a:avLst>
              <a:gd name="adj1" fmla="val 8333"/>
              <a:gd name="adj2" fmla="val 51232"/>
            </a:avLst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5A4FB4-2E9C-8279-806C-ACAC877813ED}"/>
              </a:ext>
            </a:extLst>
          </p:cNvPr>
          <p:cNvSpPr txBox="1"/>
          <p:nvPr/>
        </p:nvSpPr>
        <p:spPr>
          <a:xfrm>
            <a:off x="2416816" y="5983031"/>
            <a:ext cx="488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S</a:t>
            </a:r>
            <a:r>
              <a:rPr lang="en-US" baseline="-25000" dirty="0" err="1">
                <a:solidFill>
                  <a:srgbClr val="C00000"/>
                </a:solidFill>
              </a:rPr>
              <a:t>k</a:t>
            </a:r>
            <a:r>
              <a:rPr lang="en-US" dirty="0">
                <a:solidFill>
                  <a:srgbClr val="C00000"/>
                </a:solidFill>
              </a:rPr>
              <a:t> is cluster k </a:t>
            </a:r>
            <a:r>
              <a:rPr lang="en-US" i="1" dirty="0">
                <a:solidFill>
                  <a:srgbClr val="C00000"/>
                </a:solidFill>
              </a:rPr>
              <a:t>before processing </a:t>
            </a:r>
            <a:r>
              <a:rPr lang="en-US" dirty="0">
                <a:solidFill>
                  <a:srgbClr val="C00000"/>
                </a:solidFill>
              </a:rPr>
              <a:t>current batch)</a:t>
            </a:r>
          </a:p>
        </p:txBody>
      </p:sp>
    </p:spTree>
    <p:extLst>
      <p:ext uri="{BB962C8B-B14F-4D97-AF65-F5344CB8AC3E}">
        <p14:creationId xmlns:p14="http://schemas.microsoft.com/office/powerpoint/2010/main" val="492723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E9C7C-1B38-8F67-4B67-E9A7E7AD7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83482"/>
            <a:ext cx="10515600" cy="1325563"/>
          </a:xfrm>
        </p:spPr>
        <p:txBody>
          <a:bodyPr/>
          <a:lstStyle/>
          <a:p>
            <a:r>
              <a:rPr lang="en-US" dirty="0"/>
              <a:t>Runtime for k-means variants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55AABE-4B1D-6519-CA4D-DB70824076A4}"/>
              </a:ext>
            </a:extLst>
          </p:cNvPr>
          <p:cNvSpPr txBox="1"/>
          <p:nvPr/>
        </p:nvSpPr>
        <p:spPr>
          <a:xfrm>
            <a:off x="152400" y="6389852"/>
            <a:ext cx="305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sklearn</a:t>
            </a:r>
            <a:r>
              <a:rPr lang="en-US" dirty="0"/>
              <a:t> documentation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B964B11-4168-1953-DC58-E1D5A05425AD}"/>
              </a:ext>
            </a:extLst>
          </p:cNvPr>
          <p:cNvGrpSpPr/>
          <p:nvPr/>
        </p:nvGrpSpPr>
        <p:grpSpPr>
          <a:xfrm>
            <a:off x="81025" y="1430791"/>
            <a:ext cx="6260193" cy="4695145"/>
            <a:chOff x="532492" y="1430791"/>
            <a:chExt cx="6260193" cy="4695145"/>
          </a:xfrm>
        </p:grpSpPr>
        <p:pic>
          <p:nvPicPr>
            <p:cNvPr id="4" name="Picture 3" descr="Mean inertia for various k-means init across 5 runs">
              <a:extLst>
                <a:ext uri="{FF2B5EF4-FFF2-40B4-BE49-F238E27FC236}">
                  <a16:creationId xmlns:a16="http://schemas.microsoft.com/office/drawing/2014/main" id="{52DEC982-CD0D-EC15-E335-0096073F7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2492" y="1430791"/>
              <a:ext cx="6260193" cy="469514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BF721F-911B-435D-1220-E505D17B993F}"/>
                </a:ext>
              </a:extLst>
            </p:cNvPr>
            <p:cNvSpPr txBox="1"/>
            <p:nvPr/>
          </p:nvSpPr>
          <p:spPr>
            <a:xfrm rot="16200000">
              <a:off x="320735" y="2968111"/>
              <a:ext cx="8851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(SSE)</a:t>
              </a:r>
            </a:p>
          </p:txBody>
        </p:sp>
      </p:grpSp>
      <p:pic>
        <p:nvPicPr>
          <p:cNvPr id="7" name="Picture 6" descr="graph">
            <a:extLst>
              <a:ext uri="{FF2B5EF4-FFF2-40B4-BE49-F238E27FC236}">
                <a16:creationId xmlns:a16="http://schemas.microsoft.com/office/drawing/2014/main" id="{1C1C6279-EF56-67E4-166A-C8E22882D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499" y="1352538"/>
            <a:ext cx="6260193" cy="47733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6C7CD6-53B1-9AEB-E06C-E456E88246FA}"/>
              </a:ext>
            </a:extLst>
          </p:cNvPr>
          <p:cNvSpPr txBox="1"/>
          <p:nvPr/>
        </p:nvSpPr>
        <p:spPr>
          <a:xfrm>
            <a:off x="8028144" y="6261785"/>
            <a:ext cx="416385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https://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algorithmicthoughts.wordpress.com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/2013/07/26/machine-learning-mini-batch-k-means/</a:t>
            </a:r>
          </a:p>
        </p:txBody>
      </p:sp>
    </p:spTree>
    <p:extLst>
      <p:ext uri="{BB962C8B-B14F-4D97-AF65-F5344CB8AC3E}">
        <p14:creationId xmlns:p14="http://schemas.microsoft.com/office/powerpoint/2010/main" val="2181122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1014C-AC26-B09A-D899-A082D1358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k-means variants used in single cell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2A8FD0-9A53-2537-5315-5ADE4B78EB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590" y="1556480"/>
            <a:ext cx="6362700" cy="27132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12DF36-21F1-B24A-6173-75CF39237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90" y="4941661"/>
            <a:ext cx="6144015" cy="1371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DB1B47-20C7-3837-6746-2A4310462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478" y="1556480"/>
            <a:ext cx="4121149" cy="50138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3CA4EF-E959-02AF-1DC7-22FCC0E19812}"/>
              </a:ext>
            </a:extLst>
          </p:cNvPr>
          <p:cNvSpPr txBox="1"/>
          <p:nvPr/>
        </p:nvSpPr>
        <p:spPr>
          <a:xfrm>
            <a:off x="244590" y="4326181"/>
            <a:ext cx="4132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(Stephanie is in BME/Biostats at JHU </a:t>
            </a:r>
            <a:r>
              <a:rPr lang="en-US" dirty="0">
                <a:sym typeface="Wingdings" pitchFamily="2" charset="2"/>
              </a:rPr>
              <a:t> 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778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FADFA-306E-D583-BCF0-513694516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71" y="60305"/>
            <a:ext cx="11408229" cy="1325563"/>
          </a:xfrm>
        </p:spPr>
        <p:txBody>
          <a:bodyPr/>
          <a:lstStyle/>
          <a:p>
            <a:r>
              <a:rPr lang="en-US" dirty="0"/>
              <a:t>Many variants of k-means / clustering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B8D0A4-2DE0-BCF1-4E32-5A63081540AA}"/>
                  </a:ext>
                </a:extLst>
              </p:cNvPr>
              <p:cNvSpPr txBox="1"/>
              <p:nvPr/>
            </p:nvSpPr>
            <p:spPr>
              <a:xfrm>
                <a:off x="526143" y="2261773"/>
                <a:ext cx="3167712" cy="1375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eqArr>
                                    <m:eqArr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en-US" sz="2400" i="0">
                                          <a:latin typeface="Cambria Math" panose="02040503050406030204" pitchFamily="18" charset="0"/>
                                        </a:rPr>
                                        <m:t>⊆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400" i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0">
                                              <a:latin typeface="Cambria Math" panose="02040503050406030204" pitchFamily="18" charset="0"/>
                                            </a:rPr>
                                            <m:t>1,…,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d>
                                      <m:r>
                                        <a:rPr lang="en-US" sz="2400" i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eqAr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US" sz="2400" i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i="0">
                                              <a:latin typeface="Cambria Math" panose="02040503050406030204" pitchFamily="18" charset="0"/>
                                            </a:rPr>
                                            <m:t>min</m:t>
                                          </m:r>
                                        </m:e>
                                        <m:lim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400" i="0">
                                              <a:latin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400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func>
                        </m:e>
                      </m:borderBox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B8D0A4-2DE0-BCF1-4E32-5A6308154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43" y="2261773"/>
                <a:ext cx="3167712" cy="1375056"/>
              </a:xfrm>
              <a:prstGeom prst="rect">
                <a:avLst/>
              </a:prstGeom>
              <a:blipFill>
                <a:blip r:embed="rId2"/>
                <a:stretch>
                  <a:fillRect t="-81651" r="-9600" b="-114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ED89D3B-A3FA-60CB-2908-90FB3C2EB060}"/>
              </a:ext>
            </a:extLst>
          </p:cNvPr>
          <p:cNvSpPr txBox="1"/>
          <p:nvPr/>
        </p:nvSpPr>
        <p:spPr>
          <a:xfrm>
            <a:off x="1229494" y="1592302"/>
            <a:ext cx="225440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K-</a:t>
            </a:r>
            <a:r>
              <a:rPr lang="en-US" sz="3000" b="1" dirty="0" err="1"/>
              <a:t>medioids</a:t>
            </a:r>
            <a:r>
              <a:rPr lang="en-US" sz="3000" b="1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8E6C9C-2B00-4CC2-0569-CB10C25F80BD}"/>
              </a:ext>
            </a:extLst>
          </p:cNvPr>
          <p:cNvSpPr txBox="1"/>
          <p:nvPr/>
        </p:nvSpPr>
        <p:spPr>
          <a:xfrm>
            <a:off x="161471" y="4177358"/>
            <a:ext cx="389705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Generalize k-means to arbitrary dissimilarity function d(</a:t>
            </a:r>
            <a:r>
              <a:rPr lang="en-US" sz="2200" dirty="0" err="1"/>
              <a:t>x,y</a:t>
            </a:r>
            <a:r>
              <a:rPr lang="en-US" sz="2200" dirty="0"/>
              <a:t>)</a:t>
            </a:r>
          </a:p>
          <a:p>
            <a:endParaRPr lang="en-US" sz="2200" dirty="0"/>
          </a:p>
          <a:p>
            <a:r>
              <a:rPr lang="en-US" sz="2200" dirty="0"/>
              <a:t>(K-means is d(</a:t>
            </a:r>
            <a:r>
              <a:rPr lang="en-US" sz="2200" dirty="0" err="1"/>
              <a:t>x,y</a:t>
            </a:r>
            <a:r>
              <a:rPr lang="en-US" sz="2200" dirty="0"/>
              <a:t>) = ||x-y||</a:t>
            </a:r>
            <a:r>
              <a:rPr lang="en-US" sz="2200" baseline="30000" dirty="0"/>
              <a:t>2</a:t>
            </a:r>
            <a:r>
              <a:rPr lang="en-US" sz="2200" dirty="0"/>
              <a:t>)</a:t>
            </a:r>
          </a:p>
        </p:txBody>
      </p:sp>
      <p:pic>
        <p:nvPicPr>
          <p:cNvPr id="12" name="Picture 11" descr="Hierarchical clustering explained | Towards Data Science">
            <a:extLst>
              <a:ext uri="{FF2B5EF4-FFF2-40B4-BE49-F238E27FC236}">
                <a16:creationId xmlns:a16="http://schemas.microsoft.com/office/drawing/2014/main" id="{7E5566B8-A380-4EE2-6675-BBD571C51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764" y="2146300"/>
            <a:ext cx="4699000" cy="2565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E5F942-E2BA-7F00-F35E-1F5CA6E9AD5F}"/>
              </a:ext>
            </a:extLst>
          </p:cNvPr>
          <p:cNvSpPr txBox="1"/>
          <p:nvPr/>
        </p:nvSpPr>
        <p:spPr>
          <a:xfrm>
            <a:off x="6662057" y="1592302"/>
            <a:ext cx="416973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Hierarchical clustering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2E761C-0C11-AC80-F29E-274C5E4BE66D}"/>
              </a:ext>
            </a:extLst>
          </p:cNvPr>
          <p:cNvSpPr txBox="1"/>
          <p:nvPr/>
        </p:nvSpPr>
        <p:spPr>
          <a:xfrm>
            <a:off x="6299791" y="5265698"/>
            <a:ext cx="48686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Learn a tree (hierarchy) of clusters</a:t>
            </a:r>
          </a:p>
        </p:txBody>
      </p:sp>
    </p:spTree>
    <p:extLst>
      <p:ext uri="{BB962C8B-B14F-4D97-AF65-F5344CB8AC3E}">
        <p14:creationId xmlns:p14="http://schemas.microsoft.com/office/powerpoint/2010/main" val="1168923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DDC4-3204-F777-3392-6A18BFB4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028" y="103867"/>
            <a:ext cx="10515600" cy="1325563"/>
          </a:xfrm>
        </p:spPr>
        <p:txBody>
          <a:bodyPr/>
          <a:lstStyle/>
          <a:p>
            <a:r>
              <a:rPr lang="en-US" dirty="0"/>
              <a:t>Hard versus soft clustering [see board]</a:t>
            </a:r>
          </a:p>
        </p:txBody>
      </p:sp>
      <p:pic>
        <p:nvPicPr>
          <p:cNvPr id="6" name="Picture 5" descr="Fig. 2">
            <a:extLst>
              <a:ext uri="{FF2B5EF4-FFF2-40B4-BE49-F238E27FC236}">
                <a16:creationId xmlns:a16="http://schemas.microsoft.com/office/drawing/2014/main" id="{7C7FD251-232E-F082-B05C-0B7A70DC0C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173"/>
          <a:stretch>
            <a:fillRect/>
          </a:stretch>
        </p:blipFill>
        <p:spPr>
          <a:xfrm>
            <a:off x="1037680" y="1429430"/>
            <a:ext cx="9760948" cy="35507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CF8FB6-6E47-B8D3-925B-1E6C61E9FE31}"/>
              </a:ext>
            </a:extLst>
          </p:cNvPr>
          <p:cNvSpPr txBox="1"/>
          <p:nvPr/>
        </p:nvSpPr>
        <p:spPr>
          <a:xfrm>
            <a:off x="762308" y="5225142"/>
            <a:ext cx="10528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Hard clustering:</a:t>
            </a:r>
            <a:r>
              <a:rPr lang="en-US" sz="2400" dirty="0"/>
              <a:t> each datapoint assigned to exactly one cluster</a:t>
            </a:r>
          </a:p>
          <a:p>
            <a:r>
              <a:rPr lang="en-US" sz="2400" b="1" dirty="0"/>
              <a:t>Soft clustering:</a:t>
            </a:r>
            <a:r>
              <a:rPr lang="en-US" sz="2400" dirty="0"/>
              <a:t> each datapoint can belong to &gt;1 cluster with some </a:t>
            </a:r>
            <a:r>
              <a:rPr lang="en-US" sz="2400" dirty="0">
                <a:solidFill>
                  <a:srgbClr val="C00000"/>
                </a:solidFill>
              </a:rPr>
              <a:t>probability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/>
              <a:t>Soft clustering often better for points near cluster boundary</a:t>
            </a:r>
          </a:p>
        </p:txBody>
      </p:sp>
    </p:spTree>
    <p:extLst>
      <p:ext uri="{BB962C8B-B14F-4D97-AF65-F5344CB8AC3E}">
        <p14:creationId xmlns:p14="http://schemas.microsoft.com/office/powerpoint/2010/main" val="1130344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6381</TotalTime>
  <Words>473</Words>
  <Application>Microsoft Macintosh PowerPoint</Application>
  <PresentationFormat>Widescreen</PresentationFormat>
  <Paragraphs>61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Wingdings</vt:lpstr>
      <vt:lpstr>Office Theme</vt:lpstr>
      <vt:lpstr>(Graph) clustering</vt:lpstr>
      <vt:lpstr>Past few classes: random walks on graph</vt:lpstr>
      <vt:lpstr>Today: (graph)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What’s used in practice?</vt:lpstr>
      <vt:lpstr>How to choose number K of clusters?</vt:lpstr>
      <vt:lpstr>How to choose number K of clusters?</vt:lpstr>
      <vt:lpstr>How to initialize cluster centroids wk?</vt:lpstr>
      <vt:lpstr>Mini-batch K-means updates parameters from random sample of datapoints (“mini-batch”)</vt:lpstr>
      <vt:lpstr>Runtime for k-means variants</vt:lpstr>
      <vt:lpstr>Efficient k-means variants used in single cell</vt:lpstr>
      <vt:lpstr>Many variants of k-means / clustering problems</vt:lpstr>
      <vt:lpstr>Hard versus soft clustering [see board]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Uthsav Chitra</dc:creator>
  <cp:lastModifiedBy>Uthsav Chitra</cp:lastModifiedBy>
  <cp:revision>22</cp:revision>
  <dcterms:created xsi:type="dcterms:W3CDTF">2026-08-21T16:27:19Z</dcterms:created>
  <dcterms:modified xsi:type="dcterms:W3CDTF">2026-10-29T18:31:32Z</dcterms:modified>
</cp:coreProperties>
</file>
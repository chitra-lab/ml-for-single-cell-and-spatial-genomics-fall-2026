
<file path=[Content_Types].xml><?xml version="1.0" encoding="utf-8"?>
<Types xmlns="http://schemas.openxmlformats.org/package/2006/content-types">
  <Default Extension="jpeg" ContentType="image/jpeg"/>
  <Default Extension="org&amp;utm_campaign=index&amp;utm_content=thumbnail_unscaled&amp;_=20200413101227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1920" r:id="rId3"/>
    <p:sldId id="275" r:id="rId4"/>
    <p:sldId id="279" r:id="rId5"/>
    <p:sldId id="280" r:id="rId6"/>
    <p:sldId id="281" r:id="rId7"/>
    <p:sldId id="274" r:id="rId8"/>
    <p:sldId id="284" r:id="rId9"/>
    <p:sldId id="301" r:id="rId10"/>
    <p:sldId id="283" r:id="rId11"/>
    <p:sldId id="285" r:id="rId12"/>
    <p:sldId id="286" r:id="rId13"/>
    <p:sldId id="293" r:id="rId14"/>
    <p:sldId id="1919" r:id="rId15"/>
    <p:sldId id="303" r:id="rId16"/>
    <p:sldId id="294" r:id="rId17"/>
    <p:sldId id="305" r:id="rId18"/>
    <p:sldId id="295" r:id="rId19"/>
    <p:sldId id="298" r:id="rId20"/>
    <p:sldId id="309" r:id="rId21"/>
    <p:sldId id="299" r:id="rId22"/>
    <p:sldId id="1918" r:id="rId23"/>
    <p:sldId id="1914" r:id="rId24"/>
    <p:sldId id="1912" r:id="rId25"/>
    <p:sldId id="1913" r:id="rId26"/>
    <p:sldId id="1921" r:id="rId27"/>
    <p:sldId id="1915" r:id="rId28"/>
    <p:sldId id="1916" r:id="rId29"/>
    <p:sldId id="272" r:id="rId30"/>
    <p:sldId id="27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169"/>
    <p:restoredTop sz="96081"/>
  </p:normalViewPr>
  <p:slideViewPr>
    <p:cSldViewPr snapToGrid="0">
      <p:cViewPr varScale="1">
        <p:scale>
          <a:sx n="79" d="100"/>
          <a:sy n="79" d="100"/>
        </p:scale>
        <p:origin x="232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A3A4B-C475-AC41-80A2-C8FBF29EFC4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98662-54CD-334A-8FC1-72498E715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7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D0C5-9D17-D4D8-EC9B-9DF04ACF4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DC88-10B4-F750-AC44-E729E04D9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B95F0-5372-4D04-BED8-F17548B4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97B0-AE13-A29D-9812-8718B79F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5E85-96E9-DBDC-A9EF-7EEA5CAF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7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D76B-06B1-3F2B-274D-BEE6D49D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D93A-49EC-A99E-B631-7F0EC0C89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CA1D5-BBF9-8226-6301-E5B33F28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85E90-2F42-D469-FFA0-C17E513D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6458B-F100-719E-0C5B-13C0D919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4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908F-D29E-ADB0-29E6-AB52BF8A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30F2E-159D-0C74-BFF2-6A1B8F13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FBCA4-7878-0F9D-4302-92B44833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FF70-CFF1-D877-7025-46CF92DB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DD6A-DC91-853D-E5F4-17DA704D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0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7C9F-6771-A031-3133-3BDF9D8A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972F-B36B-2EBF-5A5A-4A4CBD8E8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412C0-B595-B41B-0C62-CF3EA18EF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01517-2DA0-8DFD-6197-65568F5F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44102-D067-87DC-46D9-BE23A2DF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B02A-69C6-68D7-EA42-32ECFB5F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252F-8EA0-DB02-984A-DF10B3D0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A2CC-A824-2CE8-0994-6C1804917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43AFF-739C-287D-ABA9-D638ED671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B659F-572C-FB4F-D410-5A42D9D78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E0216-C64A-FC25-B7F0-C0C512A00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ABB41-5577-9895-B674-C2D218F4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CA9FF-94C3-CFC1-0780-B9E4999A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47E25-7D91-2E49-3BB8-21183FDB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6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B647-0A36-B457-E4AA-B1A0B633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4CCFA-8BF5-E755-6F6F-23DFEB67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E485D-20E2-1FE9-0AB3-4C62F89C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0189E-538E-0430-E9CA-771CAF3C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7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44922-F25A-E745-727F-697DAE64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DC4B9-2963-3CEE-421D-FBC2E244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C8F3A-E110-1EA2-3A2B-7644C500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0154-ED77-45DB-D30B-3D73B357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9B2D-D01F-6F0A-4311-AB65E301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53A96-01C3-3B42-9E4C-4D85757D9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B3AED-8769-9E3B-47F1-6AF6BA9C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B0E22-3820-893D-BE4D-C466E9AF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9384-339F-9F66-BA39-E8A7C9C2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4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46A0-C330-1F46-943A-A3C19A52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23F32-ADD4-CF44-9166-49A4AC3AF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DA70A-FD78-D477-CD46-05A23552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14859-39E4-100E-C18D-99658110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C1733-3420-6D94-B2F2-1EB45398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C7725-D049-83AB-D02D-AED04357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1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DFE6-38F8-8F22-C3AE-C24EB49E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C0FCB-35C1-7DF1-F960-4130D2FEC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FB729-8601-CD41-633D-0FC77D6E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BD19-0BD5-60AB-62F2-39599A2E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CDF2-34F6-6876-8791-9A3B3168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5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746E4-AA3F-826F-AC03-16CAC5472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4686E-DBDC-36FF-4596-7953E5B8C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B610D-9467-D256-7715-BC3730EC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BFA48-0023-2370-08AA-A353AB46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5DECC-BF40-F0A5-690D-BA7EAEEE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5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72AF4-6821-071A-05CD-68B02B35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A601-AD01-28BD-20CF-59FF56B9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CC83-2FD5-C301-30A1-FE6667814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22A29-4E7B-2C41-B1A1-9A7F1252260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F9AAB-DD8F-DECC-BFCF-15705E312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0D01-69DE-B101-3BA0-416BC5080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1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org&amp;utm_campaign=index&amp;utm_content=thumbnail_unscaled&amp;_=20200413101227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40280"/>
            <a:ext cx="10360152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400" b="0" i="0" dirty="0">
                <a:solidFill>
                  <a:srgbClr val="000000"/>
                </a:solidFill>
                <a:latin typeface="+mj-lt"/>
                <a:cs typeface="+mj-lt"/>
              </a:rPr>
              <a:t>Probabilistic Matrix Factorization Models</a:t>
            </a:r>
            <a:r>
              <a:rPr lang="en-US" sz="4400" b="0" i="0" dirty="0">
                <a:solidFill>
                  <a:srgbClr val="000000"/>
                </a:solidFill>
                <a:latin typeface="+mj-lt"/>
                <a:cs typeface="+mj-lt"/>
              </a:rPr>
              <a:t> </a:t>
            </a:r>
            <a:br>
              <a:rPr lang="en-US" sz="4400" b="0" i="0" dirty="0">
                <a:solidFill>
                  <a:srgbClr val="000000"/>
                </a:solidFill>
                <a:latin typeface="+mj-lt"/>
                <a:cs typeface="+mj-lt"/>
              </a:rPr>
            </a:br>
            <a:r>
              <a:rPr lang="en-US" sz="4400" b="0" i="0" dirty="0">
                <a:solidFill>
                  <a:srgbClr val="000000"/>
                </a:solidFill>
                <a:latin typeface="+mj-lt"/>
                <a:cs typeface="+mj-lt"/>
              </a:rPr>
              <a:t>+ In-class lab</a:t>
            </a:r>
            <a:endParaRPr sz="4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6015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+mn-lt"/>
                <a:cs typeface="+mn-lt"/>
              </a:rPr>
              <a:t>Uthsav </a:t>
            </a: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Chitra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Johns Hopkins University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September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F497-BB40-11B5-41E8-9A433466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16FF6C-A3A2-CC70-ED92-E0A8BBDA70EF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Last class: Non-negative matrix factorization (NMF)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53F81-5A5B-4B4F-D439-04B4F3F166CB}"/>
              </a:ext>
            </a:extLst>
          </p:cNvPr>
          <p:cNvSpPr txBox="1"/>
          <p:nvPr/>
        </p:nvSpPr>
        <p:spPr>
          <a:xfrm>
            <a:off x="141316" y="7614458"/>
            <a:ext cx="1088136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NMF factorizes Y ≈ WH with W, H ≥ 0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additive, parts-based, interpretable gene programs.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Objective: Frobenius or KL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same nonnegativity, different noise model.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Algorithms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multiplicative updates (simple, monotone) and ANLS / HALS (faster); alternating, non-convex.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Initialization &amp; K matter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seed-dependent → use NNDSVD and consensus; choose K by stability.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 err="1">
                <a:solidFill>
                  <a:srgbClr val="000000"/>
                </a:solidFill>
                <a:latin typeface="+mn-lt"/>
                <a:cs typeface="+mn-lt"/>
              </a:rPr>
              <a:t>cNMF</a:t>
            </a: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robust programs; separates cell-type identity from cellular activity.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LIGER / </a:t>
            </a:r>
            <a:r>
              <a:rPr sz="1900" b="1" i="0" dirty="0" err="1">
                <a:solidFill>
                  <a:srgbClr val="000000"/>
                </a:solidFill>
                <a:latin typeface="+mn-lt"/>
                <a:cs typeface="+mn-lt"/>
              </a:rPr>
              <a:t>iNMF</a:t>
            </a: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shared + dataset-specific factors integrate batches, species, and modalities.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Big picture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NMF is one constrained factor model — a gateway to factor analysis and GLM-PCA.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33AA6C-0A47-07D9-303F-420B14AD7A02}"/>
              </a:ext>
            </a:extLst>
          </p:cNvPr>
          <p:cNvGrpSpPr/>
          <p:nvPr/>
        </p:nvGrpSpPr>
        <p:grpSpPr>
          <a:xfrm>
            <a:off x="519531" y="2936195"/>
            <a:ext cx="5065776" cy="2606040"/>
            <a:chOff x="3538728" y="2926080"/>
            <a:chExt cx="5065776" cy="26060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43E8E5-1954-DF95-5E3E-027063FFAC69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79A6F0-B0D2-D961-7587-ACCC26DAD674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3000" b="0" i="1">
                  <a:solidFill>
                    <a:srgbClr val="000000"/>
                  </a:solidFill>
                  <a:latin typeface="Cambria Math"/>
                  <a:cs typeface="Cambria Math"/>
                </a:rPr>
                <a:t>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53793-8850-A01D-7E2E-61BCADEB70D3}"/>
                </a:ext>
              </a:extLst>
            </p:cNvPr>
            <p:cNvSpPr txBox="1"/>
            <p:nvPr/>
          </p:nvSpPr>
          <p:spPr>
            <a:xfrm>
              <a:off x="5312664" y="3753612"/>
              <a:ext cx="457200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800" b="0" i="0">
                  <a:solidFill>
                    <a:srgbClr val="000000"/>
                  </a:solidFill>
                  <a:latin typeface="Cambria Math"/>
                  <a:cs typeface="Cambria Math"/>
                </a:rPr>
                <a:t>≈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0DEA01-087F-72E2-DDFA-76C2BAC460F0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9" name="Connector 9">
              <a:extLst>
                <a:ext uri="{FF2B5EF4-FFF2-40B4-BE49-F238E27FC236}">
                  <a16:creationId xmlns:a16="http://schemas.microsoft.com/office/drawing/2014/main" id="{FB794A8A-4D2E-FDFF-DAF2-29D938998831}"/>
                </a:ext>
              </a:extLst>
            </p:cNvPr>
            <p:cNvCxnSpPr/>
            <p:nvPr/>
          </p:nvCxnSpPr>
          <p:spPr>
            <a:xfrm>
              <a:off x="60350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10">
              <a:extLst>
                <a:ext uri="{FF2B5EF4-FFF2-40B4-BE49-F238E27FC236}">
                  <a16:creationId xmlns:a16="http://schemas.microsoft.com/office/drawing/2014/main" id="{2D2A90CB-23C6-D2D2-74AF-2A1D5D7A3B20}"/>
                </a:ext>
              </a:extLst>
            </p:cNvPr>
            <p:cNvCxnSpPr/>
            <p:nvPr/>
          </p:nvCxnSpPr>
          <p:spPr>
            <a:xfrm>
              <a:off x="62636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1">
              <a:extLst>
                <a:ext uri="{FF2B5EF4-FFF2-40B4-BE49-F238E27FC236}">
                  <a16:creationId xmlns:a16="http://schemas.microsoft.com/office/drawing/2014/main" id="{C5E83DFA-F8C5-DF2E-126E-628AF03C2BD4}"/>
                </a:ext>
              </a:extLst>
            </p:cNvPr>
            <p:cNvCxnSpPr/>
            <p:nvPr/>
          </p:nvCxnSpPr>
          <p:spPr>
            <a:xfrm>
              <a:off x="64922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F2A884-2CEB-C1EA-A20C-E5EDCCC81A17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D2F8BC-EA26-A7C2-7E1A-75806479E815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4" name="Connector 14">
              <a:extLst>
                <a:ext uri="{FF2B5EF4-FFF2-40B4-BE49-F238E27FC236}">
                  <a16:creationId xmlns:a16="http://schemas.microsoft.com/office/drawing/2014/main" id="{E54CD695-EEEA-982A-A04D-418F23131AEB}"/>
                </a:ext>
              </a:extLst>
            </p:cNvPr>
            <p:cNvCxnSpPr/>
            <p:nvPr/>
          </p:nvCxnSpPr>
          <p:spPr>
            <a:xfrm>
              <a:off x="6867144" y="31546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5">
              <a:extLst>
                <a:ext uri="{FF2B5EF4-FFF2-40B4-BE49-F238E27FC236}">
                  <a16:creationId xmlns:a16="http://schemas.microsoft.com/office/drawing/2014/main" id="{1951D08B-A2BF-1CCB-0CD1-A78939F53511}"/>
                </a:ext>
              </a:extLst>
            </p:cNvPr>
            <p:cNvCxnSpPr/>
            <p:nvPr/>
          </p:nvCxnSpPr>
          <p:spPr>
            <a:xfrm>
              <a:off x="6867144" y="33832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6">
              <a:extLst>
                <a:ext uri="{FF2B5EF4-FFF2-40B4-BE49-F238E27FC236}">
                  <a16:creationId xmlns:a16="http://schemas.microsoft.com/office/drawing/2014/main" id="{61F6B4EE-0CE1-5AD4-3EF0-3568E46423B3}"/>
                </a:ext>
              </a:extLst>
            </p:cNvPr>
            <p:cNvCxnSpPr/>
            <p:nvPr/>
          </p:nvCxnSpPr>
          <p:spPr>
            <a:xfrm>
              <a:off x="6867144" y="36118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A8E6B3-68BB-CCCE-D1FC-257728624E69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0CA1F9-ECF3-F7F6-26B1-5AD779539CB8}"/>
                </a:ext>
              </a:extLst>
            </p:cNvPr>
            <p:cNvSpPr txBox="1"/>
            <p:nvPr/>
          </p:nvSpPr>
          <p:spPr>
            <a:xfrm>
              <a:off x="3538728" y="522122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Y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cells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genes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688488-25EE-468C-BAFE-2347C577937C}"/>
                </a:ext>
              </a:extLst>
            </p:cNvPr>
            <p:cNvSpPr txBox="1"/>
            <p:nvPr/>
          </p:nvSpPr>
          <p:spPr>
            <a:xfrm>
              <a:off x="5669279" y="5221224"/>
              <a:ext cx="118872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621089-B861-3B84-0C10-BC9849020FF5}"/>
                </a:ext>
              </a:extLst>
            </p:cNvPr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710BDE-22D9-C808-DA67-637C3230E1D4}"/>
                  </a:ext>
                </a:extLst>
              </p:cNvPr>
              <p:cNvSpPr txBox="1"/>
              <p:nvPr/>
            </p:nvSpPr>
            <p:spPr>
              <a:xfrm>
                <a:off x="-724593" y="934974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US" sz="2500" b="1" dirty="0"/>
                  <a:t>NMF problem</a:t>
                </a:r>
                <a:r>
                  <a:rPr lang="en-US" sz="2500" b="0" dirty="0"/>
                  <a:t>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500" b="0" i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500" b="0" i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 ≥ 0</m:t>
                        </m:r>
                      </m:lim>
                    </m:limLow>
                    <m:r>
                      <a:rPr lang="en-US" sz="2500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𝑊𝐻</m:t>
                            </m:r>
                          </m:e>
                        </m:d>
                      </m:e>
                    </m:d>
                    <m:r>
                      <a:rPr lang="en-US" sz="2500" b="0" i="1">
                        <a:latin typeface="Cambria Math" panose="02040503050406030204" pitchFamily="18" charset="0"/>
                      </a:rPr>
                      <m:t>= 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500" b="0" i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500" b="0" i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5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5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5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b="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500" b="0" i="0">
                                        <a:latin typeface="Cambria Math" panose="02040503050406030204" pitchFamily="18" charset="0"/>
                                      </a:rPr>
                                      <m:t>ij</m:t>
                                    </m:r>
                                  </m:sub>
                                </m:sSub>
                                <m:r>
                                  <a:rPr lang="en-US" sz="2500" b="0" i="1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sSub>
                                  <m:sSubPr>
                                    <m:ctrlPr>
                                      <a:rPr lang="en-US" sz="25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5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500" b="0" i="1">
                                            <a:latin typeface="Cambria Math" panose="02040503050406030204" pitchFamily="18" charset="0"/>
                                          </a:rPr>
                                          <m:t>𝑊𝐻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500" b="0" i="0">
                                        <a:latin typeface="Cambria Math" panose="02040503050406030204" pitchFamily="18" charset="0"/>
                                      </a:rPr>
                                      <m:t>ij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500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710BDE-22D9-C808-DA67-637C3230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4593" y="934974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48571" b="-8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996E788-58EE-4300-22F4-8618286F70EA}"/>
              </a:ext>
            </a:extLst>
          </p:cNvPr>
          <p:cNvSpPr txBox="1"/>
          <p:nvPr/>
        </p:nvSpPr>
        <p:spPr>
          <a:xfrm>
            <a:off x="6096000" y="2136709"/>
            <a:ext cx="6003919" cy="4311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Difficult to solve: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No unique </a:t>
            </a:r>
            <a:r>
              <a:rPr lang="en-US" sz="2500" dirty="0" err="1">
                <a:solidFill>
                  <a:srgbClr val="000000"/>
                </a:solidFill>
                <a:cs typeface="+mn-lt"/>
              </a:rPr>
              <a:t>soln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, nonconvex</a:t>
            </a:r>
          </a:p>
          <a:p>
            <a:pPr marL="274320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Algorithms: (1)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multiplicative updates (simple, monotone) and </a:t>
            </a:r>
            <a:r>
              <a:rPr lang="en-US" sz="2500" b="1" dirty="0">
                <a:solidFill>
                  <a:srgbClr val="000000"/>
                </a:solidFill>
                <a:cs typeface="+mn-lt"/>
              </a:rPr>
              <a:t>(2)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 alternating non-negative least squares (faster) </a:t>
            </a:r>
          </a:p>
          <a:p>
            <a:pPr marL="731520" lvl="1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+mn-lt"/>
              </a:rPr>
              <a:t>Often want to use many initializations</a:t>
            </a:r>
          </a:p>
          <a:p>
            <a:pPr marL="274320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Many variants used in practice!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 </a:t>
            </a:r>
          </a:p>
          <a:p>
            <a:pPr marL="731520" lvl="1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+mn-lt"/>
              </a:rPr>
              <a:t>consensus (</a:t>
            </a:r>
            <a:r>
              <a:rPr lang="en-US" sz="2000" dirty="0" err="1">
                <a:solidFill>
                  <a:srgbClr val="000000"/>
                </a:solidFill>
                <a:cs typeface="+mn-lt"/>
              </a:rPr>
              <a:t>cNMF</a:t>
            </a:r>
            <a:r>
              <a:rPr lang="en-US" sz="2000" dirty="0">
                <a:solidFill>
                  <a:srgbClr val="000000"/>
                </a:solidFill>
                <a:cs typeface="+mn-lt"/>
              </a:rPr>
              <a:t>; many initializations); multiple samples/data modalities (LIGER, </a:t>
            </a:r>
            <a:r>
              <a:rPr lang="en-US" sz="2000" dirty="0" err="1">
                <a:solidFill>
                  <a:srgbClr val="000000"/>
                </a:solidFill>
                <a:cs typeface="+mn-lt"/>
              </a:rPr>
              <a:t>scINSIGHT</a:t>
            </a:r>
            <a:r>
              <a:rPr lang="en-US" sz="2000" dirty="0">
                <a:solidFill>
                  <a:srgbClr val="000000"/>
                </a:solidFill>
                <a:cs typeface="+mn-lt"/>
              </a:rPr>
              <a:t>, …)</a:t>
            </a:r>
            <a:endParaRPr lang="en-US" sz="2000" b="1" dirty="0">
              <a:solidFill>
                <a:srgbClr val="000000"/>
              </a:solidFill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241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AEF4-EB1C-F0A9-F51B-E19DA2F4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8522484-8CEB-71B9-0019-B5CACCF0BA04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76161C-7A2E-C813-C66D-10310C6B060F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44348D-5549-4065-A9D3-D19E3E109F3E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4DE6C2-7B45-E884-4C51-F70237B323E7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21056D-742D-D025-7201-2DD734685BA4}"/>
              </a:ext>
            </a:extLst>
          </p:cNvPr>
          <p:cNvCxnSpPr/>
          <p:nvPr/>
        </p:nvCxnSpPr>
        <p:spPr>
          <a:xfrm flipH="1">
            <a:off x="830259" y="3445726"/>
            <a:ext cx="418678" cy="1193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9A4E40-5B70-423B-4E81-EEA5539CDA70}"/>
              </a:ext>
            </a:extLst>
          </p:cNvPr>
          <p:cNvSpPr txBox="1"/>
          <p:nvPr/>
        </p:nvSpPr>
        <p:spPr>
          <a:xfrm>
            <a:off x="307456" y="4712952"/>
            <a:ext cx="3401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Entry y</a:t>
            </a:r>
            <a:r>
              <a:rPr lang="en-US" sz="2500" baseline="-25000" dirty="0"/>
              <a:t>ij</a:t>
            </a:r>
            <a:r>
              <a:rPr lang="en-US" sz="2500" dirty="0"/>
              <a:t> = number of transcripts (“UMI count”) of gene j in cell </a:t>
            </a:r>
            <a:r>
              <a:rPr lang="en-US" sz="2500" dirty="0" err="1"/>
              <a:t>i</a:t>
            </a:r>
            <a:endParaRPr lang="en-US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BF66CA-F20B-E177-BC6E-7809C64C2D7B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C3921F-24E0-3777-4FC1-C95E0CED71FF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43124B-FDA4-0559-8C10-DF47DC6BD4F2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 data matrix</a:t>
            </a:r>
          </a:p>
        </p:txBody>
      </p:sp>
    </p:spTree>
    <p:extLst>
      <p:ext uri="{BB962C8B-B14F-4D97-AF65-F5344CB8AC3E}">
        <p14:creationId xmlns:p14="http://schemas.microsoft.com/office/powerpoint/2010/main" val="1809802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257C5-F583-72BB-0DEC-7F65D778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CDC7-886B-5115-5C8E-EA4CA2D9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89DE40-0628-2BA6-0394-923DBB01A2CE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C0DF48-4329-75A7-23DF-C79B622EF313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8BBF84B-5AEB-E2C7-E957-A0944DDF836B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343E77-DC0F-02BA-6665-4D325BE9F2BB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BB06F1-F232-AA07-E0F1-19E68D1A4B49}"/>
              </a:ext>
            </a:extLst>
          </p:cNvPr>
          <p:cNvCxnSpPr/>
          <p:nvPr/>
        </p:nvCxnSpPr>
        <p:spPr>
          <a:xfrm flipH="1">
            <a:off x="830259" y="3445726"/>
            <a:ext cx="418678" cy="1193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218BC5-F085-8F2F-6045-6E481C57B3FB}"/>
              </a:ext>
            </a:extLst>
          </p:cNvPr>
          <p:cNvSpPr txBox="1"/>
          <p:nvPr/>
        </p:nvSpPr>
        <p:spPr>
          <a:xfrm>
            <a:off x="307456" y="4712952"/>
            <a:ext cx="3401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Entry y</a:t>
            </a:r>
            <a:r>
              <a:rPr lang="en-US" sz="2500" baseline="-25000" dirty="0"/>
              <a:t>ij</a:t>
            </a:r>
            <a:r>
              <a:rPr lang="en-US" sz="2500" dirty="0"/>
              <a:t> = number of transcripts (“UMI count”) of gene j in cell </a:t>
            </a:r>
            <a:r>
              <a:rPr lang="en-US" sz="2500" dirty="0" err="1"/>
              <a:t>i</a:t>
            </a:r>
            <a:endParaRPr lang="en-US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4CDFB-0A25-0F3E-F22D-ED603093F77F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F203651-2A7A-6A8C-C2B6-734D21A06B53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987689-E387-BDB6-65FE-C18BFA6FD9C6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Normalization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8B4A3D-C774-8107-8C13-80850C8EB4FB}"/>
              </a:ext>
            </a:extLst>
          </p:cNvPr>
          <p:cNvGrpSpPr/>
          <p:nvPr/>
        </p:nvGrpSpPr>
        <p:grpSpPr>
          <a:xfrm>
            <a:off x="3689184" y="1840384"/>
            <a:ext cx="2650204" cy="2856321"/>
            <a:chOff x="5079130" y="1615913"/>
            <a:chExt cx="2650204" cy="285632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FDAACB8-7834-BD4C-E458-FF007609E3F7}"/>
                </a:ext>
              </a:extLst>
            </p:cNvPr>
            <p:cNvGrpSpPr/>
            <p:nvPr/>
          </p:nvGrpSpPr>
          <p:grpSpPr>
            <a:xfrm>
              <a:off x="5079130" y="1615913"/>
              <a:ext cx="2427890" cy="1951945"/>
              <a:chOff x="447908" y="3366655"/>
              <a:chExt cx="2427890" cy="195194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2F977F6-1DC8-DCE5-64B0-3AD3EE86D8DA}"/>
                  </a:ext>
                </a:extLst>
              </p:cNvPr>
              <p:cNvSpPr/>
              <p:nvPr/>
            </p:nvSpPr>
            <p:spPr>
              <a:xfrm>
                <a:off x="955035" y="3843709"/>
                <a:ext cx="1920763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68BE6F-10ED-95C3-20B0-4514B3B17D90}"/>
                  </a:ext>
                </a:extLst>
              </p:cNvPr>
              <p:cNvSpPr txBox="1"/>
              <p:nvPr/>
            </p:nvSpPr>
            <p:spPr>
              <a:xfrm>
                <a:off x="997527" y="3366655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AA2D92-DD50-C54E-2BAE-880965C42409}"/>
                  </a:ext>
                </a:extLst>
              </p:cNvPr>
              <p:cNvSpPr txBox="1"/>
              <p:nvPr/>
            </p:nvSpPr>
            <p:spPr>
              <a:xfrm rot="16200000">
                <a:off x="151833" y="4139784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BE8E269-D191-29BB-1AD2-D99542D3CACC}"/>
                    </a:ext>
                  </a:extLst>
                </p:cNvPr>
                <p:cNvSpPr txBox="1"/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BE8E269-D191-29BB-1AD2-D99542D3CA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blipFill>
                  <a:blip r:embed="rId2"/>
                  <a:stretch>
                    <a:fillRect l="-529" t="-2381" r="-2646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1EB6C1-9520-0798-9516-276EA4311FC7}"/>
                  </a:ext>
                </a:extLst>
              </p:cNvPr>
              <p:cNvSpPr txBox="1"/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 is a “</a:t>
                </a:r>
                <a:r>
                  <a:rPr lang="en-US" sz="2200" dirty="0" err="1"/>
                  <a:t>pseudocount</a:t>
                </a:r>
                <a:r>
                  <a:rPr lang="en-US" sz="2200" dirty="0"/>
                  <a:t>” (typically c=1)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/>
                  <a:t> is the total count in cell I (“size factor”)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1EB6C1-9520-0798-9516-276EA4311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blipFill>
                <a:blip r:embed="rId3"/>
                <a:stretch>
                  <a:fillRect l="-1859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Arrow 24">
            <a:extLst>
              <a:ext uri="{FF2B5EF4-FFF2-40B4-BE49-F238E27FC236}">
                <a16:creationId xmlns:a16="http://schemas.microsoft.com/office/drawing/2014/main" id="{8D8648AD-91C9-1A84-C7C4-27181AB4DBD8}"/>
              </a:ext>
            </a:extLst>
          </p:cNvPr>
          <p:cNvSpPr/>
          <p:nvPr/>
        </p:nvSpPr>
        <p:spPr>
          <a:xfrm>
            <a:off x="6312418" y="2694131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4C8560-83D0-ABEE-A5DB-9F3943E6A572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0FA97C-1217-5F39-6FC9-ECA6C5BD4623}"/>
              </a:ext>
            </a:extLst>
          </p:cNvPr>
          <p:cNvSpPr/>
          <p:nvPr/>
        </p:nvSpPr>
        <p:spPr>
          <a:xfrm>
            <a:off x="4597681" y="307566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7F9AF17-4DBE-FA43-3BE7-864F5A97B4C0}"/>
                  </a:ext>
                </a:extLst>
              </p:cNvPr>
              <p:cNvSpPr txBox="1"/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7F9AF17-4DBE-FA43-3BE7-864F5A97B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blipFill>
                <a:blip r:embed="rId4"/>
                <a:stretch>
                  <a:fillRect l="-12000" r="-12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A55D31-FF54-D6A0-5EA9-7552781BCB0B}"/>
              </a:ext>
            </a:extLst>
          </p:cNvPr>
          <p:cNvCxnSpPr>
            <a:cxnSpLocks/>
          </p:cNvCxnSpPr>
          <p:nvPr/>
        </p:nvCxnSpPr>
        <p:spPr>
          <a:xfrm flipH="1">
            <a:off x="4238803" y="3519772"/>
            <a:ext cx="421186" cy="6942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58F85AE-A5B5-AE30-1C91-57FE27ED5FA3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 data matrix</a:t>
            </a:r>
          </a:p>
        </p:txBody>
      </p:sp>
    </p:spTree>
    <p:extLst>
      <p:ext uri="{BB962C8B-B14F-4D97-AF65-F5344CB8AC3E}">
        <p14:creationId xmlns:p14="http://schemas.microsoft.com/office/powerpoint/2010/main" val="654449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D792-5F89-5EF3-2911-55E4FFF4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394F-8FA6-ECB5-2748-8C0238D5D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5A95E6-19A2-FD85-C5D4-F53BC1D00E04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EE07A2C-B4F8-1831-61E0-A5D16B517A29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8E26BC-7608-CFD6-8DBB-9047256EB3FA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43F0E21-A514-D60B-4A9B-F13D2F9E455A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B87A96-9D2C-AFAB-0E0A-EFFA75FD751B}"/>
              </a:ext>
            </a:extLst>
          </p:cNvPr>
          <p:cNvCxnSpPr/>
          <p:nvPr/>
        </p:nvCxnSpPr>
        <p:spPr>
          <a:xfrm flipH="1">
            <a:off x="830259" y="3445726"/>
            <a:ext cx="418678" cy="1193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C21551D-15CB-CF41-6681-E61EE54A9117}"/>
              </a:ext>
            </a:extLst>
          </p:cNvPr>
          <p:cNvSpPr txBox="1"/>
          <p:nvPr/>
        </p:nvSpPr>
        <p:spPr>
          <a:xfrm>
            <a:off x="307456" y="4712952"/>
            <a:ext cx="3401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Entry y</a:t>
            </a:r>
            <a:r>
              <a:rPr lang="en-US" sz="2500" baseline="-25000" dirty="0"/>
              <a:t>ij</a:t>
            </a:r>
            <a:r>
              <a:rPr lang="en-US" sz="2500" dirty="0"/>
              <a:t> = number of transcripts (“UMI count”) of gene j in cell </a:t>
            </a:r>
            <a:r>
              <a:rPr lang="en-US" sz="2500" dirty="0" err="1"/>
              <a:t>i</a:t>
            </a:r>
            <a:endParaRPr lang="en-US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471002-2563-D080-D1EE-36A0291562DF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F1C3724-DB02-D465-C683-C2806F39E01D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26C3D-885D-C04F-5B97-67E7364DCC9B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Normalization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F461C1-0FCB-9B89-8B95-1E9C94BCFDA8}"/>
              </a:ext>
            </a:extLst>
          </p:cNvPr>
          <p:cNvGrpSpPr/>
          <p:nvPr/>
        </p:nvGrpSpPr>
        <p:grpSpPr>
          <a:xfrm>
            <a:off x="3689184" y="1840384"/>
            <a:ext cx="2650204" cy="2856321"/>
            <a:chOff x="5079130" y="1615913"/>
            <a:chExt cx="2650204" cy="285632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193EDEC-D218-A35C-04B4-68A492A56EBB}"/>
                </a:ext>
              </a:extLst>
            </p:cNvPr>
            <p:cNvGrpSpPr/>
            <p:nvPr/>
          </p:nvGrpSpPr>
          <p:grpSpPr>
            <a:xfrm>
              <a:off x="5079130" y="1615913"/>
              <a:ext cx="2427890" cy="1951945"/>
              <a:chOff x="447908" y="3366655"/>
              <a:chExt cx="2427890" cy="195194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D3AE36E-CA19-4599-95AE-B695669C2BC9}"/>
                  </a:ext>
                </a:extLst>
              </p:cNvPr>
              <p:cNvSpPr/>
              <p:nvPr/>
            </p:nvSpPr>
            <p:spPr>
              <a:xfrm>
                <a:off x="955035" y="3843709"/>
                <a:ext cx="1920763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170F1F-5AA4-8787-AC11-2D72278E2750}"/>
                  </a:ext>
                </a:extLst>
              </p:cNvPr>
              <p:cNvSpPr txBox="1"/>
              <p:nvPr/>
            </p:nvSpPr>
            <p:spPr>
              <a:xfrm>
                <a:off x="997527" y="3366655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719F1D-594D-7E07-2679-9E5452DD7608}"/>
                  </a:ext>
                </a:extLst>
              </p:cNvPr>
              <p:cNvSpPr txBox="1"/>
              <p:nvPr/>
            </p:nvSpPr>
            <p:spPr>
              <a:xfrm rot="16200000">
                <a:off x="151833" y="4139784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294D353-E912-C3F1-5DA1-ED7914AE529E}"/>
                    </a:ext>
                  </a:extLst>
                </p:cNvPr>
                <p:cNvSpPr txBox="1"/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294D353-E912-C3F1-5DA1-ED7914AE5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blipFill>
                  <a:blip r:embed="rId2"/>
                  <a:stretch>
                    <a:fillRect l="-529" t="-2381" r="-2646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66CB90-EDF8-8A01-DD16-32F912D552DC}"/>
                  </a:ext>
                </a:extLst>
              </p:cNvPr>
              <p:cNvSpPr txBox="1"/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 is a “</a:t>
                </a:r>
                <a:r>
                  <a:rPr lang="en-US" sz="2200" dirty="0" err="1"/>
                  <a:t>pseudocount</a:t>
                </a:r>
                <a:r>
                  <a:rPr lang="en-US" sz="2200" dirty="0"/>
                  <a:t>” (typically c=1)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/>
                  <a:t> is the total count in cell I (“size factor”)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66CB90-EDF8-8A01-DD16-32F912D55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blipFill>
                <a:blip r:embed="rId3"/>
                <a:stretch>
                  <a:fillRect l="-1859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Arrow 24">
            <a:extLst>
              <a:ext uri="{FF2B5EF4-FFF2-40B4-BE49-F238E27FC236}">
                <a16:creationId xmlns:a16="http://schemas.microsoft.com/office/drawing/2014/main" id="{895C8A00-1D30-1F77-6570-E68238B58E24}"/>
              </a:ext>
            </a:extLst>
          </p:cNvPr>
          <p:cNvSpPr/>
          <p:nvPr/>
        </p:nvSpPr>
        <p:spPr>
          <a:xfrm>
            <a:off x="6312418" y="2694131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A634FE-47E4-5CD6-F558-84E76DFB83A4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2E3093-4831-A347-47CD-4FE203C7A526}"/>
              </a:ext>
            </a:extLst>
          </p:cNvPr>
          <p:cNvSpPr/>
          <p:nvPr/>
        </p:nvSpPr>
        <p:spPr>
          <a:xfrm>
            <a:off x="4597681" y="307566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77011D-AB54-9A42-0B2E-6E8745DCD4A5}"/>
                  </a:ext>
                </a:extLst>
              </p:cNvPr>
              <p:cNvSpPr txBox="1"/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77011D-AB54-9A42-0B2E-6E8745DCD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blipFill>
                <a:blip r:embed="rId4"/>
                <a:stretch>
                  <a:fillRect l="-12000" r="-12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71C1B96-375E-D7D7-21F4-23BD1CE84E72}"/>
              </a:ext>
            </a:extLst>
          </p:cNvPr>
          <p:cNvSpPr txBox="1"/>
          <p:nvPr/>
        </p:nvSpPr>
        <p:spPr>
          <a:xfrm>
            <a:off x="7077369" y="941867"/>
            <a:ext cx="26247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Highly variable gene selection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EC3ED10-B26E-F9FB-CC89-CC0CD5B1625F}"/>
              </a:ext>
            </a:extLst>
          </p:cNvPr>
          <p:cNvCxnSpPr>
            <a:cxnSpLocks/>
          </p:cNvCxnSpPr>
          <p:nvPr/>
        </p:nvCxnSpPr>
        <p:spPr>
          <a:xfrm flipH="1">
            <a:off x="4238803" y="3519772"/>
            <a:ext cx="421186" cy="6942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474C1C9-4800-3535-E0BB-927A8C630F37}"/>
              </a:ext>
            </a:extLst>
          </p:cNvPr>
          <p:cNvGrpSpPr/>
          <p:nvPr/>
        </p:nvGrpSpPr>
        <p:grpSpPr>
          <a:xfrm>
            <a:off x="7132016" y="1914934"/>
            <a:ext cx="2091259" cy="1951944"/>
            <a:chOff x="447908" y="3366655"/>
            <a:chExt cx="2091259" cy="195194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649462-0211-9413-5B1D-BD2C3522FDC1}"/>
                </a:ext>
              </a:extLst>
            </p:cNvPr>
            <p:cNvSpPr/>
            <p:nvPr/>
          </p:nvSpPr>
          <p:spPr>
            <a:xfrm>
              <a:off x="1109187" y="3843708"/>
              <a:ext cx="116199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EE243A0-E01A-03AD-8F38-8D52B22925F3}"/>
                </a:ext>
              </a:extLst>
            </p:cNvPr>
            <p:cNvSpPr txBox="1"/>
            <p:nvPr/>
          </p:nvSpPr>
          <p:spPr>
            <a:xfrm>
              <a:off x="997527" y="3366655"/>
              <a:ext cx="154164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J’&lt;J genes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AFE7BBF-544C-CE37-86D9-7A85E995064A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3B1571A-C2D5-D43C-F3EC-8BDDB605D9AA}"/>
              </a:ext>
            </a:extLst>
          </p:cNvPr>
          <p:cNvSpPr txBox="1"/>
          <p:nvPr/>
        </p:nvSpPr>
        <p:spPr>
          <a:xfrm>
            <a:off x="7347459" y="4737297"/>
            <a:ext cx="239796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Typically select top J’=1000-2000 genes according to some metric (e.g. variance)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C9D3B9-AB5C-0B40-989A-877F00E598AE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 data matrix</a:t>
            </a:r>
          </a:p>
        </p:txBody>
      </p:sp>
    </p:spTree>
    <p:extLst>
      <p:ext uri="{BB962C8B-B14F-4D97-AF65-F5344CB8AC3E}">
        <p14:creationId xmlns:p14="http://schemas.microsoft.com/office/powerpoint/2010/main" val="4225585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917A0-33DD-F91C-1DD1-01A10369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C837-2B86-DE1E-FA72-C7DCAC552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F8699E-D19A-9887-31AF-33AF20DC4ABD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75CEB5-A052-C088-4380-85B391085BFD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CCA643-3D84-330D-DFC3-C00DFE63EE55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1F52BA-7679-A430-0F59-FFC6A9FD783F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42ADE2-F389-642E-B2C8-C0F0F1E5947F}"/>
              </a:ext>
            </a:extLst>
          </p:cNvPr>
          <p:cNvCxnSpPr/>
          <p:nvPr/>
        </p:nvCxnSpPr>
        <p:spPr>
          <a:xfrm flipH="1">
            <a:off x="830259" y="3445726"/>
            <a:ext cx="418678" cy="1193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3F7639-69FA-9D6A-9F08-20530630D544}"/>
              </a:ext>
            </a:extLst>
          </p:cNvPr>
          <p:cNvSpPr txBox="1"/>
          <p:nvPr/>
        </p:nvSpPr>
        <p:spPr>
          <a:xfrm>
            <a:off x="307456" y="4712952"/>
            <a:ext cx="3401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Entry y</a:t>
            </a:r>
            <a:r>
              <a:rPr lang="en-US" sz="2500" baseline="-25000" dirty="0"/>
              <a:t>ij</a:t>
            </a:r>
            <a:r>
              <a:rPr lang="en-US" sz="2500" dirty="0"/>
              <a:t> = number of transcripts (“UMI count”) of gene j in cell </a:t>
            </a:r>
            <a:r>
              <a:rPr lang="en-US" sz="2500" dirty="0" err="1"/>
              <a:t>i</a:t>
            </a:r>
            <a:endParaRPr lang="en-US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3D69F6-0A26-3CC4-DA1F-72F28C2BBB49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9F0729F-E970-D533-9BB6-195B30B98EE6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A862A8-D1A3-7363-B6FE-0F858A05CED9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Normalization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8E17F2-C1EF-68A5-CB5B-02AB12FE7449}"/>
              </a:ext>
            </a:extLst>
          </p:cNvPr>
          <p:cNvGrpSpPr/>
          <p:nvPr/>
        </p:nvGrpSpPr>
        <p:grpSpPr>
          <a:xfrm>
            <a:off x="3689184" y="1840384"/>
            <a:ext cx="2650204" cy="2856321"/>
            <a:chOff x="5079130" y="1615913"/>
            <a:chExt cx="2650204" cy="285632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89B872C-A2DB-1AB0-D0E9-E31F8B361435}"/>
                </a:ext>
              </a:extLst>
            </p:cNvPr>
            <p:cNvGrpSpPr/>
            <p:nvPr/>
          </p:nvGrpSpPr>
          <p:grpSpPr>
            <a:xfrm>
              <a:off x="5079130" y="1615913"/>
              <a:ext cx="2427890" cy="1951945"/>
              <a:chOff x="447908" y="3366655"/>
              <a:chExt cx="2427890" cy="195194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1B59CB9-D712-DEDA-142A-D1857365C224}"/>
                  </a:ext>
                </a:extLst>
              </p:cNvPr>
              <p:cNvSpPr/>
              <p:nvPr/>
            </p:nvSpPr>
            <p:spPr>
              <a:xfrm>
                <a:off x="955035" y="3843709"/>
                <a:ext cx="1920763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E894CB-9E13-27EC-629D-8AB4A079E900}"/>
                  </a:ext>
                </a:extLst>
              </p:cNvPr>
              <p:cNvSpPr txBox="1"/>
              <p:nvPr/>
            </p:nvSpPr>
            <p:spPr>
              <a:xfrm>
                <a:off x="997527" y="3366655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689152-DD48-9E07-6A83-58A5932D6BCA}"/>
                  </a:ext>
                </a:extLst>
              </p:cNvPr>
              <p:cNvSpPr txBox="1"/>
              <p:nvPr/>
            </p:nvSpPr>
            <p:spPr>
              <a:xfrm rot="16200000">
                <a:off x="151833" y="4139784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5C863B1-E0ED-F591-CAC6-D844BBF8FCF9}"/>
                    </a:ext>
                  </a:extLst>
                </p:cNvPr>
                <p:cNvSpPr txBox="1"/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5C863B1-E0ED-F591-CAC6-D844BBF8F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blipFill>
                  <a:blip r:embed="rId2"/>
                  <a:stretch>
                    <a:fillRect l="-529" t="-2381" r="-2646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DA4D69-20A9-2CE3-2829-9CA038AF967D}"/>
                  </a:ext>
                </a:extLst>
              </p:cNvPr>
              <p:cNvSpPr txBox="1"/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 is a “</a:t>
                </a:r>
                <a:r>
                  <a:rPr lang="en-US" sz="2200" dirty="0" err="1"/>
                  <a:t>pseudocount</a:t>
                </a:r>
                <a:r>
                  <a:rPr lang="en-US" sz="2200" dirty="0"/>
                  <a:t>” (typically c=1)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/>
                  <a:t> is the total count in cell I (“size factor”)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DA4D69-20A9-2CE3-2829-9CA038AF9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blipFill>
                <a:blip r:embed="rId3"/>
                <a:stretch>
                  <a:fillRect l="-1859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Arrow 24">
            <a:extLst>
              <a:ext uri="{FF2B5EF4-FFF2-40B4-BE49-F238E27FC236}">
                <a16:creationId xmlns:a16="http://schemas.microsoft.com/office/drawing/2014/main" id="{9071A2BF-3CC9-74B9-7E61-041768AE7E64}"/>
              </a:ext>
            </a:extLst>
          </p:cNvPr>
          <p:cNvSpPr/>
          <p:nvPr/>
        </p:nvSpPr>
        <p:spPr>
          <a:xfrm>
            <a:off x="6312418" y="2694131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3C5173-570D-BCC8-C6B8-15ED5D38F0FD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DDE2CF-F6FD-3617-6C26-C5C2512CC07D}"/>
              </a:ext>
            </a:extLst>
          </p:cNvPr>
          <p:cNvSpPr/>
          <p:nvPr/>
        </p:nvSpPr>
        <p:spPr>
          <a:xfrm>
            <a:off x="4597681" y="307566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FF1D68-02C9-00C2-0942-F237ED3B3BD5}"/>
                  </a:ext>
                </a:extLst>
              </p:cNvPr>
              <p:cNvSpPr txBox="1"/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FF1D68-02C9-00C2-0942-F237ED3B3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blipFill>
                <a:blip r:embed="rId4"/>
                <a:stretch>
                  <a:fillRect l="-12000" r="-12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9553CA5-41EC-DB01-528B-5311F59776AB}"/>
              </a:ext>
            </a:extLst>
          </p:cNvPr>
          <p:cNvSpPr txBox="1"/>
          <p:nvPr/>
        </p:nvSpPr>
        <p:spPr>
          <a:xfrm>
            <a:off x="7077369" y="941867"/>
            <a:ext cx="26247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Highly variable gene selection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80472C-8EA1-C639-74D9-66B5DC9565B1}"/>
              </a:ext>
            </a:extLst>
          </p:cNvPr>
          <p:cNvCxnSpPr>
            <a:cxnSpLocks/>
          </p:cNvCxnSpPr>
          <p:nvPr/>
        </p:nvCxnSpPr>
        <p:spPr>
          <a:xfrm flipH="1">
            <a:off x="4238803" y="3519772"/>
            <a:ext cx="421186" cy="6942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D64574-2289-7A7F-EED4-093ACD002225}"/>
              </a:ext>
            </a:extLst>
          </p:cNvPr>
          <p:cNvGrpSpPr/>
          <p:nvPr/>
        </p:nvGrpSpPr>
        <p:grpSpPr>
          <a:xfrm>
            <a:off x="7132016" y="1914934"/>
            <a:ext cx="2091259" cy="1951944"/>
            <a:chOff x="447908" y="3366655"/>
            <a:chExt cx="2091259" cy="195194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C2114AB-5E25-A86F-0FEC-FC0C7748D0F2}"/>
                </a:ext>
              </a:extLst>
            </p:cNvPr>
            <p:cNvSpPr/>
            <p:nvPr/>
          </p:nvSpPr>
          <p:spPr>
            <a:xfrm>
              <a:off x="1109187" y="3843708"/>
              <a:ext cx="116199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AD999E5-958A-E39C-714C-3D8ABDD1082D}"/>
                </a:ext>
              </a:extLst>
            </p:cNvPr>
            <p:cNvSpPr txBox="1"/>
            <p:nvPr/>
          </p:nvSpPr>
          <p:spPr>
            <a:xfrm>
              <a:off x="997527" y="3366655"/>
              <a:ext cx="154164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J’&lt;J genes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F5F26B7-7BD6-B489-7874-4A528C2AC5C5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2DB1085-4C40-6847-6FCC-EC6FDF7310E3}"/>
              </a:ext>
            </a:extLst>
          </p:cNvPr>
          <p:cNvSpPr txBox="1"/>
          <p:nvPr/>
        </p:nvSpPr>
        <p:spPr>
          <a:xfrm>
            <a:off x="7347459" y="4737297"/>
            <a:ext cx="239796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Typically select top J’=1000-2000 genes according to some metric (e.g. variance)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50C7E75F-BE61-F7BE-C6F7-2367D11489E3}"/>
              </a:ext>
            </a:extLst>
          </p:cNvPr>
          <p:cNvSpPr/>
          <p:nvPr/>
        </p:nvSpPr>
        <p:spPr>
          <a:xfrm>
            <a:off x="9250380" y="2634315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254C98-F989-B5FA-1847-8594A7B97570}"/>
              </a:ext>
            </a:extLst>
          </p:cNvPr>
          <p:cNvGrpSpPr/>
          <p:nvPr/>
        </p:nvGrpSpPr>
        <p:grpSpPr>
          <a:xfrm>
            <a:off x="9997221" y="1830989"/>
            <a:ext cx="2045543" cy="1984965"/>
            <a:chOff x="447908" y="3333634"/>
            <a:chExt cx="2045543" cy="198496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60AF640-FE88-888A-E46B-D4737F4F3744}"/>
                </a:ext>
              </a:extLst>
            </p:cNvPr>
            <p:cNvSpPr/>
            <p:nvPr/>
          </p:nvSpPr>
          <p:spPr>
            <a:xfrm>
              <a:off x="1109187" y="3843708"/>
              <a:ext cx="745732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F2DB2B-7454-2094-43DF-97F06FC22316}"/>
                </a:ext>
              </a:extLst>
            </p:cNvPr>
            <p:cNvSpPr txBox="1"/>
            <p:nvPr/>
          </p:nvSpPr>
          <p:spPr>
            <a:xfrm>
              <a:off x="886921" y="3333634"/>
              <a:ext cx="160653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10-20 PCs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B3DDDE-F265-0C9A-99B5-CEC3852C790C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1A0E3CE-B345-622F-2090-A9E3DE7595FB}"/>
              </a:ext>
            </a:extLst>
          </p:cNvPr>
          <p:cNvSpPr txBox="1"/>
          <p:nvPr/>
        </p:nvSpPr>
        <p:spPr>
          <a:xfrm>
            <a:off x="10550306" y="595066"/>
            <a:ext cx="18656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Principal component analysis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D8CD5A-ADCB-5873-DD91-966A67394E4C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 data matrix</a:t>
            </a:r>
          </a:p>
        </p:txBody>
      </p:sp>
    </p:spTree>
    <p:extLst>
      <p:ext uri="{BB962C8B-B14F-4D97-AF65-F5344CB8AC3E}">
        <p14:creationId xmlns:p14="http://schemas.microsoft.com/office/powerpoint/2010/main" val="258739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FD12-B0B7-AED7-E8FB-CFC785F3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913B-D773-95A8-14E4-ECC5A5DC2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Issues with </a:t>
            </a:r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DDCBCF-0B45-D74A-1E9A-4F601B73DE0A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31CF627-F44E-E77B-F7D0-DBFDA3A7F4DA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A3F3DC0-DCAF-9370-BBBF-E118FEE64B71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65000"/>
                    </a:schemeClr>
                  </a:solidFill>
                </a:rPr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060526-B452-D2B1-1282-1AACEE4F7933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N cells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5C5452F-63E3-6DEA-7544-02295F55F04B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732BFEF1-A80B-356A-2E53-42DFF9327FCF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C6AC8-56ED-E428-50EA-646C798C991F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rgbClr val="FF0000"/>
                </a:solidFill>
              </a:rPr>
              <a:t>Normalization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10CDC8-80F2-FD8D-D958-764F2C2686C7}"/>
              </a:ext>
            </a:extLst>
          </p:cNvPr>
          <p:cNvGrpSpPr/>
          <p:nvPr/>
        </p:nvGrpSpPr>
        <p:grpSpPr>
          <a:xfrm>
            <a:off x="3689184" y="1840384"/>
            <a:ext cx="2427890" cy="1951945"/>
            <a:chOff x="447908" y="3366655"/>
            <a:chExt cx="2427890" cy="195194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435789-9F89-0E8A-B44A-6F4532505E2C}"/>
                </a:ext>
              </a:extLst>
            </p:cNvPr>
            <p:cNvSpPr/>
            <p:nvPr/>
          </p:nvSpPr>
          <p:spPr>
            <a:xfrm>
              <a:off x="955035" y="3843709"/>
              <a:ext cx="1920763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02C081-A7D1-16EE-AB2D-20FD9F18AF5C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10AAA99-91EF-32E8-398A-857661B23BA6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84E3A33-DD17-0678-BE5A-0E0213F941A3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4EEA18-DB96-6E1F-8824-231694877ADA}"/>
              </a:ext>
            </a:extLst>
          </p:cNvPr>
          <p:cNvSpPr/>
          <p:nvPr/>
        </p:nvSpPr>
        <p:spPr>
          <a:xfrm>
            <a:off x="4597681" y="307566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26EBFA-328E-CA91-FF48-9EF0C89A42F6}"/>
                  </a:ext>
                </a:extLst>
              </p:cNvPr>
              <p:cNvSpPr txBox="1"/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26EBFA-328E-CA91-FF48-9EF0C89A4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blipFill>
                <a:blip r:embed="rId2"/>
                <a:stretch>
                  <a:fillRect l="-12000" r="-12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CA58C6C-EEDE-ED0E-BA78-249F76719BEE}"/>
              </a:ext>
            </a:extLst>
          </p:cNvPr>
          <p:cNvCxnSpPr>
            <a:cxnSpLocks/>
          </p:cNvCxnSpPr>
          <p:nvPr/>
        </p:nvCxnSpPr>
        <p:spPr>
          <a:xfrm flipH="1">
            <a:off x="4398706" y="3519772"/>
            <a:ext cx="261283" cy="47289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25E53A3-8B67-2F55-6705-1496ECF45137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bg1">
                    <a:lumMod val="65000"/>
                  </a:schemeClr>
                </a:solidFill>
              </a:rPr>
              <a:t>Original data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38F26-7A17-2420-02EE-AFE70835C857}"/>
              </a:ext>
            </a:extLst>
          </p:cNvPr>
          <p:cNvSpPr txBox="1"/>
          <p:nvPr/>
        </p:nvSpPr>
        <p:spPr>
          <a:xfrm>
            <a:off x="6571135" y="2582250"/>
            <a:ext cx="53402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Distorts counts – makes zeros much smaller than non-zeros!</a:t>
            </a:r>
          </a:p>
        </p:txBody>
      </p:sp>
      <p:pic>
        <p:nvPicPr>
          <p:cNvPr id="1026" name="Picture 2" descr="Fig. 2">
            <a:extLst>
              <a:ext uri="{FF2B5EF4-FFF2-40B4-BE49-F238E27FC236}">
                <a16:creationId xmlns:a16="http://schemas.microsoft.com/office/drawing/2014/main" id="{80D613D3-9E37-113B-14AD-735B41611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394" y="4602615"/>
            <a:ext cx="9107181" cy="2245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04EB19-3C2A-F611-AC77-27298A90EDF6}"/>
                  </a:ext>
                </a:extLst>
              </p:cNvPr>
              <p:cNvSpPr txBox="1"/>
              <p:nvPr/>
            </p:nvSpPr>
            <p:spPr>
              <a:xfrm>
                <a:off x="3015134" y="4716681"/>
                <a:ext cx="632353" cy="508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04EB19-3C2A-F611-AC77-27298A90E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134" y="4716681"/>
                <a:ext cx="632353" cy="508024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D82BAA-514C-71F3-A75F-1F583DA697A0}"/>
                  </a:ext>
                </a:extLst>
              </p:cNvPr>
              <p:cNvSpPr txBox="1"/>
              <p:nvPr/>
            </p:nvSpPr>
            <p:spPr>
              <a:xfrm>
                <a:off x="5416561" y="4626241"/>
                <a:ext cx="1978106" cy="827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D82BAA-514C-71F3-A75F-1F583DA69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61" y="4626241"/>
                <a:ext cx="1978106" cy="82715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952D0C-DE20-2E1F-B0AD-1C79E8C9DBB0}"/>
                  </a:ext>
                </a:extLst>
              </p:cNvPr>
              <p:cNvSpPr txBox="1"/>
              <p:nvPr/>
            </p:nvSpPr>
            <p:spPr>
              <a:xfrm>
                <a:off x="8389751" y="4686560"/>
                <a:ext cx="2659382" cy="827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952D0C-DE20-2E1F-B0AD-1C79E8C9D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751" y="4686560"/>
                <a:ext cx="2659382" cy="827150"/>
              </a:xfrm>
              <a:prstGeom prst="rect">
                <a:avLst/>
              </a:prstGeom>
              <a:blipFill>
                <a:blip r:embed="rId6"/>
                <a:stretch>
                  <a:fillRect r="-474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3812B1-2C68-C9FA-CD9B-7AE05EFC058D}"/>
                  </a:ext>
                </a:extLst>
              </p:cNvPr>
              <p:cNvSpPr txBox="1"/>
              <p:nvPr/>
            </p:nvSpPr>
            <p:spPr>
              <a:xfrm>
                <a:off x="3965853" y="4004823"/>
                <a:ext cx="2381678" cy="5291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3812B1-2C68-C9FA-CD9B-7AE05EFC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853" y="4004823"/>
                <a:ext cx="2381678" cy="529119"/>
              </a:xfrm>
              <a:prstGeom prst="rect">
                <a:avLst/>
              </a:prstGeom>
              <a:blipFill>
                <a:blip r:embed="rId7"/>
                <a:stretch>
                  <a:fillRect l="-1064" t="-2326" r="-3191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06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54529-2FBF-86F5-E333-785D773B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48FCD-1F38-D7E3-B25D-D04B3343B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Issues with </a:t>
            </a:r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D52A29-18BA-AB3F-956D-2A66C6E106FD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7CF2D4-95F6-7393-0326-8AB8F659339C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7400F9-0CDF-CECB-0ABF-E27FF59F667A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65000"/>
                    </a:schemeClr>
                  </a:solidFill>
                </a:rPr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BF2525-3B57-7245-DB66-D71F3524FE21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N cells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FFADF95-4AD9-3F73-8721-5E2DEEAABE82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EE1596D7-C203-653A-F60C-A7476E213F1E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363593-ACA9-46E8-B5E5-640D0DC72BE1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bg1">
                    <a:lumMod val="65000"/>
                  </a:schemeClr>
                </a:solidFill>
              </a:rPr>
              <a:t>Normalization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299229-D439-B097-1C4C-EB0A095CF103}"/>
              </a:ext>
            </a:extLst>
          </p:cNvPr>
          <p:cNvGrpSpPr/>
          <p:nvPr/>
        </p:nvGrpSpPr>
        <p:grpSpPr>
          <a:xfrm>
            <a:off x="3689184" y="1840384"/>
            <a:ext cx="2427890" cy="1951945"/>
            <a:chOff x="447908" y="3366655"/>
            <a:chExt cx="2427890" cy="195194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EAB45D-90BD-F46D-4928-6C94F1716CE2}"/>
                </a:ext>
              </a:extLst>
            </p:cNvPr>
            <p:cNvSpPr/>
            <p:nvPr/>
          </p:nvSpPr>
          <p:spPr>
            <a:xfrm>
              <a:off x="955035" y="3843709"/>
              <a:ext cx="1920763" cy="1474891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5F61D5-D195-9344-A134-CE38A14FDE37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65000"/>
                    </a:schemeClr>
                  </a:solidFill>
                </a:rPr>
                <a:t>J genes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9334BE-7DF3-5985-BB32-EB108CEF54A3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N cells</a:t>
              </a:r>
            </a:p>
          </p:txBody>
        </p:sp>
      </p:grpSp>
      <p:sp>
        <p:nvSpPr>
          <p:cNvPr id="25" name="Right Arrow 24">
            <a:extLst>
              <a:ext uri="{FF2B5EF4-FFF2-40B4-BE49-F238E27FC236}">
                <a16:creationId xmlns:a16="http://schemas.microsoft.com/office/drawing/2014/main" id="{0A79C52E-33D1-109A-846B-A2C77E611C5F}"/>
              </a:ext>
            </a:extLst>
          </p:cNvPr>
          <p:cNvSpPr/>
          <p:nvPr/>
        </p:nvSpPr>
        <p:spPr>
          <a:xfrm>
            <a:off x="6312418" y="2694131"/>
            <a:ext cx="748472" cy="824515"/>
          </a:xfrm>
          <a:prstGeom prst="rightArrow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1F95D6-91E7-1008-9EC4-72E535B3B374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FE6281-A635-ACC0-399C-8844518234B5}"/>
              </a:ext>
            </a:extLst>
          </p:cNvPr>
          <p:cNvSpPr txBox="1"/>
          <p:nvPr/>
        </p:nvSpPr>
        <p:spPr>
          <a:xfrm>
            <a:off x="7077369" y="941867"/>
            <a:ext cx="26247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chemeClr val="bg1">
                    <a:lumMod val="65000"/>
                  </a:schemeClr>
                </a:solidFill>
              </a:rPr>
              <a:t>Highly variable gene selection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6E0B25-C5F6-33CE-7589-E80B6B24B261}"/>
              </a:ext>
            </a:extLst>
          </p:cNvPr>
          <p:cNvGrpSpPr/>
          <p:nvPr/>
        </p:nvGrpSpPr>
        <p:grpSpPr>
          <a:xfrm>
            <a:off x="7132016" y="1914934"/>
            <a:ext cx="2091259" cy="1951944"/>
            <a:chOff x="447908" y="3366655"/>
            <a:chExt cx="2091259" cy="195194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3FF3619-84A5-468E-4555-98BED8B3EF64}"/>
                </a:ext>
              </a:extLst>
            </p:cNvPr>
            <p:cNvSpPr/>
            <p:nvPr/>
          </p:nvSpPr>
          <p:spPr>
            <a:xfrm>
              <a:off x="1109187" y="3843708"/>
              <a:ext cx="1161998" cy="1474891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09529F6-BA7E-2615-11AC-42B6912F6D88}"/>
                </a:ext>
              </a:extLst>
            </p:cNvPr>
            <p:cNvSpPr txBox="1"/>
            <p:nvPr/>
          </p:nvSpPr>
          <p:spPr>
            <a:xfrm>
              <a:off x="997527" y="3366655"/>
              <a:ext cx="1541640" cy="47705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65000"/>
                    </a:schemeClr>
                  </a:solidFill>
                </a:rPr>
                <a:t>J’&lt;J genes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2167AF-0436-A804-1F13-103B8A7B9E6B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N cells</a:t>
              </a:r>
            </a:p>
          </p:txBody>
        </p:sp>
      </p:grpSp>
      <p:sp>
        <p:nvSpPr>
          <p:cNvPr id="40" name="Right Arrow 39">
            <a:extLst>
              <a:ext uri="{FF2B5EF4-FFF2-40B4-BE49-F238E27FC236}">
                <a16:creationId xmlns:a16="http://schemas.microsoft.com/office/drawing/2014/main" id="{15D6EC71-2E2F-F2DA-13D8-1E68B3A25FD8}"/>
              </a:ext>
            </a:extLst>
          </p:cNvPr>
          <p:cNvSpPr/>
          <p:nvPr/>
        </p:nvSpPr>
        <p:spPr>
          <a:xfrm>
            <a:off x="9250380" y="2634315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3FF7EB-784A-4B33-6289-9057C0A0EF1C}"/>
              </a:ext>
            </a:extLst>
          </p:cNvPr>
          <p:cNvGrpSpPr/>
          <p:nvPr/>
        </p:nvGrpSpPr>
        <p:grpSpPr>
          <a:xfrm>
            <a:off x="9997221" y="1830989"/>
            <a:ext cx="2045543" cy="1984965"/>
            <a:chOff x="447908" y="3333634"/>
            <a:chExt cx="2045543" cy="198496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C39C830-4FF8-B2B5-BFF0-9702AB25A55B}"/>
                </a:ext>
              </a:extLst>
            </p:cNvPr>
            <p:cNvSpPr/>
            <p:nvPr/>
          </p:nvSpPr>
          <p:spPr>
            <a:xfrm>
              <a:off x="1109187" y="3843708"/>
              <a:ext cx="602165" cy="1474891"/>
            </a:xfrm>
            <a:prstGeom prst="rect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6C3DF90-52DA-ABDA-86D2-8C89151A7EF7}"/>
                </a:ext>
              </a:extLst>
            </p:cNvPr>
            <p:cNvSpPr txBox="1"/>
            <p:nvPr/>
          </p:nvSpPr>
          <p:spPr>
            <a:xfrm>
              <a:off x="886921" y="3333634"/>
              <a:ext cx="1606530" cy="477054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10-20 PCs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D2DCA10-EE3A-346B-B7FE-92975723B6B6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A027C94-4F5E-D484-E2A0-03385BDFBB48}"/>
              </a:ext>
            </a:extLst>
          </p:cNvPr>
          <p:cNvSpPr txBox="1"/>
          <p:nvPr/>
        </p:nvSpPr>
        <p:spPr>
          <a:xfrm>
            <a:off x="10550306" y="595066"/>
            <a:ext cx="18656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rgbClr val="FF0000"/>
                </a:solidFill>
              </a:rPr>
              <a:t>Principal component analysis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89DB91-D1B9-33E3-D9B2-ABD1E31966D0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bg1">
                    <a:lumMod val="65000"/>
                  </a:schemeClr>
                </a:solidFill>
              </a:rPr>
              <a:t>Original data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4398D-75CC-B6E6-18E2-92D9E60C676B}"/>
              </a:ext>
            </a:extLst>
          </p:cNvPr>
          <p:cNvSpPr txBox="1"/>
          <p:nvPr/>
        </p:nvSpPr>
        <p:spPr>
          <a:xfrm>
            <a:off x="735353" y="4239009"/>
            <a:ext cx="107212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PCA loss implicitly assumes data is continuous – but UMI counts are </a:t>
            </a:r>
            <a:r>
              <a:rPr lang="en-US" sz="2500" u="sng" dirty="0">
                <a:solidFill>
                  <a:srgbClr val="FF0000"/>
                </a:solidFill>
              </a:rPr>
              <a:t>discrete!</a:t>
            </a:r>
            <a:endParaRPr lang="en-US" sz="25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E1877E-25D4-8551-E428-22F48A97538F}"/>
              </a:ext>
            </a:extLst>
          </p:cNvPr>
          <p:cNvCxnSpPr>
            <a:cxnSpLocks/>
          </p:cNvCxnSpPr>
          <p:nvPr/>
        </p:nvCxnSpPr>
        <p:spPr>
          <a:xfrm flipH="1">
            <a:off x="10292576" y="3992671"/>
            <a:ext cx="602165" cy="3157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What Makes One Probability Distribution Better For Rna-Seq Than Another?">
            <a:extLst>
              <a:ext uri="{FF2B5EF4-FFF2-40B4-BE49-F238E27FC236}">
                <a16:creationId xmlns:a16="http://schemas.microsoft.com/office/drawing/2014/main" id="{EE3F1B4F-E809-438A-03FF-0F949116E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50" r="7321"/>
          <a:stretch>
            <a:fillRect/>
          </a:stretch>
        </p:blipFill>
        <p:spPr>
          <a:xfrm>
            <a:off x="9115725" y="4937022"/>
            <a:ext cx="1958675" cy="19052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3E5839-1C76-3C97-1226-94A0F50913DB}"/>
                  </a:ext>
                </a:extLst>
              </p:cNvPr>
              <p:cNvSpPr txBox="1"/>
              <p:nvPr/>
            </p:nvSpPr>
            <p:spPr>
              <a:xfrm>
                <a:off x="2236267" y="4761642"/>
                <a:ext cx="2905833" cy="851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5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5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5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5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5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5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25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sz="25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5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5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𝑈𝑉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5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5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5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3E5839-1C76-3C97-1226-94A0F5091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267" y="4761642"/>
                <a:ext cx="2905833" cy="851708"/>
              </a:xfrm>
              <a:prstGeom prst="rect">
                <a:avLst/>
              </a:prstGeom>
              <a:blipFill>
                <a:blip r:embed="rId3"/>
                <a:stretch>
                  <a:fillRect l="-37826" t="-162319" b="-2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859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CEFAB-6CA2-4280-65A1-4B037CF6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ECBC-A5EC-265B-6F86-AECA5F8F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8934"/>
            <a:ext cx="1204856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Top PC confounded by technical artifacts (fraction of zeros in cell)</a:t>
            </a:r>
          </a:p>
        </p:txBody>
      </p:sp>
      <p:pic>
        <p:nvPicPr>
          <p:cNvPr id="5" name="Picture 2" descr="Fig. 2">
            <a:extLst>
              <a:ext uri="{FF2B5EF4-FFF2-40B4-BE49-F238E27FC236}">
                <a16:creationId xmlns:a16="http://schemas.microsoft.com/office/drawing/2014/main" id="{C80E028C-E527-C30C-2915-1C17D3A2C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638" y="1384497"/>
            <a:ext cx="9107181" cy="2245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A4A316-2A84-5E12-DF8D-423E4EF20E26}"/>
                  </a:ext>
                </a:extLst>
              </p:cNvPr>
              <p:cNvSpPr txBox="1"/>
              <p:nvPr/>
            </p:nvSpPr>
            <p:spPr>
              <a:xfrm>
                <a:off x="2218844" y="1510743"/>
                <a:ext cx="632353" cy="508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A4A316-2A84-5E12-DF8D-423E4EF20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844" y="1510743"/>
                <a:ext cx="632353" cy="508024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25F646-5CA5-1EA9-D3BF-6D1730464E46}"/>
                  </a:ext>
                </a:extLst>
              </p:cNvPr>
              <p:cNvSpPr txBox="1"/>
              <p:nvPr/>
            </p:nvSpPr>
            <p:spPr>
              <a:xfrm>
                <a:off x="4998952" y="1431047"/>
                <a:ext cx="1978106" cy="827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25F646-5CA5-1EA9-D3BF-6D1730464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952" y="1431047"/>
                <a:ext cx="1978106" cy="82715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58D141-DB2D-DE48-F423-DFB2700B12EF}"/>
                  </a:ext>
                </a:extLst>
              </p:cNvPr>
              <p:cNvSpPr txBox="1"/>
              <p:nvPr/>
            </p:nvSpPr>
            <p:spPr>
              <a:xfrm>
                <a:off x="7856218" y="1442831"/>
                <a:ext cx="2659382" cy="827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58D141-DB2D-DE48-F423-DFB2700B1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218" y="1442831"/>
                <a:ext cx="2659382" cy="827150"/>
              </a:xfrm>
              <a:prstGeom prst="rect">
                <a:avLst/>
              </a:prstGeom>
              <a:blipFill>
                <a:blip r:embed="rId5"/>
                <a:stretch>
                  <a:fillRect r="-474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Fig. 3">
            <a:extLst>
              <a:ext uri="{FF2B5EF4-FFF2-40B4-BE49-F238E27FC236}">
                <a16:creationId xmlns:a16="http://schemas.microsoft.com/office/drawing/2014/main" id="{E3E28A29-7EC6-161B-7C24-252C77CCF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495"/>
          <a:stretch>
            <a:fillRect/>
          </a:stretch>
        </p:blipFill>
        <p:spPr bwMode="auto">
          <a:xfrm>
            <a:off x="1243639" y="3916358"/>
            <a:ext cx="6612580" cy="248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4458BE-12B7-1B87-E6DB-B4942F820639}"/>
              </a:ext>
            </a:extLst>
          </p:cNvPr>
          <p:cNvSpPr txBox="1"/>
          <p:nvPr/>
        </p:nvSpPr>
        <p:spPr>
          <a:xfrm>
            <a:off x="8190520" y="4926063"/>
            <a:ext cx="32381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Top PC captures zero fraction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538E5E-057F-3CBC-D85C-4C3B384D3018}"/>
              </a:ext>
            </a:extLst>
          </p:cNvPr>
          <p:cNvSpPr txBox="1"/>
          <p:nvPr/>
        </p:nvSpPr>
        <p:spPr>
          <a:xfrm>
            <a:off x="1396684" y="6407257"/>
            <a:ext cx="3914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(No cells inside droplets)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30445D-4A5B-E569-D358-93C675DAF3E9}"/>
              </a:ext>
            </a:extLst>
          </p:cNvPr>
          <p:cNvSpPr txBox="1"/>
          <p:nvPr/>
        </p:nvSpPr>
        <p:spPr>
          <a:xfrm>
            <a:off x="5091851" y="6407257"/>
            <a:ext cx="2642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All cells are identical</a:t>
            </a:r>
          </a:p>
        </p:txBody>
      </p:sp>
    </p:spTree>
    <p:extLst>
      <p:ext uri="{BB962C8B-B14F-4D97-AF65-F5344CB8AC3E}">
        <p14:creationId xmlns:p14="http://schemas.microsoft.com/office/powerpoint/2010/main" val="2968802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0DB5-DC59-B37B-1ADC-4EBFFBE4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CB3E4-3FA0-EC51-F376-B4FC73B8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Probabilistic</a:t>
            </a:r>
            <a:r>
              <a:rPr lang="en-US" dirty="0"/>
              <a:t> methods that model distribution of single cell UMI counts</a:t>
            </a:r>
          </a:p>
          <a:p>
            <a:r>
              <a:rPr lang="en-US" dirty="0"/>
              <a:t>Multinomial/Poisson model -&gt; negative binomial</a:t>
            </a:r>
          </a:p>
          <a:p>
            <a:r>
              <a:rPr lang="en-US" dirty="0"/>
              <a:t>GLM-PCA / analytic Pearson residuals</a:t>
            </a:r>
          </a:p>
          <a:p>
            <a:r>
              <a:rPr lang="en-US" dirty="0"/>
              <a:t>Extensions</a:t>
            </a:r>
          </a:p>
          <a:p>
            <a:pPr lvl="1"/>
            <a:r>
              <a:rPr lang="en-US" dirty="0"/>
              <a:t>MOFA+</a:t>
            </a:r>
          </a:p>
          <a:p>
            <a:pPr lvl="1"/>
            <a:r>
              <a:rPr lang="en-US" dirty="0"/>
              <a:t>Non-negative spatial factorization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-&gt; In-class lab!</a:t>
            </a:r>
          </a:p>
        </p:txBody>
      </p:sp>
    </p:spTree>
    <p:extLst>
      <p:ext uri="{BB962C8B-B14F-4D97-AF65-F5344CB8AC3E}">
        <p14:creationId xmlns:p14="http://schemas.microsoft.com/office/powerpoint/2010/main" val="3026453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561A-4706-817C-41D2-B154CD58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68" y="278861"/>
            <a:ext cx="10515600" cy="1325563"/>
          </a:xfrm>
        </p:spPr>
        <p:txBody>
          <a:bodyPr/>
          <a:lstStyle/>
          <a:p>
            <a:r>
              <a:rPr lang="en-US" dirty="0"/>
              <a:t>Multinomial distribution</a:t>
            </a:r>
          </a:p>
        </p:txBody>
      </p:sp>
      <p:pic>
        <p:nvPicPr>
          <p:cNvPr id="8194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DD6CA722-4809-A6EC-A553-280613348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337867" y="1604423"/>
            <a:ext cx="3066053" cy="262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/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Biased G-sided dice </a:t>
                </a:r>
              </a:p>
              <a:p>
                <a:r>
                  <a:rPr lang="en-US" sz="3000" dirty="0"/>
                  <a:t>Probabilities </a:t>
                </a:r>
                <a14:m>
                  <m:oMath xmlns:m="http://schemas.openxmlformats.org/officeDocument/2006/math"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endParaRPr lang="en-US" sz="3000" b="0" dirty="0"/>
              </a:p>
              <a:p>
                <a:endParaRPr lang="en-US" sz="3000" dirty="0"/>
              </a:p>
              <a:p>
                <a:r>
                  <a:rPr lang="en-US" sz="3000" dirty="0"/>
                  <a:t>Multinomial distribution w/ parameters </a:t>
                </a:r>
                <a:r>
                  <a:rPr lang="en-US" sz="3000" b="1" dirty="0"/>
                  <a:t>p, G</a:t>
                </a:r>
                <a:r>
                  <a:rPr lang="en-US" sz="3000" dirty="0"/>
                  <a:t>, n:</a:t>
                </a:r>
              </a:p>
              <a:p>
                <a:r>
                  <a:rPr lang="en-US" sz="3000" dirty="0"/>
                  <a:t>* If the G-sided dice is rolled n times, what is number of times each dice side is landed on?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blipFill>
                <a:blip r:embed="rId3"/>
                <a:stretch>
                  <a:fillRect l="-1649" t="-2655" b="-5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4132D62-512A-1EB7-FEF0-4A2C2150DB1E}"/>
              </a:ext>
            </a:extLst>
          </p:cNvPr>
          <p:cNvSpPr txBox="1"/>
          <p:nvPr/>
        </p:nvSpPr>
        <p:spPr>
          <a:xfrm>
            <a:off x="337867" y="4793322"/>
            <a:ext cx="5604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Suppose: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G=2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/>
              <a:t>p</a:t>
            </a:r>
            <a:r>
              <a:rPr lang="en-US" sz="3000" dirty="0"/>
              <a:t>=(1/4,3/4) (biased coin flip)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n=10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7703F-84D2-7881-3B89-8EA3930BC431}"/>
              </a:ext>
            </a:extLst>
          </p:cNvPr>
          <p:cNvSpPr txBox="1"/>
          <p:nvPr/>
        </p:nvSpPr>
        <p:spPr>
          <a:xfrm>
            <a:off x="6096000" y="4919008"/>
            <a:ext cx="51377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Multinomial distribution describes # heads if you flip coin n=10 times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1115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561A-4706-817C-41D2-B154CD58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68" y="278861"/>
            <a:ext cx="10515600" cy="1325563"/>
          </a:xfrm>
        </p:spPr>
        <p:txBody>
          <a:bodyPr/>
          <a:lstStyle/>
          <a:p>
            <a:r>
              <a:rPr lang="en-US" dirty="0"/>
              <a:t>Multinomial distribution + single-cell</a:t>
            </a:r>
          </a:p>
        </p:txBody>
      </p:sp>
      <p:pic>
        <p:nvPicPr>
          <p:cNvPr id="8194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DD6CA722-4809-A6EC-A553-280613348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337867" y="1604423"/>
            <a:ext cx="3066053" cy="262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/>
              <p:nvPr/>
            </p:nvSpPr>
            <p:spPr>
              <a:xfrm>
                <a:off x="3504281" y="1610970"/>
                <a:ext cx="845388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Biased G-sided dice </a:t>
                </a:r>
              </a:p>
              <a:p>
                <a:r>
                  <a:rPr lang="en-US" sz="2500" dirty="0"/>
                  <a:t>Probabilities 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25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endParaRPr lang="en-US" sz="2500" b="0" dirty="0"/>
              </a:p>
              <a:p>
                <a:endParaRPr lang="en-US" sz="2500" dirty="0"/>
              </a:p>
              <a:p>
                <a:r>
                  <a:rPr lang="en-US" sz="2500" dirty="0"/>
                  <a:t>Multinomial distribution w/ parameters </a:t>
                </a:r>
                <a:r>
                  <a:rPr lang="en-US" sz="2500" b="1" dirty="0"/>
                  <a:t>p, </a:t>
                </a:r>
                <a:r>
                  <a:rPr lang="en-US" sz="2500" dirty="0"/>
                  <a:t>G, n:</a:t>
                </a:r>
              </a:p>
              <a:p>
                <a:r>
                  <a:rPr lang="en-US" sz="2500" dirty="0"/>
                  <a:t>* If the G-sided dice is rolled n times, what is number of times each dice side is landed on?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281" y="1610970"/>
                <a:ext cx="8453887" cy="2400657"/>
              </a:xfrm>
              <a:prstGeom prst="rect">
                <a:avLst/>
              </a:prstGeom>
              <a:blipFill>
                <a:blip r:embed="rId3"/>
                <a:stretch>
                  <a:fillRect l="-1351" t="-2105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894C08-A961-6163-BD06-E5DA71573E42}"/>
                  </a:ext>
                </a:extLst>
              </p:cNvPr>
              <p:cNvSpPr txBox="1"/>
              <p:nvPr/>
            </p:nvSpPr>
            <p:spPr>
              <a:xfrm>
                <a:off x="5621488" y="4122761"/>
                <a:ext cx="6336680" cy="208704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Intuitively: each cell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draw from a multinomial distribution w/: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:r>
                  <a:rPr lang="en-US" sz="2000" u="sng" dirty="0"/>
                  <a:t>(unknown)</a:t>
                </a:r>
                <a:r>
                  <a:rPr lang="en-US" sz="2000" dirty="0"/>
                  <a:t> proportion of transcripts of gene g in cell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 = number of measured transcripts in cell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 = number of genes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894C08-A961-6163-BD06-E5DA71573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488" y="4122761"/>
                <a:ext cx="6336680" cy="2087046"/>
              </a:xfrm>
              <a:prstGeom prst="rect">
                <a:avLst/>
              </a:prstGeom>
              <a:blipFill>
                <a:blip r:embed="rId4"/>
                <a:stretch>
                  <a:fillRect l="-1597" t="-2395" r="-200" b="-359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C789D67-3B31-B461-92D7-5A4D8EE62AD3}"/>
              </a:ext>
            </a:extLst>
          </p:cNvPr>
          <p:cNvGrpSpPr/>
          <p:nvPr/>
        </p:nvGrpSpPr>
        <p:grpSpPr>
          <a:xfrm>
            <a:off x="9951567" y="600216"/>
            <a:ext cx="1563482" cy="1350907"/>
            <a:chOff x="1347474" y="4276073"/>
            <a:chExt cx="3000018" cy="2451110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C02D85A-DF64-1220-2D64-00CCB91D7619}"/>
                </a:ext>
              </a:extLst>
            </p:cNvPr>
            <p:cNvSpPr/>
            <p:nvPr/>
          </p:nvSpPr>
          <p:spPr>
            <a:xfrm>
              <a:off x="1347474" y="4276073"/>
              <a:ext cx="3000018" cy="2451110"/>
            </a:xfrm>
            <a:custGeom>
              <a:avLst/>
              <a:gdLst>
                <a:gd name="connsiteX0" fmla="*/ 2056291 w 5883299"/>
                <a:gd name="connsiteY0" fmla="*/ 67320 h 4093556"/>
                <a:gd name="connsiteX1" fmla="*/ 5112007 w 5883299"/>
                <a:gd name="connsiteY1" fmla="*/ 21022 h 4093556"/>
                <a:gd name="connsiteX2" fmla="*/ 4973111 w 5883299"/>
                <a:gd name="connsiteY2" fmla="*/ 449285 h 4093556"/>
                <a:gd name="connsiteX3" fmla="*/ 3977688 w 5883299"/>
                <a:gd name="connsiteY3" fmla="*/ 460860 h 4093556"/>
                <a:gd name="connsiteX4" fmla="*/ 3954539 w 5883299"/>
                <a:gd name="connsiteY4" fmla="*/ 958571 h 4093556"/>
                <a:gd name="connsiteX5" fmla="*/ 5181455 w 5883299"/>
                <a:gd name="connsiteY5" fmla="*/ 1791948 h 4093556"/>
                <a:gd name="connsiteX6" fmla="*/ 4892088 w 5883299"/>
                <a:gd name="connsiteY6" fmla="*/ 3076738 h 4093556"/>
                <a:gd name="connsiteX7" fmla="*/ 3885091 w 5883299"/>
                <a:gd name="connsiteY7" fmla="*/ 3169336 h 4093556"/>
                <a:gd name="connsiteX8" fmla="*/ 3873516 w 5883299"/>
                <a:gd name="connsiteY8" fmla="*/ 3458703 h 4093556"/>
                <a:gd name="connsiteX9" fmla="*/ 5355075 w 5883299"/>
                <a:gd name="connsiteY9" fmla="*/ 3493427 h 4093556"/>
                <a:gd name="connsiteX10" fmla="*/ 5505546 w 5883299"/>
                <a:gd name="connsiteY10" fmla="*/ 4037437 h 4093556"/>
                <a:gd name="connsiteX11" fmla="*/ 551582 w 5883299"/>
                <a:gd name="connsiteY11" fmla="*/ 3991138 h 4093556"/>
                <a:gd name="connsiteX12" fmla="*/ 354812 w 5883299"/>
                <a:gd name="connsiteY12" fmla="*/ 3285082 h 4093556"/>
                <a:gd name="connsiteX13" fmla="*/ 2635025 w 5883299"/>
                <a:gd name="connsiteY13" fmla="*/ 3308232 h 4093556"/>
                <a:gd name="connsiteX14" fmla="*/ 2704473 w 5883299"/>
                <a:gd name="connsiteY14" fmla="*/ 3088313 h 4093556"/>
                <a:gd name="connsiteX15" fmla="*/ 1234488 w 5883299"/>
                <a:gd name="connsiteY15" fmla="*/ 2856819 h 4093556"/>
                <a:gd name="connsiteX16" fmla="*/ 1095592 w 5883299"/>
                <a:gd name="connsiteY16" fmla="*/ 1363685 h 4093556"/>
                <a:gd name="connsiteX17" fmla="*/ 2172037 w 5883299"/>
                <a:gd name="connsiteY17" fmla="*/ 900698 h 4093556"/>
                <a:gd name="connsiteX18" fmla="*/ 3317931 w 5883299"/>
                <a:gd name="connsiteY18" fmla="*/ 854399 h 4093556"/>
                <a:gd name="connsiteX19" fmla="*/ 3213759 w 5883299"/>
                <a:gd name="connsiteY19" fmla="*/ 426136 h 4093556"/>
                <a:gd name="connsiteX20" fmla="*/ 1257637 w 5883299"/>
                <a:gd name="connsiteY20" fmla="*/ 472434 h 4093556"/>
                <a:gd name="connsiteX21" fmla="*/ 1246063 w 5883299"/>
                <a:gd name="connsiteY21" fmla="*/ 78895 h 4093556"/>
                <a:gd name="connsiteX22" fmla="*/ 2056291 w 5883299"/>
                <a:gd name="connsiteY22" fmla="*/ 67320 h 4093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83299" h="4093556">
                  <a:moveTo>
                    <a:pt x="2056291" y="67320"/>
                  </a:moveTo>
                  <a:cubicBezTo>
                    <a:pt x="2700615" y="57675"/>
                    <a:pt x="4625870" y="-42639"/>
                    <a:pt x="5112007" y="21022"/>
                  </a:cubicBezTo>
                  <a:cubicBezTo>
                    <a:pt x="5598144" y="84683"/>
                    <a:pt x="5162164" y="375979"/>
                    <a:pt x="4973111" y="449285"/>
                  </a:cubicBezTo>
                  <a:cubicBezTo>
                    <a:pt x="4784058" y="522591"/>
                    <a:pt x="4147450" y="375979"/>
                    <a:pt x="3977688" y="460860"/>
                  </a:cubicBezTo>
                  <a:cubicBezTo>
                    <a:pt x="3807926" y="545741"/>
                    <a:pt x="3753911" y="736723"/>
                    <a:pt x="3954539" y="958571"/>
                  </a:cubicBezTo>
                  <a:cubicBezTo>
                    <a:pt x="4155167" y="1180419"/>
                    <a:pt x="5025197" y="1438920"/>
                    <a:pt x="5181455" y="1791948"/>
                  </a:cubicBezTo>
                  <a:cubicBezTo>
                    <a:pt x="5337713" y="2144976"/>
                    <a:pt x="5108149" y="2847173"/>
                    <a:pt x="4892088" y="3076738"/>
                  </a:cubicBezTo>
                  <a:cubicBezTo>
                    <a:pt x="4676027" y="3306303"/>
                    <a:pt x="4054853" y="3105675"/>
                    <a:pt x="3885091" y="3169336"/>
                  </a:cubicBezTo>
                  <a:cubicBezTo>
                    <a:pt x="3715329" y="3232997"/>
                    <a:pt x="3628519" y="3404688"/>
                    <a:pt x="3873516" y="3458703"/>
                  </a:cubicBezTo>
                  <a:cubicBezTo>
                    <a:pt x="4118513" y="3512718"/>
                    <a:pt x="5083070" y="3396971"/>
                    <a:pt x="5355075" y="3493427"/>
                  </a:cubicBezTo>
                  <a:cubicBezTo>
                    <a:pt x="5627080" y="3589883"/>
                    <a:pt x="6306128" y="3954485"/>
                    <a:pt x="5505546" y="4037437"/>
                  </a:cubicBezTo>
                  <a:cubicBezTo>
                    <a:pt x="4704964" y="4120389"/>
                    <a:pt x="1410038" y="4116530"/>
                    <a:pt x="551582" y="3991138"/>
                  </a:cubicBezTo>
                  <a:cubicBezTo>
                    <a:pt x="-306874" y="3865746"/>
                    <a:pt x="7571" y="3398900"/>
                    <a:pt x="354812" y="3285082"/>
                  </a:cubicBezTo>
                  <a:cubicBezTo>
                    <a:pt x="702053" y="3171264"/>
                    <a:pt x="2243415" y="3341027"/>
                    <a:pt x="2635025" y="3308232"/>
                  </a:cubicBezTo>
                  <a:cubicBezTo>
                    <a:pt x="3026635" y="3275437"/>
                    <a:pt x="2937896" y="3163549"/>
                    <a:pt x="2704473" y="3088313"/>
                  </a:cubicBezTo>
                  <a:cubicBezTo>
                    <a:pt x="2471050" y="3013077"/>
                    <a:pt x="1502635" y="3144257"/>
                    <a:pt x="1234488" y="2856819"/>
                  </a:cubicBezTo>
                  <a:cubicBezTo>
                    <a:pt x="966341" y="2569381"/>
                    <a:pt x="939334" y="1689705"/>
                    <a:pt x="1095592" y="1363685"/>
                  </a:cubicBezTo>
                  <a:cubicBezTo>
                    <a:pt x="1251850" y="1037665"/>
                    <a:pt x="1801647" y="985579"/>
                    <a:pt x="2172037" y="900698"/>
                  </a:cubicBezTo>
                  <a:cubicBezTo>
                    <a:pt x="2542427" y="815817"/>
                    <a:pt x="3144311" y="933493"/>
                    <a:pt x="3317931" y="854399"/>
                  </a:cubicBezTo>
                  <a:cubicBezTo>
                    <a:pt x="3491551" y="775305"/>
                    <a:pt x="3557141" y="489797"/>
                    <a:pt x="3213759" y="426136"/>
                  </a:cubicBezTo>
                  <a:cubicBezTo>
                    <a:pt x="2870377" y="362475"/>
                    <a:pt x="1585586" y="530307"/>
                    <a:pt x="1257637" y="472434"/>
                  </a:cubicBezTo>
                  <a:cubicBezTo>
                    <a:pt x="929688" y="414561"/>
                    <a:pt x="1109096" y="146414"/>
                    <a:pt x="1246063" y="78895"/>
                  </a:cubicBezTo>
                  <a:cubicBezTo>
                    <a:pt x="1383030" y="11376"/>
                    <a:pt x="1411967" y="76965"/>
                    <a:pt x="2056291" y="6732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883487-285F-6378-06C0-8A56CA1981D6}"/>
                </a:ext>
              </a:extLst>
            </p:cNvPr>
            <p:cNvSpPr/>
            <p:nvPr/>
          </p:nvSpPr>
          <p:spPr>
            <a:xfrm>
              <a:off x="2496849" y="5277791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F9F265E-0ED0-23DC-6F4C-4480A80E40C9}"/>
                </a:ext>
              </a:extLst>
            </p:cNvPr>
            <p:cNvSpPr/>
            <p:nvPr/>
          </p:nvSpPr>
          <p:spPr>
            <a:xfrm>
              <a:off x="2496849" y="5582976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7C977-19CA-12AC-7CD3-85AEFE8B072F}"/>
                </a:ext>
              </a:extLst>
            </p:cNvPr>
            <p:cNvSpPr/>
            <p:nvPr/>
          </p:nvSpPr>
          <p:spPr>
            <a:xfrm>
              <a:off x="3293246" y="5497667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59DBA1-26ED-7ABD-E042-434EF72F911C}"/>
                </a:ext>
              </a:extLst>
            </p:cNvPr>
            <p:cNvSpPr/>
            <p:nvPr/>
          </p:nvSpPr>
          <p:spPr>
            <a:xfrm>
              <a:off x="2123038" y="5012742"/>
              <a:ext cx="595493" cy="109937"/>
            </a:xfrm>
            <a:prstGeom prst="rect">
              <a:avLst/>
            </a:prstGeom>
            <a:solidFill>
              <a:srgbClr val="B178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B15F299-BA53-E86E-5D25-41581EF0B873}"/>
                </a:ext>
              </a:extLst>
            </p:cNvPr>
            <p:cNvSpPr/>
            <p:nvPr/>
          </p:nvSpPr>
          <p:spPr>
            <a:xfrm>
              <a:off x="2787553" y="4934509"/>
              <a:ext cx="595493" cy="109937"/>
            </a:xfrm>
            <a:prstGeom prst="rect">
              <a:avLst/>
            </a:prstGeom>
            <a:solidFill>
              <a:srgbClr val="B178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33E639-69F7-F177-6C45-35A156CE21C5}"/>
                </a:ext>
              </a:extLst>
            </p:cNvPr>
            <p:cNvSpPr/>
            <p:nvPr/>
          </p:nvSpPr>
          <p:spPr>
            <a:xfrm>
              <a:off x="2148907" y="5827480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A81696F-C989-396C-02A1-65094679759C}"/>
                </a:ext>
              </a:extLst>
            </p:cNvPr>
            <p:cNvSpPr/>
            <p:nvPr/>
          </p:nvSpPr>
          <p:spPr>
            <a:xfrm>
              <a:off x="2856298" y="5827480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3246D9-0D15-AD5F-620C-2C5EC8EE18D7}"/>
                </a:ext>
              </a:extLst>
            </p:cNvPr>
            <p:cNvSpPr/>
            <p:nvPr/>
          </p:nvSpPr>
          <p:spPr>
            <a:xfrm>
              <a:off x="3097600" y="5125839"/>
              <a:ext cx="595493" cy="109937"/>
            </a:xfrm>
            <a:prstGeom prst="rect">
              <a:avLst/>
            </a:prstGeom>
            <a:solidFill>
              <a:srgbClr val="B178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18E4266-1425-ECD8-72E7-9E76340148D4}"/>
                </a:ext>
              </a:extLst>
            </p:cNvPr>
            <p:cNvSpPr txBox="1"/>
            <p:nvPr/>
          </p:nvSpPr>
          <p:spPr>
            <a:xfrm>
              <a:off x="3031573" y="4991279"/>
              <a:ext cx="958168" cy="40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Helvetica" charset="0"/>
                  <a:ea typeface="Helvetica" charset="0"/>
                  <a:cs typeface="Helvetica" charset="0"/>
                </a:rPr>
                <a:t>gene C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5F8E7D-250B-462E-E25E-BAF0636117E8}"/>
                </a:ext>
              </a:extLst>
            </p:cNvPr>
            <p:cNvSpPr/>
            <p:nvPr/>
          </p:nvSpPr>
          <p:spPr>
            <a:xfrm>
              <a:off x="1923344" y="5446105"/>
              <a:ext cx="595493" cy="1099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D78A6B2-5BEF-9EE2-6050-E184748D71AD}"/>
                </a:ext>
              </a:extLst>
            </p:cNvPr>
            <p:cNvSpPr txBox="1"/>
            <p:nvPr/>
          </p:nvSpPr>
          <p:spPr>
            <a:xfrm>
              <a:off x="1828578" y="5328773"/>
              <a:ext cx="945262" cy="40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Helvetica" charset="0"/>
                  <a:ea typeface="Helvetica" charset="0"/>
                  <a:cs typeface="Helvetica" charset="0"/>
                </a:rPr>
                <a:t>gene B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EFB9BF0-3B3D-2C3A-B78E-220EEB2D0D97}"/>
                </a:ext>
              </a:extLst>
            </p:cNvPr>
            <p:cNvSpPr txBox="1"/>
            <p:nvPr/>
          </p:nvSpPr>
          <p:spPr>
            <a:xfrm>
              <a:off x="3198481" y="5372738"/>
              <a:ext cx="945262" cy="40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latin typeface="Helvetica" charset="0"/>
                  <a:ea typeface="Helvetica" charset="0"/>
                  <a:cs typeface="Helvetica" charset="0"/>
                </a:rPr>
                <a:t>gene 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A025474-F4BC-2B07-E86D-8F346E3CEA7A}"/>
              </a:ext>
            </a:extLst>
          </p:cNvPr>
          <p:cNvGrpSpPr/>
          <p:nvPr/>
        </p:nvGrpSpPr>
        <p:grpSpPr>
          <a:xfrm>
            <a:off x="0" y="4430108"/>
            <a:ext cx="2532028" cy="2287260"/>
            <a:chOff x="337867" y="4751178"/>
            <a:chExt cx="2532028" cy="22872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9289A7D-F38B-E258-BC1F-F6A4CCA98DF6}"/>
                </a:ext>
              </a:extLst>
            </p:cNvPr>
            <p:cNvGrpSpPr/>
            <p:nvPr/>
          </p:nvGrpSpPr>
          <p:grpSpPr>
            <a:xfrm>
              <a:off x="337867" y="4751178"/>
              <a:ext cx="2439014" cy="2287260"/>
              <a:chOff x="447908" y="3366655"/>
              <a:chExt cx="2439014" cy="228726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CF98AD1-EFB6-9E19-D89E-FE258CAE2FB8}"/>
                  </a:ext>
                </a:extLst>
              </p:cNvPr>
              <p:cNvSpPr/>
              <p:nvPr/>
            </p:nvSpPr>
            <p:spPr>
              <a:xfrm>
                <a:off x="955036" y="3843709"/>
                <a:ext cx="1931886" cy="1810206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77E921-AA7B-F0E9-8F16-1650F97C48DC}"/>
                  </a:ext>
                </a:extLst>
              </p:cNvPr>
              <p:cNvSpPr txBox="1"/>
              <p:nvPr/>
            </p:nvSpPr>
            <p:spPr>
              <a:xfrm>
                <a:off x="997527" y="3366655"/>
                <a:ext cx="1299587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G genes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572619-724F-E66D-6EF3-6328EE833323}"/>
                  </a:ext>
                </a:extLst>
              </p:cNvPr>
              <p:cNvSpPr txBox="1"/>
              <p:nvPr/>
            </p:nvSpPr>
            <p:spPr>
              <a:xfrm rot="16200000">
                <a:off x="151833" y="4139784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0E669F-68E6-0196-3261-1B962C8060C2}"/>
                </a:ext>
              </a:extLst>
            </p:cNvPr>
            <p:cNvSpPr/>
            <p:nvPr/>
          </p:nvSpPr>
          <p:spPr>
            <a:xfrm>
              <a:off x="768755" y="5877609"/>
              <a:ext cx="2101140" cy="3227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5D18D0F-4668-706A-5876-741F599773CC}"/>
                </a:ext>
              </a:extLst>
            </p:cNvPr>
            <p:cNvSpPr txBox="1"/>
            <p:nvPr/>
          </p:nvSpPr>
          <p:spPr>
            <a:xfrm>
              <a:off x="1681403" y="5795069"/>
              <a:ext cx="3993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 err="1"/>
                <a:t>y</a:t>
              </a:r>
              <a:r>
                <a:rPr lang="en-US" sz="2200" b="1" baseline="-25000" dirty="0" err="1"/>
                <a:t>i</a:t>
              </a:r>
              <a:endParaRPr lang="en-US" sz="2200" b="1" baseline="-250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4036224-FB0B-6439-C510-DEB28C7D6E79}"/>
              </a:ext>
            </a:extLst>
          </p:cNvPr>
          <p:cNvGrpSpPr/>
          <p:nvPr/>
        </p:nvGrpSpPr>
        <p:grpSpPr>
          <a:xfrm>
            <a:off x="2498816" y="4445028"/>
            <a:ext cx="3123030" cy="2992380"/>
            <a:chOff x="4417866" y="1956716"/>
            <a:chExt cx="3123030" cy="29923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31C8BE9-C2C0-8524-2455-8D97DDA51184}"/>
                </a:ext>
              </a:extLst>
            </p:cNvPr>
            <p:cNvGrpSpPr/>
            <p:nvPr/>
          </p:nvGrpSpPr>
          <p:grpSpPr>
            <a:xfrm>
              <a:off x="4498755" y="1956716"/>
              <a:ext cx="2561210" cy="2276104"/>
              <a:chOff x="3539750" y="2131751"/>
              <a:chExt cx="2561210" cy="2276104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EE33788-EA43-4638-F1B9-EDADC715315C}"/>
                  </a:ext>
                </a:extLst>
              </p:cNvPr>
              <p:cNvGrpSpPr/>
              <p:nvPr/>
            </p:nvGrpSpPr>
            <p:grpSpPr>
              <a:xfrm>
                <a:off x="3539750" y="2131751"/>
                <a:ext cx="2502922" cy="2276104"/>
                <a:chOff x="315433" y="1358303"/>
                <a:chExt cx="2105853" cy="185448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FEC8B246-C207-742E-B558-2F15A9B65995}"/>
                    </a:ext>
                  </a:extLst>
                </p:cNvPr>
                <p:cNvGrpSpPr/>
                <p:nvPr/>
              </p:nvGrpSpPr>
              <p:grpSpPr>
                <a:xfrm>
                  <a:off x="315433" y="1358303"/>
                  <a:ext cx="2105853" cy="1854488"/>
                  <a:chOff x="581591" y="3464112"/>
                  <a:chExt cx="2105853" cy="1854488"/>
                </a:xfrm>
              </p:grpSpPr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472CC40E-F191-0712-B427-9A08A0EE72BA}"/>
                      </a:ext>
                    </a:extLst>
                  </p:cNvPr>
                  <p:cNvSpPr/>
                  <p:nvPr/>
                </p:nvSpPr>
                <p:spPr>
                  <a:xfrm>
                    <a:off x="955036" y="3843709"/>
                    <a:ext cx="1732408" cy="1474891"/>
                  </a:xfrm>
                  <a:prstGeom prst="rect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F82A991B-D152-4FCD-2EE4-4FC1F2A4E424}"/>
                      </a:ext>
                    </a:extLst>
                  </p:cNvPr>
                  <p:cNvSpPr txBox="1"/>
                  <p:nvPr/>
                </p:nvSpPr>
                <p:spPr>
                  <a:xfrm>
                    <a:off x="916567" y="3464112"/>
                    <a:ext cx="1177758" cy="4770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500" dirty="0"/>
                      <a:t>J genes</a:t>
                    </a:r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50A1AFAB-5859-1250-59F3-FBD4B65FAD7E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85516" y="3913587"/>
                    <a:ext cx="1023037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200" dirty="0"/>
                      <a:t>N cells</a:t>
                    </a:r>
                  </a:p>
                </p:txBody>
              </p:sp>
            </p:grp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D3F43A2F-412C-A467-3259-AF7083D25C51}"/>
                    </a:ext>
                  </a:extLst>
                </p:cNvPr>
                <p:cNvCxnSpPr/>
                <p:nvPr/>
              </p:nvCxnSpPr>
              <p:spPr>
                <a:xfrm>
                  <a:off x="735980" y="1996068"/>
                  <a:ext cx="165038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E22647BE-B6F1-F9E7-439C-EB3262453659}"/>
                    </a:ext>
                  </a:extLst>
                </p:cNvPr>
                <p:cNvCxnSpPr/>
                <p:nvPr/>
              </p:nvCxnSpPr>
              <p:spPr>
                <a:xfrm>
                  <a:off x="708848" y="2843554"/>
                  <a:ext cx="165038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297FFE1-8726-C7EC-7AC8-E404E1C2A342}"/>
                      </a:ext>
                    </a:extLst>
                  </p:cNvPr>
                  <p:cNvSpPr txBox="1"/>
                  <p:nvPr/>
                </p:nvSpPr>
                <p:spPr>
                  <a:xfrm>
                    <a:off x="4093392" y="2613274"/>
                    <a:ext cx="188647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297FFE1-8726-C7EC-7AC8-E404E1C2A3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3392" y="2613274"/>
                    <a:ext cx="1886478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33" r="-4000" b="-347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C445F6D7-FD33-D419-4BE6-7A3541BFA31F}"/>
                      </a:ext>
                    </a:extLst>
                  </p:cNvPr>
                  <p:cNvSpPr txBox="1"/>
                  <p:nvPr/>
                </p:nvSpPr>
                <p:spPr>
                  <a:xfrm>
                    <a:off x="4118879" y="4021182"/>
                    <a:ext cx="198208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𝑁𝐺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C445F6D7-FD33-D419-4BE6-7A3541BFA3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8879" y="4021182"/>
                    <a:ext cx="198208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74" r="-3822" b="-347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8BD902C-B879-F001-24E2-8ED74E37F5A1}"/>
                    </a:ext>
                  </a:extLst>
                </p:cNvPr>
                <p:cNvSpPr txBox="1"/>
                <p:nvPr/>
              </p:nvSpPr>
              <p:spPr>
                <a:xfrm>
                  <a:off x="4417866" y="4372784"/>
                  <a:ext cx="3123030" cy="5763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is proportion of transcripts of gene j inside cell I</a:t>
                  </a: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8BD902C-B879-F001-24E2-8ED74E37F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866" y="4372784"/>
                  <a:ext cx="3123030" cy="576312"/>
                </a:xfrm>
                <a:prstGeom prst="rect">
                  <a:avLst/>
                </a:prstGeom>
                <a:blipFill>
                  <a:blip r:embed="rId7"/>
                  <a:stretch>
                    <a:fillRect l="-4453" t="-13043" r="-405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B244926-4317-4AE8-A880-F15BEDBFCA9C}"/>
              </a:ext>
            </a:extLst>
          </p:cNvPr>
          <p:cNvSpPr txBox="1"/>
          <p:nvPr/>
        </p:nvSpPr>
        <p:spPr>
          <a:xfrm rot="5400000">
            <a:off x="3933025" y="553722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2435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DA836C-ADF5-DC69-0D9E-7B59040AEC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36034" y="209008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Multinomial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independent </a:t>
                </a:r>
                <a:r>
                  <a:rPr lang="en-US" dirty="0" err="1"/>
                  <a:t>Poissons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DA836C-ADF5-DC69-0D9E-7B59040AE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36034" y="209008"/>
                <a:ext cx="10515600" cy="1325563"/>
              </a:xfrm>
              <a:blipFill>
                <a:blip r:embed="rId2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E1EB07-D5B9-8091-52EA-21B5B1B4DD7D}"/>
                  </a:ext>
                </a:extLst>
              </p:cNvPr>
              <p:cNvSpPr txBox="1"/>
              <p:nvPr/>
            </p:nvSpPr>
            <p:spPr>
              <a:xfrm>
                <a:off x="212008" y="1456551"/>
                <a:ext cx="4114891" cy="3201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If: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number G of genes is </a:t>
                </a:r>
                <a:r>
                  <a:rPr lang="en-US" sz="2500" b="1" dirty="0"/>
                  <a:t>large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number Ni of total counts in cell </a:t>
                </a:r>
                <a:r>
                  <a:rPr lang="en-US" sz="2500" dirty="0" err="1"/>
                  <a:t>i</a:t>
                </a:r>
                <a:r>
                  <a:rPr lang="en-US" sz="2500" dirty="0"/>
                  <a:t> is </a:t>
                </a:r>
                <a:r>
                  <a:rPr lang="en-US" sz="2500" b="1" dirty="0"/>
                  <a:t>large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500" dirty="0"/>
                  <a:t> of gene g transcripts inside cell </a:t>
                </a:r>
                <a:r>
                  <a:rPr lang="en-US" sz="2500" dirty="0" err="1"/>
                  <a:t>i</a:t>
                </a:r>
                <a:r>
                  <a:rPr lang="en-US" sz="2500" dirty="0"/>
                  <a:t> is </a:t>
                </a:r>
                <a:r>
                  <a:rPr lang="en-US" sz="2500" b="1" dirty="0"/>
                  <a:t>small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E1EB07-D5B9-8091-52EA-21B5B1B4D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08" y="1456551"/>
                <a:ext cx="4114891" cy="3201389"/>
              </a:xfrm>
              <a:prstGeom prst="rect">
                <a:avLst/>
              </a:prstGeom>
              <a:blipFill>
                <a:blip r:embed="rId3"/>
                <a:stretch>
                  <a:fillRect l="-2462" t="-1581" r="-308" b="-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>
            <a:extLst>
              <a:ext uri="{FF2B5EF4-FFF2-40B4-BE49-F238E27FC236}">
                <a16:creationId xmlns:a16="http://schemas.microsoft.com/office/drawing/2014/main" id="{5E359941-7586-9EB2-A3E2-86006977B476}"/>
              </a:ext>
            </a:extLst>
          </p:cNvPr>
          <p:cNvSpPr/>
          <p:nvPr/>
        </p:nvSpPr>
        <p:spPr>
          <a:xfrm>
            <a:off x="4633718" y="2184772"/>
            <a:ext cx="1761893" cy="1025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71CF4-EC58-3CF6-621F-D694BAF35650}"/>
              </a:ext>
            </a:extLst>
          </p:cNvPr>
          <p:cNvSpPr txBox="1"/>
          <p:nvPr/>
        </p:nvSpPr>
        <p:spPr>
          <a:xfrm>
            <a:off x="6963315" y="1921933"/>
            <a:ext cx="472795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Each gene expression count y</a:t>
            </a:r>
            <a:r>
              <a:rPr lang="en-US" sz="2500" baseline="-25000" dirty="0"/>
              <a:t>ij</a:t>
            </a:r>
            <a:r>
              <a:rPr lang="en-US" sz="2500" dirty="0"/>
              <a:t> is independent and </a:t>
            </a:r>
            <a:r>
              <a:rPr lang="en-US" sz="2500" b="1" dirty="0"/>
              <a:t>approximately distributed </a:t>
            </a:r>
            <a:r>
              <a:rPr lang="en-US" sz="2500" dirty="0"/>
              <a:t>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9890A6-7B07-CDEF-D1DE-D9F89AD1ACA6}"/>
                  </a:ext>
                </a:extLst>
              </p:cNvPr>
              <p:cNvSpPr txBox="1"/>
              <p:nvPr/>
            </p:nvSpPr>
            <p:spPr>
              <a:xfrm>
                <a:off x="7817048" y="3347784"/>
                <a:ext cx="2934586" cy="4160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9890A6-7B07-CDEF-D1DE-D9F89AD1A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048" y="3347784"/>
                <a:ext cx="2934586" cy="416011"/>
              </a:xfrm>
              <a:prstGeom prst="rect">
                <a:avLst/>
              </a:prstGeom>
              <a:blipFill>
                <a:blip r:embed="rId4"/>
                <a:stretch>
                  <a:fillRect l="-2155" t="-5882" r="-3448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688C6F7-A239-2C54-89A4-FB520BA58E16}"/>
              </a:ext>
            </a:extLst>
          </p:cNvPr>
          <p:cNvSpPr txBox="1"/>
          <p:nvPr/>
        </p:nvSpPr>
        <p:spPr>
          <a:xfrm>
            <a:off x="5148450" y="3312508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prove</a:t>
            </a:r>
          </a:p>
        </p:txBody>
      </p:sp>
      <p:pic>
        <p:nvPicPr>
          <p:cNvPr id="25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7F85919A-A7F5-09F5-C613-9A3BAB9A44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1521532" y="4657940"/>
            <a:ext cx="2144095" cy="183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Poisson distribution - Wikipedia">
            <a:extLst>
              <a:ext uri="{FF2B5EF4-FFF2-40B4-BE49-F238E27FC236}">
                <a16:creationId xmlns:a16="http://schemas.microsoft.com/office/drawing/2014/main" id="{7FCE98F3-0AD0-EEC2-0C06-9656921595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790" y="4149164"/>
            <a:ext cx="3364491" cy="261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23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0814-6F26-A708-AAFF-698BD833E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13" y="143668"/>
            <a:ext cx="12132129" cy="1325563"/>
          </a:xfrm>
        </p:spPr>
        <p:txBody>
          <a:bodyPr>
            <a:normAutofit/>
          </a:bodyPr>
          <a:lstStyle/>
          <a:p>
            <a:r>
              <a:rPr lang="en-US" sz="3500" dirty="0"/>
              <a:t>In practice data may be “</a:t>
            </a:r>
            <a:r>
              <a:rPr lang="en-US" sz="3500" dirty="0" err="1"/>
              <a:t>overdispersed</a:t>
            </a:r>
            <a:r>
              <a:rPr lang="en-US" sz="3500" dirty="0"/>
              <a:t>” (variance &gt; mean) </a:t>
            </a:r>
            <a:br>
              <a:rPr lang="en-US" sz="3500" dirty="0"/>
            </a:br>
            <a:r>
              <a:rPr lang="en-US" sz="3500" dirty="0"/>
              <a:t>-&gt; Negative binomial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8B0823-4314-9DA0-0778-29ACD3A3F2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9231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Poisson distribution assumes mean = variance</a:t>
                </a:r>
              </a:p>
              <a:p>
                <a:r>
                  <a:rPr lang="en-US" dirty="0"/>
                  <a:t>i.e.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r>
                  <a:rPr lang="en-US" u="sng" dirty="0"/>
                  <a:t>Negative binomial</a:t>
                </a:r>
                <a:r>
                  <a:rPr lang="en-US" dirty="0"/>
                  <a:t> allows for </a:t>
                </a:r>
                <a:r>
                  <a:rPr lang="en-US" b="1" dirty="0"/>
                  <a:t>overdispersion</a:t>
                </a:r>
                <a:r>
                  <a:rPr lang="en-US" b="1" i="1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8B0823-4314-9DA0-0778-29ACD3A3F2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9231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D49B808-FB02-E22C-C660-2C6F1F4AF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3108"/>
            <a:ext cx="5883360" cy="2653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1CDA66-0AD3-A4B9-9CF6-CFBEE99C2B05}"/>
                  </a:ext>
                </a:extLst>
              </p:cNvPr>
              <p:cNvSpPr txBox="1"/>
              <p:nvPr/>
            </p:nvSpPr>
            <p:spPr>
              <a:xfrm>
                <a:off x="6245678" y="3644900"/>
                <a:ext cx="5858014" cy="27269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𝑁𝐵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has PDF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500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500" dirty="0"/>
              </a:p>
              <a:p>
                <a:endParaRPr lang="en-US" sz="2500" dirty="0"/>
              </a:p>
              <a:p>
                <a:r>
                  <a:rPr lang="en-US" sz="2500" dirty="0"/>
                  <a:t>Mean: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2500" b="0" dirty="0"/>
              </a:p>
              <a:p>
                <a:r>
                  <a:rPr lang="en-US" sz="2500" dirty="0"/>
                  <a:t>Variance: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1CDA66-0AD3-A4B9-9CF6-CFBEE99C2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678" y="3644900"/>
                <a:ext cx="5858014" cy="2726965"/>
              </a:xfrm>
              <a:prstGeom prst="rect">
                <a:avLst/>
              </a:prstGeom>
              <a:blipFill>
                <a:blip r:embed="rId4"/>
                <a:stretch>
                  <a:fillRect l="-1948" t="-2326" b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108EB80-FA6B-B887-9C27-961C96D4F62F}"/>
              </a:ext>
            </a:extLst>
          </p:cNvPr>
          <p:cNvSpPr/>
          <p:nvPr/>
        </p:nvSpPr>
        <p:spPr>
          <a:xfrm>
            <a:off x="6245678" y="5045530"/>
            <a:ext cx="3910693" cy="16082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2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A3E2-FF44-C4B5-36BA-89090A4F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82" y="167141"/>
            <a:ext cx="11848833" cy="1325563"/>
          </a:xfrm>
        </p:spPr>
        <p:txBody>
          <a:bodyPr/>
          <a:lstStyle/>
          <a:p>
            <a:r>
              <a:rPr lang="en-US" dirty="0"/>
              <a:t>Empirically testing multinomial/Poisson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F2CBB0-1F49-8643-7E4A-752796C4E09F}"/>
                  </a:ext>
                </a:extLst>
              </p:cNvPr>
              <p:cNvSpPr txBox="1"/>
              <p:nvPr/>
            </p:nvSpPr>
            <p:spPr>
              <a:xfrm>
                <a:off x="305858" y="1314607"/>
                <a:ext cx="11580279" cy="888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Assumption: each gene expression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5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5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u="sng" dirty="0"/>
                  <a:t> for cell </a:t>
                </a:r>
                <a:r>
                  <a:rPr lang="en-US" sz="2500" u="sng" dirty="0" err="1"/>
                  <a:t>i</a:t>
                </a:r>
                <a:r>
                  <a:rPr lang="en-US" sz="2500" u="sng" dirty="0"/>
                  <a:t> is sampled independently from Multinomial(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500" b="1" u="sng" dirty="0"/>
                  <a:t>, </a:t>
                </a:r>
                <a:r>
                  <a:rPr lang="en-US" sz="2500" u="sng" dirty="0"/>
                  <a:t>G, N</a:t>
                </a:r>
                <a:r>
                  <a:rPr lang="en-US" sz="2500" u="sng" baseline="-25000" dirty="0"/>
                  <a:t>i</a:t>
                </a:r>
                <a:r>
                  <a:rPr lang="en-US" sz="2500" u="sng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F2CBB0-1F49-8643-7E4A-752796C4E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58" y="1314607"/>
                <a:ext cx="11580279" cy="888705"/>
              </a:xfrm>
              <a:prstGeom prst="rect">
                <a:avLst/>
              </a:prstGeom>
              <a:blipFill>
                <a:blip r:embed="rId2"/>
                <a:stretch>
                  <a:fillRect l="-986" t="-5634" b="-1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10E3B8-34DB-5535-6893-0073C86C0FEC}"/>
                  </a:ext>
                </a:extLst>
              </p:cNvPr>
              <p:cNvSpPr txBox="1"/>
              <p:nvPr/>
            </p:nvSpPr>
            <p:spPr>
              <a:xfrm>
                <a:off x="746808" y="2203312"/>
                <a:ext cx="8984767" cy="15478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Under this assumption, each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500" dirty="0"/>
              </a:p>
              <a:p>
                <a:r>
                  <a:rPr lang="en-US" sz="2500" dirty="0"/>
                  <a:t>probability of entry being zero: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𝑖𝑔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sz="2500" dirty="0"/>
              </a:p>
              <a:p>
                <a:r>
                  <a:rPr lang="en-US" sz="2500" dirty="0"/>
                  <a:t>-&gt; the expected number of zeros in the vector </a:t>
                </a:r>
                <a:r>
                  <a:rPr lang="en-US" sz="2500" b="1" dirty="0" err="1"/>
                  <a:t>y</a:t>
                </a:r>
                <a:r>
                  <a:rPr lang="en-US" sz="2500" b="1" baseline="-25000" dirty="0" err="1"/>
                  <a:t>i</a:t>
                </a:r>
                <a:r>
                  <a:rPr lang="en-US" sz="2500" dirty="0"/>
                  <a:t>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𝑖𝑔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10E3B8-34DB-5535-6893-0073C86C0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08" y="2203312"/>
                <a:ext cx="8984767" cy="1547860"/>
              </a:xfrm>
              <a:prstGeom prst="rect">
                <a:avLst/>
              </a:prstGeom>
              <a:blipFill>
                <a:blip r:embed="rId3"/>
                <a:stretch>
                  <a:fillRect l="-1271" t="-2439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1F6F6DA7-F05C-9E1E-05BA-DA0BEC9E03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342"/>
          <a:stretch>
            <a:fillRect/>
          </a:stretch>
        </p:blipFill>
        <p:spPr bwMode="auto">
          <a:xfrm>
            <a:off x="1107992" y="3899369"/>
            <a:ext cx="7807408" cy="295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4E300D-28F0-1543-14AE-C2F1A7106277}"/>
                  </a:ext>
                </a:extLst>
              </p:cNvPr>
              <p:cNvSpPr txBox="1"/>
              <p:nvPr/>
            </p:nvSpPr>
            <p:spPr>
              <a:xfrm>
                <a:off x="9690731" y="4654688"/>
                <a:ext cx="2129883" cy="1297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x-axis: N</a:t>
                </a:r>
                <a:r>
                  <a:rPr lang="en-US" baseline="-25000" dirty="0"/>
                  <a:t>i</a:t>
                </a:r>
              </a:p>
              <a:p>
                <a:r>
                  <a:rPr lang="en-US" dirty="0"/>
                  <a:t>y-axis: expected number of zeros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4E300D-28F0-1543-14AE-C2F1A7106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731" y="4654688"/>
                <a:ext cx="2129883" cy="1297215"/>
              </a:xfrm>
              <a:prstGeom prst="rect">
                <a:avLst/>
              </a:prstGeom>
              <a:blipFill>
                <a:blip r:embed="rId5"/>
                <a:stretch>
                  <a:fillRect l="-2976" t="-1942"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995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F1928-C514-2802-F651-26EF4FFF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2A2D-D935-712F-01D0-0B17EDC6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33" y="209008"/>
            <a:ext cx="11436013" cy="1325563"/>
          </a:xfrm>
        </p:spPr>
        <p:txBody>
          <a:bodyPr/>
          <a:lstStyle/>
          <a:p>
            <a:r>
              <a:rPr lang="en-US" dirty="0"/>
              <a:t>Empirically testing multinomial/Poisson models</a:t>
            </a:r>
          </a:p>
        </p:txBody>
      </p:sp>
      <p:pic>
        <p:nvPicPr>
          <p:cNvPr id="3074" name="Picture 2" descr="Fig. 1">
            <a:extLst>
              <a:ext uri="{FF2B5EF4-FFF2-40B4-BE49-F238E27FC236}">
                <a16:creationId xmlns:a16="http://schemas.microsoft.com/office/drawing/2014/main" id="{087DA525-BA82-18C4-D4FA-A7C998B784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69" r="267"/>
          <a:stretch>
            <a:fillRect/>
          </a:stretch>
        </p:blipFill>
        <p:spPr bwMode="auto">
          <a:xfrm>
            <a:off x="1782972" y="3804320"/>
            <a:ext cx="8626056" cy="2793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D6E229-3B74-B83F-024F-90AB4D57355D}"/>
                  </a:ext>
                </a:extLst>
              </p:cNvPr>
              <p:cNvSpPr txBox="1"/>
              <p:nvPr/>
            </p:nvSpPr>
            <p:spPr>
              <a:xfrm>
                <a:off x="305860" y="1373967"/>
                <a:ext cx="11580279" cy="888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Assumption: each gene expression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5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5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u="sng" dirty="0"/>
                  <a:t> for cell </a:t>
                </a:r>
                <a:r>
                  <a:rPr lang="en-US" sz="2500" u="sng" dirty="0" err="1"/>
                  <a:t>i</a:t>
                </a:r>
                <a:r>
                  <a:rPr lang="en-US" sz="2500" u="sng" dirty="0"/>
                  <a:t> is sampled independently from Multinomial(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500" b="1" u="sng" dirty="0"/>
                  <a:t>, </a:t>
                </a:r>
                <a:r>
                  <a:rPr lang="en-US" sz="2500" u="sng" dirty="0"/>
                  <a:t>G, N</a:t>
                </a:r>
                <a:r>
                  <a:rPr lang="en-US" sz="2500" u="sng" baseline="-25000" dirty="0"/>
                  <a:t>i</a:t>
                </a:r>
                <a:r>
                  <a:rPr lang="en-US" sz="2500" u="sng" dirty="0"/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D6E229-3B74-B83F-024F-90AB4D573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60" y="1373967"/>
                <a:ext cx="11580279" cy="888705"/>
              </a:xfrm>
              <a:prstGeom prst="rect">
                <a:avLst/>
              </a:prstGeom>
              <a:blipFill>
                <a:blip r:embed="rId3"/>
                <a:stretch>
                  <a:fillRect l="-986" t="-5634" b="-1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FB0387B-BD33-7B63-FC21-B4A58964A453}"/>
              </a:ext>
            </a:extLst>
          </p:cNvPr>
          <p:cNvSpPr txBox="1"/>
          <p:nvPr/>
        </p:nvSpPr>
        <p:spPr>
          <a:xfrm>
            <a:off x="765881" y="2521730"/>
            <a:ext cx="472795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Each gene expression count </a:t>
            </a:r>
            <a:r>
              <a:rPr lang="en-US" sz="2500" dirty="0" err="1"/>
              <a:t>y</a:t>
            </a:r>
            <a:r>
              <a:rPr lang="en-US" sz="2500" baseline="-25000" dirty="0" err="1"/>
              <a:t>ig</a:t>
            </a:r>
            <a:r>
              <a:rPr lang="en-US" sz="2500" dirty="0"/>
              <a:t> is independent and </a:t>
            </a:r>
            <a:r>
              <a:rPr lang="en-US" sz="2500" b="1" dirty="0"/>
              <a:t>approximately distributed </a:t>
            </a:r>
            <a:r>
              <a:rPr lang="en-US" sz="2500" dirty="0"/>
              <a:t>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CE0794-564F-9AB3-8B16-77DB71018863}"/>
                  </a:ext>
                </a:extLst>
              </p:cNvPr>
              <p:cNvSpPr txBox="1"/>
              <p:nvPr/>
            </p:nvSpPr>
            <p:spPr>
              <a:xfrm>
                <a:off x="5979098" y="3011940"/>
                <a:ext cx="2934586" cy="4160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CE0794-564F-9AB3-8B16-77DB71018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098" y="3011940"/>
                <a:ext cx="2934586" cy="416011"/>
              </a:xfrm>
              <a:prstGeom prst="rect">
                <a:avLst/>
              </a:prstGeom>
              <a:blipFill>
                <a:blip r:embed="rId4"/>
                <a:stretch>
                  <a:fillRect l="-2155" t="-6061" r="-3879" b="-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376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D631-ABF8-BAB2-E0AF-275A1D1F1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E3FAE90-C553-8983-B783-704F492F9FCC}"/>
              </a:ext>
            </a:extLst>
          </p:cNvPr>
          <p:cNvGrpSpPr/>
          <p:nvPr/>
        </p:nvGrpSpPr>
        <p:grpSpPr>
          <a:xfrm>
            <a:off x="355752" y="2962710"/>
            <a:ext cx="2503816" cy="2248766"/>
            <a:chOff x="314681" y="1380577"/>
            <a:chExt cx="2106605" cy="18322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F68E44-5B9B-32EE-D4E7-818324A70B6A}"/>
                </a:ext>
              </a:extLst>
            </p:cNvPr>
            <p:cNvGrpSpPr/>
            <p:nvPr/>
          </p:nvGrpSpPr>
          <p:grpSpPr>
            <a:xfrm>
              <a:off x="314681" y="1380577"/>
              <a:ext cx="2106605" cy="1832214"/>
              <a:chOff x="580839" y="3486386"/>
              <a:chExt cx="2106605" cy="183221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D1F1F8A-E9D6-A9C1-F530-F60A7F201E18}"/>
                  </a:ext>
                </a:extLst>
              </p:cNvPr>
              <p:cNvSpPr/>
              <p:nvPr/>
            </p:nvSpPr>
            <p:spPr>
              <a:xfrm>
                <a:off x="955036" y="3843709"/>
                <a:ext cx="1732408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028B64-0948-F92D-7B10-4C3CD6F1C264}"/>
                  </a:ext>
                </a:extLst>
              </p:cNvPr>
              <p:cNvSpPr txBox="1"/>
              <p:nvPr/>
            </p:nvSpPr>
            <p:spPr>
              <a:xfrm>
                <a:off x="955030" y="3486386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032B5C-E177-38B9-C525-8CAB19FC0F1C}"/>
                  </a:ext>
                </a:extLst>
              </p:cNvPr>
              <p:cNvSpPr txBox="1"/>
              <p:nvPr/>
            </p:nvSpPr>
            <p:spPr>
              <a:xfrm rot="16200000">
                <a:off x="284764" y="3970695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616FF09-411A-70EE-13EA-E2F6ECA8188A}"/>
                </a:ext>
              </a:extLst>
            </p:cNvPr>
            <p:cNvCxnSpPr/>
            <p:nvPr/>
          </p:nvCxnSpPr>
          <p:spPr>
            <a:xfrm>
              <a:off x="735980" y="1996068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63721A-76C7-B7D4-F2D2-1CBC452442A0}"/>
                </a:ext>
              </a:extLst>
            </p:cNvPr>
            <p:cNvCxnSpPr/>
            <p:nvPr/>
          </p:nvCxnSpPr>
          <p:spPr>
            <a:xfrm>
              <a:off x="721113" y="2259978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A549254-8278-A830-A083-C6FD6AC42769}"/>
                </a:ext>
              </a:extLst>
            </p:cNvPr>
            <p:cNvCxnSpPr/>
            <p:nvPr/>
          </p:nvCxnSpPr>
          <p:spPr>
            <a:xfrm>
              <a:off x="708848" y="2843554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2D9A42-A5BB-3E7E-DD86-ACB1AB7997D0}"/>
                </a:ext>
              </a:extLst>
            </p:cNvPr>
            <p:cNvSpPr txBox="1"/>
            <p:nvPr/>
          </p:nvSpPr>
          <p:spPr>
            <a:xfrm>
              <a:off x="1409322" y="1660308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288478-FE17-9A86-D1CC-BCD54C5FDF1C}"/>
                </a:ext>
              </a:extLst>
            </p:cNvPr>
            <p:cNvSpPr txBox="1"/>
            <p:nvPr/>
          </p:nvSpPr>
          <p:spPr>
            <a:xfrm>
              <a:off x="1426785" y="1924217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C21C0B-1F14-D082-986A-15E50D03D850}"/>
                </a:ext>
              </a:extLst>
            </p:cNvPr>
            <p:cNvSpPr txBox="1"/>
            <p:nvPr/>
          </p:nvSpPr>
          <p:spPr>
            <a:xfrm>
              <a:off x="1385003" y="2819258"/>
              <a:ext cx="344188" cy="3009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y</a:t>
              </a:r>
              <a:r>
                <a:rPr lang="en-US" b="1" baseline="-25000" dirty="0" err="1"/>
                <a:t>N</a:t>
              </a:r>
              <a:endParaRPr lang="en-US" b="1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5B49FA-9748-E476-4EF5-41E45A041548}"/>
                </a:ext>
              </a:extLst>
            </p:cNvPr>
            <p:cNvSpPr txBox="1"/>
            <p:nvPr/>
          </p:nvSpPr>
          <p:spPr>
            <a:xfrm rot="5400000">
              <a:off x="1446821" y="2353321"/>
              <a:ext cx="4475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…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BA4396B-C89B-804E-6653-ED872CE000AD}"/>
              </a:ext>
            </a:extLst>
          </p:cNvPr>
          <p:cNvSpPr txBox="1"/>
          <p:nvPr/>
        </p:nvSpPr>
        <p:spPr>
          <a:xfrm>
            <a:off x="80225" y="1552278"/>
            <a:ext cx="360506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u="sng" dirty="0"/>
              <a:t>Observed data: </a:t>
            </a:r>
            <a:r>
              <a:rPr lang="en-US" sz="2500" dirty="0"/>
              <a:t>UMI count matrix </a:t>
            </a:r>
            <a:r>
              <a:rPr lang="en-US" sz="2500" b="1" dirty="0"/>
              <a:t>Y</a:t>
            </a:r>
            <a:r>
              <a:rPr lang="en-US" sz="2500" dirty="0"/>
              <a:t> (gene expression matrix)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BBB56E7-1E86-BA49-9DD2-319D964978BF}"/>
              </a:ext>
            </a:extLst>
          </p:cNvPr>
          <p:cNvGrpSpPr/>
          <p:nvPr/>
        </p:nvGrpSpPr>
        <p:grpSpPr>
          <a:xfrm>
            <a:off x="5350982" y="2716092"/>
            <a:ext cx="2561210" cy="2276104"/>
            <a:chOff x="3539750" y="2131751"/>
            <a:chExt cx="2561210" cy="227610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B96D71-1998-CFAF-2E0A-3594CBAA5CAC}"/>
                </a:ext>
              </a:extLst>
            </p:cNvPr>
            <p:cNvGrpSpPr/>
            <p:nvPr/>
          </p:nvGrpSpPr>
          <p:grpSpPr>
            <a:xfrm>
              <a:off x="3539750" y="2131751"/>
              <a:ext cx="2502922" cy="2276104"/>
              <a:chOff x="315433" y="1358303"/>
              <a:chExt cx="2105853" cy="185448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E27E310-81DF-CC1B-3E04-D551E73046F7}"/>
                  </a:ext>
                </a:extLst>
              </p:cNvPr>
              <p:cNvGrpSpPr/>
              <p:nvPr/>
            </p:nvGrpSpPr>
            <p:grpSpPr>
              <a:xfrm>
                <a:off x="315433" y="1358303"/>
                <a:ext cx="2105853" cy="1854488"/>
                <a:chOff x="581591" y="3464112"/>
                <a:chExt cx="2105853" cy="1854488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1B99AFE-2F51-14AF-824B-FEB70AEACD05}"/>
                    </a:ext>
                  </a:extLst>
                </p:cNvPr>
                <p:cNvSpPr/>
                <p:nvPr/>
              </p:nvSpPr>
              <p:spPr>
                <a:xfrm>
                  <a:off x="955036" y="3843709"/>
                  <a:ext cx="1732408" cy="1474891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7FA960A-AE29-63F6-473B-4BD4BA0CBC91}"/>
                    </a:ext>
                  </a:extLst>
                </p:cNvPr>
                <p:cNvSpPr txBox="1"/>
                <p:nvPr/>
              </p:nvSpPr>
              <p:spPr>
                <a:xfrm>
                  <a:off x="916567" y="3464112"/>
                  <a:ext cx="1177758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500" dirty="0"/>
                    <a:t>J genes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331B004-0544-FCE6-2ABF-66C5C63BA956}"/>
                    </a:ext>
                  </a:extLst>
                </p:cNvPr>
                <p:cNvSpPr txBox="1"/>
                <p:nvPr/>
              </p:nvSpPr>
              <p:spPr>
                <a:xfrm rot="16200000">
                  <a:off x="285516" y="3913587"/>
                  <a:ext cx="102303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/>
                    <a:t>N cells</a:t>
                  </a:r>
                </a:p>
              </p:txBody>
            </p:sp>
          </p:grp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0438A7F-8DB3-2597-CEEF-7D327DEB179A}"/>
                  </a:ext>
                </a:extLst>
              </p:cNvPr>
              <p:cNvCxnSpPr/>
              <p:nvPr/>
            </p:nvCxnSpPr>
            <p:spPr>
              <a:xfrm>
                <a:off x="735980" y="1996068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AA0104B-3B19-A181-1777-1359C98468DF}"/>
                  </a:ext>
                </a:extLst>
              </p:cNvPr>
              <p:cNvCxnSpPr/>
              <p:nvPr/>
            </p:nvCxnSpPr>
            <p:spPr>
              <a:xfrm>
                <a:off x="721113" y="2259978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36E583B0-76CD-2C77-9B85-CBA4DDDCC040}"/>
                  </a:ext>
                </a:extLst>
              </p:cNvPr>
              <p:cNvCxnSpPr/>
              <p:nvPr/>
            </p:nvCxnSpPr>
            <p:spPr>
              <a:xfrm>
                <a:off x="708848" y="2843554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1C00DCE-F652-8E9E-A28D-7E7E364F9B80}"/>
                    </a:ext>
                  </a:extLst>
                </p:cNvPr>
                <p:cNvSpPr txBox="1"/>
                <p:nvPr/>
              </p:nvSpPr>
              <p:spPr>
                <a:xfrm>
                  <a:off x="4093392" y="2613274"/>
                  <a:ext cx="18864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1C00DCE-F652-8E9E-A28D-7E7E364F9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3392" y="2613274"/>
                  <a:ext cx="1886478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013" t="-4545" r="-4027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ED1721E-52F4-B837-553F-EBBA04DFAF02}"/>
                    </a:ext>
                  </a:extLst>
                </p:cNvPr>
                <p:cNvSpPr txBox="1"/>
                <p:nvPr/>
              </p:nvSpPr>
              <p:spPr>
                <a:xfrm>
                  <a:off x="4086156" y="2906022"/>
                  <a:ext cx="18971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ED1721E-52F4-B837-553F-EBBA04DFA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6156" y="2906022"/>
                  <a:ext cx="189712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333" t="-4545" r="-4667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1979AC-CAEC-63DE-7D8C-0F3B3410AFEA}"/>
                    </a:ext>
                  </a:extLst>
                </p:cNvPr>
                <p:cNvSpPr txBox="1"/>
                <p:nvPr/>
              </p:nvSpPr>
              <p:spPr>
                <a:xfrm>
                  <a:off x="4118879" y="4021182"/>
                  <a:ext cx="19820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1979AC-CAEC-63DE-7D8C-0F3B3410A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879" y="4021182"/>
                  <a:ext cx="198208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911" t="-4348" r="-3822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3EBB11-8378-5A6D-FC7A-EF061AB72265}"/>
                  </a:ext>
                </a:extLst>
              </p:cNvPr>
              <p:cNvSpPr txBox="1"/>
              <p:nvPr/>
            </p:nvSpPr>
            <p:spPr>
              <a:xfrm>
                <a:off x="4538560" y="1387669"/>
                <a:ext cx="4142197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Unknown, would like to infer: </a:t>
                </a:r>
                <a:r>
                  <a:rPr lang="en-US" sz="2500" dirty="0"/>
                  <a:t>Matrix 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r>
                  <a:rPr lang="en-US" sz="2500" dirty="0"/>
                  <a:t> of true proportion of gene transcripts</a:t>
                </a:r>
                <a:endParaRPr lang="en-US" sz="2500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3EBB11-8378-5A6D-FC7A-EF061AB72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560" y="1387669"/>
                <a:ext cx="4142197" cy="1246495"/>
              </a:xfrm>
              <a:prstGeom prst="rect">
                <a:avLst/>
              </a:prstGeom>
              <a:blipFill>
                <a:blip r:embed="rId5"/>
                <a:stretch>
                  <a:fillRect l="-2446" t="-4040" r="-3670"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D8DBE8-68CE-C95C-367B-96697639BA71}"/>
                  </a:ext>
                </a:extLst>
              </p:cNvPr>
              <p:cNvSpPr txBox="1"/>
              <p:nvPr/>
            </p:nvSpPr>
            <p:spPr>
              <a:xfrm>
                <a:off x="5270093" y="5132160"/>
                <a:ext cx="3123030" cy="576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proportion of transcripts of gene g inside cell I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D8DBE8-68CE-C95C-367B-96697639B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093" y="5132160"/>
                <a:ext cx="3123030" cy="576568"/>
              </a:xfrm>
              <a:prstGeom prst="rect">
                <a:avLst/>
              </a:prstGeom>
              <a:blipFill>
                <a:blip r:embed="rId6"/>
                <a:stretch>
                  <a:fillRect l="-4878" t="-13043" r="-122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C39A4A0D-AA63-7D2E-971D-4EF8399CFFEF}"/>
              </a:ext>
            </a:extLst>
          </p:cNvPr>
          <p:cNvGrpSpPr/>
          <p:nvPr/>
        </p:nvGrpSpPr>
        <p:grpSpPr>
          <a:xfrm>
            <a:off x="9337608" y="1904343"/>
            <a:ext cx="2204961" cy="2318085"/>
            <a:chOff x="9486302" y="724470"/>
            <a:chExt cx="2755233" cy="268615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B831835-7BF2-010C-82D3-A0C441EB2595}"/>
                </a:ext>
              </a:extLst>
            </p:cNvPr>
            <p:cNvGrpSpPr/>
            <p:nvPr/>
          </p:nvGrpSpPr>
          <p:grpSpPr>
            <a:xfrm>
              <a:off x="9971081" y="724470"/>
              <a:ext cx="1863050" cy="1498951"/>
              <a:chOff x="1347474" y="4276073"/>
              <a:chExt cx="3000018" cy="2451110"/>
            </a:xfrm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EC5BC47D-2219-5F22-F281-7C23D112FE8C}"/>
                  </a:ext>
                </a:extLst>
              </p:cNvPr>
              <p:cNvSpPr/>
              <p:nvPr/>
            </p:nvSpPr>
            <p:spPr>
              <a:xfrm>
                <a:off x="1347474" y="4276073"/>
                <a:ext cx="3000018" cy="2451110"/>
              </a:xfrm>
              <a:custGeom>
                <a:avLst/>
                <a:gdLst>
                  <a:gd name="connsiteX0" fmla="*/ 2056291 w 5883299"/>
                  <a:gd name="connsiteY0" fmla="*/ 67320 h 4093556"/>
                  <a:gd name="connsiteX1" fmla="*/ 5112007 w 5883299"/>
                  <a:gd name="connsiteY1" fmla="*/ 21022 h 4093556"/>
                  <a:gd name="connsiteX2" fmla="*/ 4973111 w 5883299"/>
                  <a:gd name="connsiteY2" fmla="*/ 449285 h 4093556"/>
                  <a:gd name="connsiteX3" fmla="*/ 3977688 w 5883299"/>
                  <a:gd name="connsiteY3" fmla="*/ 460860 h 4093556"/>
                  <a:gd name="connsiteX4" fmla="*/ 3954539 w 5883299"/>
                  <a:gd name="connsiteY4" fmla="*/ 958571 h 4093556"/>
                  <a:gd name="connsiteX5" fmla="*/ 5181455 w 5883299"/>
                  <a:gd name="connsiteY5" fmla="*/ 1791948 h 4093556"/>
                  <a:gd name="connsiteX6" fmla="*/ 4892088 w 5883299"/>
                  <a:gd name="connsiteY6" fmla="*/ 3076738 h 4093556"/>
                  <a:gd name="connsiteX7" fmla="*/ 3885091 w 5883299"/>
                  <a:gd name="connsiteY7" fmla="*/ 3169336 h 4093556"/>
                  <a:gd name="connsiteX8" fmla="*/ 3873516 w 5883299"/>
                  <a:gd name="connsiteY8" fmla="*/ 3458703 h 4093556"/>
                  <a:gd name="connsiteX9" fmla="*/ 5355075 w 5883299"/>
                  <a:gd name="connsiteY9" fmla="*/ 3493427 h 4093556"/>
                  <a:gd name="connsiteX10" fmla="*/ 5505546 w 5883299"/>
                  <a:gd name="connsiteY10" fmla="*/ 4037437 h 4093556"/>
                  <a:gd name="connsiteX11" fmla="*/ 551582 w 5883299"/>
                  <a:gd name="connsiteY11" fmla="*/ 3991138 h 4093556"/>
                  <a:gd name="connsiteX12" fmla="*/ 354812 w 5883299"/>
                  <a:gd name="connsiteY12" fmla="*/ 3285082 h 4093556"/>
                  <a:gd name="connsiteX13" fmla="*/ 2635025 w 5883299"/>
                  <a:gd name="connsiteY13" fmla="*/ 3308232 h 4093556"/>
                  <a:gd name="connsiteX14" fmla="*/ 2704473 w 5883299"/>
                  <a:gd name="connsiteY14" fmla="*/ 3088313 h 4093556"/>
                  <a:gd name="connsiteX15" fmla="*/ 1234488 w 5883299"/>
                  <a:gd name="connsiteY15" fmla="*/ 2856819 h 4093556"/>
                  <a:gd name="connsiteX16" fmla="*/ 1095592 w 5883299"/>
                  <a:gd name="connsiteY16" fmla="*/ 1363685 h 4093556"/>
                  <a:gd name="connsiteX17" fmla="*/ 2172037 w 5883299"/>
                  <a:gd name="connsiteY17" fmla="*/ 900698 h 4093556"/>
                  <a:gd name="connsiteX18" fmla="*/ 3317931 w 5883299"/>
                  <a:gd name="connsiteY18" fmla="*/ 854399 h 4093556"/>
                  <a:gd name="connsiteX19" fmla="*/ 3213759 w 5883299"/>
                  <a:gd name="connsiteY19" fmla="*/ 426136 h 4093556"/>
                  <a:gd name="connsiteX20" fmla="*/ 1257637 w 5883299"/>
                  <a:gd name="connsiteY20" fmla="*/ 472434 h 4093556"/>
                  <a:gd name="connsiteX21" fmla="*/ 1246063 w 5883299"/>
                  <a:gd name="connsiteY21" fmla="*/ 78895 h 4093556"/>
                  <a:gd name="connsiteX22" fmla="*/ 2056291 w 5883299"/>
                  <a:gd name="connsiteY22" fmla="*/ 67320 h 4093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883299" h="4093556">
                    <a:moveTo>
                      <a:pt x="2056291" y="67320"/>
                    </a:moveTo>
                    <a:cubicBezTo>
                      <a:pt x="2700615" y="57675"/>
                      <a:pt x="4625870" y="-42639"/>
                      <a:pt x="5112007" y="21022"/>
                    </a:cubicBezTo>
                    <a:cubicBezTo>
                      <a:pt x="5598144" y="84683"/>
                      <a:pt x="5162164" y="375979"/>
                      <a:pt x="4973111" y="449285"/>
                    </a:cubicBezTo>
                    <a:cubicBezTo>
                      <a:pt x="4784058" y="522591"/>
                      <a:pt x="4147450" y="375979"/>
                      <a:pt x="3977688" y="460860"/>
                    </a:cubicBezTo>
                    <a:cubicBezTo>
                      <a:pt x="3807926" y="545741"/>
                      <a:pt x="3753911" y="736723"/>
                      <a:pt x="3954539" y="958571"/>
                    </a:cubicBezTo>
                    <a:cubicBezTo>
                      <a:pt x="4155167" y="1180419"/>
                      <a:pt x="5025197" y="1438920"/>
                      <a:pt x="5181455" y="1791948"/>
                    </a:cubicBezTo>
                    <a:cubicBezTo>
                      <a:pt x="5337713" y="2144976"/>
                      <a:pt x="5108149" y="2847173"/>
                      <a:pt x="4892088" y="3076738"/>
                    </a:cubicBezTo>
                    <a:cubicBezTo>
                      <a:pt x="4676027" y="3306303"/>
                      <a:pt x="4054853" y="3105675"/>
                      <a:pt x="3885091" y="3169336"/>
                    </a:cubicBezTo>
                    <a:cubicBezTo>
                      <a:pt x="3715329" y="3232997"/>
                      <a:pt x="3628519" y="3404688"/>
                      <a:pt x="3873516" y="3458703"/>
                    </a:cubicBezTo>
                    <a:cubicBezTo>
                      <a:pt x="4118513" y="3512718"/>
                      <a:pt x="5083070" y="3396971"/>
                      <a:pt x="5355075" y="3493427"/>
                    </a:cubicBezTo>
                    <a:cubicBezTo>
                      <a:pt x="5627080" y="3589883"/>
                      <a:pt x="6306128" y="3954485"/>
                      <a:pt x="5505546" y="4037437"/>
                    </a:cubicBezTo>
                    <a:cubicBezTo>
                      <a:pt x="4704964" y="4120389"/>
                      <a:pt x="1410038" y="4116530"/>
                      <a:pt x="551582" y="3991138"/>
                    </a:cubicBezTo>
                    <a:cubicBezTo>
                      <a:pt x="-306874" y="3865746"/>
                      <a:pt x="7571" y="3398900"/>
                      <a:pt x="354812" y="3285082"/>
                    </a:cubicBezTo>
                    <a:cubicBezTo>
                      <a:pt x="702053" y="3171264"/>
                      <a:pt x="2243415" y="3341027"/>
                      <a:pt x="2635025" y="3308232"/>
                    </a:cubicBezTo>
                    <a:cubicBezTo>
                      <a:pt x="3026635" y="3275437"/>
                      <a:pt x="2937896" y="3163549"/>
                      <a:pt x="2704473" y="3088313"/>
                    </a:cubicBezTo>
                    <a:cubicBezTo>
                      <a:pt x="2471050" y="3013077"/>
                      <a:pt x="1502635" y="3144257"/>
                      <a:pt x="1234488" y="2856819"/>
                    </a:cubicBezTo>
                    <a:cubicBezTo>
                      <a:pt x="966341" y="2569381"/>
                      <a:pt x="939334" y="1689705"/>
                      <a:pt x="1095592" y="1363685"/>
                    </a:cubicBezTo>
                    <a:cubicBezTo>
                      <a:pt x="1251850" y="1037665"/>
                      <a:pt x="1801647" y="985579"/>
                      <a:pt x="2172037" y="900698"/>
                    </a:cubicBezTo>
                    <a:cubicBezTo>
                      <a:pt x="2542427" y="815817"/>
                      <a:pt x="3144311" y="933493"/>
                      <a:pt x="3317931" y="854399"/>
                    </a:cubicBezTo>
                    <a:cubicBezTo>
                      <a:pt x="3491551" y="775305"/>
                      <a:pt x="3557141" y="489797"/>
                      <a:pt x="3213759" y="426136"/>
                    </a:cubicBezTo>
                    <a:cubicBezTo>
                      <a:pt x="2870377" y="362475"/>
                      <a:pt x="1585586" y="530307"/>
                      <a:pt x="1257637" y="472434"/>
                    </a:cubicBezTo>
                    <a:cubicBezTo>
                      <a:pt x="929688" y="414561"/>
                      <a:pt x="1109096" y="146414"/>
                      <a:pt x="1246063" y="78895"/>
                    </a:cubicBezTo>
                    <a:cubicBezTo>
                      <a:pt x="1383030" y="11376"/>
                      <a:pt x="1411967" y="76965"/>
                      <a:pt x="2056291" y="6732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2E4FCB2-C990-9AEF-DE7B-FDA2A83E84D3}"/>
                  </a:ext>
                </a:extLst>
              </p:cNvPr>
              <p:cNvSpPr/>
              <p:nvPr/>
            </p:nvSpPr>
            <p:spPr>
              <a:xfrm>
                <a:off x="2496849" y="5277791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AD7E07D-E013-FDA1-5410-BCFFE2E20ACF}"/>
                  </a:ext>
                </a:extLst>
              </p:cNvPr>
              <p:cNvSpPr/>
              <p:nvPr/>
            </p:nvSpPr>
            <p:spPr>
              <a:xfrm>
                <a:off x="2496849" y="5582976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0481965-988E-0E67-E63E-90EFD56CCB6F}"/>
                  </a:ext>
                </a:extLst>
              </p:cNvPr>
              <p:cNvSpPr/>
              <p:nvPr/>
            </p:nvSpPr>
            <p:spPr>
              <a:xfrm>
                <a:off x="3293246" y="5497667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DD288D1-4523-8CD8-94AB-89EE78B8DC72}"/>
                  </a:ext>
                </a:extLst>
              </p:cNvPr>
              <p:cNvSpPr/>
              <p:nvPr/>
            </p:nvSpPr>
            <p:spPr>
              <a:xfrm>
                <a:off x="2123038" y="5012742"/>
                <a:ext cx="595493" cy="109937"/>
              </a:xfrm>
              <a:prstGeom prst="rect">
                <a:avLst/>
              </a:prstGeom>
              <a:solidFill>
                <a:srgbClr val="B178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BC7FA46-965B-7B85-E3B5-E16965030E91}"/>
                  </a:ext>
                </a:extLst>
              </p:cNvPr>
              <p:cNvSpPr/>
              <p:nvPr/>
            </p:nvSpPr>
            <p:spPr>
              <a:xfrm>
                <a:off x="2787553" y="4934509"/>
                <a:ext cx="595493" cy="109937"/>
              </a:xfrm>
              <a:prstGeom prst="rect">
                <a:avLst/>
              </a:prstGeom>
              <a:solidFill>
                <a:srgbClr val="B178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51C520B-69CA-05DA-D785-E0580BC43591}"/>
                  </a:ext>
                </a:extLst>
              </p:cNvPr>
              <p:cNvSpPr/>
              <p:nvPr/>
            </p:nvSpPr>
            <p:spPr>
              <a:xfrm>
                <a:off x="2148907" y="5827480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28E0CC3-A881-6141-2E6A-8B2277DB85AE}"/>
                  </a:ext>
                </a:extLst>
              </p:cNvPr>
              <p:cNvSpPr/>
              <p:nvPr/>
            </p:nvSpPr>
            <p:spPr>
              <a:xfrm>
                <a:off x="2856298" y="5827480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5454D15-2586-0A5A-136E-A15BEFA9138B}"/>
                  </a:ext>
                </a:extLst>
              </p:cNvPr>
              <p:cNvSpPr/>
              <p:nvPr/>
            </p:nvSpPr>
            <p:spPr>
              <a:xfrm>
                <a:off x="3097600" y="5125839"/>
                <a:ext cx="595493" cy="109937"/>
              </a:xfrm>
              <a:prstGeom prst="rect">
                <a:avLst/>
              </a:prstGeom>
              <a:solidFill>
                <a:srgbClr val="B178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22BA21-F373-951F-B863-1B4EDB1D43B1}"/>
                  </a:ext>
                </a:extLst>
              </p:cNvPr>
              <p:cNvSpPr txBox="1"/>
              <p:nvPr/>
            </p:nvSpPr>
            <p:spPr>
              <a:xfrm>
                <a:off x="2957864" y="4989477"/>
                <a:ext cx="922031" cy="402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Helvetica" charset="0"/>
                    <a:ea typeface="Helvetica" charset="0"/>
                    <a:cs typeface="Helvetica" charset="0"/>
                  </a:rPr>
                  <a:t>gene 3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7CA32A7-5E7C-6CF9-1353-6E44282C1F21}"/>
                  </a:ext>
                </a:extLst>
              </p:cNvPr>
              <p:cNvSpPr/>
              <p:nvPr/>
            </p:nvSpPr>
            <p:spPr>
              <a:xfrm>
                <a:off x="1923344" y="5446105"/>
                <a:ext cx="595493" cy="10993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6F736F3-79C5-0777-7912-4E25C941383E}"/>
                  </a:ext>
                </a:extLst>
              </p:cNvPr>
              <p:cNvSpPr txBox="1"/>
              <p:nvPr/>
            </p:nvSpPr>
            <p:spPr>
              <a:xfrm>
                <a:off x="1828578" y="5328773"/>
                <a:ext cx="922031" cy="402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Helvetica" charset="0"/>
                    <a:ea typeface="Helvetica" charset="0"/>
                    <a:cs typeface="Helvetica" charset="0"/>
                  </a:rPr>
                  <a:t>gene 2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4D51BC-FE67-0DA9-06B5-9DD66B4EBD4E}"/>
                  </a:ext>
                </a:extLst>
              </p:cNvPr>
              <p:cNvSpPr txBox="1"/>
              <p:nvPr/>
            </p:nvSpPr>
            <p:spPr>
              <a:xfrm>
                <a:off x="3198481" y="5372738"/>
                <a:ext cx="922031" cy="402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Helvetica" charset="0"/>
                    <a:ea typeface="Helvetica" charset="0"/>
                    <a:cs typeface="Helvetica" charset="0"/>
                  </a:rPr>
                  <a:t>gene 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2C121CC-F35B-5CD5-CA2D-E340FE4F3125}"/>
                    </a:ext>
                  </a:extLst>
                </p:cNvPr>
                <p:cNvSpPr txBox="1"/>
                <p:nvPr/>
              </p:nvSpPr>
              <p:spPr>
                <a:xfrm>
                  <a:off x="9486302" y="2367202"/>
                  <a:ext cx="2755233" cy="10434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Ex: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a14:m>
                  <a:r>
                    <a:rPr lang="en-US" dirty="0"/>
                    <a:t>  as 5 transcripts are for gene 1 out of 9 total transcripts</a:t>
                  </a: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2C121CC-F35B-5CD5-CA2D-E340FE4F3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302" y="2367202"/>
                  <a:ext cx="2755233" cy="1043427"/>
                </a:xfrm>
                <a:prstGeom prst="rect">
                  <a:avLst/>
                </a:prstGeom>
                <a:blipFill>
                  <a:blip r:embed="rId7"/>
                  <a:stretch>
                    <a:fillRect l="-2299" r="-575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FEAA5DC-E580-63F5-733E-4A6EE66E48F5}"/>
                  </a:ext>
                </a:extLst>
              </p:cNvPr>
              <p:cNvSpPr txBox="1"/>
              <p:nvPr/>
            </p:nvSpPr>
            <p:spPr>
              <a:xfrm>
                <a:off x="355752" y="6936931"/>
                <a:ext cx="10820772" cy="8617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Problem</a:t>
                </a:r>
                <a:r>
                  <a:rPr lang="en-US" sz="2500" dirty="0"/>
                  <a:t>: Given </a:t>
                </a:r>
                <a:r>
                  <a:rPr lang="en-US" sz="2500" b="1" dirty="0"/>
                  <a:t>Y</a:t>
                </a:r>
                <a:r>
                  <a:rPr lang="en-US" sz="2500" dirty="0"/>
                  <a:t> with rows </a:t>
                </a:r>
                <a:r>
                  <a:rPr lang="en-US" sz="2500" b="1" dirty="0" err="1"/>
                  <a:t>y</a:t>
                </a:r>
                <a:r>
                  <a:rPr lang="en-US" sz="2500" b="1" baseline="-25000" dirty="0" err="1"/>
                  <a:t>i</a:t>
                </a:r>
                <a:r>
                  <a:rPr lang="en-US" sz="2500" dirty="0"/>
                  <a:t> ~ Multinomial(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500" b="1" dirty="0"/>
                  <a:t>, </a:t>
                </a:r>
                <a:r>
                  <a:rPr lang="en-US" sz="2500" dirty="0"/>
                  <a:t>G, N</a:t>
                </a:r>
                <a:r>
                  <a:rPr lang="en-US" sz="2500" baseline="-25000" dirty="0"/>
                  <a:t>i</a:t>
                </a:r>
                <a:r>
                  <a:rPr lang="en-US" sz="2500" dirty="0"/>
                  <a:t>), estimate the proportion matrix </a:t>
                </a:r>
                <a14:m>
                  <m:oMath xmlns:m="http://schemas.openxmlformats.org/officeDocument/2006/math">
                    <m:r>
                      <a:rPr lang="en-US" sz="2500" b="1"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r>
                  <a:rPr lang="en-US" sz="2500" dirty="0"/>
                  <a:t>.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FEAA5DC-E580-63F5-733E-4A6EE66E4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2" y="6936931"/>
                <a:ext cx="10820772" cy="861774"/>
              </a:xfrm>
              <a:prstGeom prst="rect">
                <a:avLst/>
              </a:prstGeom>
              <a:blipFill>
                <a:blip r:embed="rId8"/>
                <a:stretch>
                  <a:fillRect l="-820" t="-5714" r="-1405" b="-142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1">
            <a:extLst>
              <a:ext uri="{FF2B5EF4-FFF2-40B4-BE49-F238E27FC236}">
                <a16:creationId xmlns:a16="http://schemas.microsoft.com/office/drawing/2014/main" id="{0EE0A621-5F00-87E4-8236-5F3AB685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6" y="-62755"/>
            <a:ext cx="10515600" cy="1325563"/>
          </a:xfrm>
        </p:spPr>
        <p:txBody>
          <a:bodyPr/>
          <a:lstStyle/>
          <a:p>
            <a:r>
              <a:rPr lang="en-US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395646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230E-796B-2100-7F90-39538D4D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FB48-75EF-0515-57BD-FD28BFA72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6" y="-62755"/>
            <a:ext cx="10515600" cy="1325563"/>
          </a:xfrm>
        </p:spPr>
        <p:txBody>
          <a:bodyPr/>
          <a:lstStyle/>
          <a:p>
            <a:r>
              <a:rPr lang="en-US" dirty="0"/>
              <a:t>Poisson-PCA problem (GLM-PCA)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208996-324B-26CB-F975-57F68E5378A6}"/>
              </a:ext>
            </a:extLst>
          </p:cNvPr>
          <p:cNvGrpSpPr/>
          <p:nvPr/>
        </p:nvGrpSpPr>
        <p:grpSpPr>
          <a:xfrm>
            <a:off x="0" y="2012137"/>
            <a:ext cx="2503816" cy="2248766"/>
            <a:chOff x="314681" y="1380577"/>
            <a:chExt cx="2106605" cy="18322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D60D932-EE27-FCEA-7761-06EBC9E0EED0}"/>
                </a:ext>
              </a:extLst>
            </p:cNvPr>
            <p:cNvGrpSpPr/>
            <p:nvPr/>
          </p:nvGrpSpPr>
          <p:grpSpPr>
            <a:xfrm>
              <a:off x="314681" y="1380577"/>
              <a:ext cx="2106605" cy="1832214"/>
              <a:chOff x="580839" y="3486386"/>
              <a:chExt cx="2106605" cy="183221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B10B5D-17D8-0BFC-ED5D-AF4AA7F14B1F}"/>
                  </a:ext>
                </a:extLst>
              </p:cNvPr>
              <p:cNvSpPr/>
              <p:nvPr/>
            </p:nvSpPr>
            <p:spPr>
              <a:xfrm>
                <a:off x="955036" y="3843709"/>
                <a:ext cx="1732408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BA0192-1003-A06E-B75A-4DBF9FFFD6CC}"/>
                  </a:ext>
                </a:extLst>
              </p:cNvPr>
              <p:cNvSpPr txBox="1"/>
              <p:nvPr/>
            </p:nvSpPr>
            <p:spPr>
              <a:xfrm>
                <a:off x="955030" y="3486386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777E9-3433-2FFD-99C5-24C64BB94A22}"/>
                  </a:ext>
                </a:extLst>
              </p:cNvPr>
              <p:cNvSpPr txBox="1"/>
              <p:nvPr/>
            </p:nvSpPr>
            <p:spPr>
              <a:xfrm rot="16200000">
                <a:off x="284764" y="3970695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40E7B7-5503-8258-ABC7-B366B7B3A488}"/>
                </a:ext>
              </a:extLst>
            </p:cNvPr>
            <p:cNvCxnSpPr/>
            <p:nvPr/>
          </p:nvCxnSpPr>
          <p:spPr>
            <a:xfrm>
              <a:off x="735980" y="1996068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304692D-F2FF-8B7D-6B9F-374D7992C022}"/>
                </a:ext>
              </a:extLst>
            </p:cNvPr>
            <p:cNvCxnSpPr/>
            <p:nvPr/>
          </p:nvCxnSpPr>
          <p:spPr>
            <a:xfrm>
              <a:off x="721113" y="2259978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C01A6AB-3990-7CD4-A356-5B74D9FAE501}"/>
                </a:ext>
              </a:extLst>
            </p:cNvPr>
            <p:cNvCxnSpPr/>
            <p:nvPr/>
          </p:nvCxnSpPr>
          <p:spPr>
            <a:xfrm>
              <a:off x="708848" y="2843554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AC33BF-E07A-A1AE-5685-88ED35919AD3}"/>
                </a:ext>
              </a:extLst>
            </p:cNvPr>
            <p:cNvSpPr txBox="1"/>
            <p:nvPr/>
          </p:nvSpPr>
          <p:spPr>
            <a:xfrm>
              <a:off x="1409322" y="1660308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7F077E-D684-1CCE-7237-47EA4FB37B7B}"/>
                </a:ext>
              </a:extLst>
            </p:cNvPr>
            <p:cNvSpPr txBox="1"/>
            <p:nvPr/>
          </p:nvSpPr>
          <p:spPr>
            <a:xfrm>
              <a:off x="1426785" y="1924217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DEF1A41-D6BC-9950-AB27-E12959A5E278}"/>
                </a:ext>
              </a:extLst>
            </p:cNvPr>
            <p:cNvSpPr txBox="1"/>
            <p:nvPr/>
          </p:nvSpPr>
          <p:spPr>
            <a:xfrm>
              <a:off x="1385003" y="2819258"/>
              <a:ext cx="344188" cy="3009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y</a:t>
              </a:r>
              <a:r>
                <a:rPr lang="en-US" b="1" baseline="-25000" dirty="0" err="1"/>
                <a:t>N</a:t>
              </a:r>
              <a:endParaRPr lang="en-US" b="1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E694D8-283F-8E45-92E0-C4B319C72C49}"/>
                </a:ext>
              </a:extLst>
            </p:cNvPr>
            <p:cNvSpPr txBox="1"/>
            <p:nvPr/>
          </p:nvSpPr>
          <p:spPr>
            <a:xfrm rot="5400000">
              <a:off x="1446821" y="2353321"/>
              <a:ext cx="4475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…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8FB3998-28A2-2495-E361-2BAE297B4A96}"/>
              </a:ext>
            </a:extLst>
          </p:cNvPr>
          <p:cNvSpPr txBox="1"/>
          <p:nvPr/>
        </p:nvSpPr>
        <p:spPr>
          <a:xfrm>
            <a:off x="127436" y="1068454"/>
            <a:ext cx="36050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u="sng" dirty="0"/>
              <a:t>UMI count matrix </a:t>
            </a:r>
            <a:r>
              <a:rPr lang="en-US" sz="2500" b="1" u="sng" dirty="0"/>
              <a:t>Y</a:t>
            </a:r>
            <a:r>
              <a:rPr lang="en-US" sz="2500" u="sng" dirty="0"/>
              <a:t> (gene expression matrix)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A3F133-9C44-ADCA-E1AF-1FE57BA98F85}"/>
              </a:ext>
            </a:extLst>
          </p:cNvPr>
          <p:cNvGrpSpPr/>
          <p:nvPr/>
        </p:nvGrpSpPr>
        <p:grpSpPr>
          <a:xfrm>
            <a:off x="4498755" y="1956716"/>
            <a:ext cx="2502922" cy="2276104"/>
            <a:chOff x="3539750" y="2131751"/>
            <a:chExt cx="2502922" cy="227610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CF0132D-C82C-1CEA-0141-624CCE17FFA0}"/>
                </a:ext>
              </a:extLst>
            </p:cNvPr>
            <p:cNvGrpSpPr/>
            <p:nvPr/>
          </p:nvGrpSpPr>
          <p:grpSpPr>
            <a:xfrm>
              <a:off x="3539750" y="2131751"/>
              <a:ext cx="2502922" cy="2276104"/>
              <a:chOff x="315433" y="1358303"/>
              <a:chExt cx="2105853" cy="185448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DE77CA2-AF27-92D6-B48B-A4167A1CE586}"/>
                  </a:ext>
                </a:extLst>
              </p:cNvPr>
              <p:cNvGrpSpPr/>
              <p:nvPr/>
            </p:nvGrpSpPr>
            <p:grpSpPr>
              <a:xfrm>
                <a:off x="315433" y="1358303"/>
                <a:ext cx="2105853" cy="1854488"/>
                <a:chOff x="581591" y="3464112"/>
                <a:chExt cx="2105853" cy="1854488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820DC9A4-FC6C-F171-F84D-ECA2AF2DE942}"/>
                    </a:ext>
                  </a:extLst>
                </p:cNvPr>
                <p:cNvSpPr/>
                <p:nvPr/>
              </p:nvSpPr>
              <p:spPr>
                <a:xfrm>
                  <a:off x="955036" y="3843709"/>
                  <a:ext cx="1732408" cy="1474891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BE6D999-E88A-4E40-C43E-265114A63D71}"/>
                    </a:ext>
                  </a:extLst>
                </p:cNvPr>
                <p:cNvSpPr txBox="1"/>
                <p:nvPr/>
              </p:nvSpPr>
              <p:spPr>
                <a:xfrm>
                  <a:off x="916567" y="3464112"/>
                  <a:ext cx="1091367" cy="3886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500" dirty="0"/>
                    <a:t>G genes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D0330B0-CB71-6AB7-6D3F-E5A94F2047C1}"/>
                    </a:ext>
                  </a:extLst>
                </p:cNvPr>
                <p:cNvSpPr txBox="1"/>
                <p:nvPr/>
              </p:nvSpPr>
              <p:spPr>
                <a:xfrm rot="16200000">
                  <a:off x="285516" y="3913587"/>
                  <a:ext cx="102303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/>
                    <a:t>N cells</a:t>
                  </a:r>
                </a:p>
              </p:txBody>
            </p:sp>
          </p:grp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3E7B70E-11BC-6EF5-1EEA-7BD8C9F664C2}"/>
                  </a:ext>
                </a:extLst>
              </p:cNvPr>
              <p:cNvCxnSpPr/>
              <p:nvPr/>
            </p:nvCxnSpPr>
            <p:spPr>
              <a:xfrm>
                <a:off x="735980" y="1996068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66E13B6-A9EB-D53F-575C-597549B1EB66}"/>
                  </a:ext>
                </a:extLst>
              </p:cNvPr>
              <p:cNvCxnSpPr/>
              <p:nvPr/>
            </p:nvCxnSpPr>
            <p:spPr>
              <a:xfrm>
                <a:off x="721113" y="2259978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D492CFF-531D-3C20-E48F-383D47F5957E}"/>
                  </a:ext>
                </a:extLst>
              </p:cNvPr>
              <p:cNvCxnSpPr/>
              <p:nvPr/>
            </p:nvCxnSpPr>
            <p:spPr>
              <a:xfrm>
                <a:off x="708848" y="2843554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4E0ACFD-0EAB-80C7-F850-5C0407BE86F0}"/>
                    </a:ext>
                  </a:extLst>
                </p:cNvPr>
                <p:cNvSpPr txBox="1"/>
                <p:nvPr/>
              </p:nvSpPr>
              <p:spPr>
                <a:xfrm>
                  <a:off x="4093392" y="2613274"/>
                  <a:ext cx="18864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4E0ACFD-0EAB-80C7-F850-5C0407BE86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3392" y="2613274"/>
                  <a:ext cx="1886478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333" t="-4545" r="-4000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12F9CA-84BD-7F47-2E68-542294176F2A}"/>
                    </a:ext>
                  </a:extLst>
                </p:cNvPr>
                <p:cNvSpPr txBox="1"/>
                <p:nvPr/>
              </p:nvSpPr>
              <p:spPr>
                <a:xfrm>
                  <a:off x="4086156" y="2906022"/>
                  <a:ext cx="18971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12F9CA-84BD-7F47-2E68-542294176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6156" y="2906022"/>
                  <a:ext cx="189712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333" t="-4545" r="-4000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46B88A7-718A-1236-76E2-F1EDCD94B5A0}"/>
                    </a:ext>
                  </a:extLst>
                </p:cNvPr>
                <p:cNvSpPr txBox="1"/>
                <p:nvPr/>
              </p:nvSpPr>
              <p:spPr>
                <a:xfrm>
                  <a:off x="3983610" y="4040448"/>
                  <a:ext cx="19820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46B88A7-718A-1236-76E2-F1EDCD94B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3610" y="4040448"/>
                  <a:ext cx="198208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911" t="-4348" r="-3822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DFCDCD-63E9-E212-88FD-E36191F32440}"/>
                  </a:ext>
                </a:extLst>
              </p:cNvPr>
              <p:cNvSpPr txBox="1"/>
              <p:nvPr/>
            </p:nvSpPr>
            <p:spPr>
              <a:xfrm>
                <a:off x="4329645" y="1161370"/>
                <a:ext cx="80396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Matrix </a:t>
                </a:r>
                <a14:m>
                  <m:oMath xmlns:m="http://schemas.openxmlformats.org/officeDocument/2006/math">
                    <m:r>
                      <a:rPr lang="en-US" sz="2200" b="1" i="0" u="sng" smtClean="0"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r>
                  <a:rPr lang="en-US" sz="2200" u="sng" dirty="0"/>
                  <a:t> of true proportion of gene transcripts </a:t>
                </a:r>
                <a:r>
                  <a:rPr lang="en-US" sz="2200" b="1" u="sng" dirty="0"/>
                  <a:t>(unknown)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DFCDCD-63E9-E212-88FD-E36191F32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45" y="1161370"/>
                <a:ext cx="8039663" cy="430887"/>
              </a:xfrm>
              <a:prstGeom prst="rect">
                <a:avLst/>
              </a:prstGeom>
              <a:blipFill>
                <a:blip r:embed="rId5"/>
                <a:stretch>
                  <a:fillRect l="-789"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47A63B-E11B-CB12-FFC7-E6079D27AD08}"/>
                  </a:ext>
                </a:extLst>
              </p:cNvPr>
              <p:cNvSpPr txBox="1"/>
              <p:nvPr/>
            </p:nvSpPr>
            <p:spPr>
              <a:xfrm>
                <a:off x="4417866" y="4372784"/>
                <a:ext cx="3123030" cy="576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proportion of transcripts of gene g inside cell I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47A63B-E11B-CB12-FFC7-E6079D27A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866" y="4372784"/>
                <a:ext cx="3123030" cy="576568"/>
              </a:xfrm>
              <a:prstGeom prst="rect">
                <a:avLst/>
              </a:prstGeom>
              <a:blipFill>
                <a:blip r:embed="rId6"/>
                <a:stretch>
                  <a:fillRect l="-4878" t="-13043" r="-122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A64D8DC-9F6E-8CA8-6F46-121A312BE76C}"/>
                  </a:ext>
                </a:extLst>
              </p:cNvPr>
              <p:cNvSpPr txBox="1"/>
              <p:nvPr/>
            </p:nvSpPr>
            <p:spPr>
              <a:xfrm>
                <a:off x="499444" y="5829887"/>
                <a:ext cx="11093258" cy="8930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Problem</a:t>
                </a:r>
                <a:r>
                  <a:rPr lang="en-US" sz="2500" dirty="0"/>
                  <a:t>: Given </a:t>
                </a:r>
                <a:r>
                  <a:rPr lang="en-US" sz="2500" b="1" dirty="0"/>
                  <a:t>Y</a:t>
                </a:r>
                <a:r>
                  <a:rPr lang="en-US" sz="2500" dirty="0"/>
                  <a:t> with rows </a:t>
                </a:r>
                <a:r>
                  <a:rPr lang="en-US" sz="2500" b="1" dirty="0" err="1"/>
                  <a:t>y</a:t>
                </a:r>
                <a:r>
                  <a:rPr lang="en-US" sz="2500" b="1" baseline="-25000" dirty="0" err="1"/>
                  <a:t>i</a:t>
                </a:r>
                <a:r>
                  <a:rPr lang="en-US" sz="2500" dirty="0"/>
                  <a:t> ~ Multinomial(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500" b="1" dirty="0"/>
                  <a:t>, </a:t>
                </a:r>
                <a:r>
                  <a:rPr lang="en-US" sz="2500" dirty="0"/>
                  <a:t>G, N</a:t>
                </a:r>
                <a:r>
                  <a:rPr lang="en-US" sz="2500" baseline="-25000" dirty="0"/>
                  <a:t>i</a:t>
                </a:r>
                <a:r>
                  <a:rPr lang="en-US" sz="2500" dirty="0"/>
                  <a:t>)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) estimate </a:t>
                </a:r>
                <a:r>
                  <a:rPr lang="en-US" sz="2500" b="1" dirty="0"/>
                  <a:t>U, V </a:t>
                </a:r>
                <a:r>
                  <a:rPr lang="en-US" sz="2500" dirty="0"/>
                  <a:t>such that 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latin typeface="Cambria Math" panose="02040503050406030204" pitchFamily="18" charset="0"/>
                      </a:rPr>
                      <m:t>𝚷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𝑼𝑽</m:t>
                    </m:r>
                  </m:oMath>
                </a14:m>
                <a:r>
                  <a:rPr lang="en-US" sz="2500" dirty="0"/>
                  <a:t>.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A64D8DC-9F6E-8CA8-6F46-121A312BE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44" y="5829887"/>
                <a:ext cx="11093258" cy="893065"/>
              </a:xfrm>
              <a:prstGeom prst="rect">
                <a:avLst/>
              </a:prstGeom>
              <a:blipFill>
                <a:blip r:embed="rId7"/>
                <a:stretch>
                  <a:fillRect l="-799" t="-2778" r="-685" b="-152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107F03C-F4B5-13D8-6AB0-5400C0F43D9B}"/>
              </a:ext>
            </a:extLst>
          </p:cNvPr>
          <p:cNvSpPr/>
          <p:nvPr/>
        </p:nvSpPr>
        <p:spPr>
          <a:xfrm>
            <a:off x="8421190" y="2377155"/>
            <a:ext cx="927847" cy="20173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AF519E-DAFB-0989-6292-627F1782C31A}"/>
              </a:ext>
            </a:extLst>
          </p:cNvPr>
          <p:cNvSpPr/>
          <p:nvPr/>
        </p:nvSpPr>
        <p:spPr>
          <a:xfrm>
            <a:off x="9790405" y="2397201"/>
            <a:ext cx="1825148" cy="7407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7AF4F2-495A-C049-EBB4-C9BFF719CAA1}"/>
              </a:ext>
            </a:extLst>
          </p:cNvPr>
          <p:cNvSpPr txBox="1"/>
          <p:nvPr/>
        </p:nvSpPr>
        <p:spPr>
          <a:xfrm>
            <a:off x="7356450" y="2869376"/>
            <a:ext cx="49244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=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0069B32-BA23-F252-5FBA-A10FC7EC9E5C}"/>
              </a:ext>
            </a:extLst>
          </p:cNvPr>
          <p:cNvSpPr/>
          <p:nvPr/>
        </p:nvSpPr>
        <p:spPr>
          <a:xfrm>
            <a:off x="3903878" y="1028113"/>
            <a:ext cx="8010217" cy="466851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744B785-4292-2981-BE9C-12CAFF3EAABE}"/>
                  </a:ext>
                </a:extLst>
              </p:cNvPr>
              <p:cNvSpPr txBox="1"/>
              <p:nvPr/>
            </p:nvSpPr>
            <p:spPr>
              <a:xfrm>
                <a:off x="6468102" y="1560704"/>
                <a:ext cx="312745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>
                    <a:solidFill>
                      <a:srgbClr val="C00000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500" b="1" u="sng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r>
                  <a:rPr lang="en-US" sz="2500" dirty="0">
                    <a:solidFill>
                      <a:srgbClr val="C00000"/>
                    </a:solidFill>
                  </a:rPr>
                  <a:t> is low rank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744B785-4292-2981-BE9C-12CAFF3EA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02" y="1560704"/>
                <a:ext cx="3127459" cy="477054"/>
              </a:xfrm>
              <a:prstGeom prst="rect">
                <a:avLst/>
              </a:prstGeom>
              <a:blipFill>
                <a:blip r:embed="rId8"/>
                <a:stretch>
                  <a:fillRect l="-3239" t="-10256" r="-2429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26426ECA-B992-830A-CFB5-B5958AF65F4E}"/>
              </a:ext>
            </a:extLst>
          </p:cNvPr>
          <p:cNvSpPr txBox="1"/>
          <p:nvPr/>
        </p:nvSpPr>
        <p:spPr>
          <a:xfrm>
            <a:off x="8697908" y="3132672"/>
            <a:ext cx="399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U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C0F346-5A70-7454-9839-1F83BE61F9C8}"/>
              </a:ext>
            </a:extLst>
          </p:cNvPr>
          <p:cNvSpPr txBox="1"/>
          <p:nvPr/>
        </p:nvSpPr>
        <p:spPr>
          <a:xfrm>
            <a:off x="10496383" y="2549729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D45976-F5BB-1E7D-5BDA-563C9B6C9403}"/>
              </a:ext>
            </a:extLst>
          </p:cNvPr>
          <p:cNvSpPr txBox="1"/>
          <p:nvPr/>
        </p:nvSpPr>
        <p:spPr>
          <a:xfrm>
            <a:off x="9211634" y="85524"/>
            <a:ext cx="29229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chemeClr val="bg1">
                    <a:lumMod val="50000"/>
                  </a:schemeClr>
                </a:solidFill>
              </a:rPr>
              <a:t>(Townes et al, Genome Biol 2019)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BFA5B4-EED5-D0AE-F968-A1B1FB404299}"/>
              </a:ext>
            </a:extLst>
          </p:cNvPr>
          <p:cNvSpPr txBox="1"/>
          <p:nvPr/>
        </p:nvSpPr>
        <p:spPr>
          <a:xfrm>
            <a:off x="5094584" y="5149991"/>
            <a:ext cx="5874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(Different than PCA, which directly assumes Y is low rank)</a:t>
            </a:r>
          </a:p>
        </p:txBody>
      </p:sp>
    </p:spTree>
    <p:extLst>
      <p:ext uri="{BB962C8B-B14F-4D97-AF65-F5344CB8AC3E}">
        <p14:creationId xmlns:p14="http://schemas.microsoft.com/office/powerpoint/2010/main" val="89405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357F3-801A-505B-9DCA-97949762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754AD1-DD21-BE2A-EDA7-CE1118540749}"/>
                  </a:ext>
                </a:extLst>
              </p:cNvPr>
              <p:cNvSpPr txBox="1"/>
              <p:nvPr/>
            </p:nvSpPr>
            <p:spPr>
              <a:xfrm>
                <a:off x="557277" y="598138"/>
                <a:ext cx="10966852" cy="5083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Problem</a:t>
                </a:r>
                <a:r>
                  <a:rPr lang="en-US" sz="2500" dirty="0"/>
                  <a:t>: Given </a:t>
                </a:r>
                <a:r>
                  <a:rPr lang="en-US" sz="2500" b="1" dirty="0"/>
                  <a:t>Y</a:t>
                </a:r>
                <a:r>
                  <a:rPr lang="en-US" sz="25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estimate </a:t>
                </a:r>
                <a:r>
                  <a:rPr lang="en-US" sz="2500" b="1" dirty="0"/>
                  <a:t>U, V </a:t>
                </a:r>
                <a:r>
                  <a:rPr lang="en-US" sz="2500" dirty="0"/>
                  <a:t>such that </a:t>
                </a:r>
                <a14:m>
                  <m:oMath xmlns:m="http://schemas.openxmlformats.org/officeDocument/2006/math">
                    <m:r>
                      <a:rPr lang="en-US" sz="2500" b="1">
                        <a:latin typeface="Cambria Math" panose="02040503050406030204" pitchFamily="18" charset="0"/>
                      </a:rPr>
                      <m:t>𝚷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500" b="1" i="1">
                        <a:latin typeface="Cambria Math" panose="02040503050406030204" pitchFamily="18" charset="0"/>
                      </a:rPr>
                      <m:t>𝑼𝑽</m:t>
                    </m:r>
                  </m:oMath>
                </a14:m>
                <a:r>
                  <a:rPr lang="en-US" sz="25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754AD1-DD21-BE2A-EDA7-CE1118540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77" y="598138"/>
                <a:ext cx="10966852" cy="508344"/>
              </a:xfrm>
              <a:prstGeom prst="rect">
                <a:avLst/>
              </a:prstGeom>
              <a:blipFill>
                <a:blip r:embed="rId2"/>
                <a:stretch>
                  <a:fillRect l="-809" t="-4762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7BB7BB-2E2C-A966-712E-C9EA9CB6588B}"/>
                  </a:ext>
                </a:extLst>
              </p:cNvPr>
              <p:cNvSpPr txBox="1"/>
              <p:nvPr/>
            </p:nvSpPr>
            <p:spPr>
              <a:xfrm>
                <a:off x="210941" y="2068761"/>
                <a:ext cx="11497237" cy="1735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𝑖𝑔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7BB7BB-2E2C-A966-712E-C9EA9CB65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41" y="2068761"/>
                <a:ext cx="11497237" cy="1735219"/>
              </a:xfrm>
              <a:prstGeom prst="rect">
                <a:avLst/>
              </a:prstGeom>
              <a:blipFill>
                <a:blip r:embed="rId3"/>
                <a:stretch>
                  <a:fillRect t="-78261" b="-9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682AB4-AFF4-2FEC-C52A-718299BB1F86}"/>
                  </a:ext>
                </a:extLst>
              </p:cNvPr>
              <p:cNvSpPr txBox="1"/>
              <p:nvPr/>
            </p:nvSpPr>
            <p:spPr>
              <a:xfrm>
                <a:off x="1137858" y="7379390"/>
                <a:ext cx="3589188" cy="12772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682AB4-AFF4-2FEC-C52A-718299BB1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58" y="7379390"/>
                <a:ext cx="3589188" cy="1277209"/>
              </a:xfrm>
              <a:prstGeom prst="rect">
                <a:avLst/>
              </a:prstGeom>
              <a:blipFill>
                <a:blip r:embed="rId4"/>
                <a:stretch>
                  <a:fillRect t="-104854" b="-1572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AA16A8E-B46B-D7D7-C069-FD4EB9931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58" y="6981629"/>
            <a:ext cx="8775269" cy="2745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33530E-9DBE-494E-EB46-9CC244E0D86F}"/>
              </a:ext>
            </a:extLst>
          </p:cNvPr>
          <p:cNvSpPr txBox="1"/>
          <p:nvPr/>
        </p:nvSpPr>
        <p:spPr>
          <a:xfrm>
            <a:off x="6096000" y="74595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1EFEF0-1279-CF10-9569-D02DB91A5235}"/>
              </a:ext>
            </a:extLst>
          </p:cNvPr>
          <p:cNvSpPr txBox="1"/>
          <p:nvPr/>
        </p:nvSpPr>
        <p:spPr>
          <a:xfrm>
            <a:off x="2691543" y="-641772"/>
            <a:ext cx="3589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where </a:t>
            </a:r>
            <a:r>
              <a:rPr lang="en-US" sz="2500" dirty="0" err="1"/>
              <a:t>D_ij</a:t>
            </a:r>
            <a:r>
              <a:rPr lang="en-US" sz="2500" dirty="0"/>
              <a:t> is </a:t>
            </a:r>
            <a:r>
              <a:rPr lang="en-US" sz="2500" dirty="0">
                <a:solidFill>
                  <a:srgbClr val="C00000"/>
                </a:solidFill>
              </a:rPr>
              <a:t>“deviance”</a:t>
            </a:r>
            <a:r>
              <a:rPr lang="en-US" sz="2500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C5C40-CBD4-3351-875B-5C1BAB248B3A}"/>
              </a:ext>
            </a:extLst>
          </p:cNvPr>
          <p:cNvSpPr txBox="1"/>
          <p:nvPr/>
        </p:nvSpPr>
        <p:spPr>
          <a:xfrm>
            <a:off x="540569" y="1485084"/>
            <a:ext cx="117100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Maximum Likelihood Estimation (MLE): find U, V, that maximize likelihood of observed data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215F86-22F6-8F9E-2632-3CBD468CF1C2}"/>
              </a:ext>
            </a:extLst>
          </p:cNvPr>
          <p:cNvGrpSpPr/>
          <p:nvPr/>
        </p:nvGrpSpPr>
        <p:grpSpPr>
          <a:xfrm>
            <a:off x="377540" y="3868504"/>
            <a:ext cx="5663163" cy="2719913"/>
            <a:chOff x="-415075" y="3865364"/>
            <a:chExt cx="7862039" cy="321481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1923497-59B6-C565-3895-88CA8F5DB5EE}"/>
                </a:ext>
              </a:extLst>
            </p:cNvPr>
            <p:cNvGrpSpPr/>
            <p:nvPr/>
          </p:nvGrpSpPr>
          <p:grpSpPr>
            <a:xfrm>
              <a:off x="142594" y="3865364"/>
              <a:ext cx="2690494" cy="2276104"/>
              <a:chOff x="423776" y="3464112"/>
              <a:chExt cx="2263668" cy="185448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E98792F-187A-E5DD-3FA5-38BE4ABBBA6A}"/>
                  </a:ext>
                </a:extLst>
              </p:cNvPr>
              <p:cNvSpPr/>
              <p:nvPr/>
            </p:nvSpPr>
            <p:spPr>
              <a:xfrm>
                <a:off x="955036" y="3843709"/>
                <a:ext cx="1732408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C6C8B6-D404-E5CE-7829-E36ADB2D8F6D}"/>
                  </a:ext>
                </a:extLst>
              </p:cNvPr>
              <p:cNvSpPr txBox="1"/>
              <p:nvPr/>
            </p:nvSpPr>
            <p:spPr>
              <a:xfrm>
                <a:off x="916567" y="3464112"/>
                <a:ext cx="1091367" cy="388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G genes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CB81E0-5F9E-2D49-6CA0-312F06A84AB4}"/>
                  </a:ext>
                </a:extLst>
              </p:cNvPr>
              <p:cNvSpPr txBox="1"/>
              <p:nvPr/>
            </p:nvSpPr>
            <p:spPr>
              <a:xfrm rot="16200000">
                <a:off x="127701" y="4027583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B1A1B2D-3433-3817-2483-BFB5575F5222}"/>
                    </a:ext>
                  </a:extLst>
                </p:cNvPr>
                <p:cNvSpPr txBox="1"/>
                <p:nvPr/>
              </p:nvSpPr>
              <p:spPr>
                <a:xfrm>
                  <a:off x="-415075" y="6398704"/>
                  <a:ext cx="4667676" cy="6814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b="0" dirty="0"/>
                    <a:t>Entry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is proportion of transcripts of gene g inside cell </a:t>
                  </a:r>
                  <a:r>
                    <a:rPr lang="en-US" dirty="0" err="1"/>
                    <a:t>i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B1A1B2D-3433-3817-2483-BFB5575F5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15075" y="6398704"/>
                  <a:ext cx="4667676" cy="681478"/>
                </a:xfrm>
                <a:prstGeom prst="rect">
                  <a:avLst/>
                </a:prstGeom>
                <a:blipFill>
                  <a:blip r:embed="rId6"/>
                  <a:stretch>
                    <a:fillRect l="-4135" t="-13043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7AB743-717D-87E6-2A23-0E47501EFED2}"/>
                </a:ext>
              </a:extLst>
            </p:cNvPr>
            <p:cNvSpPr/>
            <p:nvPr/>
          </p:nvSpPr>
          <p:spPr>
            <a:xfrm>
              <a:off x="4252601" y="4285803"/>
              <a:ext cx="927847" cy="20173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F92520-418A-D6A2-BE4B-7AD076186A54}"/>
                </a:ext>
              </a:extLst>
            </p:cNvPr>
            <p:cNvSpPr/>
            <p:nvPr/>
          </p:nvSpPr>
          <p:spPr>
            <a:xfrm>
              <a:off x="5621816" y="4305849"/>
              <a:ext cx="1825148" cy="7407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17B5CBF-B43B-2A6F-234D-919BEF7069DC}"/>
                </a:ext>
              </a:extLst>
            </p:cNvPr>
            <p:cNvSpPr txBox="1"/>
            <p:nvPr/>
          </p:nvSpPr>
          <p:spPr>
            <a:xfrm>
              <a:off x="3187861" y="4778024"/>
              <a:ext cx="492443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500" dirty="0"/>
                <a:t>=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5DCCB0-81EE-E80B-DA03-1691FA6CB86F}"/>
                </a:ext>
              </a:extLst>
            </p:cNvPr>
            <p:cNvSpPr txBox="1"/>
            <p:nvPr/>
          </p:nvSpPr>
          <p:spPr>
            <a:xfrm>
              <a:off x="4529319" y="5041320"/>
              <a:ext cx="3994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38F3F93-11F0-2F5A-8068-AC7F7DA555B2}"/>
                </a:ext>
              </a:extLst>
            </p:cNvPr>
            <p:cNvSpPr txBox="1"/>
            <p:nvPr/>
          </p:nvSpPr>
          <p:spPr>
            <a:xfrm>
              <a:off x="6327794" y="4458377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V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9805DC2-FE43-0854-E200-F0ADAA9D96C2}"/>
                    </a:ext>
                  </a:extLst>
                </p:cNvPr>
                <p:cNvSpPr txBox="1"/>
                <p:nvPr/>
              </p:nvSpPr>
              <p:spPr>
                <a:xfrm>
                  <a:off x="1433311" y="5017463"/>
                  <a:ext cx="545342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000" b="1">
                            <a:latin typeface="Cambria Math" panose="02040503050406030204" pitchFamily="18" charset="0"/>
                          </a:rPr>
                          <m:t>𝚷</m:t>
                        </m:r>
                      </m:oMath>
                    </m:oMathPara>
                  </a14:m>
                  <a:endParaRPr lang="en-US" sz="30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9805DC2-FE43-0854-E200-F0ADAA9D9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311" y="5017463"/>
                  <a:ext cx="545342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9375" r="-28125" b="-131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29319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D065CA-6E0D-F7B2-06D4-14D09B4B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E1F6FFA-384D-8AC4-4BA9-6DD2F70B30C7}"/>
                  </a:ext>
                </a:extLst>
              </p:cNvPr>
              <p:cNvSpPr txBox="1"/>
              <p:nvPr/>
            </p:nvSpPr>
            <p:spPr>
              <a:xfrm>
                <a:off x="557277" y="598138"/>
                <a:ext cx="10966852" cy="5083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Problem</a:t>
                </a:r>
                <a:r>
                  <a:rPr lang="en-US" sz="2500" dirty="0"/>
                  <a:t>: Given </a:t>
                </a:r>
                <a:r>
                  <a:rPr lang="en-US" sz="2500" b="1" dirty="0"/>
                  <a:t>Y</a:t>
                </a:r>
                <a:r>
                  <a:rPr lang="en-US" sz="25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estimate </a:t>
                </a:r>
                <a:r>
                  <a:rPr lang="en-US" sz="2500" b="1" dirty="0"/>
                  <a:t>U, V </a:t>
                </a:r>
                <a:r>
                  <a:rPr lang="en-US" sz="2500" dirty="0"/>
                  <a:t>such that </a:t>
                </a:r>
                <a14:m>
                  <m:oMath xmlns:m="http://schemas.openxmlformats.org/officeDocument/2006/math">
                    <m:r>
                      <a:rPr lang="en-US" sz="2500" b="1">
                        <a:latin typeface="Cambria Math" panose="02040503050406030204" pitchFamily="18" charset="0"/>
                      </a:rPr>
                      <m:t>𝚷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500" b="1" i="1">
                        <a:latin typeface="Cambria Math" panose="02040503050406030204" pitchFamily="18" charset="0"/>
                      </a:rPr>
                      <m:t>𝑼𝑽</m:t>
                    </m:r>
                  </m:oMath>
                </a14:m>
                <a:r>
                  <a:rPr lang="en-US" sz="25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E1F6FFA-384D-8AC4-4BA9-6DD2F70B3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77" y="598138"/>
                <a:ext cx="10966852" cy="508344"/>
              </a:xfrm>
              <a:prstGeom prst="rect">
                <a:avLst/>
              </a:prstGeom>
              <a:blipFill>
                <a:blip r:embed="rId2"/>
                <a:stretch>
                  <a:fillRect l="-809" t="-4762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B4AB4-9CA4-3D2E-0953-40A30C103B69}"/>
                  </a:ext>
                </a:extLst>
              </p:cNvPr>
              <p:cNvSpPr txBox="1"/>
              <p:nvPr/>
            </p:nvSpPr>
            <p:spPr>
              <a:xfrm>
                <a:off x="210941" y="2068761"/>
                <a:ext cx="11497237" cy="1735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𝑖𝑔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e>
                          </m:nary>
                          <m:limLow>
                            <m:limLow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𝒈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B4AB4-9CA4-3D2E-0953-40A30C103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41" y="2068761"/>
                <a:ext cx="11497237" cy="1735219"/>
              </a:xfrm>
              <a:prstGeom prst="rect">
                <a:avLst/>
              </a:prstGeom>
              <a:blipFill>
                <a:blip r:embed="rId3"/>
                <a:stretch>
                  <a:fillRect t="-78261" b="-9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663793-F0FB-89DF-6EAC-F7E897E8D253}"/>
                  </a:ext>
                </a:extLst>
              </p:cNvPr>
              <p:cNvSpPr txBox="1"/>
              <p:nvPr/>
            </p:nvSpPr>
            <p:spPr>
              <a:xfrm>
                <a:off x="1137858" y="7379390"/>
                <a:ext cx="3589188" cy="12772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663793-F0FB-89DF-6EAC-F7E897E8D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58" y="7379390"/>
                <a:ext cx="3589188" cy="1277209"/>
              </a:xfrm>
              <a:prstGeom prst="rect">
                <a:avLst/>
              </a:prstGeom>
              <a:blipFill>
                <a:blip r:embed="rId4"/>
                <a:stretch>
                  <a:fillRect t="-104854" b="-1572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2395733-460E-0EBE-CFF6-F63E5B484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58" y="6981629"/>
            <a:ext cx="8775269" cy="2745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E3DBB8-F4BF-C5A2-E93F-C72968698E77}"/>
              </a:ext>
            </a:extLst>
          </p:cNvPr>
          <p:cNvSpPr txBox="1"/>
          <p:nvPr/>
        </p:nvSpPr>
        <p:spPr>
          <a:xfrm>
            <a:off x="6096000" y="74595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8C65E-DF0E-202E-D9DB-08F962902E09}"/>
              </a:ext>
            </a:extLst>
          </p:cNvPr>
          <p:cNvSpPr txBox="1"/>
          <p:nvPr/>
        </p:nvSpPr>
        <p:spPr>
          <a:xfrm>
            <a:off x="2691543" y="-641772"/>
            <a:ext cx="3589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where </a:t>
            </a:r>
            <a:r>
              <a:rPr lang="en-US" sz="2500" dirty="0" err="1"/>
              <a:t>D_ij</a:t>
            </a:r>
            <a:r>
              <a:rPr lang="en-US" sz="2500" dirty="0"/>
              <a:t> is </a:t>
            </a:r>
            <a:r>
              <a:rPr lang="en-US" sz="2500" dirty="0">
                <a:solidFill>
                  <a:srgbClr val="C00000"/>
                </a:solidFill>
              </a:rPr>
              <a:t>“deviance”</a:t>
            </a:r>
            <a:r>
              <a:rPr lang="en-US" sz="2500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8A9AB-8852-2E1B-D2B5-FC007BD4F1B5}"/>
              </a:ext>
            </a:extLst>
          </p:cNvPr>
          <p:cNvSpPr txBox="1"/>
          <p:nvPr/>
        </p:nvSpPr>
        <p:spPr>
          <a:xfrm>
            <a:off x="540569" y="1485084"/>
            <a:ext cx="111676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Maximum Likelihood Estimation (MLE): find </a:t>
            </a:r>
            <a:r>
              <a:rPr lang="en-US" sz="2200" b="1" dirty="0"/>
              <a:t>U</a:t>
            </a:r>
            <a:r>
              <a:rPr lang="en-US" sz="2200" dirty="0"/>
              <a:t>, </a:t>
            </a:r>
            <a:r>
              <a:rPr lang="en-US" sz="2200" b="1" dirty="0"/>
              <a:t>V</a:t>
            </a:r>
            <a:r>
              <a:rPr lang="en-US" sz="2200" dirty="0"/>
              <a:t>, that maximize likelihood of observed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6F36F2-5D54-E7AA-D4EC-74E02EA65E7F}"/>
                  </a:ext>
                </a:extLst>
              </p:cNvPr>
              <p:cNvSpPr txBox="1"/>
              <p:nvPr/>
            </p:nvSpPr>
            <p:spPr>
              <a:xfrm>
                <a:off x="2407171" y="3736284"/>
                <a:ext cx="11497237" cy="12772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𝑼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lim>
                      </m:limLow>
                      <m:nary>
                        <m:naryPr>
                          <m:chr m:val="∑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unc>
                                <m:funcPr>
                                  <m:ctrlP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𝑖𝑔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𝑖𝑔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6F36F2-5D54-E7AA-D4EC-74E02EA65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171" y="3736284"/>
                <a:ext cx="11497237" cy="1277209"/>
              </a:xfrm>
              <a:prstGeom prst="rect">
                <a:avLst/>
              </a:prstGeom>
              <a:blipFill>
                <a:blip r:embed="rId6"/>
                <a:stretch>
                  <a:fillRect t="-107921" b="-161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935D5D6-FBA6-8453-ABD0-440504042AB5}"/>
              </a:ext>
            </a:extLst>
          </p:cNvPr>
          <p:cNvSpPr txBox="1"/>
          <p:nvPr/>
        </p:nvSpPr>
        <p:spPr>
          <a:xfrm>
            <a:off x="557277" y="4129809"/>
            <a:ext cx="27164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Plug in Poisson PDF: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A01CB3-8888-1307-0CE2-B17CE07F5B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061" y="4703986"/>
            <a:ext cx="3339869" cy="16891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3E8B75-E699-D4F1-008B-BC861528E921}"/>
                  </a:ext>
                </a:extLst>
              </p:cNvPr>
              <p:cNvSpPr txBox="1"/>
              <p:nvPr/>
            </p:nvSpPr>
            <p:spPr>
              <a:xfrm>
                <a:off x="6965577" y="5380796"/>
                <a:ext cx="3651769" cy="486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3E8B75-E699-D4F1-008B-BC861528E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577" y="5380796"/>
                <a:ext cx="3651769" cy="486993"/>
              </a:xfrm>
              <a:prstGeom prst="rect">
                <a:avLst/>
              </a:prstGeom>
              <a:blipFill>
                <a:blip r:embed="rId8"/>
                <a:stretch>
                  <a:fillRect l="-2076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985CA78-8F0F-B348-0E96-859595EC0028}"/>
              </a:ext>
            </a:extLst>
          </p:cNvPr>
          <p:cNvSpPr txBox="1"/>
          <p:nvPr/>
        </p:nvSpPr>
        <p:spPr>
          <a:xfrm>
            <a:off x="5526741" y="6320118"/>
            <a:ext cx="268772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i="1" dirty="0">
                <a:solidFill>
                  <a:srgbClr val="FF0000"/>
                </a:solidFill>
              </a:rPr>
              <a:t>[Expand on board]</a:t>
            </a:r>
          </a:p>
        </p:txBody>
      </p:sp>
    </p:spTree>
    <p:extLst>
      <p:ext uri="{BB962C8B-B14F-4D97-AF65-F5344CB8AC3E}">
        <p14:creationId xmlns:p14="http://schemas.microsoft.com/office/powerpoint/2010/main" val="4271014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8AE8B54-AB20-1ABD-F249-50F27D80D45A}"/>
              </a:ext>
            </a:extLst>
          </p:cNvPr>
          <p:cNvGrpSpPr/>
          <p:nvPr/>
        </p:nvGrpSpPr>
        <p:grpSpPr>
          <a:xfrm>
            <a:off x="231545" y="177660"/>
            <a:ext cx="8073036" cy="6502679"/>
            <a:chOff x="1549357" y="225320"/>
            <a:chExt cx="8073036" cy="6502679"/>
          </a:xfrm>
        </p:grpSpPr>
        <p:pic>
          <p:nvPicPr>
            <p:cNvPr id="4" name="Picture 3" descr="Fig. 3">
              <a:extLst>
                <a:ext uri="{FF2B5EF4-FFF2-40B4-BE49-F238E27FC236}">
                  <a16:creationId xmlns:a16="http://schemas.microsoft.com/office/drawing/2014/main" id="{42C4C66A-2C86-C18B-D843-6C06FC67C2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495"/>
            <a:stretch>
              <a:fillRect/>
            </a:stretch>
          </p:blipFill>
          <p:spPr bwMode="auto">
            <a:xfrm>
              <a:off x="1771078" y="257404"/>
              <a:ext cx="7629595" cy="2867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D854281-29AF-5A69-513E-CB68A0099E22}"/>
                </a:ext>
              </a:extLst>
            </p:cNvPr>
            <p:cNvSpPr txBox="1"/>
            <p:nvPr/>
          </p:nvSpPr>
          <p:spPr>
            <a:xfrm>
              <a:off x="1771078" y="3152001"/>
              <a:ext cx="498749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rgbClr val="FF0000"/>
                  </a:solidFill>
                </a:rPr>
                <a:t>(No cells inside droplets)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818753-9CF9-E7E0-D7B3-088AB088AB28}"/>
                </a:ext>
              </a:extLst>
            </p:cNvPr>
            <p:cNvSpPr txBox="1"/>
            <p:nvPr/>
          </p:nvSpPr>
          <p:spPr>
            <a:xfrm>
              <a:off x="6043424" y="3152001"/>
              <a:ext cx="336654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rgbClr val="FF0000"/>
                  </a:solidFill>
                </a:rPr>
                <a:t>All cells are identical</a:t>
              </a:r>
            </a:p>
          </p:txBody>
        </p:sp>
        <p:pic>
          <p:nvPicPr>
            <p:cNvPr id="8196" name="Picture 4" descr="Fig. 4">
              <a:extLst>
                <a:ext uri="{FF2B5EF4-FFF2-40B4-BE49-F238E27FC236}">
                  <a16:creationId xmlns:a16="http://schemas.microsoft.com/office/drawing/2014/main" id="{D5EB163A-09F8-68E4-21A2-2A0CC17E95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>
              <a:fillRect/>
            </a:stretch>
          </p:blipFill>
          <p:spPr bwMode="auto">
            <a:xfrm>
              <a:off x="1549357" y="3629055"/>
              <a:ext cx="8073036" cy="3098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5F2C303-5C99-2E6C-34BB-5F5C8FF34A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5875" y="225320"/>
              <a:ext cx="1" cy="6470595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3323C90-095D-A4DF-6661-6C3C1BEE8EC0}"/>
              </a:ext>
            </a:extLst>
          </p:cNvPr>
          <p:cNvSpPr txBox="1"/>
          <p:nvPr/>
        </p:nvSpPr>
        <p:spPr>
          <a:xfrm>
            <a:off x="9037475" y="6486672"/>
            <a:ext cx="29229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chemeClr val="bg1">
                    <a:lumMod val="50000"/>
                  </a:schemeClr>
                </a:solidFill>
              </a:rPr>
              <a:t>(Townes et al, Genome Biol 2019)</a:t>
            </a:r>
          </a:p>
        </p:txBody>
      </p:sp>
    </p:spTree>
    <p:extLst>
      <p:ext uri="{BB962C8B-B14F-4D97-AF65-F5344CB8AC3E}">
        <p14:creationId xmlns:p14="http://schemas.microsoft.com/office/powerpoint/2010/main" val="2184561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711B-8309-1D38-71CA-E93AC1531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85" y="152854"/>
            <a:ext cx="11941629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Analytic Pearson residuals (Hafemeister and Satija, 2019)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B2CF93-3B0E-E4C6-2269-1B76B93410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885714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you observe count </a:t>
                </a:r>
                <a:r>
                  <a:rPr lang="en-US" dirty="0" err="1"/>
                  <a:t>y</a:t>
                </a:r>
                <a:r>
                  <a:rPr lang="en-US" baseline="-25000" dirty="0" err="1"/>
                  <a:t>ig</a:t>
                </a:r>
                <a:r>
                  <a:rPr lang="en-US" dirty="0"/>
                  <a:t>, </a:t>
                </a:r>
                <a:r>
                  <a:rPr lang="en-US" b="1" dirty="0"/>
                  <a:t>how “surprising” is this count under the Poisson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𝑃𝑜𝑖𝑠𝑠𝑜𝑛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Measure using “residual”: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𝑠𝑡𝑑𝑒𝑣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Idea: </a:t>
                </a:r>
                <a:r>
                  <a:rPr lang="en-US" dirty="0"/>
                  <a:t>make matrix R=[R</a:t>
                </a:r>
                <a:r>
                  <a:rPr lang="en-US" baseline="-25000" dirty="0"/>
                  <a:t>ig</a:t>
                </a:r>
                <a:r>
                  <a:rPr lang="en-US" dirty="0"/>
                  <a:t>] of residuals, then take PCA of this matrix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Hajmeister+Satija</a:t>
                </a:r>
                <a:r>
                  <a:rPr lang="en-US" dirty="0"/>
                  <a:t> (2019) show that this approximates GLM-PCA. (Also much faster)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B2CF93-3B0E-E4C6-2269-1B76B93410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885714" cy="5032375"/>
              </a:xfrm>
              <a:blipFill>
                <a:blip r:embed="rId2"/>
                <a:stretch>
                  <a:fillRect l="-1166" t="-2015" r="-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489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8749-3097-10FF-B338-B7F4005F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8" y="351678"/>
            <a:ext cx="10515600" cy="1325563"/>
          </a:xfrm>
        </p:spPr>
        <p:txBody>
          <a:bodyPr/>
          <a:lstStyle/>
          <a:p>
            <a:r>
              <a:rPr lang="en-US" dirty="0"/>
              <a:t>Factor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67EB25-1002-BB4E-2AF5-F189BDC9B8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4390" y="1677240"/>
                <a:ext cx="10819410" cy="499669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Matrix factorization (PCA, NMF):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non-probabilistic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𝑈𝑉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Factor analysis: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probabilistic/Bayesian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</m:oMath>
                </a14:m>
                <a:r>
                  <a:rPr lang="en-US" dirty="0"/>
                  <a:t>Distribution with mean UV</a:t>
                </a:r>
              </a:p>
              <a:p>
                <a:pPr marL="0" indent="0" algn="ctr">
                  <a:buNone/>
                </a:pPr>
                <a:r>
                  <a:rPr lang="en-US" dirty="0"/>
                  <a:t>U ~ Some distribution</a:t>
                </a:r>
              </a:p>
              <a:p>
                <a:pPr marL="0" indent="0" algn="ctr">
                  <a:buNone/>
                </a:pPr>
                <a:r>
                  <a:rPr lang="en-US" dirty="0"/>
                  <a:t>V ~ Some other distribution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(GLM-PCA is somewhat probabilistic… Y ~ Poisson(UV) but no distributions on U, V)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67EB25-1002-BB4E-2AF5-F189BDC9B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4390" y="1677240"/>
                <a:ext cx="10819410" cy="4996691"/>
              </a:xfrm>
              <a:blipFill>
                <a:blip r:embed="rId2"/>
                <a:stretch>
                  <a:fillRect l="-1172" t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128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3B367-942E-A0EE-94AC-C0B8A239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102A2-42C9-A279-C946-2CEEBA18AD65}"/>
              </a:ext>
            </a:extLst>
          </p:cNvPr>
          <p:cNvSpPr txBox="1"/>
          <p:nvPr/>
        </p:nvSpPr>
        <p:spPr>
          <a:xfrm>
            <a:off x="502920" y="274320"/>
            <a:ext cx="1142979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MOFA+: matrix factorization across multiple modalities/samples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4" name="Picture 3" descr="Fig. 1">
            <a:extLst>
              <a:ext uri="{FF2B5EF4-FFF2-40B4-BE49-F238E27FC236}">
                <a16:creationId xmlns:a16="http://schemas.microsoft.com/office/drawing/2014/main" id="{EDA32A5B-D1B4-BB19-18BF-1CF7635B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385"/>
          <a:stretch>
            <a:fillRect/>
          </a:stretch>
        </p:blipFill>
        <p:spPr>
          <a:xfrm>
            <a:off x="259289" y="1049997"/>
            <a:ext cx="10899499" cy="3562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7EACC6-0654-2EEA-1F59-66B3EB20F576}"/>
              </a:ext>
            </a:extLst>
          </p:cNvPr>
          <p:cNvSpPr txBox="1"/>
          <p:nvPr/>
        </p:nvSpPr>
        <p:spPr>
          <a:xfrm>
            <a:off x="681766" y="4921286"/>
            <a:ext cx="110720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Supports multiple distributions on data matrix </a:t>
            </a:r>
            <a:r>
              <a:rPr lang="en-US" sz="2500" b="1" dirty="0"/>
              <a:t>Y</a:t>
            </a:r>
            <a:r>
              <a:rPr lang="en-US" sz="2500" dirty="0"/>
              <a:t>: Gaussian (continuous), Poisson/negative binomial (discrete)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Useful for multimodal data (views) where different modalities have different distributions; e.g. protein expression different from gene expression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670B6-19F0-3EF1-3A91-B80FCB3BF45C}"/>
              </a:ext>
            </a:extLst>
          </p:cNvPr>
          <p:cNvSpPr txBox="1"/>
          <p:nvPr/>
        </p:nvSpPr>
        <p:spPr>
          <a:xfrm>
            <a:off x="8560687" y="6550223"/>
            <a:ext cx="3931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MOFA+ (</a:t>
            </a:r>
            <a:r>
              <a:rPr lang="en-US" sz="1400" i="1" dirty="0" err="1">
                <a:solidFill>
                  <a:schemeClr val="bg1">
                    <a:lumMod val="50000"/>
                  </a:schemeClr>
                </a:solidFill>
              </a:rPr>
              <a:t>Argelaguet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 et al, Genome Biol 2022)</a:t>
            </a:r>
          </a:p>
        </p:txBody>
      </p:sp>
    </p:spTree>
    <p:extLst>
      <p:ext uri="{BB962C8B-B14F-4D97-AF65-F5344CB8AC3E}">
        <p14:creationId xmlns:p14="http://schemas.microsoft.com/office/powerpoint/2010/main" val="1297147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76FC-C732-73E4-E743-FA5F1542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AAEFAA-7125-EB24-2F9C-04E310AB7725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Non-negative spatial factorization (NSF)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92F53-7C9B-15DD-641D-F4B2C6B80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1" y="1055717"/>
            <a:ext cx="9863513" cy="45138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4970A4-6D52-F469-4F6F-C0AF8FBCB8BC}"/>
              </a:ext>
            </a:extLst>
          </p:cNvPr>
          <p:cNvSpPr txBox="1"/>
          <p:nvPr/>
        </p:nvSpPr>
        <p:spPr>
          <a:xfrm>
            <a:off x="0" y="6583680"/>
            <a:ext cx="6120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NSF: Townes and Engelhardt, Nature Methods 2023;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mNSF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: Wang et al, Genome Biol 2025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14FB100-DA35-2F8F-3374-D46677C5E506}"/>
              </a:ext>
            </a:extLst>
          </p:cNvPr>
          <p:cNvCxnSpPr>
            <a:cxnSpLocks/>
          </p:cNvCxnSpPr>
          <p:nvPr/>
        </p:nvCxnSpPr>
        <p:spPr>
          <a:xfrm flipH="1" flipV="1">
            <a:off x="5628904" y="6048092"/>
            <a:ext cx="2125683" cy="30283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EC1CB1-0B15-D0C5-EB74-BC3EDA7EB5DF}"/>
              </a:ext>
            </a:extLst>
          </p:cNvPr>
          <p:cNvSpPr txBox="1"/>
          <p:nvPr/>
        </p:nvSpPr>
        <p:spPr>
          <a:xfrm>
            <a:off x="795647" y="5707271"/>
            <a:ext cx="17572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Loadings 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BF462F-CE31-DB3C-F2BF-3A5CD6BB643F}"/>
              </a:ext>
            </a:extLst>
          </p:cNvPr>
          <p:cNvSpPr txBox="1"/>
          <p:nvPr/>
        </p:nvSpPr>
        <p:spPr>
          <a:xfrm>
            <a:off x="4449735" y="5678760"/>
            <a:ext cx="156914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Factors 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D8B23C-0D59-0AB1-5F39-F1DE71B2FD6B}"/>
              </a:ext>
            </a:extLst>
          </p:cNvPr>
          <p:cNvSpPr txBox="1"/>
          <p:nvPr/>
        </p:nvSpPr>
        <p:spPr>
          <a:xfrm>
            <a:off x="7754586" y="5792475"/>
            <a:ext cx="443741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rgbClr val="FF0000"/>
                </a:solidFill>
              </a:rPr>
              <a:t>Uses a “Gaussian Process prior” – a distribution over functions in space</a:t>
            </a:r>
          </a:p>
        </p:txBody>
      </p:sp>
    </p:spTree>
    <p:extLst>
      <p:ext uri="{BB962C8B-B14F-4D97-AF65-F5344CB8AC3E}">
        <p14:creationId xmlns:p14="http://schemas.microsoft.com/office/powerpoint/2010/main" val="985205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213F4-0F51-F566-F48A-5C4FC55B6CFE}"/>
              </a:ext>
            </a:extLst>
          </p:cNvPr>
          <p:cNvSpPr txBox="1"/>
          <p:nvPr/>
        </p:nvSpPr>
        <p:spPr>
          <a:xfrm>
            <a:off x="522514" y="620486"/>
            <a:ext cx="83351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/>
              <a:t>Illustrations of Gaussian processes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866D5-3C0A-E2C0-C490-50696BA735F1}"/>
              </a:ext>
            </a:extLst>
          </p:cNvPr>
          <p:cNvSpPr txBox="1"/>
          <p:nvPr/>
        </p:nvSpPr>
        <p:spPr>
          <a:xfrm>
            <a:off x="522514" y="1534885"/>
            <a:ext cx="765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Think of these as distributions over functions f(x) or f(</a:t>
            </a:r>
            <a:r>
              <a:rPr lang="en-US" sz="2400" dirty="0" err="1"/>
              <a:t>x,y</a:t>
            </a:r>
            <a:r>
              <a:rPr lang="en-US" sz="2400" dirty="0"/>
              <a:t>).</a:t>
            </a:r>
          </a:p>
        </p:txBody>
      </p:sp>
      <p:pic>
        <p:nvPicPr>
          <p:cNvPr id="4" name="Picture 3" descr="File:Gaussianprocess.gif">
            <a:extLst>
              <a:ext uri="{FF2B5EF4-FFF2-40B4-BE49-F238E27FC236}">
                <a16:creationId xmlns:a16="http://schemas.microsoft.com/office/drawing/2014/main" id="{C76B64AB-1588-0367-5B36-6D5F9917D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65" y="2714171"/>
            <a:ext cx="5950534" cy="2608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C4B8DE-3F26-4D64-947C-F569B7D76016}"/>
              </a:ext>
            </a:extLst>
          </p:cNvPr>
          <p:cNvSpPr txBox="1"/>
          <p:nvPr/>
        </p:nvSpPr>
        <p:spPr>
          <a:xfrm>
            <a:off x="7217229" y="3282043"/>
            <a:ext cx="49747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Each line is a “sample” from your distribution over functions f(x)</a:t>
            </a:r>
          </a:p>
          <a:p>
            <a:endParaRPr lang="en-US" sz="2400" dirty="0"/>
          </a:p>
          <a:p>
            <a:r>
              <a:rPr lang="en-US" sz="2400" dirty="0"/>
              <a:t>[For spatial transcriptomics, imagine this idea but in 2-D]</a:t>
            </a:r>
          </a:p>
        </p:txBody>
      </p:sp>
    </p:spTree>
    <p:extLst>
      <p:ext uri="{BB962C8B-B14F-4D97-AF65-F5344CB8AC3E}">
        <p14:creationId xmlns:p14="http://schemas.microsoft.com/office/powerpoint/2010/main" val="1900185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BFE615-7DD0-F48B-0AFD-540FD9752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89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2ED9A2-9520-200C-B21E-1F794DF00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" y="0"/>
            <a:ext cx="11915492" cy="673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63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+mj-lt"/>
                <a:cs typeface="+mj-lt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i="0" dirty="0">
                <a:solidFill>
                  <a:srgbClr val="000000"/>
                </a:solidFill>
                <a:latin typeface="+mn-lt"/>
                <a:cs typeface="+mn-lt"/>
              </a:rPr>
              <a:t>Standard single cell workflow: normalization -&gt; HVG selection -&gt; PCA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cs typeface="+mn-lt"/>
              </a:rPr>
              <a:t>Normalization / PCA implicitly make assumptions that data is continuous. Not true for count data</a:t>
            </a:r>
            <a:endParaRPr lang="en-US" sz="250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2500" b="1" i="0" dirty="0">
                <a:solidFill>
                  <a:srgbClr val="000000"/>
                </a:solidFill>
                <a:latin typeface="+mn-lt"/>
                <a:cs typeface="+mn-lt"/>
              </a:rPr>
              <a:t>GLM-PCA </a:t>
            </a:r>
            <a:r>
              <a:rPr lang="en-US" sz="2500" i="0" dirty="0">
                <a:solidFill>
                  <a:srgbClr val="000000"/>
                </a:solidFill>
                <a:latin typeface="+mn-lt"/>
                <a:cs typeface="+mn-lt"/>
              </a:rPr>
              <a:t>is a 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count-aware PCA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 using Poisson distributions</a:t>
            </a:r>
          </a:p>
          <a:p>
            <a:pPr marL="731520" lvl="1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cs typeface="+mn-lt"/>
              </a:rPr>
              <a:t>Analytic Pearson residuals provide fast approximation</a:t>
            </a:r>
            <a:endParaRPr lang="en-US" sz="25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i="0" dirty="0">
                <a:solidFill>
                  <a:srgbClr val="000000"/>
                </a:solidFill>
                <a:latin typeface="+mn-lt"/>
                <a:cs typeface="+mn-lt"/>
              </a:rPr>
              <a:t>F</a:t>
            </a:r>
            <a:r>
              <a:rPr sz="2500" b="1" i="0" dirty="0">
                <a:solidFill>
                  <a:srgbClr val="000000"/>
                </a:solidFill>
                <a:latin typeface="+mn-lt"/>
                <a:cs typeface="+mn-lt"/>
              </a:rPr>
              <a:t>actor analysis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is a purely probabilistic formulation of matrix factorization. </a:t>
            </a:r>
          </a:p>
          <a:p>
            <a:pPr marL="731520" lvl="1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+mn-lt"/>
              </a:rPr>
              <a:t>MOFA - integration of multiple modalities/samples</a:t>
            </a:r>
          </a:p>
          <a:p>
            <a:pPr marL="731520" lvl="1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+mn-lt"/>
              </a:rPr>
              <a:t>Non-negative spatial factorization (NSF)</a:t>
            </a:r>
            <a:r>
              <a:rPr sz="2000" b="0" i="0" dirty="0">
                <a:solidFill>
                  <a:srgbClr val="000000"/>
                </a:solidFill>
                <a:latin typeface="+mn-lt"/>
                <a:cs typeface="+mn-lt"/>
              </a:rPr>
              <a:t> </a:t>
            </a:r>
            <a:endParaRPr lang="en-US" sz="20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Canonical Correlation Analysis: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find 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correlated directions across datasets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; used by popular package 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 Seurat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. See homework!</a:t>
            </a:r>
            <a:endParaRPr sz="25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19248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In-class lab</a:t>
            </a: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!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endParaRPr sz="1800" b="0" i="0" dirty="0">
              <a:solidFill>
                <a:srgbClr val="7F7F7F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13688</TotalTime>
  <Words>1949</Words>
  <Application>Microsoft Macintosh PowerPoint</Application>
  <PresentationFormat>Widescreen</PresentationFormat>
  <Paragraphs>297</Paragraphs>
  <Slides>30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Helvetica</vt:lpstr>
      <vt:lpstr>Office Theme</vt:lpstr>
      <vt:lpstr>PowerPoint Presentation</vt:lpstr>
      <vt:lpstr>PowerPoint Presentation</vt:lpstr>
      <vt:lpstr>Typical single cell workflow</vt:lpstr>
      <vt:lpstr>Typical single cell workflow</vt:lpstr>
      <vt:lpstr>Typical single cell workflow</vt:lpstr>
      <vt:lpstr>Typical single cell workflow</vt:lpstr>
      <vt:lpstr>Issues with typical single cell workflow</vt:lpstr>
      <vt:lpstr>Issues with typical single cell workflow</vt:lpstr>
      <vt:lpstr>Top PC confounded by technical artifacts (fraction of zeros in cell)</vt:lpstr>
      <vt:lpstr>Today</vt:lpstr>
      <vt:lpstr>Multinomial distribution</vt:lpstr>
      <vt:lpstr>Multinomial distribution + single-cell</vt:lpstr>
      <vt:lpstr>Multinomial ≈ independent Poissons</vt:lpstr>
      <vt:lpstr>In practice data may be “overdispersed” (variance &gt; mean)  -&gt; Negative binomial distribution</vt:lpstr>
      <vt:lpstr>Empirically testing multinomial/Poisson models</vt:lpstr>
      <vt:lpstr>Empirically testing multinomial/Poisson models</vt:lpstr>
      <vt:lpstr>Setup</vt:lpstr>
      <vt:lpstr>Poisson-PCA problem (GLM-PCA)</vt:lpstr>
      <vt:lpstr>PowerPoint Presentation</vt:lpstr>
      <vt:lpstr>PowerPoint Presentation</vt:lpstr>
      <vt:lpstr>PowerPoint Presentation</vt:lpstr>
      <vt:lpstr>Analytic Pearson residuals (Hafemeister and Satija, 2019)</vt:lpstr>
      <vt:lpstr>Factor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39</cp:revision>
  <dcterms:created xsi:type="dcterms:W3CDTF">2026-01-18T19:39:29Z</dcterms:created>
  <dcterms:modified xsi:type="dcterms:W3CDTF">2026-09-15T20:23:14Z</dcterms:modified>
</cp:coreProperties>
</file>
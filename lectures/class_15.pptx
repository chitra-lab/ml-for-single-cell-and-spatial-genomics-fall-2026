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530" r:id="rId3"/>
    <p:sldId id="490" r:id="rId4"/>
    <p:sldId id="492" r:id="rId5"/>
    <p:sldId id="493" r:id="rId6"/>
    <p:sldId id="494" r:id="rId7"/>
    <p:sldId id="495" r:id="rId8"/>
    <p:sldId id="491" r:id="rId9"/>
    <p:sldId id="534" r:id="rId10"/>
    <p:sldId id="533" r:id="rId11"/>
    <p:sldId id="535" r:id="rId12"/>
    <p:sldId id="497" r:id="rId13"/>
    <p:sldId id="542" r:id="rId14"/>
    <p:sldId id="541" r:id="rId15"/>
    <p:sldId id="538" r:id="rId16"/>
    <p:sldId id="545" r:id="rId17"/>
    <p:sldId id="540" r:id="rId18"/>
    <p:sldId id="539" r:id="rId19"/>
    <p:sldId id="544" r:id="rId20"/>
    <p:sldId id="546" r:id="rId21"/>
    <p:sldId id="4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C10A64-33BA-DC4E-9A12-ACAAB8FB002E}">
          <p14:sldIdLst>
            <p14:sldId id="256"/>
            <p14:sldId id="530"/>
          </p14:sldIdLst>
        </p14:section>
        <p14:section name="kmeans" id="{936FC964-9353-304A-A177-C7B9B16DA880}">
          <p14:sldIdLst>
            <p14:sldId id="490"/>
            <p14:sldId id="492"/>
            <p14:sldId id="493"/>
            <p14:sldId id="494"/>
            <p14:sldId id="495"/>
            <p14:sldId id="491"/>
            <p14:sldId id="534"/>
            <p14:sldId id="533"/>
            <p14:sldId id="535"/>
            <p14:sldId id="497"/>
            <p14:sldId id="542"/>
            <p14:sldId id="541"/>
            <p14:sldId id="538"/>
            <p14:sldId id="545"/>
            <p14:sldId id="540"/>
            <p14:sldId id="539"/>
            <p14:sldId id="544"/>
            <p14:sldId id="546"/>
          </p14:sldIdLst>
        </p14:section>
        <p14:section name="Untitled Section" id="{CA58BFA8-793F-114C-9710-FDC6CEBFD28E}">
          <p14:sldIdLst>
            <p14:sldId id="4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41"/>
  </p:normalViewPr>
  <p:slideViewPr>
    <p:cSldViewPr snapToGrid="0">
      <p:cViewPr varScale="1">
        <p:scale>
          <a:sx n="100" d="100"/>
          <a:sy n="100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FB8C-E482-023E-0088-EF220B309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F6C0-8A0F-05D5-5245-0B299EF4D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21075-37C7-46AF-E22C-CD297E97C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3270-33E4-78CF-B2A7-1C671D33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30CD7-C428-D8F0-62E6-4809B66D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73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66C42-BB29-52C3-3EB5-FAD9EB23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4076-65F3-92B1-7B72-136D9DAA3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3F003-A1BF-30AE-39C6-9224C5DC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7F93-ABF6-910D-2741-E662BF80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8F2D3-4F70-A780-3557-BE4111A8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9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913F-ABDC-559D-0F01-CD067233B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123F3-BBCF-90E4-3AEC-6B477AE13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347D-2BDE-1340-F91B-BAA8B8EB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8B123-9334-A701-BC8D-0864571E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19F42-42A8-BF72-41E7-27FA96F5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C983-C78A-445F-DDF0-A2D1552A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A4C9-6793-AE96-AFF4-86B7E72D1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8BD0F-8187-4868-055E-17147B6C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8C207-9BDD-434A-CA0F-2ED76B90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D4E41-4E9C-FBC4-7A6D-3A31CF92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6DCAB-D4D9-6F16-499E-AC7CB867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E959-5E64-F6C0-F67A-690E5444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78FE6-A41F-66E0-D8EC-326CBBFDB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E8BB1-2D1D-8CAF-55C9-24186D3D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6353D-8E65-DE2F-03B6-0E118A30D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0AE9F-02BA-3C9C-3B3D-2B20E7471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CD8A3-3219-015E-9255-8C0840CB7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332BC-8F2B-A869-5984-9E8440EE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6E279-7227-5FA4-6186-7E96BD47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9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0E72-538E-611B-5B92-AC61B2004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7C5E6B-0D9C-5934-9366-79BA6211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D5A2-9FEE-892E-20B5-329DF51D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68E71-2D9B-C1D6-DAAC-5A465DE6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AB35F-B22D-D6A0-81D0-F3DD0C62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9E946-33C4-5D01-D9E2-56D1DD54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3E27-0224-A091-65AB-81F3893B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2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5DEA-E81E-3677-5C8B-A2359565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7127-2B0C-A497-023F-6182EA0DF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AC2C-E5FB-3690-153F-A72ADDB88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DB268-D089-CD93-1888-2392371F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06CE-4DD5-FDBB-9A0C-688E5F06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12AB2-61B9-C0EB-B320-54F467D5B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4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1E05-CDB1-99CD-C306-EDF3B92AE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2150A-1A75-A9FE-6285-9BD73990A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6CE73-9ADA-F812-1A90-F98F3FFC1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663AB-7DD8-4A56-BEB5-EC3AD2D2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4889-4009-4985-7E51-284F4A2B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04F4-B481-2686-F70E-CB238CD5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89B3-01AB-E3CB-6130-CDEABFAB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0DB2A-9F46-8FB5-BF99-6F1EE8E77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2CC48-FC88-219B-3A5C-A8CDDE1F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F297-8464-B9AA-E3DA-796A37D6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89E6C-5558-FB9C-DAC9-6F984816B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83B3A-3755-8FB8-30F0-8288B1FFB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8FFE4-EDFB-A67E-1743-304FE98A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27EB-A5A2-287D-8EF1-599D3C43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435C-705C-601E-E94C-932C203F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1A8F-C4CC-A578-829A-C807FE3A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D0CC3-158A-0084-1D43-6DD4D652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CBE8-26E2-DE7D-A80C-B2C0B1346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17F1C-14AD-448E-42F8-40BE5EB66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0BCB8-C2AA-A94E-9118-86D8515C5E32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590E4-D9E5-09F2-3B79-C52E688D8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DBC3-448C-61BC-764A-F631F7991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98259-1BBC-7E47-A743-99001940E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61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788F-A189-8CAD-3740-DB70F5110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100" y="1122363"/>
            <a:ext cx="11671300" cy="2387600"/>
          </a:xfrm>
        </p:spPr>
        <p:txBody>
          <a:bodyPr>
            <a:normAutofit/>
          </a:bodyPr>
          <a:lstStyle/>
          <a:p>
            <a:r>
              <a:rPr lang="en-US" sz="5500" dirty="0"/>
              <a:t>(Graph) clustering, 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8001F-C2EB-BB4D-D453-D8DC762AA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Uthsav Chitra</a:t>
            </a:r>
          </a:p>
        </p:txBody>
      </p:sp>
    </p:spTree>
    <p:extLst>
      <p:ext uri="{BB962C8B-B14F-4D97-AF65-F5344CB8AC3E}">
        <p14:creationId xmlns:p14="http://schemas.microsoft.com/office/powerpoint/2010/main" val="117997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B278-97C5-7EAC-4F2B-1848CABC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BAF-4864-9D5F-6822-73E2A41C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02" y="11492"/>
            <a:ext cx="10515600" cy="1325563"/>
          </a:xfrm>
        </p:spPr>
        <p:txBody>
          <a:bodyPr/>
          <a:lstStyle/>
          <a:p>
            <a:r>
              <a:rPr lang="en-US" dirty="0"/>
              <a:t>Today: (graph) clustering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F16C6A-AD5C-3EE8-7AF3-4A0EE7DCE249}"/>
              </a:ext>
            </a:extLst>
          </p:cNvPr>
          <p:cNvSpPr txBox="1"/>
          <p:nvPr/>
        </p:nvSpPr>
        <p:spPr>
          <a:xfrm>
            <a:off x="419646" y="1368467"/>
            <a:ext cx="55627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Clustering:</a:t>
            </a:r>
            <a:r>
              <a:rPr lang="en-US" sz="2400" dirty="0">
                <a:solidFill>
                  <a:srgbClr val="FF0000"/>
                </a:solidFill>
              </a:rPr>
              <a:t> finding groups (</a:t>
            </a:r>
            <a:r>
              <a:rPr lang="en-US" sz="2400" u="sng" dirty="0">
                <a:solidFill>
                  <a:srgbClr val="FF0000"/>
                </a:solidFill>
              </a:rPr>
              <a:t>clusters</a:t>
            </a:r>
            <a:r>
              <a:rPr lang="en-US" sz="2400" dirty="0">
                <a:solidFill>
                  <a:srgbClr val="FF0000"/>
                </a:solidFill>
              </a:rPr>
              <a:t>) of datapoints (</a:t>
            </a:r>
            <a:r>
              <a:rPr lang="en-US" sz="2400" u="sng" dirty="0">
                <a:solidFill>
                  <a:srgbClr val="FF0000"/>
                </a:solidFill>
              </a:rPr>
              <a:t>cells</a:t>
            </a:r>
            <a:r>
              <a:rPr lang="en-US" sz="2400" dirty="0">
                <a:solidFill>
                  <a:srgbClr val="FF0000"/>
                </a:solidFill>
              </a:rPr>
              <a:t>) with similar features (</a:t>
            </a:r>
            <a:r>
              <a:rPr lang="en-US" sz="2400" u="sng" dirty="0">
                <a:solidFill>
                  <a:srgbClr val="FF0000"/>
                </a:solidFill>
              </a:rPr>
              <a:t>gene expression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Picture 4" descr="Clustering in Machine Learning - GeeksforGeeks">
            <a:extLst>
              <a:ext uri="{FF2B5EF4-FFF2-40B4-BE49-F238E27FC236}">
                <a16:creationId xmlns:a16="http://schemas.microsoft.com/office/drawing/2014/main" id="{16F999CF-2BCC-9FB3-9C14-DC54FB4A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93" y="3071446"/>
            <a:ext cx="4057658" cy="3182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EA4816-A739-25A1-CA67-292BC20B74B6}"/>
              </a:ext>
            </a:extLst>
          </p:cNvPr>
          <p:cNvSpPr txBox="1"/>
          <p:nvPr/>
        </p:nvSpPr>
        <p:spPr>
          <a:xfrm>
            <a:off x="927326" y="6260971"/>
            <a:ext cx="3573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Feature 1 (e.g. gene 1, PC 1, …)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ADB76-050A-06BA-4087-BB7D6758475F}"/>
              </a:ext>
            </a:extLst>
          </p:cNvPr>
          <p:cNvSpPr txBox="1"/>
          <p:nvPr/>
        </p:nvSpPr>
        <p:spPr>
          <a:xfrm rot="16200000">
            <a:off x="-1367350" y="4219621"/>
            <a:ext cx="3573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Feature 2 (e.g. gene 2, PC 2, …)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C25F62-0466-C8D5-100D-923BA1AA20E8}"/>
              </a:ext>
            </a:extLst>
          </p:cNvPr>
          <p:cNvGrpSpPr/>
          <p:nvPr/>
        </p:nvGrpSpPr>
        <p:grpSpPr>
          <a:xfrm>
            <a:off x="4765874" y="2585003"/>
            <a:ext cx="2218813" cy="3766386"/>
            <a:chOff x="5649292" y="2541669"/>
            <a:chExt cx="2218813" cy="376638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E0EA6-3C0F-39B6-6EF7-466468E41CBA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73975" t="22048" r="882" b="37207"/>
            <a:stretch/>
          </p:blipFill>
          <p:spPr>
            <a:xfrm rot="5400000">
              <a:off x="5345679" y="3785629"/>
              <a:ext cx="3296262" cy="174859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0BBF3A-C9B9-6349-BC33-836839DCCC27}"/>
                </a:ext>
              </a:extLst>
            </p:cNvPr>
            <p:cNvSpPr/>
            <p:nvPr/>
          </p:nvSpPr>
          <p:spPr>
            <a:xfrm>
              <a:off x="6096000" y="5207199"/>
              <a:ext cx="1772105" cy="1046724"/>
            </a:xfrm>
            <a:prstGeom prst="rect">
              <a:avLst/>
            </a:prstGeom>
            <a:noFill/>
            <a:ln w="38100">
              <a:solidFill>
                <a:schemeClr val="accent1">
                  <a:shade val="50000"/>
                  <a:alpha val="99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8D5986-406C-5123-63AA-F9335A3C199D}"/>
                </a:ext>
              </a:extLst>
            </p:cNvPr>
            <p:cNvSpPr/>
            <p:nvPr/>
          </p:nvSpPr>
          <p:spPr>
            <a:xfrm>
              <a:off x="6096000" y="4090857"/>
              <a:ext cx="1772105" cy="1046724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DE6330-E470-CC27-7FFC-FB007EB534FA}"/>
                </a:ext>
              </a:extLst>
            </p:cNvPr>
            <p:cNvSpPr/>
            <p:nvPr/>
          </p:nvSpPr>
          <p:spPr>
            <a:xfrm>
              <a:off x="6096000" y="2980619"/>
              <a:ext cx="1772105" cy="1046725"/>
            </a:xfrm>
            <a:prstGeom prst="rect">
              <a:avLst/>
            </a:prstGeom>
            <a:noFill/>
            <a:ln w="381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50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F9AE788-5903-941A-8712-D0823D76A258}"/>
                </a:ext>
              </a:extLst>
            </p:cNvPr>
            <p:cNvSpPr txBox="1"/>
            <p:nvPr/>
          </p:nvSpPr>
          <p:spPr>
            <a:xfrm>
              <a:off x="6566713" y="2541669"/>
              <a:ext cx="1080745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Genes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F3EFC3-A13E-2C6D-BE02-1A41F5EAB217}"/>
                </a:ext>
              </a:extLst>
            </p:cNvPr>
            <p:cNvSpPr txBox="1"/>
            <p:nvPr/>
          </p:nvSpPr>
          <p:spPr>
            <a:xfrm rot="16200000">
              <a:off x="5439619" y="4117407"/>
              <a:ext cx="896399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500" dirty="0"/>
                <a:t>Cells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B60F99-3F12-5775-A41E-A1193DD5477C}"/>
              </a:ext>
            </a:extLst>
          </p:cNvPr>
          <p:cNvSpPr txBox="1"/>
          <p:nvPr/>
        </p:nvSpPr>
        <p:spPr>
          <a:xfrm>
            <a:off x="6566713" y="1293416"/>
            <a:ext cx="55627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Graph clustering:</a:t>
            </a:r>
            <a:r>
              <a:rPr lang="en-US" sz="2200" dirty="0">
                <a:solidFill>
                  <a:srgbClr val="FF0000"/>
                </a:solidFill>
              </a:rPr>
              <a:t> vertices the same group are more densely connected to each other than to other vertices</a:t>
            </a:r>
          </a:p>
        </p:txBody>
      </p:sp>
      <p:pic>
        <p:nvPicPr>
          <p:cNvPr id="16" name="Picture 15" descr="Graph Clustering Algorithms: Unveiling Network Patterns">
            <a:extLst>
              <a:ext uri="{FF2B5EF4-FFF2-40B4-BE49-F238E27FC236}">
                <a16:creationId xmlns:a16="http://schemas.microsoft.com/office/drawing/2014/main" id="{E2E4CEAD-744F-B0AC-3217-3AB84901A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396" y="2632680"/>
            <a:ext cx="4445141" cy="38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8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9109A-8BE6-0164-8D4D-AEEC8E4E5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6610"/>
          <a:stretch>
            <a:fillRect/>
          </a:stretch>
        </p:blipFill>
        <p:spPr>
          <a:xfrm>
            <a:off x="246743" y="-35637"/>
            <a:ext cx="11698514" cy="689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22CD14-8D4C-10C3-E4E8-E336815E2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52" t="51852" r="4514" b="14857"/>
          <a:stretch>
            <a:fillRect/>
          </a:stretch>
        </p:blipFill>
        <p:spPr>
          <a:xfrm>
            <a:off x="8604738" y="3012831"/>
            <a:ext cx="2907323" cy="25439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298390-0E6A-69A9-1515-8F6D4A27D2F2}"/>
              </a:ext>
            </a:extLst>
          </p:cNvPr>
          <p:cNvSpPr txBox="1"/>
          <p:nvPr/>
        </p:nvSpPr>
        <p:spPr>
          <a:xfrm>
            <a:off x="9296400" y="3982887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4A23C-7F39-543F-5906-51008337E3FC}"/>
              </a:ext>
            </a:extLst>
          </p:cNvPr>
          <p:cNvSpPr txBox="1"/>
          <p:nvPr/>
        </p:nvSpPr>
        <p:spPr>
          <a:xfrm>
            <a:off x="10380162" y="4167553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F059BD-F03B-FF9A-00A8-DB4DED3DF554}"/>
              </a:ext>
            </a:extLst>
          </p:cNvPr>
          <p:cNvCxnSpPr>
            <a:cxnSpLocks/>
          </p:cNvCxnSpPr>
          <p:nvPr/>
        </p:nvCxnSpPr>
        <p:spPr>
          <a:xfrm flipV="1">
            <a:off x="9296400" y="4129453"/>
            <a:ext cx="54500" cy="407432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194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AD691D-6F1D-0ECE-5405-8436D4F5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22"/>
          <a:stretch>
            <a:fillRect/>
          </a:stretch>
        </p:blipFill>
        <p:spPr>
          <a:xfrm>
            <a:off x="-1" y="-1"/>
            <a:ext cx="11742057" cy="71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1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0A6154-60AD-54C5-FAE4-E5D6DCDD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493"/>
          <a:stretch>
            <a:fillRect/>
          </a:stretch>
        </p:blipFill>
        <p:spPr>
          <a:xfrm>
            <a:off x="-1" y="-1"/>
            <a:ext cx="11640457" cy="686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9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78E15-EF5E-2D09-D33C-B21D66D6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79"/>
          <a:stretch>
            <a:fillRect/>
          </a:stretch>
        </p:blipFill>
        <p:spPr>
          <a:xfrm>
            <a:off x="-1" y="0"/>
            <a:ext cx="11916229" cy="720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95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112A2-AF9F-0978-EAD7-9EF755534E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006"/>
          <a:stretch>
            <a:fillRect/>
          </a:stretch>
        </p:blipFill>
        <p:spPr>
          <a:xfrm>
            <a:off x="0" y="1"/>
            <a:ext cx="12546872" cy="656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B7639-1ABE-32F7-6B39-7A205906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685"/>
          <a:stretch>
            <a:fillRect/>
          </a:stretch>
        </p:blipFill>
        <p:spPr>
          <a:xfrm>
            <a:off x="-106296" y="0"/>
            <a:ext cx="12435841" cy="661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3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ADCA-E605-16A6-C504-93C17DA0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60D9-45E2-95D5-EC36-15313BEC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number K of clusters?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EB3D-8893-8AE7-D793-D560B0FB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52" y="1597025"/>
            <a:ext cx="11000874" cy="5648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rigorous way – choose K that maximizes/minimizes some quantity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69EA64A-522C-006A-B3EA-C1AF31EDD77E}"/>
              </a:ext>
            </a:extLst>
          </p:cNvPr>
          <p:cNvGrpSpPr/>
          <p:nvPr/>
        </p:nvGrpSpPr>
        <p:grpSpPr>
          <a:xfrm>
            <a:off x="3326353" y="2364859"/>
            <a:ext cx="5302671" cy="3280990"/>
            <a:chOff x="344542" y="2159000"/>
            <a:chExt cx="4436006" cy="2711420"/>
          </a:xfrm>
        </p:grpSpPr>
        <p:pic>
          <p:nvPicPr>
            <p:cNvPr id="4" name="Picture 3" descr="elbow_method">
              <a:extLst>
                <a:ext uri="{FF2B5EF4-FFF2-40B4-BE49-F238E27FC236}">
                  <a16:creationId xmlns:a16="http://schemas.microsoft.com/office/drawing/2014/main" id="{3B862395-07EC-0392-CFBE-7D60E32C0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947" r="13001" b="6288"/>
            <a:stretch>
              <a:fillRect/>
            </a:stretch>
          </p:blipFill>
          <p:spPr>
            <a:xfrm>
              <a:off x="713874" y="2159000"/>
              <a:ext cx="4066674" cy="238026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B19F80-AC59-7F16-4890-D86F1F40CFD4}"/>
                </a:ext>
              </a:extLst>
            </p:cNvPr>
            <p:cNvSpPr txBox="1"/>
            <p:nvPr/>
          </p:nvSpPr>
          <p:spPr>
            <a:xfrm rot="16200000">
              <a:off x="-660926" y="3324200"/>
              <a:ext cx="2380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Sum of squared errors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6C652A-F643-799E-F5F3-AB4E1DB23951}"/>
                </a:ext>
              </a:extLst>
            </p:cNvPr>
            <p:cNvSpPr txBox="1"/>
            <p:nvPr/>
          </p:nvSpPr>
          <p:spPr>
            <a:xfrm>
              <a:off x="2185481" y="4514334"/>
              <a:ext cx="288585" cy="3560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1B497CC-453B-5105-0B6F-AC0D6C31E733}"/>
              </a:ext>
            </a:extLst>
          </p:cNvPr>
          <p:cNvSpPr txBox="1"/>
          <p:nvPr/>
        </p:nvSpPr>
        <p:spPr>
          <a:xfrm>
            <a:off x="2344485" y="5661878"/>
            <a:ext cx="7266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Elbow method:</a:t>
            </a:r>
            <a:r>
              <a:rPr lang="en-US" sz="2400" dirty="0"/>
              <a:t> find a “elbow” where increasing K leads to </a:t>
            </a:r>
            <a:r>
              <a:rPr lang="en-US" sz="2400" u="sng" dirty="0"/>
              <a:t>diminishing returns</a:t>
            </a:r>
          </a:p>
        </p:txBody>
      </p:sp>
    </p:spTree>
    <p:extLst>
      <p:ext uri="{BB962C8B-B14F-4D97-AF65-F5344CB8AC3E}">
        <p14:creationId xmlns:p14="http://schemas.microsoft.com/office/powerpoint/2010/main" val="262072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D774-07E0-07FA-EC1E-402D947B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386" y="0"/>
            <a:ext cx="10515600" cy="1325563"/>
          </a:xfrm>
        </p:spPr>
        <p:txBody>
          <a:bodyPr/>
          <a:lstStyle/>
          <a:p>
            <a:r>
              <a:rPr lang="en-US" dirty="0"/>
              <a:t>How to initialize cluster centroids </a:t>
            </a:r>
            <a:r>
              <a:rPr lang="en-US" dirty="0" err="1"/>
              <a:t>w</a:t>
            </a:r>
            <a:r>
              <a:rPr lang="en-US" baseline="-25000" dirty="0" err="1"/>
              <a:t>k</a:t>
            </a:r>
            <a:r>
              <a:rPr lang="en-US" dirty="0"/>
              <a:t>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5C7392-F670-6CA2-47A8-210045BE3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3061" y="3454700"/>
            <a:ext cx="5978939" cy="13255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D96180-07DE-3252-A993-13CCD4D21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49" t="20775" r="14101" b="29710"/>
          <a:stretch>
            <a:fillRect/>
          </a:stretch>
        </p:blipFill>
        <p:spPr>
          <a:xfrm>
            <a:off x="7662406" y="4780263"/>
            <a:ext cx="4455206" cy="19547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B885DB-26E9-8585-E5F3-DF896C52A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34" y="1316802"/>
            <a:ext cx="5915695" cy="54181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45D9BF-CF2F-6E60-A4E9-ECF2C4EBBA51}"/>
              </a:ext>
            </a:extLst>
          </p:cNvPr>
          <p:cNvSpPr txBox="1"/>
          <p:nvPr/>
        </p:nvSpPr>
        <p:spPr>
          <a:xfrm>
            <a:off x="6361580" y="1316802"/>
            <a:ext cx="562903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Initial k-means algorithm chose centroids uniformly at random from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K-means++ instead chooses centroids that are most “spread out”</a:t>
            </a:r>
          </a:p>
        </p:txBody>
      </p:sp>
    </p:spTree>
    <p:extLst>
      <p:ext uri="{BB962C8B-B14F-4D97-AF65-F5344CB8AC3E}">
        <p14:creationId xmlns:p14="http://schemas.microsoft.com/office/powerpoint/2010/main" val="120430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EF29-CDD5-5797-1B0C-5E15BBF5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204445"/>
            <a:ext cx="11811000" cy="1325563"/>
          </a:xfrm>
        </p:spPr>
        <p:txBody>
          <a:bodyPr>
            <a:normAutofit/>
          </a:bodyPr>
          <a:lstStyle/>
          <a:p>
            <a:r>
              <a:rPr lang="en-US" dirty="0"/>
              <a:t>Mini-batch K-means updates parameters from random sample of datapoints (“mini-batch”)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AAEF3-207E-3D25-81C2-112CA43517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9" t="20775" r="14101" b="29710"/>
          <a:stretch>
            <a:fillRect/>
          </a:stretch>
        </p:blipFill>
        <p:spPr>
          <a:xfrm>
            <a:off x="190500" y="1705805"/>
            <a:ext cx="8792068" cy="3857552"/>
          </a:xfrm>
          <a:prstGeom prst="rect">
            <a:avLst/>
          </a:prstGeom>
          <a:ln>
            <a:noFill/>
          </a:ln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90BE53-5BBC-72EA-0FC9-A55C1272D62F}"/>
              </a:ext>
            </a:extLst>
          </p:cNvPr>
          <p:cNvCxnSpPr/>
          <p:nvPr/>
        </p:nvCxnSpPr>
        <p:spPr>
          <a:xfrm>
            <a:off x="909884" y="4653643"/>
            <a:ext cx="7425911" cy="3429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88C119F-B0F7-B936-572A-5713E7AAB13B}"/>
              </a:ext>
            </a:extLst>
          </p:cNvPr>
          <p:cNvSpPr txBox="1"/>
          <p:nvPr/>
        </p:nvSpPr>
        <p:spPr>
          <a:xfrm>
            <a:off x="8465693" y="4140082"/>
            <a:ext cx="30352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Update centroids incrementally – running average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EC5C58-945C-3550-D560-4048B6788C1E}"/>
                  </a:ext>
                </a:extLst>
              </p:cNvPr>
              <p:cNvSpPr txBox="1"/>
              <p:nvPr/>
            </p:nvSpPr>
            <p:spPr>
              <a:xfrm>
                <a:off x="7198009" y="5327077"/>
                <a:ext cx="4038926" cy="8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EC5C58-945C-3550-D560-4048B678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009" y="5327077"/>
                <a:ext cx="4038926" cy="869277"/>
              </a:xfrm>
              <a:prstGeom prst="rect">
                <a:avLst/>
              </a:prstGeom>
              <a:blipFill>
                <a:blip r:embed="rId3"/>
                <a:stretch>
                  <a:fillRect t="-62319" b="-4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079626-699C-DEDB-BE1D-90655FCBE642}"/>
              </a:ext>
            </a:extLst>
          </p:cNvPr>
          <p:cNvCxnSpPr>
            <a:cxnSpLocks/>
          </p:cNvCxnSpPr>
          <p:nvPr/>
        </p:nvCxnSpPr>
        <p:spPr>
          <a:xfrm>
            <a:off x="877226" y="3441849"/>
            <a:ext cx="454016" cy="2253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A628AC5-3FBD-6A90-DECD-2394288406CE}"/>
              </a:ext>
            </a:extLst>
          </p:cNvPr>
          <p:cNvSpPr txBox="1"/>
          <p:nvPr/>
        </p:nvSpPr>
        <p:spPr>
          <a:xfrm>
            <a:off x="1525254" y="2708866"/>
            <a:ext cx="1667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mini-batch B</a:t>
            </a:r>
            <a:endParaRPr lang="en-US" sz="2000" b="1" baseline="-25000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81C92B-1BD8-F17A-2576-D05CA1BC5D86}"/>
              </a:ext>
            </a:extLst>
          </p:cNvPr>
          <p:cNvSpPr txBox="1"/>
          <p:nvPr/>
        </p:nvSpPr>
        <p:spPr>
          <a:xfrm>
            <a:off x="33460" y="3667239"/>
            <a:ext cx="2141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datapoints </a:t>
            </a:r>
            <a:r>
              <a:rPr lang="en-US" dirty="0" err="1">
                <a:solidFill>
                  <a:srgbClr val="C00000"/>
                </a:solidFill>
              </a:rPr>
              <a:t>i</a:t>
            </a:r>
            <a:r>
              <a:rPr lang="en-US" dirty="0">
                <a:solidFill>
                  <a:srgbClr val="C00000"/>
                </a:solidFill>
              </a:rPr>
              <a:t> in B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236AD7-4AEC-D0B9-6CBD-073226B358A5}"/>
              </a:ext>
            </a:extLst>
          </p:cNvPr>
          <p:cNvCxnSpPr>
            <a:cxnSpLocks/>
          </p:cNvCxnSpPr>
          <p:nvPr/>
        </p:nvCxnSpPr>
        <p:spPr>
          <a:xfrm>
            <a:off x="5351780" y="3441849"/>
            <a:ext cx="2497747" cy="22539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7C2CE3B-D9AC-2C53-9A94-3D382437C6B3}"/>
              </a:ext>
            </a:extLst>
          </p:cNvPr>
          <p:cNvSpPr/>
          <p:nvPr/>
        </p:nvSpPr>
        <p:spPr>
          <a:xfrm>
            <a:off x="4975699" y="3108976"/>
            <a:ext cx="3360096" cy="927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DCD76-5FD9-3564-02BC-08492AC4D642}"/>
              </a:ext>
            </a:extLst>
          </p:cNvPr>
          <p:cNvSpPr txBox="1"/>
          <p:nvPr/>
        </p:nvSpPr>
        <p:spPr>
          <a:xfrm>
            <a:off x="5551309" y="2771816"/>
            <a:ext cx="37546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Don’t re-assign all points but only a small random sample of data points (“mini-batch”)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98E2C11-8A92-3E91-603F-8A5F88800DCB}"/>
              </a:ext>
            </a:extLst>
          </p:cNvPr>
          <p:cNvSpPr/>
          <p:nvPr/>
        </p:nvSpPr>
        <p:spPr>
          <a:xfrm>
            <a:off x="4992953" y="2852608"/>
            <a:ext cx="469939" cy="1028701"/>
          </a:xfrm>
          <a:prstGeom prst="rightBrace">
            <a:avLst>
              <a:gd name="adj1" fmla="val 8333"/>
              <a:gd name="adj2" fmla="val 51232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5A4FB4-2E9C-8279-806C-ACAC877813ED}"/>
              </a:ext>
            </a:extLst>
          </p:cNvPr>
          <p:cNvSpPr txBox="1"/>
          <p:nvPr/>
        </p:nvSpPr>
        <p:spPr>
          <a:xfrm>
            <a:off x="2416816" y="5983031"/>
            <a:ext cx="4884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S</a:t>
            </a:r>
            <a:r>
              <a:rPr lang="en-US" baseline="-25000" dirty="0" err="1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is cluster k </a:t>
            </a:r>
            <a:r>
              <a:rPr lang="en-US" i="1" dirty="0">
                <a:solidFill>
                  <a:srgbClr val="C00000"/>
                </a:solidFill>
              </a:rPr>
              <a:t>before processing </a:t>
            </a:r>
            <a:r>
              <a:rPr lang="en-US" dirty="0">
                <a:solidFill>
                  <a:srgbClr val="C00000"/>
                </a:solidFill>
              </a:rPr>
              <a:t>current batch)</a:t>
            </a:r>
          </a:p>
        </p:txBody>
      </p:sp>
    </p:spTree>
    <p:extLst>
      <p:ext uri="{BB962C8B-B14F-4D97-AF65-F5344CB8AC3E}">
        <p14:creationId xmlns:p14="http://schemas.microsoft.com/office/powerpoint/2010/main" val="492723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DDC4-3204-F777-3392-6A18BFB4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103867"/>
            <a:ext cx="10515600" cy="1325563"/>
          </a:xfrm>
        </p:spPr>
        <p:txBody>
          <a:bodyPr/>
          <a:lstStyle/>
          <a:p>
            <a:r>
              <a:rPr lang="en-US" dirty="0"/>
              <a:t>Hard versus soft clustering [see board]</a:t>
            </a:r>
          </a:p>
        </p:txBody>
      </p:sp>
      <p:pic>
        <p:nvPicPr>
          <p:cNvPr id="6" name="Picture 5" descr="Fig. 2">
            <a:extLst>
              <a:ext uri="{FF2B5EF4-FFF2-40B4-BE49-F238E27FC236}">
                <a16:creationId xmlns:a16="http://schemas.microsoft.com/office/drawing/2014/main" id="{7C7FD251-232E-F082-B05C-0B7A70DC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173"/>
          <a:stretch>
            <a:fillRect/>
          </a:stretch>
        </p:blipFill>
        <p:spPr>
          <a:xfrm>
            <a:off x="1037680" y="1429430"/>
            <a:ext cx="9760948" cy="3550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CF8FB6-6E47-B8D3-925B-1E6C61E9FE31}"/>
              </a:ext>
            </a:extLst>
          </p:cNvPr>
          <p:cNvSpPr txBox="1"/>
          <p:nvPr/>
        </p:nvSpPr>
        <p:spPr>
          <a:xfrm>
            <a:off x="762308" y="5225142"/>
            <a:ext cx="10528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Hard clustering:</a:t>
            </a:r>
            <a:r>
              <a:rPr lang="en-US" sz="2400" dirty="0"/>
              <a:t> each datapoint assigned to exactly one cluster</a:t>
            </a:r>
          </a:p>
          <a:p>
            <a:r>
              <a:rPr lang="en-US" sz="2400" b="1" dirty="0"/>
              <a:t>Soft clustering:</a:t>
            </a:r>
            <a:r>
              <a:rPr lang="en-US" sz="2400" dirty="0"/>
              <a:t> each datapoint can belong to &gt;1 cluster with some </a:t>
            </a:r>
            <a:r>
              <a:rPr lang="en-US" sz="2400" dirty="0">
                <a:solidFill>
                  <a:srgbClr val="C00000"/>
                </a:solidFill>
              </a:rPr>
              <a:t>probability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/>
              <a:t>Soft clustering often better for points near cluster boundary</a:t>
            </a:r>
          </a:p>
        </p:txBody>
      </p:sp>
    </p:spTree>
    <p:extLst>
      <p:ext uri="{BB962C8B-B14F-4D97-AF65-F5344CB8AC3E}">
        <p14:creationId xmlns:p14="http://schemas.microsoft.com/office/powerpoint/2010/main" val="1130344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E55085-38F0-01B9-0065-0AEEDFF07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420" y="241753"/>
            <a:ext cx="4875694" cy="65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2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C3138B-AC71-5AC8-FB1B-D590C2573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5" y="0"/>
            <a:ext cx="5143500" cy="68580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E1AD453-38F2-580C-0B1B-532F50B87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27454"/>
            <a:ext cx="4777723" cy="637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95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E0E5-B1BF-EA52-1E30-F1FEB5641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010" y="235942"/>
            <a:ext cx="10515600" cy="1325563"/>
          </a:xfrm>
        </p:spPr>
        <p:txBody>
          <a:bodyPr/>
          <a:lstStyle/>
          <a:p>
            <a:r>
              <a:rPr lang="en-US" dirty="0"/>
              <a:t>Gaussian mixture model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AEA5AF-D09C-D933-F596-76F9E837F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5" y="1548493"/>
            <a:ext cx="5014685" cy="37610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E604D9-5AC3-4ACE-4393-51A76F082254}"/>
              </a:ext>
            </a:extLst>
          </p:cNvPr>
          <p:cNvSpPr txBox="1"/>
          <p:nvPr/>
        </p:nvSpPr>
        <p:spPr>
          <a:xfrm>
            <a:off x="1273628" y="5784989"/>
            <a:ext cx="2265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1-D GMM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89852-216A-9B6A-5466-21447802D455}"/>
              </a:ext>
            </a:extLst>
          </p:cNvPr>
          <p:cNvSpPr txBox="1"/>
          <p:nvPr/>
        </p:nvSpPr>
        <p:spPr>
          <a:xfrm>
            <a:off x="2649365" y="4965059"/>
            <a:ext cx="3545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35520-6B2D-5D8E-8896-2901D9703E25}"/>
              </a:ext>
            </a:extLst>
          </p:cNvPr>
          <p:cNvSpPr txBox="1"/>
          <p:nvPr/>
        </p:nvSpPr>
        <p:spPr>
          <a:xfrm rot="16200000">
            <a:off x="-78390" y="3020786"/>
            <a:ext cx="7954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p(x)</a:t>
            </a:r>
          </a:p>
        </p:txBody>
      </p:sp>
      <p:pic>
        <p:nvPicPr>
          <p:cNvPr id="10" name="Picture 9" descr="drawing">
            <a:extLst>
              <a:ext uri="{FF2B5EF4-FFF2-40B4-BE49-F238E27FC236}">
                <a16:creationId xmlns:a16="http://schemas.microsoft.com/office/drawing/2014/main" id="{E052A4BC-2E37-A98F-93B9-1D7349DD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20" y="1244547"/>
            <a:ext cx="4740194" cy="38605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950BD6-25EB-6260-C0D6-BBEEC414DA1C}"/>
              </a:ext>
            </a:extLst>
          </p:cNvPr>
          <p:cNvSpPr txBox="1"/>
          <p:nvPr/>
        </p:nvSpPr>
        <p:spPr>
          <a:xfrm>
            <a:off x="9454243" y="4114800"/>
            <a:ext cx="4908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x</a:t>
            </a:r>
            <a:r>
              <a:rPr lang="en-US" sz="3000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01697-3C41-8B4F-ECCA-525013BEFABE}"/>
              </a:ext>
            </a:extLst>
          </p:cNvPr>
          <p:cNvSpPr txBox="1"/>
          <p:nvPr/>
        </p:nvSpPr>
        <p:spPr>
          <a:xfrm>
            <a:off x="6814458" y="4081556"/>
            <a:ext cx="4908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x</a:t>
            </a:r>
            <a:r>
              <a:rPr lang="en-US" sz="3000" baseline="-250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6D3C6-A5F2-54F6-CE67-8B2A12F81D2F}"/>
              </a:ext>
            </a:extLst>
          </p:cNvPr>
          <p:cNvSpPr txBox="1"/>
          <p:nvPr/>
        </p:nvSpPr>
        <p:spPr>
          <a:xfrm>
            <a:off x="10515689" y="2714655"/>
            <a:ext cx="8162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p(</a:t>
            </a:r>
            <a:r>
              <a:rPr lang="en-US" sz="3000" b="1" dirty="0"/>
              <a:t>x</a:t>
            </a:r>
            <a:r>
              <a:rPr lang="en-US" sz="3000" dirty="0"/>
              <a:t>)</a:t>
            </a:r>
            <a:endParaRPr lang="en-US" sz="3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2EC734-543F-F5E6-660F-459C9A7E0C09}"/>
              </a:ext>
            </a:extLst>
          </p:cNvPr>
          <p:cNvSpPr txBox="1"/>
          <p:nvPr/>
        </p:nvSpPr>
        <p:spPr>
          <a:xfrm>
            <a:off x="7903029" y="5784989"/>
            <a:ext cx="2265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2-D GMM</a:t>
            </a:r>
          </a:p>
        </p:txBody>
      </p:sp>
    </p:spTree>
    <p:extLst>
      <p:ext uri="{BB962C8B-B14F-4D97-AF65-F5344CB8AC3E}">
        <p14:creationId xmlns:p14="http://schemas.microsoft.com/office/powerpoint/2010/main" val="1426914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6B70-AD48-23BB-25DF-7A98CEEC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71" y="245548"/>
            <a:ext cx="11653157" cy="1325563"/>
          </a:xfrm>
        </p:spPr>
        <p:txBody>
          <a:bodyPr/>
          <a:lstStyle/>
          <a:p>
            <a:r>
              <a:rPr lang="en-US" dirty="0"/>
              <a:t>GMMs often used for clustering latent embeddings from neural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4FBAE-D3F2-75B8-51A5-3607D6CE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22" y="1704190"/>
            <a:ext cx="7484497" cy="263638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B8E3C69-5581-76F8-94A7-7B30F1517289}"/>
              </a:ext>
            </a:extLst>
          </p:cNvPr>
          <p:cNvGrpSpPr/>
          <p:nvPr/>
        </p:nvGrpSpPr>
        <p:grpSpPr>
          <a:xfrm>
            <a:off x="136071" y="5764212"/>
            <a:ext cx="8421096" cy="1093788"/>
            <a:chOff x="723899" y="4849812"/>
            <a:chExt cx="8421096" cy="10937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BD04E6-6303-4D03-184E-C4D2103BB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3899" y="4849812"/>
              <a:ext cx="8421096" cy="104480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685286-C54B-1927-8970-2FCE3E074908}"/>
                </a:ext>
              </a:extLst>
            </p:cNvPr>
            <p:cNvSpPr/>
            <p:nvPr/>
          </p:nvSpPr>
          <p:spPr>
            <a:xfrm>
              <a:off x="7478486" y="5584371"/>
              <a:ext cx="1649185" cy="3592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D1B2145-8E64-D33A-7884-6FB0A19B2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71" y="4611520"/>
            <a:ext cx="4631872" cy="11006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922598-5F81-A89D-FAFE-9C04A7AA5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936" y="2118563"/>
            <a:ext cx="3389993" cy="35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7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1654-D37F-A86B-292A-26D5A5E5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5813" y="-1309234"/>
            <a:ext cx="10515600" cy="1325563"/>
          </a:xfrm>
        </p:spPr>
        <p:txBody>
          <a:bodyPr/>
          <a:lstStyle/>
          <a:p>
            <a:r>
              <a:rPr lang="en-US" dirty="0"/>
              <a:t>Applications of mixture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1C2A9-2CD6-832F-45C4-18487F310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942" y="404653"/>
            <a:ext cx="10515600" cy="6897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Can formulate mixture models for other distributions (e.g. Poisson)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2F243-9817-0934-7A47-9868EA75D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5503455"/>
            <a:ext cx="6388101" cy="135454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AE6513-02ED-E5DA-F3D3-2BE9048A3B9B}"/>
              </a:ext>
            </a:extLst>
          </p:cNvPr>
          <p:cNvSpPr txBox="1">
            <a:spLocks/>
          </p:cNvSpPr>
          <p:nvPr/>
        </p:nvSpPr>
        <p:spPr>
          <a:xfrm>
            <a:off x="152401" y="1152466"/>
            <a:ext cx="12360729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Used to be standard to model single cell data with a “zero inflated” distribution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= Mixture of a count distribution (</a:t>
            </a:r>
            <a:r>
              <a:rPr lang="en-US" dirty="0" err="1"/>
              <a:t>eg</a:t>
            </a:r>
            <a:r>
              <a:rPr lang="en-US" dirty="0"/>
              <a:t> Poisson, NB) with a “zero component”</a:t>
            </a:r>
          </a:p>
        </p:txBody>
      </p:sp>
      <p:pic>
        <p:nvPicPr>
          <p:cNvPr id="8" name="Picture 7" descr="png">
            <a:extLst>
              <a:ext uri="{FF2B5EF4-FFF2-40B4-BE49-F238E27FC236}">
                <a16:creationId xmlns:a16="http://schemas.microsoft.com/office/drawing/2014/main" id="{A1406B18-711D-2EA6-EEA0-A10C2E5EF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621" y="2230559"/>
            <a:ext cx="5098144" cy="31474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FEA0E0-A9DB-B1F0-183F-B224FA159DB1}"/>
                  </a:ext>
                </a:extLst>
              </p:cNvPr>
              <p:cNvSpPr txBox="1"/>
              <p:nvPr/>
            </p:nvSpPr>
            <p:spPr>
              <a:xfrm>
                <a:off x="6540502" y="2687993"/>
                <a:ext cx="5399314" cy="852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⋅1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𝑃𝑜𝑖𝑠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FEA0E0-A9DB-B1F0-183F-B224FA15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502" y="2687993"/>
                <a:ext cx="5399314" cy="852926"/>
              </a:xfrm>
              <a:prstGeom prst="rect">
                <a:avLst/>
              </a:prstGeom>
              <a:blipFill>
                <a:blip r:embed="rId4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CA3BB40-FF1A-79F1-C784-04814D76286C}"/>
              </a:ext>
            </a:extLst>
          </p:cNvPr>
          <p:cNvSpPr txBox="1"/>
          <p:nvPr/>
        </p:nvSpPr>
        <p:spPr>
          <a:xfrm>
            <a:off x="6841672" y="3852439"/>
            <a:ext cx="50981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Technology dependent – for 10x single cell technologies (which are most common), zero component not needed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B6A5A3-3B5C-7FE9-69E2-AFC8A36E1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609" y="5503455"/>
            <a:ext cx="42291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42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A126-A42E-BE52-1569-1E12E5A0A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3" y="46036"/>
            <a:ext cx="10515600" cy="1325563"/>
          </a:xfrm>
        </p:spPr>
        <p:txBody>
          <a:bodyPr/>
          <a:lstStyle/>
          <a:p>
            <a:r>
              <a:rPr lang="en-US" dirty="0"/>
              <a:t>Hidden Markov Random Field (HMRF)</a:t>
            </a:r>
          </a:p>
        </p:txBody>
      </p:sp>
      <p:grpSp>
        <p:nvGrpSpPr>
          <p:cNvPr id="6" name="Graph diagram">
            <a:extLst>
              <a:ext uri="{FF2B5EF4-FFF2-40B4-BE49-F238E27FC236}">
                <a16:creationId xmlns:a16="http://schemas.microsoft.com/office/drawing/2014/main" id="{5723EA60-D80B-72A1-7C99-12560FFFE311}"/>
              </a:ext>
            </a:extLst>
          </p:cNvPr>
          <p:cNvGrpSpPr/>
          <p:nvPr/>
        </p:nvGrpSpPr>
        <p:grpSpPr>
          <a:xfrm>
            <a:off x="-408214" y="2041071"/>
            <a:ext cx="8327571" cy="4816929"/>
            <a:chOff x="0" y="0"/>
            <a:chExt cx="12192000" cy="68580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F0431DA-4F3D-EE2E-B198-37848A11C755}"/>
                </a:ext>
              </a:extLst>
            </p:cNvPr>
            <p:cNvCxnSpPr>
              <a:stCxn id="36" idx="7"/>
              <a:endCxn id="37" idx="3"/>
            </p:cNvCxnSpPr>
            <p:nvPr/>
          </p:nvCxnSpPr>
          <p:spPr>
            <a:xfrm flipV="1">
              <a:off x="9264276" y="4406526"/>
              <a:ext cx="902448" cy="52144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CD175E-2696-C1F0-1F0E-DF46D96D3829}"/>
                </a:ext>
              </a:extLst>
            </p:cNvPr>
            <p:cNvCxnSpPr>
              <a:stCxn id="35" idx="6"/>
              <a:endCxn id="37" idx="2"/>
            </p:cNvCxnSpPr>
            <p:nvPr/>
          </p:nvCxnSpPr>
          <p:spPr>
            <a:xfrm>
              <a:off x="8115300" y="3714750"/>
              <a:ext cx="1962150" cy="476250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169D51-D82C-5BA9-C261-9A99AF7BDD08}"/>
                </a:ext>
              </a:extLst>
            </p:cNvPr>
            <p:cNvCxnSpPr>
              <a:stCxn id="35" idx="5"/>
              <a:endCxn id="36" idx="1"/>
            </p:cNvCxnSpPr>
            <p:nvPr/>
          </p:nvCxnSpPr>
          <p:spPr>
            <a:xfrm>
              <a:off x="8026026" y="3930276"/>
              <a:ext cx="807198" cy="99769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DF30B6E-AAC8-A8B9-48CA-8788D79C98C5}"/>
                </a:ext>
              </a:extLst>
            </p:cNvPr>
            <p:cNvCxnSpPr>
              <a:stCxn id="34" idx="6"/>
              <a:endCxn id="36" idx="3"/>
            </p:cNvCxnSpPr>
            <p:nvPr/>
          </p:nvCxnSpPr>
          <p:spPr>
            <a:xfrm flipV="1">
              <a:off x="7258050" y="5359026"/>
              <a:ext cx="1575174" cy="546474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B8D6FD2-68AD-2837-9660-49744D4DACF5}"/>
                </a:ext>
              </a:extLst>
            </p:cNvPr>
            <p:cNvCxnSpPr>
              <a:stCxn id="33" idx="6"/>
              <a:endCxn id="35" idx="3"/>
            </p:cNvCxnSpPr>
            <p:nvPr/>
          </p:nvCxnSpPr>
          <p:spPr>
            <a:xfrm flipV="1">
              <a:off x="6115050" y="3930276"/>
              <a:ext cx="1479924" cy="736974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AEBB8C2-F8E1-54FD-C26E-7F88383673BD}"/>
                </a:ext>
              </a:extLst>
            </p:cNvPr>
            <p:cNvCxnSpPr>
              <a:stCxn id="33" idx="5"/>
              <a:endCxn id="34" idx="1"/>
            </p:cNvCxnSpPr>
            <p:nvPr/>
          </p:nvCxnSpPr>
          <p:spPr>
            <a:xfrm>
              <a:off x="6025776" y="4882776"/>
              <a:ext cx="711948" cy="80719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5EE6D85-682F-3EB6-D8B9-4F8409357E4C}"/>
                </a:ext>
              </a:extLst>
            </p:cNvPr>
            <p:cNvCxnSpPr>
              <a:stCxn id="32" idx="6"/>
              <a:endCxn id="35" idx="2"/>
            </p:cNvCxnSpPr>
            <p:nvPr/>
          </p:nvCxnSpPr>
          <p:spPr>
            <a:xfrm>
              <a:off x="5067300" y="3333750"/>
              <a:ext cx="2438400" cy="381000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0C731C3-EAF7-5C93-0B7D-FAF594C2CD34}"/>
                </a:ext>
              </a:extLst>
            </p:cNvPr>
            <p:cNvCxnSpPr>
              <a:stCxn id="32" idx="5"/>
              <a:endCxn id="33" idx="1"/>
            </p:cNvCxnSpPr>
            <p:nvPr/>
          </p:nvCxnSpPr>
          <p:spPr>
            <a:xfrm>
              <a:off x="4978026" y="3549276"/>
              <a:ext cx="616698" cy="90244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66DB203-8B2C-C6BA-F8BC-9FD06FC024A1}"/>
                </a:ext>
              </a:extLst>
            </p:cNvPr>
            <p:cNvCxnSpPr>
              <a:stCxn id="31" idx="7"/>
              <a:endCxn id="33" idx="3"/>
            </p:cNvCxnSpPr>
            <p:nvPr/>
          </p:nvCxnSpPr>
          <p:spPr>
            <a:xfrm flipV="1">
              <a:off x="4025526" y="4882776"/>
              <a:ext cx="1569198" cy="61669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4C9F696-5A4E-A8B2-BF06-811F0ACFF0D9}"/>
                </a:ext>
              </a:extLst>
            </p:cNvPr>
            <p:cNvCxnSpPr>
              <a:stCxn id="30" idx="6"/>
              <a:endCxn id="32" idx="3"/>
            </p:cNvCxnSpPr>
            <p:nvPr/>
          </p:nvCxnSpPr>
          <p:spPr>
            <a:xfrm flipV="1">
              <a:off x="3067050" y="3549276"/>
              <a:ext cx="1479924" cy="736974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84E59C0-AD14-C1F2-1ADE-4F06020A8850}"/>
                </a:ext>
              </a:extLst>
            </p:cNvPr>
            <p:cNvCxnSpPr>
              <a:stCxn id="30" idx="5"/>
              <a:endCxn id="31" idx="1"/>
            </p:cNvCxnSpPr>
            <p:nvPr/>
          </p:nvCxnSpPr>
          <p:spPr>
            <a:xfrm>
              <a:off x="2977776" y="4501776"/>
              <a:ext cx="616698" cy="99769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C645D3F-D219-B7AA-5EA0-806F5621EAC6}"/>
                </a:ext>
              </a:extLst>
            </p:cNvPr>
            <p:cNvCxnSpPr>
              <a:stCxn id="29" idx="6"/>
              <a:endCxn id="31" idx="2"/>
            </p:cNvCxnSpPr>
            <p:nvPr/>
          </p:nvCxnSpPr>
          <p:spPr>
            <a:xfrm>
              <a:off x="1828800" y="5429250"/>
              <a:ext cx="1676400" cy="285750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2A89C61-1959-1A19-7D4C-39F3C0F516B0}"/>
                </a:ext>
              </a:extLst>
            </p:cNvPr>
            <p:cNvCxnSpPr>
              <a:stCxn id="29" idx="7"/>
              <a:endCxn id="30" idx="3"/>
            </p:cNvCxnSpPr>
            <p:nvPr/>
          </p:nvCxnSpPr>
          <p:spPr>
            <a:xfrm flipV="1">
              <a:off x="1739526" y="4501776"/>
              <a:ext cx="807198" cy="711948"/>
            </a:xfrm>
            <a:prstGeom prst="straightConnector1">
              <a:avLst/>
            </a:prstGeom>
            <a:ln w="30480">
              <a:solidFill>
                <a:srgbClr val="171717"/>
              </a:solidFill>
            </a:ln>
          </p:spPr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B461FBD-B99B-8572-CC19-44AD9D0EDFEB}"/>
                </a:ext>
              </a:extLst>
            </p:cNvPr>
            <p:cNvCxnSpPr>
              <a:stCxn id="37" idx="0"/>
              <a:endCxn id="46" idx="4"/>
            </p:cNvCxnSpPr>
            <p:nvPr/>
          </p:nvCxnSpPr>
          <p:spPr>
            <a:xfrm flipV="1">
              <a:off x="10382250" y="201930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7999B80-41FF-118E-D554-BF7F91319AC1}"/>
                </a:ext>
              </a:extLst>
            </p:cNvPr>
            <p:cNvCxnSpPr>
              <a:stCxn id="36" idx="0"/>
              <a:endCxn id="45" idx="4"/>
            </p:cNvCxnSpPr>
            <p:nvPr/>
          </p:nvCxnSpPr>
          <p:spPr>
            <a:xfrm flipV="1">
              <a:off x="9048750" y="297180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679ADC6-00C7-EA63-D841-50B582159760}"/>
                </a:ext>
              </a:extLst>
            </p:cNvPr>
            <p:cNvCxnSpPr>
              <a:stCxn id="35" idx="0"/>
              <a:endCxn id="44" idx="4"/>
            </p:cNvCxnSpPr>
            <p:nvPr/>
          </p:nvCxnSpPr>
          <p:spPr>
            <a:xfrm flipV="1">
              <a:off x="7810500" y="154305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8881708-200B-0322-A1D9-BC6F9CA845E5}"/>
                </a:ext>
              </a:extLst>
            </p:cNvPr>
            <p:cNvCxnSpPr>
              <a:stCxn id="34" idx="0"/>
              <a:endCxn id="43" idx="4"/>
            </p:cNvCxnSpPr>
            <p:nvPr/>
          </p:nvCxnSpPr>
          <p:spPr>
            <a:xfrm flipV="1">
              <a:off x="6953250" y="3067050"/>
              <a:ext cx="0" cy="253365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B783B4C-9A7A-04E7-A68A-863E0F1E2C62}"/>
                </a:ext>
              </a:extLst>
            </p:cNvPr>
            <p:cNvCxnSpPr>
              <a:stCxn id="33" idx="0"/>
              <a:endCxn id="42" idx="4"/>
            </p:cNvCxnSpPr>
            <p:nvPr/>
          </p:nvCxnSpPr>
          <p:spPr>
            <a:xfrm flipV="1">
              <a:off x="5810250" y="249555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98B10E3-8E64-E2E9-80F0-156E9F2B4F4B}"/>
                </a:ext>
              </a:extLst>
            </p:cNvPr>
            <p:cNvCxnSpPr>
              <a:stCxn id="32" idx="0"/>
              <a:endCxn id="41" idx="4"/>
            </p:cNvCxnSpPr>
            <p:nvPr/>
          </p:nvCxnSpPr>
          <p:spPr>
            <a:xfrm flipV="1">
              <a:off x="4762500" y="116205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E8B9287-A356-1B64-67B7-52C1B77E3E1D}"/>
                </a:ext>
              </a:extLst>
            </p:cNvPr>
            <p:cNvCxnSpPr>
              <a:stCxn id="31" idx="0"/>
              <a:endCxn id="40" idx="4"/>
            </p:cNvCxnSpPr>
            <p:nvPr/>
          </p:nvCxnSpPr>
          <p:spPr>
            <a:xfrm flipV="1">
              <a:off x="3810000" y="354330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7FE44A7-B44A-AE42-1689-7B1592CEE005}"/>
                </a:ext>
              </a:extLst>
            </p:cNvPr>
            <p:cNvCxnSpPr>
              <a:stCxn id="30" idx="0"/>
              <a:endCxn id="39" idx="4"/>
            </p:cNvCxnSpPr>
            <p:nvPr/>
          </p:nvCxnSpPr>
          <p:spPr>
            <a:xfrm flipV="1">
              <a:off x="2762250" y="211455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EA29EA1-F255-F85A-13B1-909BA927D8A4}"/>
                </a:ext>
              </a:extLst>
            </p:cNvPr>
            <p:cNvCxnSpPr>
              <a:stCxn id="29" idx="0"/>
              <a:endCxn id="38" idx="4"/>
            </p:cNvCxnSpPr>
            <p:nvPr/>
          </p:nvCxnSpPr>
          <p:spPr>
            <a:xfrm flipV="1">
              <a:off x="1524000" y="3257550"/>
              <a:ext cx="0" cy="1866900"/>
            </a:xfrm>
            <a:prstGeom prst="straightConnector1">
              <a:avLst/>
            </a:prstGeom>
            <a:ln w="26670">
              <a:solidFill>
                <a:srgbClr val="858585"/>
              </a:solidFill>
            </a:ln>
          </p:spPr>
        </p:cxnSp>
        <p:sp>
          <p:nvSpPr>
            <p:cNvPr id="29" name="z₁">
              <a:extLst>
                <a:ext uri="{FF2B5EF4-FFF2-40B4-BE49-F238E27FC236}">
                  <a16:creationId xmlns:a16="http://schemas.microsoft.com/office/drawing/2014/main" id="{392D2849-F09C-07E1-DB02-2514CF3AD8FA}"/>
                </a:ext>
              </a:extLst>
            </p:cNvPr>
            <p:cNvSpPr>
              <a:spLocks/>
            </p:cNvSpPr>
            <p:nvPr/>
          </p:nvSpPr>
          <p:spPr>
            <a:xfrm>
              <a:off x="1219200" y="512445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z₁</a:t>
              </a:r>
            </a:p>
          </p:txBody>
        </p:sp>
        <p:sp>
          <p:nvSpPr>
            <p:cNvPr id="30" name="z₂">
              <a:extLst>
                <a:ext uri="{FF2B5EF4-FFF2-40B4-BE49-F238E27FC236}">
                  <a16:creationId xmlns:a16="http://schemas.microsoft.com/office/drawing/2014/main" id="{DA9EC1F7-1136-7B6A-9487-5EFD3466ABA6}"/>
                </a:ext>
              </a:extLst>
            </p:cNvPr>
            <p:cNvSpPr>
              <a:spLocks/>
            </p:cNvSpPr>
            <p:nvPr/>
          </p:nvSpPr>
          <p:spPr>
            <a:xfrm>
              <a:off x="2457450" y="398145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z₂</a:t>
              </a:r>
            </a:p>
          </p:txBody>
        </p:sp>
        <p:sp>
          <p:nvSpPr>
            <p:cNvPr id="31" name="z₃">
              <a:extLst>
                <a:ext uri="{FF2B5EF4-FFF2-40B4-BE49-F238E27FC236}">
                  <a16:creationId xmlns:a16="http://schemas.microsoft.com/office/drawing/2014/main" id="{C79C97F9-880D-41F9-1D1C-DB5E99291EE3}"/>
                </a:ext>
              </a:extLst>
            </p:cNvPr>
            <p:cNvSpPr>
              <a:spLocks/>
            </p:cNvSpPr>
            <p:nvPr/>
          </p:nvSpPr>
          <p:spPr>
            <a:xfrm>
              <a:off x="3505200" y="541020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z₃</a:t>
              </a:r>
            </a:p>
          </p:txBody>
        </p:sp>
        <p:sp>
          <p:nvSpPr>
            <p:cNvPr id="32" name="z₄">
              <a:extLst>
                <a:ext uri="{FF2B5EF4-FFF2-40B4-BE49-F238E27FC236}">
                  <a16:creationId xmlns:a16="http://schemas.microsoft.com/office/drawing/2014/main" id="{809F1610-D572-528F-F014-7EA666F8BF00}"/>
                </a:ext>
              </a:extLst>
            </p:cNvPr>
            <p:cNvSpPr>
              <a:spLocks/>
            </p:cNvSpPr>
            <p:nvPr/>
          </p:nvSpPr>
          <p:spPr>
            <a:xfrm>
              <a:off x="4457700" y="302895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z₄</a:t>
              </a:r>
            </a:p>
          </p:txBody>
        </p:sp>
        <p:sp>
          <p:nvSpPr>
            <p:cNvPr id="33" name="z₅">
              <a:extLst>
                <a:ext uri="{FF2B5EF4-FFF2-40B4-BE49-F238E27FC236}">
                  <a16:creationId xmlns:a16="http://schemas.microsoft.com/office/drawing/2014/main" id="{3B9930B2-EC49-CA2C-1C83-3B6DBAFA32C5}"/>
                </a:ext>
              </a:extLst>
            </p:cNvPr>
            <p:cNvSpPr>
              <a:spLocks/>
            </p:cNvSpPr>
            <p:nvPr/>
          </p:nvSpPr>
          <p:spPr>
            <a:xfrm>
              <a:off x="5505450" y="436245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z₅</a:t>
              </a:r>
            </a:p>
          </p:txBody>
        </p:sp>
        <p:sp>
          <p:nvSpPr>
            <p:cNvPr id="34" name="z₆">
              <a:extLst>
                <a:ext uri="{FF2B5EF4-FFF2-40B4-BE49-F238E27FC236}">
                  <a16:creationId xmlns:a16="http://schemas.microsoft.com/office/drawing/2014/main" id="{4F0CDF0C-7050-B6D7-F74C-EAD866FEA178}"/>
                </a:ext>
              </a:extLst>
            </p:cNvPr>
            <p:cNvSpPr>
              <a:spLocks/>
            </p:cNvSpPr>
            <p:nvPr/>
          </p:nvSpPr>
          <p:spPr>
            <a:xfrm>
              <a:off x="6648450" y="560070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z₆</a:t>
              </a:r>
            </a:p>
          </p:txBody>
        </p:sp>
        <p:sp>
          <p:nvSpPr>
            <p:cNvPr id="35" name="z₇">
              <a:extLst>
                <a:ext uri="{FF2B5EF4-FFF2-40B4-BE49-F238E27FC236}">
                  <a16:creationId xmlns:a16="http://schemas.microsoft.com/office/drawing/2014/main" id="{64E9E75F-2F44-661A-BB2B-F2C666AC0C91}"/>
                </a:ext>
              </a:extLst>
            </p:cNvPr>
            <p:cNvSpPr>
              <a:spLocks/>
            </p:cNvSpPr>
            <p:nvPr/>
          </p:nvSpPr>
          <p:spPr>
            <a:xfrm>
              <a:off x="7505700" y="340995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z₇</a:t>
              </a:r>
            </a:p>
          </p:txBody>
        </p:sp>
        <p:sp>
          <p:nvSpPr>
            <p:cNvPr id="36" name="z₈">
              <a:extLst>
                <a:ext uri="{FF2B5EF4-FFF2-40B4-BE49-F238E27FC236}">
                  <a16:creationId xmlns:a16="http://schemas.microsoft.com/office/drawing/2014/main" id="{FBEC9992-8A6A-F2F8-27E1-E627E8BF7632}"/>
                </a:ext>
              </a:extLst>
            </p:cNvPr>
            <p:cNvSpPr>
              <a:spLocks/>
            </p:cNvSpPr>
            <p:nvPr/>
          </p:nvSpPr>
          <p:spPr>
            <a:xfrm>
              <a:off x="8743950" y="483870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 dirty="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z₈</a:t>
              </a:r>
            </a:p>
          </p:txBody>
        </p:sp>
        <p:sp>
          <p:nvSpPr>
            <p:cNvPr id="37" name="z₉">
              <a:extLst>
                <a:ext uri="{FF2B5EF4-FFF2-40B4-BE49-F238E27FC236}">
                  <a16:creationId xmlns:a16="http://schemas.microsoft.com/office/drawing/2014/main" id="{626906F7-EA94-BD1C-6AC7-1764748D91BC}"/>
                </a:ext>
              </a:extLst>
            </p:cNvPr>
            <p:cNvSpPr>
              <a:spLocks/>
            </p:cNvSpPr>
            <p:nvPr/>
          </p:nvSpPr>
          <p:spPr>
            <a:xfrm>
              <a:off x="10077450" y="3886200"/>
              <a:ext cx="609600" cy="609600"/>
            </a:xfrm>
            <a:prstGeom prst="ellipse">
              <a:avLst/>
            </a:prstGeom>
            <a:solidFill>
              <a:srgbClr val="FF8086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z₉</a:t>
              </a:r>
            </a:p>
          </p:txBody>
        </p:sp>
        <p:sp>
          <p:nvSpPr>
            <p:cNvPr id="38" name="x₁">
              <a:extLst>
                <a:ext uri="{FF2B5EF4-FFF2-40B4-BE49-F238E27FC236}">
                  <a16:creationId xmlns:a16="http://schemas.microsoft.com/office/drawing/2014/main" id="{DF35537F-CA0B-EA0E-A99B-AEE0EE94ADE9}"/>
                </a:ext>
              </a:extLst>
            </p:cNvPr>
            <p:cNvSpPr>
              <a:spLocks/>
            </p:cNvSpPr>
            <p:nvPr/>
          </p:nvSpPr>
          <p:spPr>
            <a:xfrm>
              <a:off x="1219200" y="26479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x₁</a:t>
              </a:r>
            </a:p>
          </p:txBody>
        </p:sp>
        <p:sp>
          <p:nvSpPr>
            <p:cNvPr id="39" name="x₂">
              <a:extLst>
                <a:ext uri="{FF2B5EF4-FFF2-40B4-BE49-F238E27FC236}">
                  <a16:creationId xmlns:a16="http://schemas.microsoft.com/office/drawing/2014/main" id="{08F7391B-E366-DA51-5FDB-51ABD17A5F7F}"/>
                </a:ext>
              </a:extLst>
            </p:cNvPr>
            <p:cNvSpPr>
              <a:spLocks/>
            </p:cNvSpPr>
            <p:nvPr/>
          </p:nvSpPr>
          <p:spPr>
            <a:xfrm>
              <a:off x="2457450" y="15049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x₂</a:t>
              </a:r>
            </a:p>
          </p:txBody>
        </p:sp>
        <p:sp>
          <p:nvSpPr>
            <p:cNvPr id="40" name="x₃">
              <a:extLst>
                <a:ext uri="{FF2B5EF4-FFF2-40B4-BE49-F238E27FC236}">
                  <a16:creationId xmlns:a16="http://schemas.microsoft.com/office/drawing/2014/main" id="{0CCD320F-11A3-9425-0E97-B6301D943813}"/>
                </a:ext>
              </a:extLst>
            </p:cNvPr>
            <p:cNvSpPr>
              <a:spLocks/>
            </p:cNvSpPr>
            <p:nvPr/>
          </p:nvSpPr>
          <p:spPr>
            <a:xfrm>
              <a:off x="3505200" y="293370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x₃</a:t>
              </a:r>
            </a:p>
          </p:txBody>
        </p:sp>
        <p:sp>
          <p:nvSpPr>
            <p:cNvPr id="41" name="x₄">
              <a:extLst>
                <a:ext uri="{FF2B5EF4-FFF2-40B4-BE49-F238E27FC236}">
                  <a16:creationId xmlns:a16="http://schemas.microsoft.com/office/drawing/2014/main" id="{60EC1861-CB7F-5280-7CEF-EA3AEA292366}"/>
                </a:ext>
              </a:extLst>
            </p:cNvPr>
            <p:cNvSpPr>
              <a:spLocks/>
            </p:cNvSpPr>
            <p:nvPr/>
          </p:nvSpPr>
          <p:spPr>
            <a:xfrm>
              <a:off x="4457700" y="5524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x₄</a:t>
              </a:r>
            </a:p>
          </p:txBody>
        </p:sp>
        <p:sp>
          <p:nvSpPr>
            <p:cNvPr id="42" name="x₅">
              <a:extLst>
                <a:ext uri="{FF2B5EF4-FFF2-40B4-BE49-F238E27FC236}">
                  <a16:creationId xmlns:a16="http://schemas.microsoft.com/office/drawing/2014/main" id="{F906FD50-6121-0DF3-2C2D-E4B4623D3552}"/>
                </a:ext>
              </a:extLst>
            </p:cNvPr>
            <p:cNvSpPr>
              <a:spLocks/>
            </p:cNvSpPr>
            <p:nvPr/>
          </p:nvSpPr>
          <p:spPr>
            <a:xfrm>
              <a:off x="5505450" y="18859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x₅</a:t>
              </a:r>
            </a:p>
          </p:txBody>
        </p:sp>
        <p:sp>
          <p:nvSpPr>
            <p:cNvPr id="43" name="x₆">
              <a:extLst>
                <a:ext uri="{FF2B5EF4-FFF2-40B4-BE49-F238E27FC236}">
                  <a16:creationId xmlns:a16="http://schemas.microsoft.com/office/drawing/2014/main" id="{FD3ED0C6-17B0-340B-FC37-3A7EBF7CF2E4}"/>
                </a:ext>
              </a:extLst>
            </p:cNvPr>
            <p:cNvSpPr>
              <a:spLocks/>
            </p:cNvSpPr>
            <p:nvPr/>
          </p:nvSpPr>
          <p:spPr>
            <a:xfrm>
              <a:off x="6648450" y="24574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x₆</a:t>
              </a:r>
            </a:p>
          </p:txBody>
        </p:sp>
        <p:sp>
          <p:nvSpPr>
            <p:cNvPr id="44" name="x₇">
              <a:extLst>
                <a:ext uri="{FF2B5EF4-FFF2-40B4-BE49-F238E27FC236}">
                  <a16:creationId xmlns:a16="http://schemas.microsoft.com/office/drawing/2014/main" id="{BAF4B5B7-321C-3A00-510F-10F46331E16C}"/>
                </a:ext>
              </a:extLst>
            </p:cNvPr>
            <p:cNvSpPr>
              <a:spLocks/>
            </p:cNvSpPr>
            <p:nvPr/>
          </p:nvSpPr>
          <p:spPr>
            <a:xfrm>
              <a:off x="7505700" y="93345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x₇</a:t>
              </a:r>
            </a:p>
          </p:txBody>
        </p:sp>
        <p:sp>
          <p:nvSpPr>
            <p:cNvPr id="45" name="x₈">
              <a:extLst>
                <a:ext uri="{FF2B5EF4-FFF2-40B4-BE49-F238E27FC236}">
                  <a16:creationId xmlns:a16="http://schemas.microsoft.com/office/drawing/2014/main" id="{B2492B41-38C8-FCBC-AF17-671F5DA8F327}"/>
                </a:ext>
              </a:extLst>
            </p:cNvPr>
            <p:cNvSpPr>
              <a:spLocks/>
            </p:cNvSpPr>
            <p:nvPr/>
          </p:nvSpPr>
          <p:spPr>
            <a:xfrm>
              <a:off x="8743950" y="236220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x₈</a:t>
              </a:r>
            </a:p>
          </p:txBody>
        </p:sp>
        <p:sp>
          <p:nvSpPr>
            <p:cNvPr id="46" name="x₉">
              <a:extLst>
                <a:ext uri="{FF2B5EF4-FFF2-40B4-BE49-F238E27FC236}">
                  <a16:creationId xmlns:a16="http://schemas.microsoft.com/office/drawing/2014/main" id="{20934574-C065-7E3B-83D6-2DC06F9F0711}"/>
                </a:ext>
              </a:extLst>
            </p:cNvPr>
            <p:cNvSpPr>
              <a:spLocks/>
            </p:cNvSpPr>
            <p:nvPr/>
          </p:nvSpPr>
          <p:spPr>
            <a:xfrm>
              <a:off x="10077450" y="1409700"/>
              <a:ext cx="609600" cy="609600"/>
            </a:xfrm>
            <a:prstGeom prst="ellipse">
              <a:avLst/>
            </a:prstGeom>
            <a:solidFill>
              <a:srgbClr val="82C9F4"/>
            </a:solidFill>
            <a:ln w="23813">
              <a:solidFill>
                <a:srgbClr val="818181"/>
              </a:solidFill>
            </a:ln>
          </p:spPr>
          <p:txBody>
            <a:bodyPr wrap="none" lIns="0" tIns="0" rIns="0" bIns="0" anchor="ctr"/>
            <a:lstStyle>
              <a:def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2250">
                  <a:solidFill>
                    <a:srgbClr val="202020"/>
                  </a:solidFill>
                  <a:latin typeface="Arial"/>
                  <a:ea typeface="Arial"/>
                  <a:cs typeface="Arial"/>
                </a:defRPr>
              </a:pPr>
              <a:r>
                <a:rPr sz="2250">
                  <a:solidFill>
                    <a:srgbClr val="202020"/>
                  </a:solidFill>
                  <a:latin typeface="Arial"/>
                  <a:ea typeface="Arial"/>
                  <a:cs typeface="Arial"/>
                </a:rPr>
                <a:t>x₉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F2E2D284-F871-CC8C-0341-A642E412B83E}"/>
              </a:ext>
            </a:extLst>
          </p:cNvPr>
          <p:cNvSpPr txBox="1"/>
          <p:nvPr/>
        </p:nvSpPr>
        <p:spPr>
          <a:xfrm>
            <a:off x="6470963" y="5585493"/>
            <a:ext cx="24439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Hidden variables Z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3C251B-156D-6273-21C9-65A2576639E2}"/>
              </a:ext>
            </a:extLst>
          </p:cNvPr>
          <p:cNvSpPr txBox="1"/>
          <p:nvPr/>
        </p:nvSpPr>
        <p:spPr>
          <a:xfrm>
            <a:off x="552578" y="1208558"/>
            <a:ext cx="110171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Extension where (hidden) cluster labels Z are not independent but follow a “graph structure”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39A9AD-556F-C51C-4A8E-EC514B9D5306}"/>
              </a:ext>
            </a:extLst>
          </p:cNvPr>
          <p:cNvSpPr txBox="1"/>
          <p:nvPr/>
        </p:nvSpPr>
        <p:spPr>
          <a:xfrm>
            <a:off x="7057176" y="2881317"/>
            <a:ext cx="21879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Observed data X</a:t>
            </a:r>
          </a:p>
        </p:txBody>
      </p:sp>
    </p:spTree>
    <p:extLst>
      <p:ext uri="{BB962C8B-B14F-4D97-AF65-F5344CB8AC3E}">
        <p14:creationId xmlns:p14="http://schemas.microsoft.com/office/powerpoint/2010/main" val="2031186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3886-3271-0302-6823-B9180E5D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04" y="-83229"/>
            <a:ext cx="10515600" cy="1325563"/>
          </a:xfrm>
        </p:spPr>
        <p:txBody>
          <a:bodyPr/>
          <a:lstStyle/>
          <a:p>
            <a:r>
              <a:rPr lang="en-US" dirty="0"/>
              <a:t>HMRFs used for spatial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CE1F6-E150-D741-64DB-C25ACF5EB099}"/>
              </a:ext>
            </a:extLst>
          </p:cNvPr>
          <p:cNvSpPr txBox="1"/>
          <p:nvPr/>
        </p:nvSpPr>
        <p:spPr>
          <a:xfrm>
            <a:off x="2694214" y="5420732"/>
            <a:ext cx="49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SpiceMix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(Chidester et al, Nat Genet 2023)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93E521-9FA7-27DB-0BC0-0FA1A86BEA0F}"/>
              </a:ext>
            </a:extLst>
          </p:cNvPr>
          <p:cNvGrpSpPr/>
          <p:nvPr/>
        </p:nvGrpSpPr>
        <p:grpSpPr>
          <a:xfrm>
            <a:off x="561293" y="1619477"/>
            <a:ext cx="11342235" cy="3167743"/>
            <a:chOff x="398008" y="2343831"/>
            <a:chExt cx="9856334" cy="2701698"/>
          </a:xfrm>
        </p:grpSpPr>
        <p:pic>
          <p:nvPicPr>
            <p:cNvPr id="4" name="Picture 3" descr="Fig. 1: Overview of SpiceMix.">
              <a:extLst>
                <a:ext uri="{FF2B5EF4-FFF2-40B4-BE49-F238E27FC236}">
                  <a16:creationId xmlns:a16="http://schemas.microsoft.com/office/drawing/2014/main" id="{3FE35EBF-1524-D520-D124-E842ED099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008" y="2343831"/>
              <a:ext cx="9856334" cy="257556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FA28FE-F2F4-F98B-4037-57D4097B3AE1}"/>
                </a:ext>
              </a:extLst>
            </p:cNvPr>
            <p:cNvSpPr/>
            <p:nvPr/>
          </p:nvSpPr>
          <p:spPr>
            <a:xfrm>
              <a:off x="5489461" y="2628900"/>
              <a:ext cx="2008414" cy="2416629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247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8E9D-2AED-FB10-113A-B34A8606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5444D-4BC4-B966-C47C-B4F6472A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04" y="-83229"/>
            <a:ext cx="10515600" cy="1325563"/>
          </a:xfrm>
        </p:spPr>
        <p:txBody>
          <a:bodyPr/>
          <a:lstStyle/>
          <a:p>
            <a:r>
              <a:rPr lang="en-US" dirty="0"/>
              <a:t>HMRFs used for spatial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E3A53-A2F2-76D9-87C3-8C712402F8DF}"/>
              </a:ext>
            </a:extLst>
          </p:cNvPr>
          <p:cNvSpPr txBox="1"/>
          <p:nvPr/>
        </p:nvSpPr>
        <p:spPr>
          <a:xfrm>
            <a:off x="619938" y="6158941"/>
            <a:ext cx="4963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CalicoST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(Ma et al, Nat Methods 2025)</a:t>
            </a:r>
          </a:p>
        </p:txBody>
      </p:sp>
      <p:pic>
        <p:nvPicPr>
          <p:cNvPr id="3" name="Picture 2" descr="Fig. 1: CalicoST infers allele-specific copy numbers and a phylogeography of a tumor from one or more SRT samples from the same patient.">
            <a:extLst>
              <a:ext uri="{FF2B5EF4-FFF2-40B4-BE49-F238E27FC236}">
                <a16:creationId xmlns:a16="http://schemas.microsoft.com/office/drawing/2014/main" id="{CA02AA6C-BDC8-E110-3910-E2A02F457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99" y="1153734"/>
            <a:ext cx="10287340" cy="43409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FC61B0-C852-5072-9C6D-75096BA84D63}"/>
              </a:ext>
            </a:extLst>
          </p:cNvPr>
          <p:cNvSpPr/>
          <p:nvPr/>
        </p:nvSpPr>
        <p:spPr>
          <a:xfrm>
            <a:off x="4940403" y="3429000"/>
            <a:ext cx="2178854" cy="181247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55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6A988-ABC0-9DE4-8C06-5196FE57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Graph</a:t>
            </a:r>
            <a:r>
              <a:rPr lang="en-US" dirty="0"/>
              <a:t> clustering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38057-BDA9-4462-0C76-81CF31CE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637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if it’s hard to create distance function?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 we want to represent underlying manifold? (e.g. for single cell data)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we find clusters in the graph?</a:t>
            </a:r>
          </a:p>
        </p:txBody>
      </p:sp>
      <p:pic>
        <p:nvPicPr>
          <p:cNvPr id="5" name="Picture 4" descr="Graph Clustering Algorithms: Unveiling Network Patterns">
            <a:extLst>
              <a:ext uri="{FF2B5EF4-FFF2-40B4-BE49-F238E27FC236}">
                <a16:creationId xmlns:a16="http://schemas.microsoft.com/office/drawing/2014/main" id="{26FD2EA4-1414-B4F9-2120-191E5F134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1" y="2100613"/>
            <a:ext cx="4445141" cy="380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77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6476</TotalTime>
  <Words>496</Words>
  <Application>Microsoft Macintosh PowerPoint</Application>
  <PresentationFormat>Widescreen</PresentationFormat>
  <Paragraphs>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(Graph) clustering, cont’d</vt:lpstr>
      <vt:lpstr>Today: (graph)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choose number K of clusters?</vt:lpstr>
      <vt:lpstr>How to initialize cluster centroids wk?</vt:lpstr>
      <vt:lpstr>Mini-batch K-means updates parameters from random sample of datapoints (“mini-batch”)</vt:lpstr>
      <vt:lpstr>Hard versus soft clustering [see board]</vt:lpstr>
      <vt:lpstr>PowerPoint Presentation</vt:lpstr>
      <vt:lpstr>PowerPoint Presentation</vt:lpstr>
      <vt:lpstr>Gaussian mixture model examples</vt:lpstr>
      <vt:lpstr>GMMs often used for clustering latent embeddings from neural networks</vt:lpstr>
      <vt:lpstr>Applications of mixture models</vt:lpstr>
      <vt:lpstr>Hidden Markov Random Field (HMRF)</vt:lpstr>
      <vt:lpstr>HMRFs used for spatial analysis</vt:lpstr>
      <vt:lpstr>HMRFs used for spatial analysis</vt:lpstr>
      <vt:lpstr>Graph clustering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24</cp:revision>
  <dcterms:created xsi:type="dcterms:W3CDTF">2026-08-21T16:27:19Z</dcterms:created>
  <dcterms:modified xsi:type="dcterms:W3CDTF">2026-10-30T03:02:37Z</dcterms:modified>
</cp:coreProperties>
</file>
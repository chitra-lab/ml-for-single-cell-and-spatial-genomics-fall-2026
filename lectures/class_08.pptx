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347" r:id="rId3"/>
    <p:sldId id="268" r:id="rId4"/>
    <p:sldId id="272" r:id="rId5"/>
    <p:sldId id="274" r:id="rId6"/>
    <p:sldId id="276" r:id="rId7"/>
    <p:sldId id="277" r:id="rId8"/>
    <p:sldId id="278" r:id="rId9"/>
    <p:sldId id="273" r:id="rId10"/>
    <p:sldId id="349" r:id="rId11"/>
    <p:sldId id="350" r:id="rId12"/>
    <p:sldId id="290" r:id="rId13"/>
    <p:sldId id="281" r:id="rId14"/>
    <p:sldId id="282" r:id="rId15"/>
    <p:sldId id="355" r:id="rId16"/>
    <p:sldId id="291" r:id="rId17"/>
    <p:sldId id="283" r:id="rId18"/>
    <p:sldId id="284" r:id="rId19"/>
    <p:sldId id="293" r:id="rId20"/>
    <p:sldId id="294" r:id="rId21"/>
    <p:sldId id="296" r:id="rId22"/>
    <p:sldId id="295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333" r:id="rId33"/>
    <p:sldId id="324" r:id="rId34"/>
    <p:sldId id="325" r:id="rId35"/>
    <p:sldId id="326" r:id="rId36"/>
    <p:sldId id="327" r:id="rId37"/>
    <p:sldId id="334" r:id="rId38"/>
    <p:sldId id="331" r:id="rId39"/>
    <p:sldId id="328" r:id="rId40"/>
    <p:sldId id="352" r:id="rId41"/>
    <p:sldId id="353" r:id="rId42"/>
    <p:sldId id="329" r:id="rId43"/>
    <p:sldId id="351" r:id="rId44"/>
    <p:sldId id="332" r:id="rId45"/>
    <p:sldId id="330" r:id="rId46"/>
    <p:sldId id="354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927"/>
    <p:restoredTop sz="94702"/>
  </p:normalViewPr>
  <p:slideViewPr>
    <p:cSldViewPr snapToGrid="0">
      <p:cViewPr varScale="1">
        <p:scale>
          <a:sx n="95" d="100"/>
          <a:sy n="95" d="100"/>
        </p:scale>
        <p:origin x="256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B0B4D-6D3F-8244-87C0-579610B049E5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2BAE72-EA60-2445-85D5-981380305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425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2BAE72-EA60-2445-85D5-981380305E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36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A8771-F478-D89A-5304-CC6A39EFAE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3995E2-FDE2-3556-92D3-989AB574A7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E063E-5EF6-C02F-EDF0-A66C02492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F8F8A-5F2D-7E44-BAAE-26FE84AF89A7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258C8-00C5-870E-9A44-C15C64FB9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C99D3-B6E9-63DC-2569-74ED26C30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0E4E-BC19-EC42-9E65-544B0CC90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897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AA19E-867F-E54C-E2C2-C8A952116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A4943-0CB9-DCF3-023F-357F294FC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FB7C3-C437-4404-709C-A879CAABC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F8F8A-5F2D-7E44-BAAE-26FE84AF89A7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8C1D9-9368-D8A7-AC21-EDFAE2DD8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7AD35-8E94-AB57-774E-5C3283DAC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0E4E-BC19-EC42-9E65-544B0CC90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627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941A3-DF37-D6CC-469C-FE3CD9793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72666-ACE4-32E9-A74E-98C9B1266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AF3FF-739A-4FD2-3967-41C54EA77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F8F8A-5F2D-7E44-BAAE-26FE84AF89A7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65E21-8A0B-7901-78B9-6D19544E4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8C5DC-E731-1F2D-F645-78B9AEC6D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0E4E-BC19-EC42-9E65-544B0CC90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83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9474D-36F7-CD7B-6D94-6EE386ED5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BEE3F-80DD-5497-321B-708A259DB7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DB0CA0-ABA6-024C-BF33-22F74D4DA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F80811-76E6-8CE3-04F1-30656A09E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F8F8A-5F2D-7E44-BAAE-26FE84AF89A7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A8362-8AF0-0E84-B9A5-39736EE43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91117-5A67-8FD3-2338-99ED15746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0E4E-BC19-EC42-9E65-544B0CC90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063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02607-4C9D-9C44-0F8B-9587B2EDC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5F20E-C1DE-75B3-80FF-8DDB7C017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E6726-B1C0-D9A9-9592-42D506D02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B5772A-5E06-5A50-3946-BD17C400BD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2CD401-BB93-3D55-6E51-05528B519E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370434-C2E9-DA2D-E242-504AC32F8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F8F8A-5F2D-7E44-BAAE-26FE84AF89A7}" type="datetimeFigureOut">
              <a:rPr lang="en-US" smtClean="0"/>
              <a:t>9/27/26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FD4381-0C80-20B0-F3EB-1D83B19D4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22A540-DD0D-ED7A-B1FD-191B72CEA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0E4E-BC19-EC42-9E65-544B0CC90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156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FF5F5-2232-497A-CAF2-764DFC379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10604A-3F96-397F-E06E-349448BF3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F8F8A-5F2D-7E44-BAAE-26FE84AF89A7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C5AF4D-75CD-3267-989B-53E1401D6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3238F7-FB75-EC14-C8EA-160CF4885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0E4E-BC19-EC42-9E65-544B0CC90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29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2B844E-2488-688B-EF16-61EBC9A26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F8F8A-5F2D-7E44-BAAE-26FE84AF89A7}" type="datetimeFigureOut">
              <a:rPr lang="en-US" smtClean="0"/>
              <a:t>9/27/26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ABA84F-20D5-E5F7-B5BB-A1195917A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92464-36C6-BD54-BB63-9897A9081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0E4E-BC19-EC42-9E65-544B0CC90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268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461BF-7D53-77B5-F752-E6B43D508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0D98F-8622-D454-99C3-A5048BF6A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286BF8-E597-E4D6-EE7F-354BA938A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1682EE-E4D7-4C11-E3F3-681149591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F8F8A-5F2D-7E44-BAAE-26FE84AF89A7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BA7466-78B7-6BC2-907A-AC26D17D2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417866-2B16-BF62-BDD2-EF675765D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0E4E-BC19-EC42-9E65-544B0CC90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864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746C0-7F89-D923-A581-8B2EE54F4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8648E5-EFE4-4806-E6A6-823970DB29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D3D808-1E4D-549B-759D-C4A7480BF8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949699-5893-9DAA-8A60-F20CE0528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F8F8A-5F2D-7E44-BAAE-26FE84AF89A7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D520E9-B8ED-D00A-CA91-C512C3ED1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02B1A-0E78-4B50-CE90-8BFFEF90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0E4E-BC19-EC42-9E65-544B0CC90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398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1E56F-AD8C-E0BD-06F7-457F308A0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B4C4CE-0A72-5E60-5CF2-6A674ADDF3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BB08E-73A7-EAC6-1E5A-F93E57CBD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F8F8A-5F2D-7E44-BAAE-26FE84AF89A7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F5CC0-2FE6-D8E7-4F2A-3110A5E38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5A4AB-C7B1-7370-464E-8091BCFD0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0E4E-BC19-EC42-9E65-544B0CC90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175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186A45-F41A-480E-C4AD-D71FC57E78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F669AF-4287-23C8-2365-BEFFDA1D8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EB778-C575-9E1B-466A-C41109927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F8F8A-5F2D-7E44-BAAE-26FE84AF89A7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C9A35-7BC4-F0D0-88D7-1A73E5E79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CF705-A22E-F00C-5057-950957AED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0E4E-BC19-EC42-9E65-544B0CC90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802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89A19-02E4-0E74-1424-F0E5B3C36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CA431-A761-C700-1232-3E32CE74F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0CB50-8CF5-BCFF-5970-4B0B0CCF6E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1F8F8A-5F2D-7E44-BAAE-26FE84AF89A7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27914-44C6-73EB-BCCD-1438DADFC6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1178E-D010-7835-C5EB-46DEA0D98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430E4E-BC19-EC42-9E65-544B0CC90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061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28.png"/><Relationship Id="rId9" Type="http://schemas.openxmlformats.org/officeDocument/2006/relationships/image" Target="../media/image10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visionbook.mit.edu/representation_learning.html#sec-representation_learning-contrastive_learning" TargetMode="Externa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A3047-E9EF-281C-AEB6-1166D431F9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1511" y="1041400"/>
            <a:ext cx="10588978" cy="2387600"/>
          </a:xfrm>
        </p:spPr>
        <p:txBody>
          <a:bodyPr>
            <a:normAutofit/>
          </a:bodyPr>
          <a:lstStyle/>
          <a:p>
            <a:r>
              <a:rPr lang="en-US" sz="4500" dirty="0"/>
              <a:t>Representation learning: autoencoders, contrastive learning, and foundation models</a:t>
            </a:r>
            <a:br>
              <a:rPr lang="en-US" sz="4500" dirty="0"/>
            </a:br>
            <a:r>
              <a:rPr lang="en-US" sz="4500" dirty="0"/>
              <a:t>Part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BA41A6-BB6F-B733-B8CB-FD56B32C54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Uthsav Chitra</a:t>
            </a:r>
          </a:p>
        </p:txBody>
      </p:sp>
    </p:spTree>
    <p:extLst>
      <p:ext uri="{BB962C8B-B14F-4D97-AF65-F5344CB8AC3E}">
        <p14:creationId xmlns:p14="http://schemas.microsoft.com/office/powerpoint/2010/main" val="2579107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2FEE3-1F5B-44D0-9E9A-BB62532F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CB7A76-9EAC-B135-ABC6-226C4F0C591C}"/>
              </a:ext>
            </a:extLst>
          </p:cNvPr>
          <p:cNvSpPr txBox="1"/>
          <p:nvPr/>
        </p:nvSpPr>
        <p:spPr>
          <a:xfrm>
            <a:off x="233516" y="235974"/>
            <a:ext cx="11724968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/>
              <a:t>Last time: autoencoders</a:t>
            </a:r>
          </a:p>
        </p:txBody>
      </p:sp>
      <p:pic>
        <p:nvPicPr>
          <p:cNvPr id="4" name="Picture 2" descr="From Autoencoder to Beta-VAE | Lil'Log">
            <a:extLst>
              <a:ext uri="{FF2B5EF4-FFF2-40B4-BE49-F238E27FC236}">
                <a16:creationId xmlns:a16="http://schemas.microsoft.com/office/drawing/2014/main" id="{C46DA38B-1770-4549-AAA6-6823A0BDE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473" y="866916"/>
            <a:ext cx="9136179" cy="425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53F115-9FCD-C2DA-B109-EF5DB8E4EA53}"/>
              </a:ext>
            </a:extLst>
          </p:cNvPr>
          <p:cNvSpPr txBox="1"/>
          <p:nvPr/>
        </p:nvSpPr>
        <p:spPr>
          <a:xfrm>
            <a:off x="233516" y="5526158"/>
            <a:ext cx="399102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Given data </a:t>
            </a:r>
            <a:r>
              <a:rPr lang="en-US" sz="2500" b="1" dirty="0"/>
              <a:t>x</a:t>
            </a:r>
            <a:r>
              <a:rPr lang="en-US" sz="2500" baseline="-25000" dirty="0"/>
              <a:t>1</a:t>
            </a:r>
            <a:r>
              <a:rPr lang="en-US" sz="2500" dirty="0"/>
              <a:t>, …, </a:t>
            </a:r>
            <a:r>
              <a:rPr lang="en-US" sz="2500" b="1" dirty="0" err="1"/>
              <a:t>x</a:t>
            </a:r>
            <a:r>
              <a:rPr lang="en-US" sz="2500" baseline="-25000" dirty="0" err="1"/>
              <a:t>N</a:t>
            </a:r>
            <a:r>
              <a:rPr lang="en-US" sz="2500" dirty="0"/>
              <a:t>, solve: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F84757-D3D4-90C3-E246-7E89346080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8411" y="5464752"/>
            <a:ext cx="5080000" cy="13335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83ED053-B0CC-3020-B37E-7173F3ACB96D}"/>
              </a:ext>
            </a:extLst>
          </p:cNvPr>
          <p:cNvCxnSpPr/>
          <p:nvPr/>
        </p:nvCxnSpPr>
        <p:spPr>
          <a:xfrm>
            <a:off x="2451652" y="6453809"/>
            <a:ext cx="1772893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CA034F7-5B44-2359-22D4-39680EEE41F4}"/>
              </a:ext>
            </a:extLst>
          </p:cNvPr>
          <p:cNvSpPr txBox="1"/>
          <p:nvPr/>
        </p:nvSpPr>
        <p:spPr>
          <a:xfrm>
            <a:off x="887897" y="6151921"/>
            <a:ext cx="1881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Weights of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2647144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97BD5-913F-A96F-B3E4-A9A5DE72E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607" y="61368"/>
            <a:ext cx="12067822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Autoencoder latent space is hard to interpret</a:t>
            </a: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303FBFEE-9F7E-A376-1D69-99A302151F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790" r="21179"/>
          <a:stretch>
            <a:fillRect/>
          </a:stretch>
        </p:blipFill>
        <p:spPr>
          <a:xfrm>
            <a:off x="1320397" y="3429000"/>
            <a:ext cx="4200272" cy="19716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D67F74-89DF-4F87-283A-41E9C99A044A}"/>
              </a:ext>
            </a:extLst>
          </p:cNvPr>
          <p:cNvSpPr txBox="1"/>
          <p:nvPr/>
        </p:nvSpPr>
        <p:spPr>
          <a:xfrm>
            <a:off x="0" y="1251859"/>
            <a:ext cx="71684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Digits cluster together in the latent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/>
              <a:t>Lots of unused space – these do not map to real images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E69E5F8-DE6C-173E-3DBB-AFEAEDDCD638}"/>
              </a:ext>
            </a:extLst>
          </p:cNvPr>
          <p:cNvGrpSpPr/>
          <p:nvPr/>
        </p:nvGrpSpPr>
        <p:grpSpPr>
          <a:xfrm>
            <a:off x="7451427" y="1081409"/>
            <a:ext cx="4616395" cy="5577801"/>
            <a:chOff x="6017739" y="967146"/>
            <a:chExt cx="5259970" cy="5489102"/>
          </a:xfrm>
        </p:grpSpPr>
        <p:pic>
          <p:nvPicPr>
            <p:cNvPr id="8" name="Picture 7" descr="Chart, scatter chart&#10;&#10;Description automatically generated">
              <a:extLst>
                <a:ext uri="{FF2B5EF4-FFF2-40B4-BE49-F238E27FC236}">
                  <a16:creationId xmlns:a16="http://schemas.microsoft.com/office/drawing/2014/main" id="{87541C1B-FD3C-CEE0-DCAF-A86519BFA1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7070" y="967146"/>
              <a:ext cx="4890639" cy="511977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46E485D-CC0C-F377-8BFC-65FB0A6549B7}"/>
                </a:ext>
              </a:extLst>
            </p:cNvPr>
            <p:cNvSpPr txBox="1"/>
            <p:nvPr/>
          </p:nvSpPr>
          <p:spPr>
            <a:xfrm>
              <a:off x="7507693" y="6086916"/>
              <a:ext cx="20846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Autoencoder axis 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0217CCA-4490-1E1F-9D0A-76B3B0DADBE4}"/>
                </a:ext>
              </a:extLst>
            </p:cNvPr>
            <p:cNvSpPr txBox="1"/>
            <p:nvPr/>
          </p:nvSpPr>
          <p:spPr>
            <a:xfrm rot="16200000">
              <a:off x="5160068" y="3342364"/>
              <a:ext cx="20846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Autoencoder axis 2</a:t>
              </a:r>
            </a:p>
          </p:txBody>
        </p:sp>
      </p:grpSp>
      <p:sp>
        <p:nvSpPr>
          <p:cNvPr id="13" name="5-Point Star 12">
            <a:extLst>
              <a:ext uri="{FF2B5EF4-FFF2-40B4-BE49-F238E27FC236}">
                <a16:creationId xmlns:a16="http://schemas.microsoft.com/office/drawing/2014/main" id="{2A45E372-9963-43AE-617B-925E4B567FF5}"/>
              </a:ext>
            </a:extLst>
          </p:cNvPr>
          <p:cNvSpPr/>
          <p:nvPr/>
        </p:nvSpPr>
        <p:spPr>
          <a:xfrm>
            <a:off x="9200444" y="1467556"/>
            <a:ext cx="214489" cy="22577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DDC905B-FE7D-D74E-511B-CC51B8DCB7F1}"/>
              </a:ext>
            </a:extLst>
          </p:cNvPr>
          <p:cNvCxnSpPr>
            <a:cxnSpLocks/>
          </p:cNvCxnSpPr>
          <p:nvPr/>
        </p:nvCxnSpPr>
        <p:spPr>
          <a:xfrm flipH="1">
            <a:off x="3420533" y="1693333"/>
            <a:ext cx="5633156" cy="23104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C9F0D05-2F0D-CA03-772A-DB65D6C95290}"/>
              </a:ext>
            </a:extLst>
          </p:cNvPr>
          <p:cNvSpPr txBox="1"/>
          <p:nvPr/>
        </p:nvSpPr>
        <p:spPr>
          <a:xfrm>
            <a:off x="2623638" y="3267751"/>
            <a:ext cx="1921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Plug into decoder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D8DCB63-0357-7658-93AD-3519C3BD6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1019" y="3846234"/>
            <a:ext cx="1105557" cy="113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298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6746E-C0EF-D5C5-BA99-0CF2292D9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59CC1-B5EA-D454-A621-C18B5F4A9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025"/>
            <a:ext cx="12067822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Autoencoder latent space is hard to interpret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79A77C-4346-7BBD-2961-EFE5AC823610}"/>
              </a:ext>
            </a:extLst>
          </p:cNvPr>
          <p:cNvSpPr txBox="1"/>
          <p:nvPr/>
        </p:nvSpPr>
        <p:spPr>
          <a:xfrm>
            <a:off x="1" y="1554045"/>
            <a:ext cx="716844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Digits cluster together in the latent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/>
              <a:t>Lots of unused space – these do not map to real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/>
              <a:t>Cannot reasonably </a:t>
            </a:r>
            <a:r>
              <a:rPr lang="en-US" sz="3000" b="1" dirty="0"/>
              <a:t>interpolate </a:t>
            </a:r>
            <a:r>
              <a:rPr lang="en-US" sz="3000" dirty="0"/>
              <a:t>between two datapoints</a:t>
            </a:r>
          </a:p>
          <a:p>
            <a:endParaRPr lang="en-US" sz="3000" dirty="0"/>
          </a:p>
          <a:p>
            <a:r>
              <a:rPr lang="en-US" sz="3000" u="sng" dirty="0"/>
              <a:t>Need </a:t>
            </a:r>
            <a:r>
              <a:rPr lang="en-US" sz="3000" b="1" u="sng" dirty="0"/>
              <a:t>structured</a:t>
            </a:r>
            <a:r>
              <a:rPr lang="en-US" sz="3000" u="sng" dirty="0"/>
              <a:t> latent space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8C3293-E3DB-BB4D-8422-B9B361F4DE34}"/>
              </a:ext>
            </a:extLst>
          </p:cNvPr>
          <p:cNvGrpSpPr/>
          <p:nvPr/>
        </p:nvGrpSpPr>
        <p:grpSpPr>
          <a:xfrm>
            <a:off x="7451427" y="1081409"/>
            <a:ext cx="4616395" cy="5577801"/>
            <a:chOff x="6017739" y="967146"/>
            <a:chExt cx="5259970" cy="548910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99618BA-B06F-36AA-3C4A-63FD00356E2D}"/>
                </a:ext>
              </a:extLst>
            </p:cNvPr>
            <p:cNvGrpSpPr/>
            <p:nvPr/>
          </p:nvGrpSpPr>
          <p:grpSpPr>
            <a:xfrm>
              <a:off x="6387070" y="967146"/>
              <a:ext cx="4890639" cy="5119770"/>
              <a:chOff x="5348383" y="1359588"/>
              <a:chExt cx="5085645" cy="5306760"/>
            </a:xfrm>
          </p:grpSpPr>
          <p:pic>
            <p:nvPicPr>
              <p:cNvPr id="8" name="Picture 7" descr="Chart, scatter chart&#10;&#10;Description automatically generated">
                <a:extLst>
                  <a:ext uri="{FF2B5EF4-FFF2-40B4-BE49-F238E27FC236}">
                    <a16:creationId xmlns:a16="http://schemas.microsoft.com/office/drawing/2014/main" id="{AAC7B323-03A0-8282-8653-5B512D3185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48383" y="1359588"/>
                <a:ext cx="5085645" cy="5306760"/>
              </a:xfrm>
              <a:prstGeom prst="rect">
                <a:avLst/>
              </a:prstGeom>
            </p:spPr>
          </p:pic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78B7A35-3B05-C75C-236B-03EBA10EF781}"/>
                  </a:ext>
                </a:extLst>
              </p:cNvPr>
              <p:cNvSpPr/>
              <p:nvPr/>
            </p:nvSpPr>
            <p:spPr>
              <a:xfrm>
                <a:off x="6513689" y="3905955"/>
                <a:ext cx="1128889" cy="1885245"/>
              </a:xfrm>
              <a:prstGeom prst="ellipse">
                <a:avLst/>
              </a:prstGeom>
              <a:noFill/>
              <a:ln w="762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9566B3B-6705-235E-F5F6-C44D2B60F90E}"/>
                </a:ext>
              </a:extLst>
            </p:cNvPr>
            <p:cNvSpPr txBox="1"/>
            <p:nvPr/>
          </p:nvSpPr>
          <p:spPr>
            <a:xfrm>
              <a:off x="7507693" y="6086916"/>
              <a:ext cx="20846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Autoencoder axis 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4E36C97-5E44-C080-9AFD-4DD683F0EAED}"/>
                </a:ext>
              </a:extLst>
            </p:cNvPr>
            <p:cNvSpPr txBox="1"/>
            <p:nvPr/>
          </p:nvSpPr>
          <p:spPr>
            <a:xfrm rot="16200000">
              <a:off x="5160068" y="3342364"/>
              <a:ext cx="20846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Autoencoder axis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7331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0529AC-4148-61BC-A710-A35AE63808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127"/>
          <a:stretch>
            <a:fillRect/>
          </a:stretch>
        </p:blipFill>
        <p:spPr>
          <a:xfrm>
            <a:off x="508778" y="475847"/>
            <a:ext cx="11683222" cy="59063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99520D-72A7-B26E-C513-4CAE2C5D6EB4}"/>
              </a:ext>
            </a:extLst>
          </p:cNvPr>
          <p:cNvSpPr txBox="1"/>
          <p:nvPr/>
        </p:nvSpPr>
        <p:spPr>
          <a:xfrm>
            <a:off x="79022" y="121904"/>
            <a:ext cx="17283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2579285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72810D-C23A-9C13-5CE5-DBC4AA83D1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061"/>
          <a:stretch>
            <a:fillRect/>
          </a:stretch>
        </p:blipFill>
        <p:spPr>
          <a:xfrm>
            <a:off x="79021" y="0"/>
            <a:ext cx="11940327" cy="617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326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7E1DF4-4842-E43C-5A42-39A8BF697C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385"/>
          <a:stretch>
            <a:fillRect/>
          </a:stretch>
        </p:blipFill>
        <p:spPr>
          <a:xfrm>
            <a:off x="0" y="270228"/>
            <a:ext cx="11713884" cy="590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770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F08952-5B52-1952-6B73-D430C51E04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94"/>
          <a:stretch>
            <a:fillRect/>
          </a:stretch>
        </p:blipFill>
        <p:spPr>
          <a:xfrm>
            <a:off x="135465" y="134761"/>
            <a:ext cx="11746217" cy="600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983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A6247-1413-EF33-BF79-A02B44E50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" y="0"/>
            <a:ext cx="11750524" cy="1325563"/>
          </a:xfrm>
        </p:spPr>
        <p:txBody>
          <a:bodyPr/>
          <a:lstStyle/>
          <a:p>
            <a:r>
              <a:rPr lang="en-US" dirty="0"/>
              <a:t>Variational autoencoder (VAE): a generative model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523851F-875E-840C-A4C6-B2607A5B6398}"/>
              </a:ext>
            </a:extLst>
          </p:cNvPr>
          <p:cNvGrpSpPr/>
          <p:nvPr/>
        </p:nvGrpSpPr>
        <p:grpSpPr>
          <a:xfrm>
            <a:off x="1072444" y="965888"/>
            <a:ext cx="8873067" cy="5388870"/>
            <a:chOff x="1072444" y="965888"/>
            <a:chExt cx="8873067" cy="538887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8EF1B0C-3F27-28BE-0E8D-863AA631F1B7}"/>
                </a:ext>
              </a:extLst>
            </p:cNvPr>
            <p:cNvGrpSpPr/>
            <p:nvPr/>
          </p:nvGrpSpPr>
          <p:grpSpPr>
            <a:xfrm>
              <a:off x="1072444" y="965888"/>
              <a:ext cx="8873067" cy="5388870"/>
              <a:chOff x="1072444" y="1184884"/>
              <a:chExt cx="9633765" cy="5828846"/>
            </a:xfrm>
          </p:grpSpPr>
          <p:pic>
            <p:nvPicPr>
              <p:cNvPr id="12" name="Picture 2" descr="From Autoencoder to Beta-VAE | Lil'Log">
                <a:extLst>
                  <a:ext uri="{FF2B5EF4-FFF2-40B4-BE49-F238E27FC236}">
                    <a16:creationId xmlns:a16="http://schemas.microsoft.com/office/drawing/2014/main" id="{3C8CA058-FA13-D6D5-2584-432F5AC7CA3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2444" y="1184884"/>
                <a:ext cx="9633765" cy="44882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BEE625A-ACAB-CE29-598A-2BD06755D049}"/>
                  </a:ext>
                </a:extLst>
              </p:cNvPr>
              <p:cNvSpPr/>
              <p:nvPr/>
            </p:nvSpPr>
            <p:spPr>
              <a:xfrm>
                <a:off x="4436533" y="4030133"/>
                <a:ext cx="3036711" cy="10611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52FCF3A-17FC-4985-8A72-6456951FF8F4}"/>
                  </a:ext>
                </a:extLst>
              </p:cNvPr>
              <p:cNvSpPr/>
              <p:nvPr/>
            </p:nvSpPr>
            <p:spPr>
              <a:xfrm>
                <a:off x="5254977" y="3807177"/>
                <a:ext cx="920045" cy="44591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98073B30-D43E-4BE4-51CC-AA778523CD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26844" y="3807177"/>
                <a:ext cx="1061156" cy="1442156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07852A8-DB16-5450-6046-C211C74D13CD}"/>
                  </a:ext>
                </a:extLst>
              </p:cNvPr>
              <p:cNvSpPr txBox="1"/>
              <p:nvPr/>
            </p:nvSpPr>
            <p:spPr>
              <a:xfrm>
                <a:off x="3502376" y="5249333"/>
                <a:ext cx="5304044" cy="176439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500" u="sng" dirty="0"/>
                  <a:t>Key idea:</a:t>
                </a:r>
                <a:r>
                  <a:rPr lang="en-US" sz="2500" dirty="0"/>
                  <a:t> Make latent variable z follow a distribution</a:t>
                </a:r>
              </a:p>
              <a:p>
                <a:endParaRPr lang="en-US" sz="2500" dirty="0"/>
              </a:p>
              <a:p>
                <a:r>
                  <a:rPr lang="en-US" sz="2500" dirty="0"/>
                  <a:t>Gaussian z ~ N(0, I)</a:t>
                </a:r>
              </a:p>
            </p:txBody>
          </p:sp>
        </p:grp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D5426B5-9577-EE05-D7A1-B90843D131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2237" y="5261451"/>
              <a:ext cx="1621586" cy="10633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2464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7D98C-AD68-30D8-4F40-BCD2E56E6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641" y="286297"/>
            <a:ext cx="10515600" cy="1325563"/>
          </a:xfrm>
        </p:spPr>
        <p:txBody>
          <a:bodyPr/>
          <a:lstStyle/>
          <a:p>
            <a:r>
              <a:rPr lang="en-US" dirty="0"/>
              <a:t>VAE intuition: encoder and decoder map </a:t>
            </a:r>
            <a:r>
              <a:rPr lang="en-US" b="1" dirty="0"/>
              <a:t>points to distributions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5C30BD4-6D74-A6E4-88FB-8FB7CF8EFEF9}"/>
              </a:ext>
            </a:extLst>
          </p:cNvPr>
          <p:cNvGrpSpPr/>
          <p:nvPr/>
        </p:nvGrpSpPr>
        <p:grpSpPr>
          <a:xfrm>
            <a:off x="6096000" y="2303117"/>
            <a:ext cx="6928286" cy="2439810"/>
            <a:chOff x="5235116" y="2671643"/>
            <a:chExt cx="6928286" cy="243981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858386C-EA0B-0305-3C51-EBD4FA665B45}"/>
                </a:ext>
              </a:extLst>
            </p:cNvPr>
            <p:cNvSpPr txBox="1"/>
            <p:nvPr/>
          </p:nvSpPr>
          <p:spPr>
            <a:xfrm>
              <a:off x="5235116" y="4100424"/>
              <a:ext cx="316935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solidFill>
                    <a:srgbClr val="C00000"/>
                  </a:solidFill>
                </a:rPr>
                <a:t>Latent variable z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1959EFF-A89C-53AA-C08A-2C6B210820C6}"/>
                </a:ext>
              </a:extLst>
            </p:cNvPr>
            <p:cNvSpPr txBox="1"/>
            <p:nvPr/>
          </p:nvSpPr>
          <p:spPr>
            <a:xfrm>
              <a:off x="6635061" y="4742121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D0F43F5-2538-4899-3110-69EA3D7C02FA}"/>
                </a:ext>
              </a:extLst>
            </p:cNvPr>
            <p:cNvSpPr/>
            <p:nvPr/>
          </p:nvSpPr>
          <p:spPr>
            <a:xfrm>
              <a:off x="6029691" y="3113083"/>
              <a:ext cx="688281" cy="804947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3BDD96C-CBD4-B185-4B5D-6EDBD8416DF3}"/>
                </a:ext>
              </a:extLst>
            </p:cNvPr>
            <p:cNvSpPr txBox="1"/>
            <p:nvPr/>
          </p:nvSpPr>
          <p:spPr>
            <a:xfrm>
              <a:off x="6144882" y="3113083"/>
              <a:ext cx="472453" cy="7054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/>
                <a:t>z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0218974-957D-2E5C-79A2-396B1011D2C9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>
              <a:off x="6717972" y="3515557"/>
              <a:ext cx="5110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apezoid 19">
              <a:extLst>
                <a:ext uri="{FF2B5EF4-FFF2-40B4-BE49-F238E27FC236}">
                  <a16:creationId xmlns:a16="http://schemas.microsoft.com/office/drawing/2014/main" id="{5F7F2526-F712-2ABA-9857-5D3BA6825CDA}"/>
                </a:ext>
              </a:extLst>
            </p:cNvPr>
            <p:cNvSpPr/>
            <p:nvPr/>
          </p:nvSpPr>
          <p:spPr>
            <a:xfrm rot="16200000">
              <a:off x="7253975" y="2646053"/>
              <a:ext cx="1687828" cy="1739007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A7123F1-09AC-6417-D6B8-38767783B301}"/>
                </a:ext>
              </a:extLst>
            </p:cNvPr>
            <p:cNvCxnSpPr>
              <a:cxnSpLocks/>
            </p:cNvCxnSpPr>
            <p:nvPr/>
          </p:nvCxnSpPr>
          <p:spPr>
            <a:xfrm>
              <a:off x="8967393" y="3515557"/>
              <a:ext cx="56032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3FA0022-6993-1B75-C62F-C4E71FE41C16}"/>
                </a:ext>
              </a:extLst>
            </p:cNvPr>
            <p:cNvSpPr txBox="1"/>
            <p:nvPr/>
          </p:nvSpPr>
          <p:spPr>
            <a:xfrm>
              <a:off x="7350313" y="3300112"/>
              <a:ext cx="149515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“Decoder”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659DB97-1DE9-0B74-8605-4FA942701B89}"/>
                    </a:ext>
                  </a:extLst>
                </p:cNvPr>
                <p:cNvSpPr txBox="1"/>
                <p:nvPr/>
              </p:nvSpPr>
              <p:spPr>
                <a:xfrm>
                  <a:off x="9578443" y="3082846"/>
                  <a:ext cx="2584959" cy="11079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>
                      <a:solidFill>
                        <a:schemeClr val="accent4">
                          <a:lumMod val="75000"/>
                        </a:schemeClr>
                      </a:solidFill>
                    </a:rPr>
                    <a:t>Conditional distribution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endChr m:val="|"/>
                          <m:ctrlPr>
                            <a:rPr lang="en-US" sz="2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2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2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2200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659DB97-1DE9-0B74-8605-4FA942701B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8443" y="3082846"/>
                  <a:ext cx="2584959" cy="1107996"/>
                </a:xfrm>
                <a:prstGeom prst="rect">
                  <a:avLst/>
                </a:prstGeom>
                <a:blipFill>
                  <a:blip r:embed="rId2"/>
                  <a:stretch>
                    <a:fillRect l="-2439" t="-3409" b="-68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E824E9-2134-C350-FFC8-2331E8FD23F1}"/>
                  </a:ext>
                </a:extLst>
              </p:cNvPr>
              <p:cNvSpPr txBox="1"/>
              <p:nvPr/>
            </p:nvSpPr>
            <p:spPr>
              <a:xfrm>
                <a:off x="4001300" y="2875002"/>
                <a:ext cx="2227818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solidFill>
                      <a:schemeClr val="accent6">
                        <a:lumMod val="75000"/>
                      </a:schemeClr>
                    </a:solidFill>
                  </a:rPr>
                  <a:t>Conditional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sz="2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2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E824E9-2134-C350-FFC8-2331E8FD2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1300" y="2875002"/>
                <a:ext cx="2227818" cy="1107996"/>
              </a:xfrm>
              <a:prstGeom prst="rect">
                <a:avLst/>
              </a:prstGeom>
              <a:blipFill>
                <a:blip r:embed="rId3"/>
                <a:stretch>
                  <a:fillRect l="-2825" t="-3409" b="-6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072C7FEA-FDF8-F409-33B3-F15D72FBC857}"/>
              </a:ext>
            </a:extLst>
          </p:cNvPr>
          <p:cNvGrpSpPr/>
          <p:nvPr/>
        </p:nvGrpSpPr>
        <p:grpSpPr>
          <a:xfrm>
            <a:off x="254313" y="2040968"/>
            <a:ext cx="3029897" cy="3061671"/>
            <a:chOff x="-16699" y="2305662"/>
            <a:chExt cx="3545285" cy="3615309"/>
          </a:xfrm>
        </p:grpSpPr>
        <p:sp>
          <p:nvSpPr>
            <p:cNvPr id="10" name="Trapezoid 9">
              <a:extLst>
                <a:ext uri="{FF2B5EF4-FFF2-40B4-BE49-F238E27FC236}">
                  <a16:creationId xmlns:a16="http://schemas.microsoft.com/office/drawing/2014/main" id="{0EC4C3A3-C44A-95FE-075D-E0921FE11946}"/>
                </a:ext>
              </a:extLst>
            </p:cNvPr>
            <p:cNvSpPr/>
            <p:nvPr/>
          </p:nvSpPr>
          <p:spPr>
            <a:xfrm rot="5400000">
              <a:off x="1815169" y="3075186"/>
              <a:ext cx="1687828" cy="1739007"/>
            </a:xfrm>
            <a:prstGeom prst="trapezoid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502983B-6134-D38D-1A4D-9ED1F7AA3F2D}"/>
                </a:ext>
              </a:extLst>
            </p:cNvPr>
            <p:cNvSpPr/>
            <p:nvPr/>
          </p:nvSpPr>
          <p:spPr>
            <a:xfrm>
              <a:off x="408674" y="2305662"/>
              <a:ext cx="541838" cy="306167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C6C9300-6965-510A-1233-CF479253EC4D}"/>
                </a:ext>
              </a:extLst>
            </p:cNvPr>
            <p:cNvCxnSpPr>
              <a:cxnSpLocks/>
            </p:cNvCxnSpPr>
            <p:nvPr/>
          </p:nvCxnSpPr>
          <p:spPr>
            <a:xfrm>
              <a:off x="950512" y="3877114"/>
              <a:ext cx="8390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22AA7DA-8040-7FED-023E-76A03E9339E2}"/>
                </a:ext>
              </a:extLst>
            </p:cNvPr>
            <p:cNvSpPr txBox="1"/>
            <p:nvPr/>
          </p:nvSpPr>
          <p:spPr>
            <a:xfrm>
              <a:off x="-16699" y="5366973"/>
              <a:ext cx="1666025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000" dirty="0"/>
                <a:t>Data </a:t>
              </a:r>
              <a:r>
                <a:rPr lang="en-US" sz="3000" b="1" dirty="0"/>
                <a:t>x</a:t>
              </a:r>
              <a:endParaRPr lang="en-US" sz="30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451277D-496F-B1A1-EF46-04D48BB77207}"/>
                </a:ext>
              </a:extLst>
            </p:cNvPr>
            <p:cNvSpPr txBox="1"/>
            <p:nvPr/>
          </p:nvSpPr>
          <p:spPr>
            <a:xfrm>
              <a:off x="1847114" y="3708152"/>
              <a:ext cx="146469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“Encoder”</a:t>
              </a:r>
            </a:p>
          </p:txBody>
        </p: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F0A7FD0-9001-B1BF-A5CE-1314A9685751}"/>
              </a:ext>
            </a:extLst>
          </p:cNvPr>
          <p:cNvCxnSpPr>
            <a:cxnSpLocks/>
          </p:cNvCxnSpPr>
          <p:nvPr/>
        </p:nvCxnSpPr>
        <p:spPr>
          <a:xfrm>
            <a:off x="3284211" y="3371772"/>
            <a:ext cx="7170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112CA29-3FC6-D6E3-B730-24476D45539C}"/>
              </a:ext>
            </a:extLst>
          </p:cNvPr>
          <p:cNvSpPr/>
          <p:nvPr/>
        </p:nvSpPr>
        <p:spPr>
          <a:xfrm>
            <a:off x="114300" y="1790700"/>
            <a:ext cx="5689600" cy="3505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8912BCA-1201-4A87-6AD3-9E8799EE0237}"/>
              </a:ext>
            </a:extLst>
          </p:cNvPr>
          <p:cNvSpPr/>
          <p:nvPr/>
        </p:nvSpPr>
        <p:spPr>
          <a:xfrm>
            <a:off x="5989164" y="1753375"/>
            <a:ext cx="6088536" cy="274242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32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51B9B-0802-B3BE-6FAD-07DA301C0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47" y="109630"/>
            <a:ext cx="10515600" cy="1325563"/>
          </a:xfrm>
        </p:spPr>
        <p:txBody>
          <a:bodyPr/>
          <a:lstStyle/>
          <a:p>
            <a:r>
              <a:rPr lang="en-US" dirty="0"/>
              <a:t>Maximum likelihood estimation [board]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53BCED-1321-7BE7-D749-7EF3BB5C1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08" y="1143000"/>
            <a:ext cx="4286250" cy="5715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217C62-319C-8C9A-7A47-6DBC1E918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8438" y="1089212"/>
            <a:ext cx="4366932" cy="582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790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C2771-911A-69D3-6F0F-215E25F1A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79871-FC96-D9D2-8A35-6021AA6BA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52236"/>
            <a:ext cx="11116733" cy="1325563"/>
          </a:xfrm>
        </p:spPr>
        <p:txBody>
          <a:bodyPr/>
          <a:lstStyle/>
          <a:p>
            <a:r>
              <a:rPr lang="en-US" dirty="0"/>
              <a:t>Maximum likelihood to learn parameters of VAE: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D16670D-7E07-03E0-21FA-1BA5A3F4FC1F}"/>
                  </a:ext>
                </a:extLst>
              </p:cNvPr>
              <p:cNvSpPr txBox="1"/>
              <p:nvPr/>
            </p:nvSpPr>
            <p:spPr>
              <a:xfrm>
                <a:off x="275518" y="4653080"/>
                <a:ext cx="920386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u="sng" dirty="0"/>
                  <a:t>Goal:</a:t>
                </a:r>
                <a:r>
                  <a:rPr lang="en-US" sz="2200" dirty="0"/>
                  <a:t> find parameters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200" dirty="0"/>
                  <a:t> that maximize probability of seeing observed data: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D16670D-7E07-03E0-21FA-1BA5A3F4F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518" y="4653080"/>
                <a:ext cx="9203866" cy="430887"/>
              </a:xfrm>
              <a:prstGeom prst="rect">
                <a:avLst/>
              </a:prstGeom>
              <a:blipFill>
                <a:blip r:embed="rId4"/>
                <a:stretch>
                  <a:fillRect l="-826" t="-8571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42DAFCF-D6E5-A683-1E64-A5DE8F4713D0}"/>
                  </a:ext>
                </a:extLst>
              </p:cNvPr>
              <p:cNvSpPr txBox="1"/>
              <p:nvPr/>
            </p:nvSpPr>
            <p:spPr>
              <a:xfrm>
                <a:off x="2847899" y="5116303"/>
                <a:ext cx="6854697" cy="1303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3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00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00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3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30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30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limLoc m:val="undOvr"/>
                                  <m:subHide m:val="on"/>
                                  <m:supHide m:val="on"/>
                                  <m:ctrlP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3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0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30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endChr m:val="|"/>
                                      <m:ctrlPr>
                                        <a:rPr lang="en-US" sz="3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0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US" sz="30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d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3000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  <m:t>)⋅</m:t>
                                  </m:r>
                                  <m:sSub>
                                    <m:sSubPr>
                                      <m:ctrlPr>
                                        <a:rPr lang="en-US" sz="3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0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30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3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000" b="1" i="1" smtClean="0"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</m:d>
                                  <m:r>
                                    <a:rPr lang="en-US" sz="3000" b="1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sz="3000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</m:nary>
                            </m:e>
                          </m:func>
                        </m:e>
                      </m:func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42DAFCF-D6E5-A683-1E64-A5DE8F471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7899" y="5116303"/>
                <a:ext cx="6854697" cy="1303114"/>
              </a:xfrm>
              <a:prstGeom prst="rect">
                <a:avLst/>
              </a:prstGeom>
              <a:blipFill>
                <a:blip r:embed="rId5"/>
                <a:stretch>
                  <a:fillRect t="-140385" b="-198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12270CB-1970-E768-B625-6AA08E05C1EB}"/>
              </a:ext>
            </a:extLst>
          </p:cNvPr>
          <p:cNvCxnSpPr/>
          <p:nvPr/>
        </p:nvCxnSpPr>
        <p:spPr>
          <a:xfrm>
            <a:off x="6360794" y="6050844"/>
            <a:ext cx="1383384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1C29FD9-6A2F-1474-566A-3C16931748FE}"/>
              </a:ext>
            </a:extLst>
          </p:cNvPr>
          <p:cNvSpPr txBox="1"/>
          <p:nvPr/>
        </p:nvSpPr>
        <p:spPr>
          <a:xfrm>
            <a:off x="5758112" y="6211669"/>
            <a:ext cx="2460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can approximate with neural network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A047C4B-CA06-105C-4D16-26293DFEB158}"/>
              </a:ext>
            </a:extLst>
          </p:cNvPr>
          <p:cNvCxnSpPr>
            <a:cxnSpLocks/>
          </p:cNvCxnSpPr>
          <p:nvPr/>
        </p:nvCxnSpPr>
        <p:spPr>
          <a:xfrm>
            <a:off x="8096000" y="6050844"/>
            <a:ext cx="99868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D419DCF-A7E9-12F2-995F-8FCF46121BA1}"/>
              </a:ext>
            </a:extLst>
          </p:cNvPr>
          <p:cNvSpPr txBox="1"/>
          <p:nvPr/>
        </p:nvSpPr>
        <p:spPr>
          <a:xfrm>
            <a:off x="8219090" y="6285188"/>
            <a:ext cx="2460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simple Gaussian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662156-C1BA-23D6-4531-AD2E6076BB15}"/>
              </a:ext>
            </a:extLst>
          </p:cNvPr>
          <p:cNvSpPr txBox="1"/>
          <p:nvPr/>
        </p:nvSpPr>
        <p:spPr>
          <a:xfrm>
            <a:off x="359186" y="6299755"/>
            <a:ext cx="460728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</a:rPr>
              <a:t>ISSUE: computing integral is hard!!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AF11E83-57E0-5A14-5016-316F95FE6ECD}"/>
              </a:ext>
            </a:extLst>
          </p:cNvPr>
          <p:cNvCxnSpPr>
            <a:cxnSpLocks/>
          </p:cNvCxnSpPr>
          <p:nvPr/>
        </p:nvCxnSpPr>
        <p:spPr>
          <a:xfrm flipV="1">
            <a:off x="4912401" y="6050844"/>
            <a:ext cx="1044805" cy="3685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1A7A62B6-77AC-864A-9418-E79E87A76176}"/>
              </a:ext>
            </a:extLst>
          </p:cNvPr>
          <p:cNvGrpSpPr/>
          <p:nvPr/>
        </p:nvGrpSpPr>
        <p:grpSpPr>
          <a:xfrm>
            <a:off x="512585" y="1448575"/>
            <a:ext cx="11679415" cy="3225968"/>
            <a:chOff x="114300" y="1753375"/>
            <a:chExt cx="12909986" cy="3542525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D5B745B-FFEB-B701-5909-45D3AFBBA454}"/>
                </a:ext>
              </a:extLst>
            </p:cNvPr>
            <p:cNvGrpSpPr/>
            <p:nvPr/>
          </p:nvGrpSpPr>
          <p:grpSpPr>
            <a:xfrm>
              <a:off x="6096000" y="2303117"/>
              <a:ext cx="6928286" cy="2439810"/>
              <a:chOff x="5235116" y="2671643"/>
              <a:chExt cx="6928286" cy="2439810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FD824AD-886C-9913-8E9E-0D9115715411}"/>
                  </a:ext>
                </a:extLst>
              </p:cNvPr>
              <p:cNvSpPr txBox="1"/>
              <p:nvPr/>
            </p:nvSpPr>
            <p:spPr>
              <a:xfrm>
                <a:off x="5235116" y="4100424"/>
                <a:ext cx="316935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solidFill>
                      <a:srgbClr val="C00000"/>
                    </a:solidFill>
                  </a:rPr>
                  <a:t>Latent variable z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E002BE3-8D43-FA19-4A11-1E4757CAD6A7}"/>
                  </a:ext>
                </a:extLst>
              </p:cNvPr>
              <p:cNvSpPr txBox="1"/>
              <p:nvPr/>
            </p:nvSpPr>
            <p:spPr>
              <a:xfrm>
                <a:off x="6635061" y="4742121"/>
                <a:ext cx="1847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dirty="0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2C649FC8-0119-32AA-A970-31CBEBFA7804}"/>
                  </a:ext>
                </a:extLst>
              </p:cNvPr>
              <p:cNvSpPr/>
              <p:nvPr/>
            </p:nvSpPr>
            <p:spPr>
              <a:xfrm>
                <a:off x="6029691" y="3113083"/>
                <a:ext cx="688281" cy="80494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4B94D36-6FFC-C2E9-F6F4-C53473D7C7B9}"/>
                  </a:ext>
                </a:extLst>
              </p:cNvPr>
              <p:cNvSpPr txBox="1"/>
              <p:nvPr/>
            </p:nvSpPr>
            <p:spPr>
              <a:xfrm>
                <a:off x="6144882" y="3113083"/>
                <a:ext cx="472453" cy="7054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/>
                  <a:t>z</a:t>
                </a:r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4DAA40DE-9414-5373-B945-21D15AAB7606}"/>
                  </a:ext>
                </a:extLst>
              </p:cNvPr>
              <p:cNvCxnSpPr>
                <a:cxnSpLocks/>
                <a:stCxn id="46" idx="3"/>
              </p:cNvCxnSpPr>
              <p:nvPr/>
            </p:nvCxnSpPr>
            <p:spPr>
              <a:xfrm>
                <a:off x="6717972" y="3515557"/>
                <a:ext cx="51104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rapezoid 48">
                <a:extLst>
                  <a:ext uri="{FF2B5EF4-FFF2-40B4-BE49-F238E27FC236}">
                    <a16:creationId xmlns:a16="http://schemas.microsoft.com/office/drawing/2014/main" id="{C5CF7C74-420D-724B-E01F-844E97601F94}"/>
                  </a:ext>
                </a:extLst>
              </p:cNvPr>
              <p:cNvSpPr/>
              <p:nvPr/>
            </p:nvSpPr>
            <p:spPr>
              <a:xfrm rot="16200000">
                <a:off x="7253975" y="2646053"/>
                <a:ext cx="1687828" cy="1739007"/>
              </a:xfrm>
              <a:prstGeom prst="trapezoid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548B868-5C7F-1F06-7D17-05FED0C585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67393" y="3515557"/>
                <a:ext cx="56032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5A13F7D-FA33-71DE-14D3-F797980C5A73}"/>
                  </a:ext>
                </a:extLst>
              </p:cNvPr>
              <p:cNvSpPr txBox="1"/>
              <p:nvPr/>
            </p:nvSpPr>
            <p:spPr>
              <a:xfrm>
                <a:off x="7350313" y="3300112"/>
                <a:ext cx="149515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/>
                  <a:t>“Decoder”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1327E869-3467-BD62-0983-D3B1BEAC3E96}"/>
                      </a:ext>
                    </a:extLst>
                  </p:cNvPr>
                  <p:cNvSpPr txBox="1"/>
                  <p:nvPr/>
                </p:nvSpPr>
                <p:spPr>
                  <a:xfrm>
                    <a:off x="9578443" y="3082846"/>
                    <a:ext cx="2584959" cy="11079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200" dirty="0">
                        <a:solidFill>
                          <a:schemeClr val="accent4">
                            <a:lumMod val="75000"/>
                          </a:schemeClr>
                        </a:solidFill>
                      </a:rPr>
                      <a:t>Conditional distribution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200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endChr m:val="|"/>
                            <m:ctrlPr>
                              <a:rPr lang="en-US" sz="2200" b="1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1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200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22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  <m:r>
                          <a:rPr lang="en-US" sz="22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US" sz="2200" dirty="0">
                      <a:solidFill>
                        <a:schemeClr val="accent4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1327E869-3467-BD62-0983-D3B1BEAC3E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78443" y="3082846"/>
                    <a:ext cx="2584959" cy="1107996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3226" t="-2469" b="-1604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C8CD4A68-0A61-77BF-53EF-42004AF49DA2}"/>
                    </a:ext>
                  </a:extLst>
                </p:cNvPr>
                <p:cNvSpPr txBox="1"/>
                <p:nvPr/>
              </p:nvSpPr>
              <p:spPr>
                <a:xfrm>
                  <a:off x="4001300" y="2875002"/>
                  <a:ext cx="2227818" cy="11079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Conditional distribution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endChr m:val="|"/>
                          <m:ctrlPr>
                            <a:rPr lang="en-US" sz="2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22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C8CD4A68-0A61-77BF-53EF-42004AF49D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1300" y="2875002"/>
                  <a:ext cx="2227818" cy="1107996"/>
                </a:xfrm>
                <a:prstGeom prst="rect">
                  <a:avLst/>
                </a:prstGeom>
                <a:blipFill>
                  <a:blip r:embed="rId7"/>
                  <a:stretch>
                    <a:fillRect l="-3750" t="-3704" b="-160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F7453A9-C0A4-61D8-B025-AB633A09EFD4}"/>
                </a:ext>
              </a:extLst>
            </p:cNvPr>
            <p:cNvGrpSpPr/>
            <p:nvPr/>
          </p:nvGrpSpPr>
          <p:grpSpPr>
            <a:xfrm>
              <a:off x="254313" y="2040968"/>
              <a:ext cx="3029897" cy="3061671"/>
              <a:chOff x="-16699" y="2305662"/>
              <a:chExt cx="3545285" cy="3615309"/>
            </a:xfrm>
          </p:grpSpPr>
          <p:sp>
            <p:nvSpPr>
              <p:cNvPr id="55" name="Trapezoid 54">
                <a:extLst>
                  <a:ext uri="{FF2B5EF4-FFF2-40B4-BE49-F238E27FC236}">
                    <a16:creationId xmlns:a16="http://schemas.microsoft.com/office/drawing/2014/main" id="{6E17CD8D-4C13-5A20-915F-F821EAAEF91B}"/>
                  </a:ext>
                </a:extLst>
              </p:cNvPr>
              <p:cNvSpPr/>
              <p:nvPr/>
            </p:nvSpPr>
            <p:spPr>
              <a:xfrm rot="5400000">
                <a:off x="1815169" y="3075186"/>
                <a:ext cx="1687828" cy="1739007"/>
              </a:xfrm>
              <a:prstGeom prst="trapezoid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F07ED9FE-A24F-E61A-E322-0466C1D44D9C}"/>
                  </a:ext>
                </a:extLst>
              </p:cNvPr>
              <p:cNvSpPr/>
              <p:nvPr/>
            </p:nvSpPr>
            <p:spPr>
              <a:xfrm>
                <a:off x="408674" y="2305662"/>
                <a:ext cx="541838" cy="306167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409935E7-DB45-76A6-C6CF-B04ED10757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0512" y="3877114"/>
                <a:ext cx="83906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84F3D03-E7D4-458B-101D-44627634D9E4}"/>
                  </a:ext>
                </a:extLst>
              </p:cNvPr>
              <p:cNvSpPr txBox="1"/>
              <p:nvPr/>
            </p:nvSpPr>
            <p:spPr>
              <a:xfrm>
                <a:off x="-16699" y="5366973"/>
                <a:ext cx="166602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Data </a:t>
                </a:r>
                <a:r>
                  <a:rPr lang="en-US" sz="3000" b="1" dirty="0"/>
                  <a:t>x</a:t>
                </a:r>
                <a:endParaRPr lang="en-US" sz="3000" dirty="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F81800E-886A-705D-4162-CED4F165C091}"/>
                  </a:ext>
                </a:extLst>
              </p:cNvPr>
              <p:cNvSpPr txBox="1"/>
              <p:nvPr/>
            </p:nvSpPr>
            <p:spPr>
              <a:xfrm>
                <a:off x="1847114" y="3708152"/>
                <a:ext cx="146469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/>
                  <a:t>“Encoder”</a:t>
                </a:r>
              </a:p>
            </p:txBody>
          </p:sp>
        </p:grp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612FCBE6-43B4-B156-803E-76FE0E202503}"/>
                </a:ext>
              </a:extLst>
            </p:cNvPr>
            <p:cNvCxnSpPr>
              <a:cxnSpLocks/>
            </p:cNvCxnSpPr>
            <p:nvPr/>
          </p:nvCxnSpPr>
          <p:spPr>
            <a:xfrm>
              <a:off x="3284211" y="3371772"/>
              <a:ext cx="7170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45D7DC31-7E82-52A6-F0D2-C0689054BC77}"/>
                </a:ext>
              </a:extLst>
            </p:cNvPr>
            <p:cNvSpPr/>
            <p:nvPr/>
          </p:nvSpPr>
          <p:spPr>
            <a:xfrm>
              <a:off x="114300" y="1790700"/>
              <a:ext cx="5689600" cy="3505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26EAB7A9-1350-F548-F7D0-298B2ED532D7}"/>
                </a:ext>
              </a:extLst>
            </p:cNvPr>
            <p:cNvSpPr/>
            <p:nvPr/>
          </p:nvSpPr>
          <p:spPr>
            <a:xfrm>
              <a:off x="5989164" y="1753375"/>
              <a:ext cx="6088536" cy="274242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93375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7E881-5CA5-A5FE-043A-4969EC8B8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223" y="218369"/>
            <a:ext cx="10515600" cy="1325563"/>
          </a:xfrm>
        </p:spPr>
        <p:txBody>
          <a:bodyPr/>
          <a:lstStyle/>
          <a:p>
            <a:r>
              <a:rPr lang="en-US" dirty="0"/>
              <a:t>Solution: “variational” inference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26476F2-A23C-6A17-2A98-2E6948ADA0C2}"/>
              </a:ext>
            </a:extLst>
          </p:cNvPr>
          <p:cNvGrpSpPr/>
          <p:nvPr/>
        </p:nvGrpSpPr>
        <p:grpSpPr>
          <a:xfrm>
            <a:off x="512585" y="1448575"/>
            <a:ext cx="11679415" cy="3225968"/>
            <a:chOff x="114300" y="1753375"/>
            <a:chExt cx="12909986" cy="3542525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968600C3-9AF4-03CE-5F82-C8A285798B2E}"/>
                </a:ext>
              </a:extLst>
            </p:cNvPr>
            <p:cNvGrpSpPr/>
            <p:nvPr/>
          </p:nvGrpSpPr>
          <p:grpSpPr>
            <a:xfrm>
              <a:off x="6096000" y="2303117"/>
              <a:ext cx="6928286" cy="2439810"/>
              <a:chOff x="5235116" y="2671643"/>
              <a:chExt cx="6928286" cy="2439810"/>
            </a:xfrm>
          </p:grpSpPr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EC79ADA-FAA6-2AAF-55EA-9B229D8679E8}"/>
                  </a:ext>
                </a:extLst>
              </p:cNvPr>
              <p:cNvSpPr txBox="1"/>
              <p:nvPr/>
            </p:nvSpPr>
            <p:spPr>
              <a:xfrm>
                <a:off x="5235116" y="4100424"/>
                <a:ext cx="316935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solidFill>
                      <a:srgbClr val="C00000"/>
                    </a:solidFill>
                  </a:rPr>
                  <a:t>Latent variable z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DE02045-CC1B-1E67-D7A1-D8C4A9BBE1DE}"/>
                  </a:ext>
                </a:extLst>
              </p:cNvPr>
              <p:cNvSpPr txBox="1"/>
              <p:nvPr/>
            </p:nvSpPr>
            <p:spPr>
              <a:xfrm>
                <a:off x="6635061" y="4742121"/>
                <a:ext cx="1847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dirty="0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5A996711-1318-1338-84E6-85F9BF7FBE7E}"/>
                  </a:ext>
                </a:extLst>
              </p:cNvPr>
              <p:cNvSpPr/>
              <p:nvPr/>
            </p:nvSpPr>
            <p:spPr>
              <a:xfrm>
                <a:off x="6029691" y="3113083"/>
                <a:ext cx="688281" cy="80494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24CC6F7-FE5F-ABD0-8C15-E18C6197EEE6}"/>
                  </a:ext>
                </a:extLst>
              </p:cNvPr>
              <p:cNvSpPr txBox="1"/>
              <p:nvPr/>
            </p:nvSpPr>
            <p:spPr>
              <a:xfrm>
                <a:off x="6144882" y="3113083"/>
                <a:ext cx="472453" cy="7054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/>
                  <a:t>z</a:t>
                </a:r>
              </a:p>
            </p:txBody>
          </p: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20617D58-ACC6-198E-0DC0-E78B1855F7D8}"/>
                  </a:ext>
                </a:extLst>
              </p:cNvPr>
              <p:cNvCxnSpPr>
                <a:cxnSpLocks/>
                <a:stCxn id="63" idx="3"/>
              </p:cNvCxnSpPr>
              <p:nvPr/>
            </p:nvCxnSpPr>
            <p:spPr>
              <a:xfrm>
                <a:off x="6717972" y="3515557"/>
                <a:ext cx="51104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Trapezoid 65">
                <a:extLst>
                  <a:ext uri="{FF2B5EF4-FFF2-40B4-BE49-F238E27FC236}">
                    <a16:creationId xmlns:a16="http://schemas.microsoft.com/office/drawing/2014/main" id="{BB2BC96F-35F6-C3F9-0DAE-2277D5C31AA2}"/>
                  </a:ext>
                </a:extLst>
              </p:cNvPr>
              <p:cNvSpPr/>
              <p:nvPr/>
            </p:nvSpPr>
            <p:spPr>
              <a:xfrm rot="16200000">
                <a:off x="7253975" y="2646053"/>
                <a:ext cx="1687828" cy="1739007"/>
              </a:xfrm>
              <a:prstGeom prst="trapezoid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97BCF694-7B3B-62F4-2F65-EB3FD6A4B2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67393" y="3515557"/>
                <a:ext cx="56032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F87A621-C9EC-0BF3-F9FE-49BAE336DA48}"/>
                  </a:ext>
                </a:extLst>
              </p:cNvPr>
              <p:cNvSpPr txBox="1"/>
              <p:nvPr/>
            </p:nvSpPr>
            <p:spPr>
              <a:xfrm>
                <a:off x="7350313" y="3300112"/>
                <a:ext cx="149515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/>
                  <a:t>“Decoder”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FB55B79A-4767-B16F-6FC8-4511668480E9}"/>
                      </a:ext>
                    </a:extLst>
                  </p:cNvPr>
                  <p:cNvSpPr txBox="1"/>
                  <p:nvPr/>
                </p:nvSpPr>
                <p:spPr>
                  <a:xfrm>
                    <a:off x="9578443" y="3082846"/>
                    <a:ext cx="2584959" cy="11079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200" dirty="0">
                        <a:solidFill>
                          <a:schemeClr val="accent4">
                            <a:lumMod val="75000"/>
                          </a:schemeClr>
                        </a:solidFill>
                      </a:rPr>
                      <a:t>Conditional distribution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200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endChr m:val="|"/>
                            <m:ctrlPr>
                              <a:rPr lang="en-US" sz="2200" b="1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1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200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22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  <m:r>
                          <a:rPr lang="en-US" sz="22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US" sz="2200" dirty="0">
                      <a:solidFill>
                        <a:schemeClr val="accent4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FB55B79A-4767-B16F-6FC8-4511668480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78443" y="3082846"/>
                    <a:ext cx="2584959" cy="1107996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3226" t="-2469" b="-1604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05D678A2-3A70-E068-E186-82BA41757632}"/>
                    </a:ext>
                  </a:extLst>
                </p:cNvPr>
                <p:cNvSpPr txBox="1"/>
                <p:nvPr/>
              </p:nvSpPr>
              <p:spPr>
                <a:xfrm>
                  <a:off x="4001300" y="2875002"/>
                  <a:ext cx="2227818" cy="11079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Conditional distribution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endChr m:val="|"/>
                          <m:ctrlPr>
                            <a:rPr lang="en-US" sz="2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22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05D678A2-3A70-E068-E186-82BA417576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1300" y="2875002"/>
                  <a:ext cx="2227818" cy="1107996"/>
                </a:xfrm>
                <a:prstGeom prst="rect">
                  <a:avLst/>
                </a:prstGeom>
                <a:blipFill>
                  <a:blip r:embed="rId3"/>
                  <a:stretch>
                    <a:fillRect l="-3750" t="-3704" b="-160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67113AC9-F369-4291-42B8-4F7F37994E8D}"/>
                </a:ext>
              </a:extLst>
            </p:cNvPr>
            <p:cNvGrpSpPr/>
            <p:nvPr/>
          </p:nvGrpSpPr>
          <p:grpSpPr>
            <a:xfrm>
              <a:off x="254313" y="2040968"/>
              <a:ext cx="3029897" cy="3061671"/>
              <a:chOff x="-16699" y="2305662"/>
              <a:chExt cx="3545285" cy="3615309"/>
            </a:xfrm>
          </p:grpSpPr>
          <p:sp>
            <p:nvSpPr>
              <p:cNvPr id="56" name="Trapezoid 55">
                <a:extLst>
                  <a:ext uri="{FF2B5EF4-FFF2-40B4-BE49-F238E27FC236}">
                    <a16:creationId xmlns:a16="http://schemas.microsoft.com/office/drawing/2014/main" id="{843BC5AD-3F17-3094-0417-10F983C2EF24}"/>
                  </a:ext>
                </a:extLst>
              </p:cNvPr>
              <p:cNvSpPr/>
              <p:nvPr/>
            </p:nvSpPr>
            <p:spPr>
              <a:xfrm rot="5400000">
                <a:off x="1815169" y="3075186"/>
                <a:ext cx="1687828" cy="1739007"/>
              </a:xfrm>
              <a:prstGeom prst="trapezoid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279E10DF-D706-4F7B-445B-D6526B2E8D70}"/>
                  </a:ext>
                </a:extLst>
              </p:cNvPr>
              <p:cNvSpPr/>
              <p:nvPr/>
            </p:nvSpPr>
            <p:spPr>
              <a:xfrm>
                <a:off x="408674" y="2305662"/>
                <a:ext cx="541838" cy="306167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9F3AE67E-B478-F4E8-4608-88C69861C6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0512" y="3877114"/>
                <a:ext cx="83906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0A27D5C-1069-BA55-3FCF-D07CF677AD81}"/>
                  </a:ext>
                </a:extLst>
              </p:cNvPr>
              <p:cNvSpPr txBox="1"/>
              <p:nvPr/>
            </p:nvSpPr>
            <p:spPr>
              <a:xfrm>
                <a:off x="-16699" y="5366973"/>
                <a:ext cx="166602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Data </a:t>
                </a:r>
                <a:r>
                  <a:rPr lang="en-US" sz="3000" b="1" dirty="0"/>
                  <a:t>x</a:t>
                </a:r>
                <a:endParaRPr lang="en-US" sz="3000" dirty="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69272F2-F2C2-20AA-71BC-937F02B35664}"/>
                  </a:ext>
                </a:extLst>
              </p:cNvPr>
              <p:cNvSpPr txBox="1"/>
              <p:nvPr/>
            </p:nvSpPr>
            <p:spPr>
              <a:xfrm>
                <a:off x="1847114" y="3708152"/>
                <a:ext cx="146469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/>
                  <a:t>“Encoder”</a:t>
                </a:r>
              </a:p>
            </p:txBody>
          </p:sp>
        </p:grp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93207637-7612-75B6-9519-65E467FB62D4}"/>
                </a:ext>
              </a:extLst>
            </p:cNvPr>
            <p:cNvCxnSpPr>
              <a:cxnSpLocks/>
            </p:cNvCxnSpPr>
            <p:nvPr/>
          </p:nvCxnSpPr>
          <p:spPr>
            <a:xfrm>
              <a:off x="3284211" y="3371772"/>
              <a:ext cx="7170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10470C48-3166-662F-D8D2-83D62BD5A03D}"/>
                </a:ext>
              </a:extLst>
            </p:cNvPr>
            <p:cNvSpPr/>
            <p:nvPr/>
          </p:nvSpPr>
          <p:spPr>
            <a:xfrm>
              <a:off x="114300" y="1790700"/>
              <a:ext cx="5689600" cy="3505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2CE46DE1-907E-917A-2FC7-80E7DB48D6B0}"/>
                </a:ext>
              </a:extLst>
            </p:cNvPr>
            <p:cNvSpPr/>
            <p:nvPr/>
          </p:nvSpPr>
          <p:spPr>
            <a:xfrm>
              <a:off x="5989164" y="1753375"/>
              <a:ext cx="6366935" cy="274242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2E921D23-A607-243F-C91F-05B714082921}"/>
              </a:ext>
            </a:extLst>
          </p:cNvPr>
          <p:cNvCxnSpPr/>
          <p:nvPr/>
        </p:nvCxnSpPr>
        <p:spPr>
          <a:xfrm>
            <a:off x="4043023" y="2553168"/>
            <a:ext cx="1468520" cy="119083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1B6B34F-C840-CF39-92FD-2F2F6DE6D28E}"/>
                  </a:ext>
                </a:extLst>
              </p:cNvPr>
              <p:cNvSpPr txBox="1"/>
              <p:nvPr/>
            </p:nvSpPr>
            <p:spPr>
              <a:xfrm>
                <a:off x="2526522" y="3804942"/>
                <a:ext cx="3414857" cy="7353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FF0000"/>
                    </a:solidFill>
                  </a:rPr>
                  <a:t>Approximate distribution</a:t>
                </a:r>
              </a:p>
              <a:p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𝝓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1B6B34F-C840-CF39-92FD-2F2F6DE6D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6522" y="3804942"/>
                <a:ext cx="3414857" cy="735394"/>
              </a:xfrm>
              <a:prstGeom prst="rect">
                <a:avLst/>
              </a:prstGeom>
              <a:blipFill>
                <a:blip r:embed="rId4"/>
                <a:stretch>
                  <a:fillRect l="-1845" t="-3390" b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9543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D3E5C-2F2E-2494-EA37-68289CF89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58" y="-148388"/>
            <a:ext cx="10515600" cy="1325563"/>
          </a:xfrm>
        </p:spPr>
        <p:txBody>
          <a:bodyPr/>
          <a:lstStyle/>
          <a:p>
            <a:r>
              <a:rPr lang="en-US" dirty="0"/>
              <a:t>Deriving the variational loss [on board]</a:t>
            </a:r>
          </a:p>
        </p:txBody>
      </p:sp>
      <p:pic>
        <p:nvPicPr>
          <p:cNvPr id="53" name="Content Placeholder 52">
            <a:extLst>
              <a:ext uri="{FF2B5EF4-FFF2-40B4-BE49-F238E27FC236}">
                <a16:creationId xmlns:a16="http://schemas.microsoft.com/office/drawing/2014/main" id="{450D8F92-7EA3-56D8-843D-483D0B2F87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65178" y="812844"/>
            <a:ext cx="4410634" cy="588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063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8542E-FC15-1305-ED54-3A480E4F7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39ADD-198E-E3D4-E4BA-B384CE235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58" y="-148388"/>
            <a:ext cx="10515600" cy="1325563"/>
          </a:xfrm>
        </p:spPr>
        <p:txBody>
          <a:bodyPr/>
          <a:lstStyle/>
          <a:p>
            <a:r>
              <a:rPr lang="en-US" dirty="0"/>
              <a:t>Deriving the variational loss [on board]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F61068-7114-04BE-913B-C6BC18CFEF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4924" b="19351"/>
          <a:stretch>
            <a:fillRect/>
          </a:stretch>
        </p:blipFill>
        <p:spPr>
          <a:xfrm>
            <a:off x="2248002" y="4437773"/>
            <a:ext cx="6432766" cy="2378232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581F3D4-0ECB-3274-3DCB-0875206FBC2E}"/>
              </a:ext>
            </a:extLst>
          </p:cNvPr>
          <p:cNvGrpSpPr/>
          <p:nvPr/>
        </p:nvGrpSpPr>
        <p:grpSpPr>
          <a:xfrm>
            <a:off x="512585" y="910693"/>
            <a:ext cx="11679415" cy="3225968"/>
            <a:chOff x="114300" y="1753375"/>
            <a:chExt cx="12909986" cy="354252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03B3B3F-14A8-FADD-B780-072F65DADDBC}"/>
                </a:ext>
              </a:extLst>
            </p:cNvPr>
            <p:cNvGrpSpPr/>
            <p:nvPr/>
          </p:nvGrpSpPr>
          <p:grpSpPr>
            <a:xfrm>
              <a:off x="6096000" y="2303117"/>
              <a:ext cx="6928286" cy="2439810"/>
              <a:chOff x="5235116" y="2671643"/>
              <a:chExt cx="6928286" cy="2439810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BE2BD4-7ACA-926F-B1B1-ADB3725C0B5A}"/>
                  </a:ext>
                </a:extLst>
              </p:cNvPr>
              <p:cNvSpPr txBox="1"/>
              <p:nvPr/>
            </p:nvSpPr>
            <p:spPr>
              <a:xfrm>
                <a:off x="5235116" y="4100424"/>
                <a:ext cx="316935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solidFill>
                      <a:srgbClr val="C00000"/>
                    </a:solidFill>
                  </a:rPr>
                  <a:t>Latent variable z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97E6229-9FEE-6369-4E46-8F79D43BC98B}"/>
                  </a:ext>
                </a:extLst>
              </p:cNvPr>
              <p:cNvSpPr txBox="1"/>
              <p:nvPr/>
            </p:nvSpPr>
            <p:spPr>
              <a:xfrm>
                <a:off x="6635061" y="4742121"/>
                <a:ext cx="1847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dirty="0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6B832CA-EEFD-957A-F6AE-2159775D1DD2}"/>
                  </a:ext>
                </a:extLst>
              </p:cNvPr>
              <p:cNvSpPr/>
              <p:nvPr/>
            </p:nvSpPr>
            <p:spPr>
              <a:xfrm>
                <a:off x="6029691" y="3113083"/>
                <a:ext cx="688281" cy="80494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5DC81C6-D04D-915E-099B-DA0EAD973DD0}"/>
                  </a:ext>
                </a:extLst>
              </p:cNvPr>
              <p:cNvSpPr txBox="1"/>
              <p:nvPr/>
            </p:nvSpPr>
            <p:spPr>
              <a:xfrm>
                <a:off x="6144882" y="3113083"/>
                <a:ext cx="472453" cy="7054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/>
                  <a:t>z</a:t>
                </a: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7D60DB2C-3353-9B40-F272-39A1F377DFA3}"/>
                  </a:ext>
                </a:extLst>
              </p:cNvPr>
              <p:cNvCxnSpPr>
                <a:cxnSpLocks/>
                <a:stCxn id="18" idx="3"/>
              </p:cNvCxnSpPr>
              <p:nvPr/>
            </p:nvCxnSpPr>
            <p:spPr>
              <a:xfrm>
                <a:off x="6717972" y="3515557"/>
                <a:ext cx="51104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rapezoid 20">
                <a:extLst>
                  <a:ext uri="{FF2B5EF4-FFF2-40B4-BE49-F238E27FC236}">
                    <a16:creationId xmlns:a16="http://schemas.microsoft.com/office/drawing/2014/main" id="{727C6D79-0680-CB6E-8176-AB2B958BCB7E}"/>
                  </a:ext>
                </a:extLst>
              </p:cNvPr>
              <p:cNvSpPr/>
              <p:nvPr/>
            </p:nvSpPr>
            <p:spPr>
              <a:xfrm rot="16200000">
                <a:off x="7253975" y="2646053"/>
                <a:ext cx="1687828" cy="1739007"/>
              </a:xfrm>
              <a:prstGeom prst="trapezoid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9E84801F-8669-6967-D8BE-151130A7E6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67393" y="3515557"/>
                <a:ext cx="56032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E66198A-6B67-089B-A531-7A7F1EBBEA3F}"/>
                  </a:ext>
                </a:extLst>
              </p:cNvPr>
              <p:cNvSpPr txBox="1"/>
              <p:nvPr/>
            </p:nvSpPr>
            <p:spPr>
              <a:xfrm>
                <a:off x="7350313" y="3300112"/>
                <a:ext cx="149515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/>
                  <a:t>“Decoder”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07068F88-342A-99D1-CBDE-CB62EC192530}"/>
                      </a:ext>
                    </a:extLst>
                  </p:cNvPr>
                  <p:cNvSpPr txBox="1"/>
                  <p:nvPr/>
                </p:nvSpPr>
                <p:spPr>
                  <a:xfrm>
                    <a:off x="9578443" y="3082846"/>
                    <a:ext cx="2584959" cy="11079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200" dirty="0">
                        <a:solidFill>
                          <a:schemeClr val="accent4">
                            <a:lumMod val="75000"/>
                          </a:schemeClr>
                        </a:solidFill>
                      </a:rPr>
                      <a:t>Conditional distribution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200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endChr m:val="|"/>
                            <m:ctrlPr>
                              <a:rPr lang="en-US" sz="2200" b="1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1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200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22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  <m:r>
                          <a:rPr lang="en-US" sz="22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US" sz="2200" dirty="0">
                      <a:solidFill>
                        <a:schemeClr val="accent4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FB55B79A-4767-B16F-6FC8-4511668480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78443" y="3082846"/>
                    <a:ext cx="2584959" cy="110799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226" t="-2469" b="-1604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E2C48A8-4E7B-03C1-DF95-0E54CC9918AD}"/>
                    </a:ext>
                  </a:extLst>
                </p:cNvPr>
                <p:cNvSpPr txBox="1"/>
                <p:nvPr/>
              </p:nvSpPr>
              <p:spPr>
                <a:xfrm>
                  <a:off x="4001300" y="2875002"/>
                  <a:ext cx="2227818" cy="11079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Conditional distribution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endChr m:val="|"/>
                          <m:ctrlPr>
                            <a:rPr lang="en-US" sz="2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22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05D678A2-3A70-E068-E186-82BA417576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1300" y="2875002"/>
                  <a:ext cx="2227818" cy="1107996"/>
                </a:xfrm>
                <a:prstGeom prst="rect">
                  <a:avLst/>
                </a:prstGeom>
                <a:blipFill>
                  <a:blip r:embed="rId4"/>
                  <a:stretch>
                    <a:fillRect l="-3750" t="-3704" b="-160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CDAED42-F53C-9070-A777-AF965E812D65}"/>
                </a:ext>
              </a:extLst>
            </p:cNvPr>
            <p:cNvGrpSpPr/>
            <p:nvPr/>
          </p:nvGrpSpPr>
          <p:grpSpPr>
            <a:xfrm>
              <a:off x="254313" y="2040968"/>
              <a:ext cx="3029897" cy="3061671"/>
              <a:chOff x="-16699" y="2305662"/>
              <a:chExt cx="3545285" cy="3615309"/>
            </a:xfrm>
          </p:grpSpPr>
          <p:sp>
            <p:nvSpPr>
              <p:cNvPr id="11" name="Trapezoid 10">
                <a:extLst>
                  <a:ext uri="{FF2B5EF4-FFF2-40B4-BE49-F238E27FC236}">
                    <a16:creationId xmlns:a16="http://schemas.microsoft.com/office/drawing/2014/main" id="{D0BED4E6-0B36-1FCE-5707-EB8EC4A85C82}"/>
                  </a:ext>
                </a:extLst>
              </p:cNvPr>
              <p:cNvSpPr/>
              <p:nvPr/>
            </p:nvSpPr>
            <p:spPr>
              <a:xfrm rot="5400000">
                <a:off x="1815169" y="3075186"/>
                <a:ext cx="1687828" cy="1739007"/>
              </a:xfrm>
              <a:prstGeom prst="trapezoid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A2788A5-DB6E-EF87-655D-D51AEB8BBFE2}"/>
                  </a:ext>
                </a:extLst>
              </p:cNvPr>
              <p:cNvSpPr/>
              <p:nvPr/>
            </p:nvSpPr>
            <p:spPr>
              <a:xfrm>
                <a:off x="408674" y="2305662"/>
                <a:ext cx="541838" cy="306167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31E8397D-3A13-8F4D-209E-EB2503D6AD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0512" y="3877114"/>
                <a:ext cx="83906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D2F779-4B88-5C3A-1711-9986E6BBD258}"/>
                  </a:ext>
                </a:extLst>
              </p:cNvPr>
              <p:cNvSpPr txBox="1"/>
              <p:nvPr/>
            </p:nvSpPr>
            <p:spPr>
              <a:xfrm>
                <a:off x="-16699" y="5366973"/>
                <a:ext cx="166602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Data </a:t>
                </a:r>
                <a:r>
                  <a:rPr lang="en-US" sz="3000" b="1" dirty="0"/>
                  <a:t>x</a:t>
                </a:r>
                <a:endParaRPr lang="en-US" sz="3000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04B65A0-6C90-9072-457C-B96BFF8065C6}"/>
                  </a:ext>
                </a:extLst>
              </p:cNvPr>
              <p:cNvSpPr txBox="1"/>
              <p:nvPr/>
            </p:nvSpPr>
            <p:spPr>
              <a:xfrm>
                <a:off x="1847114" y="3708152"/>
                <a:ext cx="146469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/>
                  <a:t>“Encoder”</a:t>
                </a:r>
              </a:p>
            </p:txBody>
          </p: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2B4F4F6-377E-A537-EEE2-6A5C9DA4A59B}"/>
                </a:ext>
              </a:extLst>
            </p:cNvPr>
            <p:cNvCxnSpPr>
              <a:cxnSpLocks/>
            </p:cNvCxnSpPr>
            <p:nvPr/>
          </p:nvCxnSpPr>
          <p:spPr>
            <a:xfrm>
              <a:off x="3284211" y="3371772"/>
              <a:ext cx="7170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40489C38-6680-D58D-CB90-71DCC79F1503}"/>
                </a:ext>
              </a:extLst>
            </p:cNvPr>
            <p:cNvSpPr/>
            <p:nvPr/>
          </p:nvSpPr>
          <p:spPr>
            <a:xfrm>
              <a:off x="114300" y="1790700"/>
              <a:ext cx="5689600" cy="3505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DCC9C4D0-434A-69C0-9F27-8D9625243B09}"/>
                </a:ext>
              </a:extLst>
            </p:cNvPr>
            <p:cNvSpPr/>
            <p:nvPr/>
          </p:nvSpPr>
          <p:spPr>
            <a:xfrm>
              <a:off x="5989164" y="1753375"/>
              <a:ext cx="6366935" cy="274242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C1FE4FC-AA63-2A1A-67CB-E69F6F7E5011}"/>
              </a:ext>
            </a:extLst>
          </p:cNvPr>
          <p:cNvCxnSpPr/>
          <p:nvPr/>
        </p:nvCxnSpPr>
        <p:spPr>
          <a:xfrm>
            <a:off x="4043023" y="2015286"/>
            <a:ext cx="1468520" cy="119083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413DB61-BA7F-1F91-EB8B-3D2DC654488A}"/>
                  </a:ext>
                </a:extLst>
              </p:cNvPr>
              <p:cNvSpPr txBox="1"/>
              <p:nvPr/>
            </p:nvSpPr>
            <p:spPr>
              <a:xfrm>
                <a:off x="2526522" y="3267060"/>
                <a:ext cx="3414857" cy="7353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FF0000"/>
                    </a:solidFill>
                  </a:rPr>
                  <a:t>Approximate distribution</a:t>
                </a:r>
              </a:p>
              <a:p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𝝓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413DB61-BA7F-1F91-EB8B-3D2DC6544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6522" y="3267060"/>
                <a:ext cx="3414857" cy="735394"/>
              </a:xfrm>
              <a:prstGeom prst="rect">
                <a:avLst/>
              </a:prstGeom>
              <a:blipFill>
                <a:blip r:embed="rId5"/>
                <a:stretch>
                  <a:fillRect l="-1845" t="-5085" b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8298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8FDC6-325C-682E-7170-D2DEC036D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BFF5E-F40B-4428-1545-3B37F69FB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66" y="-48423"/>
            <a:ext cx="11775456" cy="1325563"/>
          </a:xfrm>
        </p:spPr>
        <p:txBody>
          <a:bodyPr/>
          <a:lstStyle/>
          <a:p>
            <a:r>
              <a:rPr lang="en-US" dirty="0"/>
              <a:t>ELBO (Evidence lower bound objective) loss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7D2C09-9AA8-B23A-41A8-E39C6CBA4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3789" y="6416012"/>
            <a:ext cx="6786078" cy="42643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Lower bound on true data likelihood (ELBO)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EDF71A-7AA4-1F4C-448C-0DA17F22EC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95" t="34629" r="10529" b="52929"/>
          <a:stretch>
            <a:fillRect/>
          </a:stretch>
        </p:blipFill>
        <p:spPr>
          <a:xfrm>
            <a:off x="1352245" y="5128465"/>
            <a:ext cx="9115896" cy="8027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AD13BF0-224A-FC9A-46E3-8566808EB6D6}"/>
                  </a:ext>
                </a:extLst>
              </p:cNvPr>
              <p:cNvSpPr txBox="1"/>
              <p:nvPr/>
            </p:nvSpPr>
            <p:spPr>
              <a:xfrm>
                <a:off x="405885" y="4545613"/>
                <a:ext cx="10002354" cy="4948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Find parameters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sz="2400" dirty="0"/>
                  <a:t> of neural networks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𝝓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sz="2400" b="1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sz="24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accent4">
                        <a:lumMod val="75000"/>
                      </a:schemeClr>
                    </a:solidFill>
                  </a:rPr>
                  <a:t> </a:t>
                </a:r>
                <a:r>
                  <a:rPr lang="en-US" sz="2400" dirty="0"/>
                  <a:t>that maximize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AD13BF0-224A-FC9A-46E3-8566808EB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85" y="4545613"/>
                <a:ext cx="10002354" cy="494815"/>
              </a:xfrm>
              <a:prstGeom prst="rect">
                <a:avLst/>
              </a:prstGeom>
              <a:blipFill>
                <a:blip r:embed="rId5"/>
                <a:stretch>
                  <a:fillRect l="-1015" t="-7692" b="-25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ight Brace 10">
            <a:extLst>
              <a:ext uri="{FF2B5EF4-FFF2-40B4-BE49-F238E27FC236}">
                <a16:creationId xmlns:a16="http://schemas.microsoft.com/office/drawing/2014/main" id="{6F524D71-EBB9-1205-1D48-7F25E01018FD}"/>
              </a:ext>
            </a:extLst>
          </p:cNvPr>
          <p:cNvSpPr/>
          <p:nvPr/>
        </p:nvSpPr>
        <p:spPr>
          <a:xfrm rot="5400000">
            <a:off x="6605305" y="2489396"/>
            <a:ext cx="730034" cy="687583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DA86A4D-38CF-9E11-A06F-C4F2DCC43065}"/>
              </a:ext>
            </a:extLst>
          </p:cNvPr>
          <p:cNvGrpSpPr/>
          <p:nvPr/>
        </p:nvGrpSpPr>
        <p:grpSpPr>
          <a:xfrm>
            <a:off x="512585" y="1077249"/>
            <a:ext cx="11679415" cy="3225968"/>
            <a:chOff x="114300" y="1753375"/>
            <a:chExt cx="12909986" cy="354252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A2CCC5C-A453-91A3-E11F-3D6C59BC93F1}"/>
                </a:ext>
              </a:extLst>
            </p:cNvPr>
            <p:cNvGrpSpPr/>
            <p:nvPr/>
          </p:nvGrpSpPr>
          <p:grpSpPr>
            <a:xfrm>
              <a:off x="6096000" y="2303117"/>
              <a:ext cx="6928286" cy="2439810"/>
              <a:chOff x="5235116" y="2671643"/>
              <a:chExt cx="6928286" cy="2439810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8BD2491-4590-5C18-ADD0-9EA30E98E705}"/>
                  </a:ext>
                </a:extLst>
              </p:cNvPr>
              <p:cNvSpPr txBox="1"/>
              <p:nvPr/>
            </p:nvSpPr>
            <p:spPr>
              <a:xfrm>
                <a:off x="5235116" y="4100424"/>
                <a:ext cx="316935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solidFill>
                      <a:srgbClr val="C00000"/>
                    </a:solidFill>
                  </a:rPr>
                  <a:t>Latent variable z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7C9DBC4-4F07-0711-5885-B99609E8C07D}"/>
                  </a:ext>
                </a:extLst>
              </p:cNvPr>
              <p:cNvSpPr txBox="1"/>
              <p:nvPr/>
            </p:nvSpPr>
            <p:spPr>
              <a:xfrm>
                <a:off x="6635061" y="4742121"/>
                <a:ext cx="1847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8E694CF-4B35-2595-403B-FF63C814BE6E}"/>
                  </a:ext>
                </a:extLst>
              </p:cNvPr>
              <p:cNvSpPr/>
              <p:nvPr/>
            </p:nvSpPr>
            <p:spPr>
              <a:xfrm>
                <a:off x="6029691" y="3113083"/>
                <a:ext cx="688281" cy="80494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ED4E2E0-C408-677A-0BFE-B3428FEE2B39}"/>
                  </a:ext>
                </a:extLst>
              </p:cNvPr>
              <p:cNvSpPr txBox="1"/>
              <p:nvPr/>
            </p:nvSpPr>
            <p:spPr>
              <a:xfrm>
                <a:off x="6144882" y="3113083"/>
                <a:ext cx="472453" cy="7054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/>
                  <a:t>z</a:t>
                </a:r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A11DDC4C-6381-C4CD-5503-49654A7BCB98}"/>
                  </a:ext>
                </a:extLst>
              </p:cNvPr>
              <p:cNvCxnSpPr>
                <a:cxnSpLocks/>
                <a:stCxn id="23" idx="3"/>
              </p:cNvCxnSpPr>
              <p:nvPr/>
            </p:nvCxnSpPr>
            <p:spPr>
              <a:xfrm>
                <a:off x="6717972" y="3515557"/>
                <a:ext cx="51104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rapezoid 25">
                <a:extLst>
                  <a:ext uri="{FF2B5EF4-FFF2-40B4-BE49-F238E27FC236}">
                    <a16:creationId xmlns:a16="http://schemas.microsoft.com/office/drawing/2014/main" id="{73B7C2BD-FA24-5BE5-3DDC-C86E57ABAA7E}"/>
                  </a:ext>
                </a:extLst>
              </p:cNvPr>
              <p:cNvSpPr/>
              <p:nvPr/>
            </p:nvSpPr>
            <p:spPr>
              <a:xfrm rot="16200000">
                <a:off x="7253975" y="2646053"/>
                <a:ext cx="1687828" cy="1739007"/>
              </a:xfrm>
              <a:prstGeom prst="trapezoid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935CAE7B-9DF1-F3CF-C202-F058418539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67393" y="3515557"/>
                <a:ext cx="56032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2E77ED0-8BF3-3724-83DE-92DC521E0C74}"/>
                  </a:ext>
                </a:extLst>
              </p:cNvPr>
              <p:cNvSpPr txBox="1"/>
              <p:nvPr/>
            </p:nvSpPr>
            <p:spPr>
              <a:xfrm>
                <a:off x="7350313" y="3300112"/>
                <a:ext cx="149515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/>
                  <a:t>“Decoder”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FA770532-81D0-2DA3-490B-1764044557DC}"/>
                      </a:ext>
                    </a:extLst>
                  </p:cNvPr>
                  <p:cNvSpPr txBox="1"/>
                  <p:nvPr/>
                </p:nvSpPr>
                <p:spPr>
                  <a:xfrm>
                    <a:off x="9578443" y="3082846"/>
                    <a:ext cx="2584959" cy="11079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200" dirty="0">
                        <a:solidFill>
                          <a:schemeClr val="accent4">
                            <a:lumMod val="75000"/>
                          </a:schemeClr>
                        </a:solidFill>
                      </a:rPr>
                      <a:t>Conditional distribution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200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endChr m:val="|"/>
                            <m:ctrlPr>
                              <a:rPr lang="en-US" sz="2200" b="1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1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200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22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  <m:r>
                          <a:rPr lang="en-US" sz="22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US" sz="2200" dirty="0">
                      <a:solidFill>
                        <a:schemeClr val="accent4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FA770532-81D0-2DA3-490B-1764044557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78443" y="3082846"/>
                    <a:ext cx="2584959" cy="1107996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3226" t="-3704" b="-1604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E0C1ED0-5B2D-AE26-EE23-70A5C9FF8C85}"/>
                    </a:ext>
                  </a:extLst>
                </p:cNvPr>
                <p:cNvSpPr txBox="1"/>
                <p:nvPr/>
              </p:nvSpPr>
              <p:spPr>
                <a:xfrm>
                  <a:off x="4001300" y="2875002"/>
                  <a:ext cx="2227818" cy="11079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Conditional distribution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endChr m:val="|"/>
                          <m:ctrlPr>
                            <a:rPr lang="en-US" sz="2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22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E0C1ED0-5B2D-AE26-EE23-70A5C9FF8C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1300" y="2875002"/>
                  <a:ext cx="2227818" cy="1107996"/>
                </a:xfrm>
                <a:prstGeom prst="rect">
                  <a:avLst/>
                </a:prstGeom>
                <a:blipFill>
                  <a:blip r:embed="rId7"/>
                  <a:stretch>
                    <a:fillRect l="-3750" t="-3750" b="-1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152F11E-08AE-7EA7-E330-8C7938BB9C01}"/>
                </a:ext>
              </a:extLst>
            </p:cNvPr>
            <p:cNvGrpSpPr/>
            <p:nvPr/>
          </p:nvGrpSpPr>
          <p:grpSpPr>
            <a:xfrm>
              <a:off x="254313" y="2040968"/>
              <a:ext cx="3029897" cy="3061671"/>
              <a:chOff x="-16699" y="2305662"/>
              <a:chExt cx="3545285" cy="3615309"/>
            </a:xfrm>
          </p:grpSpPr>
          <p:sp>
            <p:nvSpPr>
              <p:cNvPr id="16" name="Trapezoid 15">
                <a:extLst>
                  <a:ext uri="{FF2B5EF4-FFF2-40B4-BE49-F238E27FC236}">
                    <a16:creationId xmlns:a16="http://schemas.microsoft.com/office/drawing/2014/main" id="{36C75FF7-D2D1-3A09-6BC0-BF767DD8631A}"/>
                  </a:ext>
                </a:extLst>
              </p:cNvPr>
              <p:cNvSpPr/>
              <p:nvPr/>
            </p:nvSpPr>
            <p:spPr>
              <a:xfrm rot="5400000">
                <a:off x="1815169" y="3075186"/>
                <a:ext cx="1687828" cy="1739007"/>
              </a:xfrm>
              <a:prstGeom prst="trapezoid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3E077E7-A705-CF2B-4382-529908059067}"/>
                  </a:ext>
                </a:extLst>
              </p:cNvPr>
              <p:cNvSpPr/>
              <p:nvPr/>
            </p:nvSpPr>
            <p:spPr>
              <a:xfrm>
                <a:off x="408674" y="2305662"/>
                <a:ext cx="541838" cy="306167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4FA35411-59AB-9AAA-FA3F-4D9E5D949A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0512" y="3877114"/>
                <a:ext cx="83906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D38E60-E8FA-0AFB-07C6-8D3EFC618735}"/>
                  </a:ext>
                </a:extLst>
              </p:cNvPr>
              <p:cNvSpPr txBox="1"/>
              <p:nvPr/>
            </p:nvSpPr>
            <p:spPr>
              <a:xfrm>
                <a:off x="-16699" y="5366973"/>
                <a:ext cx="166602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Data </a:t>
                </a:r>
                <a:r>
                  <a:rPr lang="en-US" sz="3000" b="1" dirty="0"/>
                  <a:t>x</a:t>
                </a:r>
                <a:endParaRPr lang="en-US" sz="3000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8BC0D64-02E4-C51D-0E42-D804130C6B06}"/>
                  </a:ext>
                </a:extLst>
              </p:cNvPr>
              <p:cNvSpPr txBox="1"/>
              <p:nvPr/>
            </p:nvSpPr>
            <p:spPr>
              <a:xfrm>
                <a:off x="1847114" y="3708152"/>
                <a:ext cx="146469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/>
                  <a:t>“Encoder”</a:t>
                </a:r>
              </a:p>
            </p:txBody>
          </p:sp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BC2A46C-3248-A4A5-63ED-39392B8B56F1}"/>
                </a:ext>
              </a:extLst>
            </p:cNvPr>
            <p:cNvCxnSpPr>
              <a:cxnSpLocks/>
            </p:cNvCxnSpPr>
            <p:nvPr/>
          </p:nvCxnSpPr>
          <p:spPr>
            <a:xfrm>
              <a:off x="3284211" y="3371772"/>
              <a:ext cx="7170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9CFB0EF3-6F55-69BE-7D0D-826B1BC9BABD}"/>
                </a:ext>
              </a:extLst>
            </p:cNvPr>
            <p:cNvSpPr/>
            <p:nvPr/>
          </p:nvSpPr>
          <p:spPr>
            <a:xfrm>
              <a:off x="114300" y="1790700"/>
              <a:ext cx="5689600" cy="3505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915E4217-27F8-43C1-04AC-60BA6B2F008E}"/>
                </a:ext>
              </a:extLst>
            </p:cNvPr>
            <p:cNvSpPr/>
            <p:nvPr/>
          </p:nvSpPr>
          <p:spPr>
            <a:xfrm>
              <a:off x="5989164" y="1753375"/>
              <a:ext cx="6366935" cy="274242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8A4ABFD-C034-D5B2-19C2-E36E1BFC1827}"/>
              </a:ext>
            </a:extLst>
          </p:cNvPr>
          <p:cNvCxnSpPr/>
          <p:nvPr/>
        </p:nvCxnSpPr>
        <p:spPr>
          <a:xfrm>
            <a:off x="4043023" y="2181842"/>
            <a:ext cx="1468520" cy="119083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5245798-B8CD-F2DC-CD97-D08E56DE355E}"/>
                  </a:ext>
                </a:extLst>
              </p:cNvPr>
              <p:cNvSpPr txBox="1"/>
              <p:nvPr/>
            </p:nvSpPr>
            <p:spPr>
              <a:xfrm>
                <a:off x="2526522" y="3433616"/>
                <a:ext cx="3414857" cy="7353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FF0000"/>
                    </a:solidFill>
                  </a:rPr>
                  <a:t>Approximate distribution</a:t>
                </a:r>
              </a:p>
              <a:p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𝝓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5245798-B8CD-F2DC-CD97-D08E56DE3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6522" y="3433616"/>
                <a:ext cx="3414857" cy="735394"/>
              </a:xfrm>
              <a:prstGeom prst="rect">
                <a:avLst/>
              </a:prstGeom>
              <a:blipFill>
                <a:blip r:embed="rId8"/>
                <a:stretch>
                  <a:fillRect l="-1845" t="-5085" b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B93A8D26-D8EE-2713-88A5-51967AD63F2F}"/>
              </a:ext>
            </a:extLst>
          </p:cNvPr>
          <p:cNvSpPr txBox="1"/>
          <p:nvPr/>
        </p:nvSpPr>
        <p:spPr>
          <a:xfrm>
            <a:off x="6007766" y="3657308"/>
            <a:ext cx="4885228" cy="4770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500" u="sng" dirty="0"/>
              <a:t>Prior distribution: </a:t>
            </a:r>
            <a:r>
              <a:rPr lang="en-US" sz="2500" dirty="0"/>
              <a:t>z ~ N(0, I)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5A8EDEEE-CC43-F2A8-DEA4-E58FC09B86D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12390" y="3644405"/>
            <a:ext cx="1307215" cy="85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159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248FA-FE10-F9CA-AC46-C97FE7E08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343" y="250825"/>
            <a:ext cx="10515600" cy="1325563"/>
          </a:xfrm>
        </p:spPr>
        <p:txBody>
          <a:bodyPr/>
          <a:lstStyle/>
          <a:p>
            <a:r>
              <a:rPr lang="en-US" dirty="0"/>
              <a:t>VAE architecture in practice: two networks trained jointly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D084A10-4B15-625C-04E7-74B271792B95}"/>
              </a:ext>
            </a:extLst>
          </p:cNvPr>
          <p:cNvGrpSpPr/>
          <p:nvPr/>
        </p:nvGrpSpPr>
        <p:grpSpPr>
          <a:xfrm>
            <a:off x="5896956" y="2762917"/>
            <a:ext cx="6295044" cy="1434522"/>
            <a:chOff x="4045380" y="2786006"/>
            <a:chExt cx="6295044" cy="143452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54C4BED-E1A5-7223-F7F9-5D83F1A6680B}"/>
                </a:ext>
              </a:extLst>
            </p:cNvPr>
            <p:cNvSpPr txBox="1"/>
            <p:nvPr/>
          </p:nvSpPr>
          <p:spPr>
            <a:xfrm>
              <a:off x="4045380" y="3789641"/>
              <a:ext cx="237774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solidFill>
                    <a:srgbClr val="C00000"/>
                  </a:solidFill>
                </a:rPr>
                <a:t>Latent variable z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34F9D10-FA2B-1817-6265-96F03AB2EBE8}"/>
                </a:ext>
              </a:extLst>
            </p:cNvPr>
            <p:cNvSpPr/>
            <p:nvPr/>
          </p:nvSpPr>
          <p:spPr>
            <a:xfrm>
              <a:off x="4982497" y="3090888"/>
              <a:ext cx="516369" cy="55593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0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A37859C-5E45-B07C-6784-175896360A12}"/>
                </a:ext>
              </a:extLst>
            </p:cNvPr>
            <p:cNvSpPr txBox="1"/>
            <p:nvPr/>
          </p:nvSpPr>
          <p:spPr>
            <a:xfrm>
              <a:off x="5068917" y="3090888"/>
              <a:ext cx="31611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/>
                <a:t>z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730516F1-6154-3B8D-473A-9313895E3AD8}"/>
                </a:ext>
              </a:extLst>
            </p:cNvPr>
            <p:cNvCxnSpPr>
              <a:stCxn id="18" idx="3"/>
            </p:cNvCxnSpPr>
            <p:nvPr/>
          </p:nvCxnSpPr>
          <p:spPr>
            <a:xfrm>
              <a:off x="5498866" y="3368857"/>
              <a:ext cx="7690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rapezoid 20">
              <a:extLst>
                <a:ext uri="{FF2B5EF4-FFF2-40B4-BE49-F238E27FC236}">
                  <a16:creationId xmlns:a16="http://schemas.microsoft.com/office/drawing/2014/main" id="{DDA4AC44-084C-4B8C-1F28-503718AC9AFB}"/>
                </a:ext>
              </a:extLst>
            </p:cNvPr>
            <p:cNvSpPr/>
            <p:nvPr/>
          </p:nvSpPr>
          <p:spPr>
            <a:xfrm rot="16200000">
              <a:off x="6337404" y="2716529"/>
              <a:ext cx="1165701" cy="1304656"/>
            </a:xfrm>
            <a:prstGeom prst="trapezoid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0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C044A25-C1CA-901C-86A4-FE87D2B8E5C8}"/>
                </a:ext>
              </a:extLst>
            </p:cNvPr>
            <p:cNvCxnSpPr/>
            <p:nvPr/>
          </p:nvCxnSpPr>
          <p:spPr>
            <a:xfrm>
              <a:off x="7572583" y="3363893"/>
              <a:ext cx="7690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0BBEE1B-6AFF-6CAD-75CA-480C1E8939A6}"/>
                    </a:ext>
                  </a:extLst>
                </p:cNvPr>
                <p:cNvSpPr txBox="1"/>
                <p:nvPr/>
              </p:nvSpPr>
              <p:spPr>
                <a:xfrm>
                  <a:off x="8401109" y="2865076"/>
                  <a:ext cx="1939315" cy="11079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>
                      <a:solidFill>
                        <a:schemeClr val="accent4">
                          <a:lumMod val="75000"/>
                        </a:schemeClr>
                      </a:solidFill>
                    </a:rPr>
                    <a:t>Conditional distribution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endChr m:val="|"/>
                          <m:ctrlPr>
                            <a:rPr lang="en-US" sz="2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2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2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2200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0BBEE1B-6AFF-6CAD-75CA-480C1E8939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1109" y="2865076"/>
                  <a:ext cx="1939315" cy="1107996"/>
                </a:xfrm>
                <a:prstGeom prst="rect">
                  <a:avLst/>
                </a:prstGeom>
                <a:blipFill>
                  <a:blip r:embed="rId2"/>
                  <a:stretch>
                    <a:fillRect l="-3896" t="-3371" b="-56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145382F-FB7D-3924-71CD-3D88C3CD6A58}"/>
              </a:ext>
            </a:extLst>
          </p:cNvPr>
          <p:cNvGrpSpPr/>
          <p:nvPr/>
        </p:nvGrpSpPr>
        <p:grpSpPr>
          <a:xfrm>
            <a:off x="195222" y="2162831"/>
            <a:ext cx="5145238" cy="3071369"/>
            <a:chOff x="967327" y="2199787"/>
            <a:chExt cx="5145238" cy="307136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C907E4D-BC60-052F-5DE5-A7EC80A22492}"/>
                </a:ext>
              </a:extLst>
            </p:cNvPr>
            <p:cNvSpPr txBox="1"/>
            <p:nvPr/>
          </p:nvSpPr>
          <p:spPr>
            <a:xfrm>
              <a:off x="5436665" y="4215986"/>
              <a:ext cx="171092" cy="3275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12" name="Trapezoid 11">
              <a:extLst>
                <a:ext uri="{FF2B5EF4-FFF2-40B4-BE49-F238E27FC236}">
                  <a16:creationId xmlns:a16="http://schemas.microsoft.com/office/drawing/2014/main" id="{F60DB5DB-5AE5-BDE1-86D9-EDF3AFF84815}"/>
                </a:ext>
              </a:extLst>
            </p:cNvPr>
            <p:cNvSpPr/>
            <p:nvPr/>
          </p:nvSpPr>
          <p:spPr>
            <a:xfrm rot="5400000">
              <a:off x="2978258" y="2731096"/>
              <a:ext cx="1165701" cy="1304655"/>
            </a:xfrm>
            <a:prstGeom prst="trapezoid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30132A-F7BB-D1FB-4527-5C089D8E2D94}"/>
                </a:ext>
              </a:extLst>
            </p:cNvPr>
            <p:cNvSpPr/>
            <p:nvPr/>
          </p:nvSpPr>
          <p:spPr>
            <a:xfrm>
              <a:off x="1286455" y="2283530"/>
              <a:ext cx="406503" cy="211454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C824567-FAC8-BC23-3182-E3EA74473B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2958" y="3334481"/>
              <a:ext cx="1215822" cy="3437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FE4BF37-EDE8-F453-FD60-8DC414EA0440}"/>
                </a:ext>
              </a:extLst>
            </p:cNvPr>
            <p:cNvSpPr txBox="1"/>
            <p:nvPr/>
          </p:nvSpPr>
          <p:spPr>
            <a:xfrm>
              <a:off x="967327" y="4397830"/>
              <a:ext cx="124990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Data </a:t>
              </a:r>
              <a:r>
                <a:rPr lang="en-US" sz="2200" b="1" dirty="0"/>
                <a:t>x</a:t>
              </a:r>
              <a:endParaRPr lang="en-US" sz="22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B915E6F-2616-946E-0543-3CA5F15AE5A9}"/>
                </a:ext>
              </a:extLst>
            </p:cNvPr>
            <p:cNvSpPr txBox="1"/>
            <p:nvPr/>
          </p:nvSpPr>
          <p:spPr>
            <a:xfrm>
              <a:off x="2955820" y="3070698"/>
              <a:ext cx="12576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Encoder network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4BAC5CB-A4D3-5632-151C-0C43BBE6D831}"/>
                </a:ext>
              </a:extLst>
            </p:cNvPr>
            <p:cNvSpPr txBox="1"/>
            <p:nvPr/>
          </p:nvSpPr>
          <p:spPr>
            <a:xfrm>
              <a:off x="2474713" y="4163160"/>
              <a:ext cx="271126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solidFill>
                    <a:srgbClr val="FF0000"/>
                  </a:solidFill>
                </a:rPr>
                <a:t>Approximate distribution is Gaussian: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EDDFEFA-E179-DCEF-EEA4-B6E4DB9ED3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3436" y="2603688"/>
              <a:ext cx="616314" cy="5505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FCAD6E6-857A-287A-F87B-285817E3387A}"/>
                </a:ext>
              </a:extLst>
            </p:cNvPr>
            <p:cNvCxnSpPr>
              <a:cxnSpLocks/>
            </p:cNvCxnSpPr>
            <p:nvPr/>
          </p:nvCxnSpPr>
          <p:spPr>
            <a:xfrm>
              <a:off x="4213436" y="3667227"/>
              <a:ext cx="671508" cy="3742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D1810C7-79EE-F9D4-C857-5F5D04C47FC9}"/>
                    </a:ext>
                  </a:extLst>
                </p:cNvPr>
                <p:cNvSpPr txBox="1"/>
                <p:nvPr/>
              </p:nvSpPr>
              <p:spPr>
                <a:xfrm>
                  <a:off x="4960572" y="2247388"/>
                  <a:ext cx="1037976" cy="4945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d>
                          <m:dPr>
                            <m:ctrlP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D1810C7-79EE-F9D4-C857-5F5D04C47F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0572" y="2247388"/>
                  <a:ext cx="1037976" cy="494559"/>
                </a:xfrm>
                <a:prstGeom prst="rect">
                  <a:avLst/>
                </a:prstGeom>
                <a:blipFill>
                  <a:blip r:embed="rId3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5F469CD-2D01-F017-E610-C95A424D8F52}"/>
                </a:ext>
              </a:extLst>
            </p:cNvPr>
            <p:cNvSpPr/>
            <p:nvPr/>
          </p:nvSpPr>
          <p:spPr>
            <a:xfrm>
              <a:off x="5004984" y="2199787"/>
              <a:ext cx="1051985" cy="6007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FC648A2-78AB-DAEE-FEF0-37B0E0A315B8}"/>
                </a:ext>
              </a:extLst>
            </p:cNvPr>
            <p:cNvSpPr/>
            <p:nvPr/>
          </p:nvSpPr>
          <p:spPr>
            <a:xfrm>
              <a:off x="5044513" y="3859913"/>
              <a:ext cx="1051985" cy="6007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4B24ABF8-4373-7D49-2F26-1937CBB85A79}"/>
                    </a:ext>
                  </a:extLst>
                </p:cNvPr>
                <p:cNvSpPr txBox="1"/>
                <p:nvPr/>
              </p:nvSpPr>
              <p:spPr>
                <a:xfrm>
                  <a:off x="5085482" y="3914078"/>
                  <a:ext cx="1027083" cy="52892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d>
                          <m:dPr>
                            <m:ctrlP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4B24ABF8-4373-7D49-2F26-1937CBB85A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5482" y="3914078"/>
                  <a:ext cx="1027083" cy="528927"/>
                </a:xfrm>
                <a:prstGeom prst="rect">
                  <a:avLst/>
                </a:prstGeom>
                <a:blipFill>
                  <a:blip r:embed="rId4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22EB8726-B6A2-C1CD-40B6-87736674F75A}"/>
              </a:ext>
            </a:extLst>
          </p:cNvPr>
          <p:cNvSpPr txBox="1"/>
          <p:nvPr/>
        </p:nvSpPr>
        <p:spPr>
          <a:xfrm>
            <a:off x="1772148" y="1520913"/>
            <a:ext cx="26827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Encoder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FBD3E2-A2E4-5778-AFA7-791819DDF5C6}"/>
              </a:ext>
            </a:extLst>
          </p:cNvPr>
          <p:cNvSpPr txBox="1"/>
          <p:nvPr/>
        </p:nvSpPr>
        <p:spPr>
          <a:xfrm>
            <a:off x="8082793" y="1496696"/>
            <a:ext cx="26827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Decoder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6DAC77A-CA24-0524-5147-91DB0152453B}"/>
                  </a:ext>
                </a:extLst>
              </p:cNvPr>
              <p:cNvSpPr txBox="1"/>
              <p:nvPr/>
            </p:nvSpPr>
            <p:spPr>
              <a:xfrm>
                <a:off x="658654" y="5188510"/>
                <a:ext cx="4048801" cy="52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6DAC77A-CA24-0524-5147-91DB01524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54" y="5188510"/>
                <a:ext cx="4048801" cy="528927"/>
              </a:xfrm>
              <a:prstGeom prst="rect">
                <a:avLst/>
              </a:prstGeom>
              <a:blipFill>
                <a:blip r:embed="rId5"/>
                <a:stretch>
                  <a:fillRect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18376430-F425-D104-4F87-418883E449BC}"/>
              </a:ext>
            </a:extLst>
          </p:cNvPr>
          <p:cNvSpPr txBox="1"/>
          <p:nvPr/>
        </p:nvSpPr>
        <p:spPr>
          <a:xfrm>
            <a:off x="1937259" y="5993737"/>
            <a:ext cx="115384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Loss: 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138F396-06F3-77CE-3BF1-5326B04E9BE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209" t="35296" r="10529" b="52929"/>
          <a:stretch>
            <a:fillRect/>
          </a:stretch>
        </p:blipFill>
        <p:spPr>
          <a:xfrm>
            <a:off x="2974174" y="5984233"/>
            <a:ext cx="7026810" cy="759736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D10EB67A-B948-2022-BD7F-FF6ADB4B69C6}"/>
              </a:ext>
            </a:extLst>
          </p:cNvPr>
          <p:cNvSpPr/>
          <p:nvPr/>
        </p:nvSpPr>
        <p:spPr>
          <a:xfrm>
            <a:off x="1937259" y="5826024"/>
            <a:ext cx="8037512" cy="982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01868-D744-20BD-2E6C-C425338B3D06}"/>
              </a:ext>
            </a:extLst>
          </p:cNvPr>
          <p:cNvSpPr txBox="1"/>
          <p:nvPr/>
        </p:nvSpPr>
        <p:spPr>
          <a:xfrm>
            <a:off x="9451677" y="4323059"/>
            <a:ext cx="2763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Homework: could be Gaussian, Poisson, …</a:t>
            </a:r>
          </a:p>
        </p:txBody>
      </p:sp>
    </p:spTree>
    <p:extLst>
      <p:ext uri="{BB962C8B-B14F-4D97-AF65-F5344CB8AC3E}">
        <p14:creationId xmlns:p14="http://schemas.microsoft.com/office/powerpoint/2010/main" val="1733788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2A99C-EF44-A4B3-F446-BDF7DAFBB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98" y="111472"/>
            <a:ext cx="11326585" cy="1325563"/>
          </a:xfrm>
        </p:spPr>
        <p:txBody>
          <a:bodyPr/>
          <a:lstStyle/>
          <a:p>
            <a:r>
              <a:rPr lang="en-US" dirty="0" err="1"/>
              <a:t>scVI</a:t>
            </a:r>
            <a:r>
              <a:rPr lang="en-US" dirty="0"/>
              <a:t> is a widely-used VAE in single-cell biology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F8B5FE-C3F2-1281-D89C-E676FDAE7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98" y="1137475"/>
            <a:ext cx="6016978" cy="11875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Fig. 1: Overview of scVI.">
            <a:extLst>
              <a:ext uri="{FF2B5EF4-FFF2-40B4-BE49-F238E27FC236}">
                <a16:creationId xmlns:a16="http://schemas.microsoft.com/office/drawing/2014/main" id="{9CE4338D-732E-5D02-91F3-A75BAB4F45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538"/>
          <a:stretch>
            <a:fillRect/>
          </a:stretch>
        </p:blipFill>
        <p:spPr>
          <a:xfrm>
            <a:off x="126698" y="2463038"/>
            <a:ext cx="6292324" cy="41053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282709-D22C-101A-0614-84E3781916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793" y="4692366"/>
            <a:ext cx="5896207" cy="20541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7A357B9-97C8-72F1-3149-5A3231FC0ED2}"/>
              </a:ext>
            </a:extLst>
          </p:cNvPr>
          <p:cNvSpPr txBox="1"/>
          <p:nvPr/>
        </p:nvSpPr>
        <p:spPr>
          <a:xfrm>
            <a:off x="6813468" y="3269200"/>
            <a:ext cx="4860855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FF0000"/>
                </a:solidFill>
              </a:rPr>
              <a:t>An entire ecosystem – </a:t>
            </a:r>
            <a:r>
              <a:rPr lang="en-US" sz="2500" dirty="0" err="1">
                <a:solidFill>
                  <a:srgbClr val="FF0000"/>
                </a:solidFill>
              </a:rPr>
              <a:t>scvi</a:t>
            </a:r>
            <a:r>
              <a:rPr lang="en-US" sz="2500" dirty="0">
                <a:solidFill>
                  <a:srgbClr val="FF0000"/>
                </a:solidFill>
              </a:rPr>
              <a:t>-tools – is based off of variational inference</a:t>
            </a:r>
          </a:p>
        </p:txBody>
      </p:sp>
    </p:spTree>
    <p:extLst>
      <p:ext uri="{BB962C8B-B14F-4D97-AF65-F5344CB8AC3E}">
        <p14:creationId xmlns:p14="http://schemas.microsoft.com/office/powerpoint/2010/main" val="3477603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5A2D1-317D-BD86-B1C8-A649969F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357" y="222476"/>
            <a:ext cx="10515600" cy="1325563"/>
          </a:xfrm>
        </p:spPr>
        <p:txBody>
          <a:bodyPr/>
          <a:lstStyle/>
          <a:p>
            <a:r>
              <a:rPr lang="en-US" dirty="0"/>
              <a:t>Next: self-supervised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411-A141-722F-A0FC-312C8CF21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Generative models are great but now suppose </a:t>
            </a:r>
            <a:r>
              <a:rPr lang="en-US" b="1" dirty="0"/>
              <a:t>you just want to learn representations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(i.e. you don’t care about generating new samples)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4048E0-BBAB-656E-C602-5479BD033D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72" t="29319" r="47129" b="21381"/>
          <a:stretch>
            <a:fillRect/>
          </a:stretch>
        </p:blipFill>
        <p:spPr>
          <a:xfrm>
            <a:off x="2416628" y="2578894"/>
            <a:ext cx="6874329" cy="39798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433D9F-FDAC-76F6-C376-189BAB742209}"/>
              </a:ext>
            </a:extLst>
          </p:cNvPr>
          <p:cNvSpPr txBox="1"/>
          <p:nvPr/>
        </p:nvSpPr>
        <p:spPr>
          <a:xfrm>
            <a:off x="2534535" y="6127881"/>
            <a:ext cx="302262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(e.g. single cell vectors)</a:t>
            </a:r>
          </a:p>
        </p:txBody>
      </p:sp>
    </p:spTree>
    <p:extLst>
      <p:ext uri="{BB962C8B-B14F-4D97-AF65-F5344CB8AC3E}">
        <p14:creationId xmlns:p14="http://schemas.microsoft.com/office/powerpoint/2010/main" val="1374328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83A7B-2044-6076-C04F-50C6E8D7F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329" y="267154"/>
            <a:ext cx="10515600" cy="1325563"/>
          </a:xfrm>
        </p:spPr>
        <p:txBody>
          <a:bodyPr/>
          <a:lstStyle/>
          <a:p>
            <a:r>
              <a:rPr lang="en-US" dirty="0"/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4C5DB-7A8E-3C9A-5CE8-887E9B506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35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If you have labels, you can extract </a:t>
            </a:r>
            <a:r>
              <a:rPr lang="en-US" b="1" dirty="0"/>
              <a:t>last (or intermediate) layer</a:t>
            </a:r>
            <a:r>
              <a:rPr lang="en-US" dirty="0"/>
              <a:t> from an MLP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C977A42-D62F-9F96-E807-8E3A1C72A62B}"/>
              </a:ext>
            </a:extLst>
          </p:cNvPr>
          <p:cNvGrpSpPr/>
          <p:nvPr/>
        </p:nvGrpSpPr>
        <p:grpSpPr>
          <a:xfrm>
            <a:off x="587829" y="2197089"/>
            <a:ext cx="11430000" cy="3979874"/>
            <a:chOff x="571500" y="2610972"/>
            <a:chExt cx="11430000" cy="397987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F254D14-B006-2FA4-11DD-4C95369C1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972" t="29319" r="28015" b="21381"/>
            <a:stretch>
              <a:fillRect/>
            </a:stretch>
          </p:blipFill>
          <p:spPr>
            <a:xfrm>
              <a:off x="571500" y="2610972"/>
              <a:ext cx="9617529" cy="397987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3A51B74-95DA-32E0-0293-26E6ABF74373}"/>
                </a:ext>
              </a:extLst>
            </p:cNvPr>
            <p:cNvSpPr txBox="1"/>
            <p:nvPr/>
          </p:nvSpPr>
          <p:spPr>
            <a:xfrm>
              <a:off x="10076815" y="4046911"/>
              <a:ext cx="192468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000" dirty="0"/>
                <a:t>Training labels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6412D99-6C98-C7B4-8BDD-08F46E1A457D}"/>
                </a:ext>
              </a:extLst>
            </p:cNvPr>
            <p:cNvSpPr txBox="1"/>
            <p:nvPr/>
          </p:nvSpPr>
          <p:spPr>
            <a:xfrm>
              <a:off x="571500" y="6154062"/>
              <a:ext cx="302262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(e.g. single cell vectors)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18D0FCA-081C-2E25-1409-8CB4052E3E33}"/>
                </a:ext>
              </a:extLst>
            </p:cNvPr>
            <p:cNvSpPr txBox="1"/>
            <p:nvPr/>
          </p:nvSpPr>
          <p:spPr>
            <a:xfrm>
              <a:off x="9975268" y="5051124"/>
              <a:ext cx="187532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(e.g. cell type)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1010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98ED-E115-7144-ADF3-9E737F940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394CF-45A3-EF61-A7B8-8254B800F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329" y="267154"/>
            <a:ext cx="10515600" cy="1325563"/>
          </a:xfrm>
        </p:spPr>
        <p:txBody>
          <a:bodyPr/>
          <a:lstStyle/>
          <a:p>
            <a:r>
              <a:rPr lang="en-US" dirty="0"/>
              <a:t>What if you don’t have labels?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C96F1-45F2-E1AB-59A2-BD4B0710C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35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e.g. only single cell vectors but no cell type labels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DE881B4-3C6F-5068-3C36-CE23F9CF9298}"/>
              </a:ext>
            </a:extLst>
          </p:cNvPr>
          <p:cNvGrpSpPr/>
          <p:nvPr/>
        </p:nvGrpSpPr>
        <p:grpSpPr>
          <a:xfrm>
            <a:off x="587829" y="2197089"/>
            <a:ext cx="11430000" cy="3979874"/>
            <a:chOff x="571500" y="2610972"/>
            <a:chExt cx="11430000" cy="397987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BAC3955-F8E0-939E-B099-0F21C130DE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972" t="29319" r="28015" b="21381"/>
            <a:stretch>
              <a:fillRect/>
            </a:stretch>
          </p:blipFill>
          <p:spPr>
            <a:xfrm>
              <a:off x="571500" y="2610972"/>
              <a:ext cx="9617529" cy="397987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952E9CC-B0B8-CF3F-B0C4-5CF2E8087950}"/>
                </a:ext>
              </a:extLst>
            </p:cNvPr>
            <p:cNvSpPr txBox="1"/>
            <p:nvPr/>
          </p:nvSpPr>
          <p:spPr>
            <a:xfrm>
              <a:off x="10076815" y="4046911"/>
              <a:ext cx="192468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dirty="0">
                  <a:solidFill>
                    <a:srgbClr val="C00000"/>
                  </a:solidFill>
                </a:rPr>
                <a:t>????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9C79AF3-66A0-6869-604D-2D253C4483D6}"/>
                </a:ext>
              </a:extLst>
            </p:cNvPr>
            <p:cNvSpPr txBox="1"/>
            <p:nvPr/>
          </p:nvSpPr>
          <p:spPr>
            <a:xfrm>
              <a:off x="571500" y="6154062"/>
              <a:ext cx="302262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(e.g. single cell vectors)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86003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2B611-2F0F-7C80-7CC6-7B2DBA8A4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9" y="234496"/>
            <a:ext cx="10515600" cy="1325563"/>
          </a:xfrm>
        </p:spPr>
        <p:txBody>
          <a:bodyPr/>
          <a:lstStyle/>
          <a:p>
            <a:r>
              <a:rPr lang="en-US" b="1" u="sng" dirty="0"/>
              <a:t>Self-</a:t>
            </a:r>
            <a:r>
              <a:rPr lang="en-US" dirty="0"/>
              <a:t>supervised learning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0324D9B-D1BF-F5F3-39B6-81C0B83D9DAD}"/>
              </a:ext>
            </a:extLst>
          </p:cNvPr>
          <p:cNvGrpSpPr/>
          <p:nvPr/>
        </p:nvGrpSpPr>
        <p:grpSpPr>
          <a:xfrm>
            <a:off x="0" y="1560059"/>
            <a:ext cx="12192000" cy="3841977"/>
            <a:chOff x="571500" y="2610972"/>
            <a:chExt cx="12246428" cy="397987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0F5053B-D19A-9166-5870-FAC502A1D9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972" t="29319" r="9697" b="21381"/>
            <a:stretch>
              <a:fillRect/>
            </a:stretch>
          </p:blipFill>
          <p:spPr>
            <a:xfrm>
              <a:off x="571500" y="2610972"/>
              <a:ext cx="12246428" cy="3979874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27B741C-254E-9461-7F81-91F4FA928FD9}"/>
                </a:ext>
              </a:extLst>
            </p:cNvPr>
            <p:cNvSpPr txBox="1"/>
            <p:nvPr/>
          </p:nvSpPr>
          <p:spPr>
            <a:xfrm>
              <a:off x="571500" y="6154062"/>
              <a:ext cx="302262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(e.g. single cell vectors)</a:t>
              </a:r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22E8A1-28C2-339C-FF6D-9E6BD572D252}"/>
              </a:ext>
            </a:extLst>
          </p:cNvPr>
          <p:cNvCxnSpPr/>
          <p:nvPr/>
        </p:nvCxnSpPr>
        <p:spPr>
          <a:xfrm>
            <a:off x="9979378" y="3462867"/>
            <a:ext cx="1817511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425BFF-BBA3-F14D-5DDA-50BDA1441CFA}"/>
              </a:ext>
            </a:extLst>
          </p:cNvPr>
          <p:cNvCxnSpPr>
            <a:cxnSpLocks/>
          </p:cNvCxnSpPr>
          <p:nvPr/>
        </p:nvCxnSpPr>
        <p:spPr>
          <a:xfrm>
            <a:off x="10227734" y="3852334"/>
            <a:ext cx="132080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64C8A3-625C-B900-3127-39CADF9CD2CA}"/>
              </a:ext>
            </a:extLst>
          </p:cNvPr>
          <p:cNvCxnSpPr>
            <a:cxnSpLocks/>
          </p:cNvCxnSpPr>
          <p:nvPr/>
        </p:nvCxnSpPr>
        <p:spPr>
          <a:xfrm>
            <a:off x="10227734" y="4264378"/>
            <a:ext cx="132080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4102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A6A40-EE37-9061-5292-FB2C3F60D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371" y="332467"/>
            <a:ext cx="11669485" cy="1325563"/>
          </a:xfrm>
        </p:spPr>
        <p:txBody>
          <a:bodyPr>
            <a:normAutofit/>
          </a:bodyPr>
          <a:lstStyle/>
          <a:p>
            <a:r>
              <a:rPr lang="en-US" sz="4000" dirty="0"/>
              <a:t>Early(</a:t>
            </a:r>
            <a:r>
              <a:rPr lang="en-US" sz="4000" dirty="0" err="1"/>
              <a:t>ish</a:t>
            </a:r>
            <a:r>
              <a:rPr lang="en-US" sz="4000" dirty="0"/>
              <a:t>) self-supervised approaches: “pretext” tasks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21642F-F145-E662-0B5C-7DBE161956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8365"/>
          <a:stretch>
            <a:fillRect/>
          </a:stretch>
        </p:blipFill>
        <p:spPr>
          <a:xfrm>
            <a:off x="693258" y="1327977"/>
            <a:ext cx="10083599" cy="5197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4603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2B542-A87C-F136-A4E0-67D7B837D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1F88B-28D6-9D78-2C72-AC77D2A94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370" y="136524"/>
            <a:ext cx="11669485" cy="1325563"/>
          </a:xfrm>
        </p:spPr>
        <p:txBody>
          <a:bodyPr>
            <a:normAutofit/>
          </a:bodyPr>
          <a:lstStyle/>
          <a:p>
            <a:r>
              <a:rPr lang="en-US" sz="4000" dirty="0"/>
              <a:t>Early(</a:t>
            </a:r>
            <a:r>
              <a:rPr lang="en-US" sz="4000" dirty="0" err="1"/>
              <a:t>ish</a:t>
            </a:r>
            <a:r>
              <a:rPr lang="en-US" sz="4000" dirty="0"/>
              <a:t>) self-supervised approaches: “pretext” tasks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DF0E516-225C-CFC5-C635-E9F6524F83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6585" b="7989"/>
          <a:stretch>
            <a:fillRect/>
          </a:stretch>
        </p:blipFill>
        <p:spPr>
          <a:xfrm>
            <a:off x="117890" y="1217158"/>
            <a:ext cx="11934444" cy="5063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2203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ED8B7-9EB8-170D-60F7-93B7C08DF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C74A3-1968-BEAD-103F-C6B0C1FA6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370" y="136524"/>
            <a:ext cx="11669485" cy="1325563"/>
          </a:xfrm>
        </p:spPr>
        <p:txBody>
          <a:bodyPr>
            <a:normAutofit/>
          </a:bodyPr>
          <a:lstStyle/>
          <a:p>
            <a:r>
              <a:rPr lang="en-US" sz="4000" dirty="0"/>
              <a:t>Early(</a:t>
            </a:r>
            <a:r>
              <a:rPr lang="en-US" sz="4000" dirty="0" err="1"/>
              <a:t>ish</a:t>
            </a:r>
            <a:r>
              <a:rPr lang="en-US" sz="4000" dirty="0"/>
              <a:t>) self-supervised approaches: “pretext” tasks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17A0E8C-FC22-5EFC-6220-A5AF782DDC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6585" b="7989"/>
          <a:stretch>
            <a:fillRect/>
          </a:stretch>
        </p:blipFill>
        <p:spPr>
          <a:xfrm>
            <a:off x="117890" y="1217158"/>
            <a:ext cx="11934444" cy="506344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F50D119-2D4B-1DEE-4C3B-DB9ABAA72BAF}"/>
              </a:ext>
            </a:extLst>
          </p:cNvPr>
          <p:cNvCxnSpPr/>
          <p:nvPr/>
        </p:nvCxnSpPr>
        <p:spPr>
          <a:xfrm>
            <a:off x="5878286" y="2073729"/>
            <a:ext cx="522514" cy="437605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C3D5432-F591-777D-AEEF-CEBE5C37D7E8}"/>
              </a:ext>
            </a:extLst>
          </p:cNvPr>
          <p:cNvCxnSpPr>
            <a:cxnSpLocks/>
          </p:cNvCxnSpPr>
          <p:nvPr/>
        </p:nvCxnSpPr>
        <p:spPr>
          <a:xfrm>
            <a:off x="5823855" y="3124201"/>
            <a:ext cx="315688" cy="332558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D8ED435-44BF-6D8E-CAF3-708A902185EC}"/>
              </a:ext>
            </a:extLst>
          </p:cNvPr>
          <p:cNvCxnSpPr>
            <a:cxnSpLocks/>
          </p:cNvCxnSpPr>
          <p:nvPr/>
        </p:nvCxnSpPr>
        <p:spPr>
          <a:xfrm>
            <a:off x="5562598" y="4261757"/>
            <a:ext cx="315688" cy="218802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F06D3B3-CE56-E0BB-2FCF-0299B3E4754B}"/>
              </a:ext>
            </a:extLst>
          </p:cNvPr>
          <p:cNvSpPr txBox="1"/>
          <p:nvPr/>
        </p:nvSpPr>
        <p:spPr>
          <a:xfrm>
            <a:off x="4816928" y="6449786"/>
            <a:ext cx="560191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C00000"/>
                </a:solidFill>
              </a:rPr>
              <a:t>Extract representation from last layer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2C0C8D7-AC5C-5CB9-B573-B6268900484F}"/>
              </a:ext>
            </a:extLst>
          </p:cNvPr>
          <p:cNvCxnSpPr>
            <a:cxnSpLocks/>
          </p:cNvCxnSpPr>
          <p:nvPr/>
        </p:nvCxnSpPr>
        <p:spPr>
          <a:xfrm>
            <a:off x="5290451" y="5399313"/>
            <a:ext cx="57156" cy="105047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64590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12D17-4A8E-2A52-EA13-58A231A6F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267153"/>
            <a:ext cx="10515600" cy="1325563"/>
          </a:xfrm>
        </p:spPr>
        <p:txBody>
          <a:bodyPr/>
          <a:lstStyle/>
          <a:p>
            <a:r>
              <a:rPr lang="en-US" dirty="0"/>
              <a:t>Many other pretext tasks…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8756C8-73A6-EEB4-ADB1-45FA543A79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30" b="7189"/>
          <a:stretch>
            <a:fillRect/>
          </a:stretch>
        </p:blipFill>
        <p:spPr>
          <a:xfrm>
            <a:off x="465365" y="1592716"/>
            <a:ext cx="9922328" cy="473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3027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88B8B3-F45C-6AE2-FE13-1931B212D8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419"/>
          <a:stretch>
            <a:fillRect/>
          </a:stretch>
        </p:blipFill>
        <p:spPr>
          <a:xfrm>
            <a:off x="0" y="293915"/>
            <a:ext cx="1206462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6175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A36A1E-C46C-DAF0-513D-979DAA64A1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684"/>
          <a:stretch>
            <a:fillRect/>
          </a:stretch>
        </p:blipFill>
        <p:spPr>
          <a:xfrm>
            <a:off x="0" y="0"/>
            <a:ext cx="11889070" cy="610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1632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AB68E2-319E-D157-21D2-B14DDD9DB5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684"/>
          <a:stretch>
            <a:fillRect/>
          </a:stretch>
        </p:blipFill>
        <p:spPr>
          <a:xfrm>
            <a:off x="-1" y="0"/>
            <a:ext cx="12016225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1487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06DE4E-8044-7454-A349-A14BAC7A7C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749"/>
          <a:stretch>
            <a:fillRect/>
          </a:stretch>
        </p:blipFill>
        <p:spPr>
          <a:xfrm>
            <a:off x="168729" y="0"/>
            <a:ext cx="11894604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9929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C320D8-CE1A-ADAB-3475-1C9F8158C7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94"/>
          <a:stretch>
            <a:fillRect/>
          </a:stretch>
        </p:blipFill>
        <p:spPr>
          <a:xfrm>
            <a:off x="124177" y="112184"/>
            <a:ext cx="11702062" cy="598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3181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D15BD-8604-FECA-C2D9-67872CEC0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734" y="274814"/>
            <a:ext cx="10515600" cy="1325563"/>
          </a:xfrm>
        </p:spPr>
        <p:txBody>
          <a:bodyPr/>
          <a:lstStyle/>
          <a:p>
            <a:r>
              <a:rPr lang="en-US" dirty="0"/>
              <a:t>Contrastive learning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BC03543-10E0-0179-1AFC-8E265F95A6A2}"/>
              </a:ext>
            </a:extLst>
          </p:cNvPr>
          <p:cNvGrpSpPr/>
          <p:nvPr/>
        </p:nvGrpSpPr>
        <p:grpSpPr>
          <a:xfrm>
            <a:off x="641081" y="2043289"/>
            <a:ext cx="9688251" cy="3851329"/>
            <a:chOff x="1126504" y="2450311"/>
            <a:chExt cx="8477956" cy="351813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FBD2629-90E6-6C85-F298-94247739BB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6504" y="2450311"/>
              <a:ext cx="8477956" cy="351813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75554BA-2803-39C4-2E36-FB1159B2B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64984" y="2899657"/>
              <a:ext cx="373814" cy="529343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82A5238-A9A4-D473-807D-7D31538D8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61524" y="3882171"/>
              <a:ext cx="452032" cy="60818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B5279DD-8D82-282B-8105-67462E9331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39811" y="4826352"/>
              <a:ext cx="586232" cy="502003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48B911C-26B2-6640-FAA1-F30968DA329B}"/>
              </a:ext>
            </a:extLst>
          </p:cNvPr>
          <p:cNvSpPr txBox="1"/>
          <p:nvPr/>
        </p:nvSpPr>
        <p:spPr>
          <a:xfrm>
            <a:off x="809460" y="6488668"/>
            <a:ext cx="1138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</a:t>
            </a:r>
            <a:r>
              <a:rPr lang="en-US" dirty="0">
                <a:hlinkClick r:id="rId6"/>
              </a:rPr>
              <a:t>https://visionbook.mit.edu/representation_learning.html#sec-representation_learning-contrastive_learning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30495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A75878-53C4-7753-DE5C-9981BF1D3C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516"/>
          <a:stretch>
            <a:fillRect/>
          </a:stretch>
        </p:blipFill>
        <p:spPr>
          <a:xfrm>
            <a:off x="135466" y="225072"/>
            <a:ext cx="11458309" cy="5509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360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7736132-CECC-ED1A-AC8F-8853D2DBE8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6743"/>
          <a:stretch>
            <a:fillRect/>
          </a:stretch>
        </p:blipFill>
        <p:spPr>
          <a:xfrm>
            <a:off x="198052" y="0"/>
            <a:ext cx="11993948" cy="359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5294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BDA7D0-E81A-F205-F0DE-3C8193128C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9093"/>
          <a:stretch>
            <a:fillRect/>
          </a:stretch>
        </p:blipFill>
        <p:spPr>
          <a:xfrm>
            <a:off x="124177" y="-1"/>
            <a:ext cx="11700685" cy="5983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4003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C9DEFF-9EAF-6567-1276-301FEAA21F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000"/>
          <a:stretch>
            <a:fillRect/>
          </a:stretch>
        </p:blipFill>
        <p:spPr>
          <a:xfrm>
            <a:off x="248354" y="191205"/>
            <a:ext cx="10806099" cy="52274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145BEA-6D06-2BA3-26EB-96747A1CED8F}"/>
              </a:ext>
            </a:extLst>
          </p:cNvPr>
          <p:cNvSpPr txBox="1"/>
          <p:nvPr/>
        </p:nvSpPr>
        <p:spPr>
          <a:xfrm>
            <a:off x="745067" y="5418666"/>
            <a:ext cx="346037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solidFill>
                  <a:srgbClr val="FF0000"/>
                </a:solidFill>
              </a:rPr>
              <a:t>Called the </a:t>
            </a:r>
            <a:r>
              <a:rPr lang="en-US" sz="2500" dirty="0" err="1">
                <a:solidFill>
                  <a:srgbClr val="FF0000"/>
                </a:solidFill>
              </a:rPr>
              <a:t>InfoNCE</a:t>
            </a:r>
            <a:r>
              <a:rPr lang="en-US" sz="2500" dirty="0">
                <a:solidFill>
                  <a:srgbClr val="FF0000"/>
                </a:solidFill>
              </a:rPr>
              <a:t> loss</a:t>
            </a:r>
          </a:p>
        </p:txBody>
      </p:sp>
    </p:spTree>
    <p:extLst>
      <p:ext uri="{BB962C8B-B14F-4D97-AF65-F5344CB8AC3E}">
        <p14:creationId xmlns:p14="http://schemas.microsoft.com/office/powerpoint/2010/main" val="16121189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97D8D-3217-CA33-BCEF-D5FD7355C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309BA8-516D-D799-D303-AB5813DC59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38887"/>
          <a:stretch>
            <a:fillRect/>
          </a:stretch>
        </p:blipFill>
        <p:spPr>
          <a:xfrm>
            <a:off x="948266" y="0"/>
            <a:ext cx="9256890" cy="318218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E470B22-539F-E2B5-4BD6-CCA6EF55B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66" y="3182188"/>
            <a:ext cx="4131735" cy="36619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14E210-C2BF-A395-0E36-05A829C0D463}"/>
              </a:ext>
            </a:extLst>
          </p:cNvPr>
          <p:cNvSpPr txBox="1"/>
          <p:nvPr/>
        </p:nvSpPr>
        <p:spPr>
          <a:xfrm>
            <a:off x="5858933" y="3770489"/>
            <a:ext cx="615244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/>
              <a:t>Wang and Isola (ICML 2020) show that </a:t>
            </a:r>
            <a:r>
              <a:rPr lang="en-US" sz="2300" dirty="0" err="1"/>
              <a:t>InfoNCE</a:t>
            </a:r>
            <a:r>
              <a:rPr lang="en-US" sz="2300" dirty="0"/>
              <a:t> loss encourages</a:t>
            </a:r>
          </a:p>
          <a:p>
            <a:pPr marL="342900" indent="-342900">
              <a:buAutoNum type="arabicPeriod"/>
            </a:pPr>
            <a:r>
              <a:rPr lang="en-US" sz="2300" dirty="0"/>
              <a:t>Alignment (shown left)</a:t>
            </a:r>
          </a:p>
          <a:p>
            <a:pPr marL="342900" indent="-342900">
              <a:buAutoNum type="arabicPeriod"/>
            </a:pPr>
            <a:r>
              <a:rPr lang="en-US" sz="2300" dirty="0"/>
              <a:t>Uniformity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300" dirty="0" err="1"/>
              <a:t>ie</a:t>
            </a:r>
            <a:r>
              <a:rPr lang="en-US" sz="2300" dirty="0"/>
              <a:t> embeddings are spread out uniform across circle and not clustered together</a:t>
            </a:r>
          </a:p>
        </p:txBody>
      </p:sp>
    </p:spTree>
    <p:extLst>
      <p:ext uri="{BB962C8B-B14F-4D97-AF65-F5344CB8AC3E}">
        <p14:creationId xmlns:p14="http://schemas.microsoft.com/office/powerpoint/2010/main" val="16536288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9E87DC-848D-6AFD-CFC5-64C6CF6059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319"/>
          <a:stretch>
            <a:fillRect/>
          </a:stretch>
        </p:blipFill>
        <p:spPr>
          <a:xfrm>
            <a:off x="135465" y="295980"/>
            <a:ext cx="12150447" cy="626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8207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FB79FB-2B5D-213F-CA60-D47C2CA5D8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934"/>
          <a:stretch>
            <a:fillRect/>
          </a:stretch>
        </p:blipFill>
        <p:spPr>
          <a:xfrm>
            <a:off x="79022" y="270228"/>
            <a:ext cx="11714860" cy="580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5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0E1675-73D0-299C-76D1-6D428C52DD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061"/>
          <a:stretch>
            <a:fillRect/>
          </a:stretch>
        </p:blipFill>
        <p:spPr>
          <a:xfrm>
            <a:off x="0" y="316566"/>
            <a:ext cx="12036710" cy="62248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B6EEC6-8AB6-27E3-AADF-13B87B5CB20B}"/>
              </a:ext>
            </a:extLst>
          </p:cNvPr>
          <p:cNvSpPr/>
          <p:nvPr/>
        </p:nvSpPr>
        <p:spPr>
          <a:xfrm>
            <a:off x="8785412" y="0"/>
            <a:ext cx="3711388" cy="1864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114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4B00E2-A989-9647-3EDD-EB68AA3932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881"/>
          <a:stretch>
            <a:fillRect/>
          </a:stretch>
        </p:blipFill>
        <p:spPr>
          <a:xfrm>
            <a:off x="0" y="0"/>
            <a:ext cx="11998574" cy="614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4033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48DE7-4279-2B1B-D5F6-B372573CA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35" y="0"/>
            <a:ext cx="11908541" cy="1325563"/>
          </a:xfrm>
        </p:spPr>
        <p:txBody>
          <a:bodyPr>
            <a:normAutofit/>
          </a:bodyPr>
          <a:lstStyle/>
          <a:p>
            <a:r>
              <a:rPr lang="en-US" sz="4000" dirty="0"/>
              <a:t>MoCo builds off of </a:t>
            </a:r>
            <a:r>
              <a:rPr lang="en-US" sz="4000" dirty="0" err="1"/>
              <a:t>SimCLR</a:t>
            </a:r>
            <a:r>
              <a:rPr lang="en-US" sz="4000" dirty="0"/>
              <a:t> by saving negative examples across iterations (batches)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DA7FC4-8FAD-96B5-BDA6-B7CF8E7D25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435" y="4360428"/>
            <a:ext cx="8051054" cy="22356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1A40DD-982E-BF23-1FD5-2AC47EC4EC44}"/>
              </a:ext>
            </a:extLst>
          </p:cNvPr>
          <p:cNvSpPr txBox="1"/>
          <p:nvPr/>
        </p:nvSpPr>
        <p:spPr>
          <a:xfrm>
            <a:off x="6416752" y="4186888"/>
            <a:ext cx="21996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(30000+ citations!)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C6A8C5-A25A-F441-E663-AF28AFB6E3D4}"/>
              </a:ext>
            </a:extLst>
          </p:cNvPr>
          <p:cNvSpPr txBox="1"/>
          <p:nvPr/>
        </p:nvSpPr>
        <p:spPr>
          <a:xfrm>
            <a:off x="4613887" y="1499591"/>
            <a:ext cx="7428089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Momentum Contrastive Learning (MoCo)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More sample efficient: priority queue to increase number of training samples in a batch</a:t>
            </a:r>
          </a:p>
          <a:p>
            <a:endParaRPr lang="en-US" sz="2100" dirty="0"/>
          </a:p>
          <a:p>
            <a:r>
              <a:rPr lang="en-US" sz="2100" dirty="0"/>
              <a:t>All are </a:t>
            </a:r>
            <a:r>
              <a:rPr lang="en-US" sz="2100" b="1" dirty="0"/>
              <a:t>widely </a:t>
            </a:r>
            <a:r>
              <a:rPr lang="en-US" sz="2100" dirty="0"/>
              <a:t>used (e.g. many citations, </a:t>
            </a:r>
            <a:r>
              <a:rPr lang="en-US" sz="2100" dirty="0" err="1"/>
              <a:t>Github</a:t>
            </a:r>
            <a:r>
              <a:rPr lang="en-US" sz="2100" dirty="0"/>
              <a:t> stars, …)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38510A-0841-2D08-26A2-2DCF403C3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9879" y="3941151"/>
            <a:ext cx="2562097" cy="29168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994E6A-5466-6CAF-41EE-B377F150F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157" y="1138888"/>
            <a:ext cx="3530600" cy="30480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940031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F4918A8-F7CB-4010-E96C-5EEFD4C0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604F7-4283-DB41-FFEC-64D65BC18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621" y="173214"/>
            <a:ext cx="11511845" cy="1325563"/>
          </a:xfrm>
        </p:spPr>
        <p:txBody>
          <a:bodyPr>
            <a:normAutofit/>
          </a:bodyPr>
          <a:lstStyle/>
          <a:p>
            <a:r>
              <a:rPr lang="en-US" sz="4000" dirty="0"/>
              <a:t>MoCo builds off of </a:t>
            </a:r>
            <a:r>
              <a:rPr lang="en-US" sz="4000" dirty="0" err="1"/>
              <a:t>SimCLR</a:t>
            </a:r>
            <a:endParaRPr lang="en-US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0C64FB-8976-47CB-F564-46FF48CF59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273" y="1498777"/>
            <a:ext cx="8051054" cy="22356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3D263D-730F-F07C-82F5-F8FFE0719DBA}"/>
              </a:ext>
            </a:extLst>
          </p:cNvPr>
          <p:cNvSpPr txBox="1"/>
          <p:nvPr/>
        </p:nvSpPr>
        <p:spPr>
          <a:xfrm>
            <a:off x="6392590" y="1325237"/>
            <a:ext cx="21996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(30000+ citations!)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B41AFA-C6E4-92C2-E218-B9660CB56152}"/>
              </a:ext>
            </a:extLst>
          </p:cNvPr>
          <p:cNvSpPr txBox="1"/>
          <p:nvPr/>
        </p:nvSpPr>
        <p:spPr>
          <a:xfrm>
            <a:off x="4763911" y="4330295"/>
            <a:ext cx="7428089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Momentum Contrastive Learning (MoCo)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More sample efficient: priority queue to increase number of training samples in a batch</a:t>
            </a:r>
          </a:p>
          <a:p>
            <a:endParaRPr lang="en-US" sz="2100" dirty="0"/>
          </a:p>
          <a:p>
            <a:r>
              <a:rPr lang="en-US" sz="2100" dirty="0"/>
              <a:t>All are </a:t>
            </a:r>
            <a:r>
              <a:rPr lang="en-US" sz="2100" b="1" dirty="0"/>
              <a:t>widely </a:t>
            </a:r>
            <a:r>
              <a:rPr lang="en-US" sz="2100" dirty="0"/>
              <a:t>used (e.g. many citations, </a:t>
            </a:r>
            <a:r>
              <a:rPr lang="en-US" sz="2100" dirty="0" err="1"/>
              <a:t>Github</a:t>
            </a:r>
            <a:r>
              <a:rPr lang="en-US" sz="2100" dirty="0"/>
              <a:t> stars, …)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615825-F916-D887-4B60-85F922025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5717" y="1079500"/>
            <a:ext cx="2562097" cy="29168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69F063-53E4-5A03-E28F-2B71422BB7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621" y="3969592"/>
            <a:ext cx="35306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0110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D004DF-00D9-E6B3-E70C-757993D3E2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836"/>
          <a:stretch>
            <a:fillRect/>
          </a:stretch>
        </p:blipFill>
        <p:spPr>
          <a:xfrm>
            <a:off x="251827" y="299445"/>
            <a:ext cx="11688346" cy="5993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6613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770BB-A4F2-C519-AC33-E7AE6AEB4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00" y="240947"/>
            <a:ext cx="118618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Contrastive learning in single cell/spatial analysis (especially popular for spatial biology)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71C361-010E-EE60-8830-08BF0FA93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3971" y="1841499"/>
            <a:ext cx="6242361" cy="18273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FA5610-3F29-3325-DA3F-B003D412A5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1353"/>
          <a:stretch>
            <a:fillRect/>
          </a:stretch>
        </p:blipFill>
        <p:spPr>
          <a:xfrm>
            <a:off x="6357286" y="1566510"/>
            <a:ext cx="5719790" cy="19326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E5739F-333F-3AB8-05E9-CE4366103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4854" y="3521174"/>
            <a:ext cx="8317097" cy="329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5351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19B06-FDE2-3AC3-F294-7FE5A47FC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389" y="347195"/>
            <a:ext cx="10515600" cy="1325563"/>
          </a:xfrm>
        </p:spPr>
        <p:txBody>
          <a:bodyPr/>
          <a:lstStyle/>
          <a:p>
            <a:r>
              <a:rPr lang="en-US" dirty="0"/>
              <a:t>Summary: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51340-4352-564A-B967-6C4428D7D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02788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Maximum likelihood estimation (MLE)</a:t>
            </a:r>
          </a:p>
          <a:p>
            <a:pPr marL="0" indent="0">
              <a:buNone/>
            </a:pPr>
            <a:r>
              <a:rPr lang="en-US" dirty="0"/>
              <a:t>Approximate MLE to get loss (“ELBO”) for a variational autoencoder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Contrastive learning -- no probabilistic model</a:t>
            </a:r>
          </a:p>
          <a:p>
            <a:pPr marL="0" indent="0">
              <a:buNone/>
            </a:pPr>
            <a:r>
              <a:rPr lang="en-US" dirty="0"/>
              <a:t>	Instead augment datapoints x with random transformations T(x) </a:t>
            </a:r>
          </a:p>
          <a:p>
            <a:pPr marL="0" indent="0">
              <a:buNone/>
            </a:pPr>
            <a:r>
              <a:rPr lang="en-US" dirty="0"/>
              <a:t>	train neural network to </a:t>
            </a:r>
            <a:r>
              <a:rPr lang="en-US" b="1" dirty="0"/>
              <a:t>attract</a:t>
            </a:r>
            <a:r>
              <a:rPr lang="en-US" dirty="0"/>
              <a:t> x with T(x) and </a:t>
            </a:r>
            <a:r>
              <a:rPr lang="en-US" b="1" dirty="0"/>
              <a:t>repel</a:t>
            </a:r>
            <a:r>
              <a:rPr lang="en-US" dirty="0"/>
              <a:t> x from x’</a:t>
            </a:r>
          </a:p>
        </p:txBody>
      </p:sp>
    </p:spTree>
    <p:extLst>
      <p:ext uri="{BB962C8B-B14F-4D97-AF65-F5344CB8AC3E}">
        <p14:creationId xmlns:p14="http://schemas.microsoft.com/office/powerpoint/2010/main" val="1361850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18599</TotalTime>
  <Words>870</Words>
  <Application>Microsoft Macintosh PowerPoint</Application>
  <PresentationFormat>Widescreen</PresentationFormat>
  <Paragraphs>145</Paragraphs>
  <Slides>46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Aptos</vt:lpstr>
      <vt:lpstr>Aptos Display</vt:lpstr>
      <vt:lpstr>Arial</vt:lpstr>
      <vt:lpstr>Cambria Math</vt:lpstr>
      <vt:lpstr>Office Theme</vt:lpstr>
      <vt:lpstr>Representation learning: autoencoders, contrastive learning, and foundation models Part 2</vt:lpstr>
      <vt:lpstr>PowerPoint Presentation</vt:lpstr>
      <vt:lpstr>Autoencoder latent space is hard to interpret</vt:lpstr>
      <vt:lpstr>Autoencoder latent space is hard to interpret</vt:lpstr>
      <vt:lpstr>PowerPoint Presentation</vt:lpstr>
      <vt:lpstr>PowerPoint Presentation</vt:lpstr>
      <vt:lpstr>PowerPoint Presentation</vt:lpstr>
      <vt:lpstr>PowerPoint Presentation</vt:lpstr>
      <vt:lpstr>Variational autoencoder (VAE): a generative model</vt:lpstr>
      <vt:lpstr>VAE intuition: encoder and decoder map points to distributions</vt:lpstr>
      <vt:lpstr>Maximum likelihood estimation [board]</vt:lpstr>
      <vt:lpstr>Maximum likelihood to learn parameters of VAE: </vt:lpstr>
      <vt:lpstr>Solution: “variational” inference</vt:lpstr>
      <vt:lpstr>Deriving the variational loss [on board]</vt:lpstr>
      <vt:lpstr>Deriving the variational loss [on board]</vt:lpstr>
      <vt:lpstr>ELBO (Evidence lower bound objective) loss</vt:lpstr>
      <vt:lpstr>VAE architecture in practice: two networks trained jointly</vt:lpstr>
      <vt:lpstr>scVI is a widely-used VAE in single-cell biology</vt:lpstr>
      <vt:lpstr>Next: self-supervised learning</vt:lpstr>
      <vt:lpstr>Supervised learning</vt:lpstr>
      <vt:lpstr>What if you don’t have labels?</vt:lpstr>
      <vt:lpstr>Self-supervised learning</vt:lpstr>
      <vt:lpstr>Early(ish) self-supervised approaches: “pretext” tasks</vt:lpstr>
      <vt:lpstr>Early(ish) self-supervised approaches: “pretext” tasks</vt:lpstr>
      <vt:lpstr>Early(ish) self-supervised approaches: “pretext” tasks</vt:lpstr>
      <vt:lpstr>Many other pretext tasks…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Contrastive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MoCo builds off of SimCLR by saving negative examples across iterations (batches)</vt:lpstr>
      <vt:lpstr>MoCo builds off of SimCLR</vt:lpstr>
      <vt:lpstr>PowerPoint Presentation</vt:lpstr>
      <vt:lpstr>Contrastive learning in single cell/spatial analysis (especially popular for spatial biology)</vt:lpstr>
      <vt:lpstr>Summary: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Uthsav Chitra</dc:creator>
  <cp:lastModifiedBy>Uthsav Chitra</cp:lastModifiedBy>
  <cp:revision>19</cp:revision>
  <dcterms:created xsi:type="dcterms:W3CDTF">2026-08-03T17:17:09Z</dcterms:created>
  <dcterms:modified xsi:type="dcterms:W3CDTF">2026-09-27T17:04:00Z</dcterms:modified>
</cp:coreProperties>
</file>